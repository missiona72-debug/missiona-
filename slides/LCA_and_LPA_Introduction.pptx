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633"/>
                </a:solidFill>
                <a:latin typeface="Calibri"/>
              </a:defRPr>
            </a:pPr>
            <a:r>
              <a:rPr sz="1300" b="0" i="0" u="none" strike="noStrike">
                <a:solidFill>
                  <a:srgbClr val="1A1633"/>
                </a:solidFill>
                <a:latin typeface="Calibri"/>
              </a:rPr>
              <a:t>Information criteria across 1–6 class solutions</a:t>
            </a:r>
          </a:p>
        </c:rich>
      </c:tx>
      <c:layout/>
      <c:overlay val="0"/>
    </c:title>
    <c:autoTitleDeleted val="0"/>
    <c:plotArea>
      <c:layout/>
      <c:lineChart>
        <c:varyColors val="0"/>
        <c:ser>
          <c:idx val="0"/>
          <c:order val="0"/>
          <c:tx>
            <c:strRef>
              <c:f>Sheet1!$B$1</c:f>
              <c:strCache>
                <c:ptCount val="1"/>
                <c:pt idx="0">
                  <c:v>BIC</c:v>
                </c:pt>
              </c:strCache>
            </c:strRef>
          </c:tx>
          <c:spPr>
            <a:solidFill>
              <a:srgbClr val="D9553C"/>
            </a:solidFill>
            <a:ln w="38100" cap="flat">
              <a:solidFill>
                <a:srgbClr val="D955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D9553C"/>
              </a:solidFill>
              <a:ln w="9525" cap="flat">
                <a:solidFill>
                  <a:srgbClr val="D9553C"/>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24810</c:v>
                </c:pt>
                <c:pt idx="1">
                  <c:v>23640</c:v>
                </c:pt>
                <c:pt idx="2">
                  <c:v>23108</c:v>
                </c:pt>
                <c:pt idx="3">
                  <c:v>22974</c:v>
                </c:pt>
                <c:pt idx="4">
                  <c:v>23052</c:v>
                </c:pt>
                <c:pt idx="5">
                  <c:v>23191</c:v>
                </c:pt>
              </c:numCache>
            </c:numRef>
          </c:val>
          <c:smooth val="0"/>
        </c:ser>
        <c:ser>
          <c:idx val="1"/>
          <c:order val="1"/>
          <c:tx>
            <c:strRef>
              <c:f>Sheet1!$C$1</c:f>
              <c:strCache>
                <c:ptCount val="1"/>
                <c:pt idx="0">
                  <c:v>aBIC</c:v>
                </c:pt>
              </c:strCache>
            </c:strRef>
          </c:tx>
          <c:spPr>
            <a:solidFill>
              <a:srgbClr val="6F63C9"/>
            </a:solidFill>
            <a:ln w="38100" cap="flat">
              <a:solidFill>
                <a:srgbClr val="6F63C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6F63C9"/>
              </a:solidFill>
              <a:ln w="9525" cap="flat">
                <a:solidFill>
                  <a:srgbClr val="6F63C9"/>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24762</c:v>
                </c:pt>
                <c:pt idx="1">
                  <c:v>23540</c:v>
                </c:pt>
                <c:pt idx="2">
                  <c:v>22961</c:v>
                </c:pt>
                <c:pt idx="3">
                  <c:v>22781</c:v>
                </c:pt>
                <c:pt idx="4">
                  <c:v>22812</c:v>
                </c:pt>
                <c:pt idx="5">
                  <c:v>22905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6785"/>
                    </a:solidFill>
                    <a:latin typeface="Arial"/>
                  </a:defRPr>
                </a:pPr>
                <a:r>
                  <a:rPr sz="1100" b="0" i="0" u="none" strike="noStrike">
                    <a:solidFill>
                      <a:srgbClr val="6B6785"/>
                    </a:solidFill>
                    <a:latin typeface="Arial"/>
                  </a:rPr>
                  <a:t>Number of classes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785"/>
                </a:solidFill>
                <a:latin typeface="Calibri"/>
              </a:defRPr>
            </a:pPr>
            <a:endParaRPr lang="en-US"/>
          </a:p>
        </c:txPr>
        <c:crossAx val="2094734552"/>
        <c:crosses val="autoZero"/>
        <c:auto val="1"/>
        <c:lblAlgn val="ctr"/>
        <c:noMultiLvlLbl val="1"/>
      </c:catAx>
      <c:valAx>
        <c:axId val="2094734552"/>
        <c:scaling>
          <c:orientation val="minMax"/>
          <c:max val="25000"/>
          <c:min val="22500"/>
        </c:scaling>
        <c:delete val="0"/>
        <c:axPos val="l"/>
        <c:majorGridlines>
          <c:spPr>
            <a:ln w="12700" cap="flat">
              <a:solidFill>
                <a:srgbClr val="DBD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785"/>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100">
              <a:solidFill>
                <a:srgbClr val="6B678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633"/>
                </a:solidFill>
                <a:latin typeface="Calibri"/>
              </a:defRPr>
            </a:pPr>
            <a:r>
              <a:rPr sz="1300" b="0" i="0" u="none" strike="noStrike">
                <a:solidFill>
                  <a:srgbClr val="1A1633"/>
                </a:solidFill>
                <a:latin typeface="Calibri"/>
              </a:rPr>
              <a:t>Profile means, standardised (z-scores)</a:t>
            </a:r>
          </a:p>
        </c:rich>
      </c:tx>
      <c:layout/>
      <c:overlay val="0"/>
    </c:title>
    <c:autoTitleDeleted val="0"/>
    <c:plotArea>
      <c:layout/>
      <c:barChart>
        <c:barDir val="col"/>
        <c:grouping val="clustered"/>
        <c:varyColors val="0"/>
        <c:ser>
          <c:idx val="0"/>
          <c:order val="0"/>
          <c:tx>
            <c:strRef>
              <c:f>Sheet1!$B$1</c:f>
              <c:strCache>
                <c:ptCount val="1"/>
                <c:pt idx="0">
                  <c:v>Profile 1 — Low distress (47%)</c:v>
                </c:pt>
              </c:strCache>
            </c:strRef>
          </c:tx>
          <c:spPr>
            <a:solidFill>
              <a:srgbClr val="1F8F8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Depression (PHQ-9)</c:v>
                  </c:pt>
                  <c:pt idx="1">
                    <c:v>Anxiety (GAD-7)</c:v>
                  </c:pt>
                  <c:pt idx="2">
                    <c:v>Poor sleep quality</c:v>
                  </c:pt>
                  <c:pt idx="3">
                    <c:v>Academic stress</c:v>
                  </c:pt>
                </c:lvl>
              </c:multiLvlStrCache>
            </c:multiLvlStrRef>
          </c:cat>
          <c:val>
            <c:numRef>
              <c:f>Sheet1!$B$2:$B$5</c:f>
              <c:numCache>
                <c:formatCode>General</c:formatCode>
                <c:ptCount val="4"/>
                <c:pt idx="0">
                  <c:v>-0.53</c:v>
                </c:pt>
                <c:pt idx="1">
                  <c:v>-0.57</c:v>
                </c:pt>
                <c:pt idx="2">
                  <c:v>-0.77</c:v>
                </c:pt>
                <c:pt idx="3">
                  <c:v>-0.7</c:v>
                </c:pt>
              </c:numCache>
            </c:numRef>
          </c:val>
        </c:ser>
        <c:ser>
          <c:idx val="1"/>
          <c:order val="1"/>
          <c:tx>
            <c:strRef>
              <c:f>Sheet1!$C$1</c:f>
              <c:strCache>
                <c:ptCount val="1"/>
                <c:pt idx="0">
                  <c:v>Profile 2 — Somatic / stressed (34%)</c:v>
                </c:pt>
              </c:strCache>
            </c:strRef>
          </c:tx>
          <c:spPr>
            <a:solidFill>
              <a:srgbClr val="E09B2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Depression (PHQ-9)</c:v>
                  </c:pt>
                  <c:pt idx="1">
                    <c:v>Anxiety (GAD-7)</c:v>
                  </c:pt>
                  <c:pt idx="2">
                    <c:v>Poor sleep quality</c:v>
                  </c:pt>
                  <c:pt idx="3">
                    <c:v>Academic stress</c:v>
                  </c:pt>
                </c:lvl>
              </c:multiLvlStrCache>
            </c:multiLvlStrRef>
          </c:cat>
          <c:val>
            <c:numRef>
              <c:f>Sheet1!$C$2:$C$5</c:f>
              <c:numCache>
                <c:formatCode>General</c:formatCode>
                <c:ptCount val="4"/>
                <c:pt idx="0">
                  <c:v>-0.07</c:v>
                </c:pt>
                <c:pt idx="1">
                  <c:v>0.07</c:v>
                </c:pt>
                <c:pt idx="2">
                  <c:v>0.82</c:v>
                </c:pt>
                <c:pt idx="3">
                  <c:v>0.7</c:v>
                </c:pt>
              </c:numCache>
            </c:numRef>
          </c:val>
        </c:ser>
        <c:ser>
          <c:idx val="2"/>
          <c:order val="2"/>
          <c:tx>
            <c:strRef>
              <c:f>Sheet1!$D$1</c:f>
              <c:strCache>
                <c:ptCount val="1"/>
                <c:pt idx="0">
                  <c:v>Profile 3 — High distress (20%)</c:v>
                </c:pt>
              </c:strCache>
            </c:strRef>
          </c:tx>
          <c:spPr>
            <a:solidFill>
              <a:srgbClr val="D9553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Depression (PHQ-9)</c:v>
                  </c:pt>
                  <c:pt idx="1">
                    <c:v>Anxiety (GAD-7)</c:v>
                  </c:pt>
                  <c:pt idx="2">
                    <c:v>Poor sleep quality</c:v>
                  </c:pt>
                  <c:pt idx="3">
                    <c:v>Academic stress</c:v>
                  </c:pt>
                </c:lvl>
              </c:multiLvlStrCache>
            </c:multiLvlStrRef>
          </c:cat>
          <c:val>
            <c:numRef>
              <c:f>Sheet1!$D$2:$D$5</c:f>
              <c:numCache>
                <c:formatCode>General</c:formatCode>
                <c:ptCount val="4"/>
                <c:pt idx="0">
                  <c:v>1.38</c:v>
                </c:pt>
                <c:pt idx="1">
                  <c:v>1.23</c:v>
                </c:pt>
                <c:pt idx="2">
                  <c:v>0.42</c:v>
                </c:pt>
                <c:pt idx="3">
                  <c:v>0.47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785"/>
                </a:solidFill>
                <a:latin typeface="Calibri"/>
              </a:defRPr>
            </a:pPr>
            <a:endParaRPr lang="en-US"/>
          </a:p>
        </c:txPr>
        <c:crossAx val="2094734552"/>
        <c:crosses val="autoZero"/>
        <c:auto val="1"/>
        <c:lblAlgn val="ctr"/>
        <c:noMultiLvlLbl val="1"/>
      </c:catAx>
      <c:valAx>
        <c:axId val="2094734552"/>
        <c:scaling>
          <c:orientation val="minMax"/>
          <c:max val="1.5"/>
          <c:min val="-1"/>
        </c:scaling>
        <c:delete val="0"/>
        <c:axPos val="l"/>
        <c:majorGridlines>
          <c:spPr>
            <a:ln w="12700" cap="flat">
              <a:solidFill>
                <a:srgbClr val="DBD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785"/>
                </a:solidFill>
                <a:latin typeface="Calibri"/>
              </a:defRPr>
            </a:pPr>
            <a:endParaRPr lang="en-US"/>
          </a:p>
        </c:txPr>
        <c:crossAx val="2094734554"/>
        <c:crosses val="autoZero"/>
        <c:crossBetween val="between"/>
        <c:majorUnit val="0.5"/>
      </c:valAx>
      <c:spPr>
        <a:solidFill>
          <a:srgbClr val="FFFFFF"/>
        </a:solidFill>
        <a:ln>
          <a:noFill/>
        </a:ln>
        <a:effectLst/>
      </c:spPr>
    </c:plotArea>
    <c:legend>
      <c:legendPos val="b"/>
      <c:overlay val="0"/>
      <c:txPr>
        <a:bodyPr/>
        <a:lstStyle/>
        <a:p>
          <a:pPr>
            <a:defRPr sz="1050">
              <a:solidFill>
                <a:srgbClr val="6B678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assumes no prior knowledge of mixture models. Part 2 is the section that deals directly with the LCA vs LPA confusion, and Part 5 is a hands-on practical you can run on your own laptop in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Aims. Point 2 is the one most people come for — the LCA/LPA distinction is the single most common source of confusion in this area, and it has a one-line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Parts 1-4 follow the standard introductory seminar; Part 2 and Part 5 are the additions - the LCA/LPA comparison and the hands-on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slide. The scatter deliberately looks like noise. Ask the room what they can see - the honest answer is 'not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100 people, same two axes - only the colouring has changed. The point: clustering is not exotic, it is what your eye already wanted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Latent vs manifest. The ghost analogy is worth labouring - it is the single image people remember six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does double duty: it shows how indicators relate to a construct, and it plants the dimension-vs-category fork that Concept 3 resolves.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neither picture is 'right'. Whether a construct is better modelled as a dimension or as classes is a theoretical decision that you defend, not something the data settles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properties. The third is what separates LCA from a simple severity score, and the fourth is what makes the method feel uncomfortable to people used to p-values deciding things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somebody remembers one slide from this deck, it should be this one. The latent variable is categorical in BOTH methods. What changes is the observed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first column. Note rows 2 and 3: the latent variable is categorical in both, and the model family is the same. The only genuinely different row for practice is 'extra decisions' - LPA makes you choose a variance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Bartholomew classification of latent variable models. It is the fastest cure for LCA/LPA confusion because it shows the two are structurally adjacent, not rival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for the confusion. The same subgroup, found by both methods, described in the two different vocabularies. Read both quotes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2 is the one that shows up most often in submitted manuscripts. Myth 6 is the one that wastes the most of people's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structural point: LCA gives you the classes, and then a second stage relates class membership to covariates like sex, parental education and urbanicity.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is included partly as a critique exercise. Eight classes from 2,000 students on one campus is a lot of classes, and the gender split is doing much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bridge into the how-to section: every one of these four points corresponds to one of the five steps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this workflow is identical for LPA. Nothing in these five steps changes except the conditional distribution the software assumes at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where supervisors will push hardest. If you cannot say why classes rather than a continuum, you are not ready to fit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which software: R, unless the department already has Mplus. The practical in Part 5 is written in R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Nylund, Asparouhov and Muthen (2007) is the standard citation for BLRT outperforming the alternatives; BIC is the best of the information criteria in the same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two criteria agree here, which is the comfortable case. When BIC says 3 and aBIC says 5, you report both and let theory and interpretability break the 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find this genuinely unsettling - they want the statistic to decide. Reassure them: choosing a solution you can defend, and stating why, is standard practice and expected by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naming fallacy is where the statistics stop and the responsibility starts. Ask the room to suggest names for class 3, then ask what each name would commit them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simulated with a fixed seed, so every person in the room gets numerically identical output and nobody gets lost debugging their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code block line by line. The +1L line and nrep are the two things people get wrong; both are called out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last box. This is the argument for using LCA at all: sum scores collapse pattern into level, and pattern was the interesting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how little has changed from slide A: same sequence of k, same comparison of solutions, same inspection of the chosen model. Only the variance-structure choice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closes the loop on Part 2. Both methods, one dataset, the same three subgroups, described in the two different vocabularies.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6 and 8 are the ones that most often invalidate an otherwise competent analysis, because they occur after the model looks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It doubles as a reviewer checklist when you are refereeing someone else's mixture model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is the conceptual pay-off: cross-tabulating the LCA and LPA assignments usually shows high agreement, which makes the 'same model, different indicators' point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Then take questions, and point people at the practical script - the fastest way to consolidate any of this is to fit a model on data where you already know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356"/>
        </a:solidFill>
      </p:bgPr>
    </p:bg>
    <p:spTree>
      <p:nvGrpSpPr>
        <p:cNvPr id="1" name=""/>
        <p:cNvGrpSpPr/>
        <p:nvPr/>
      </p:nvGrpSpPr>
      <p:grpSpPr>
        <a:xfrm>
          <a:off x="0" y="0"/>
          <a:ext cx="0" cy="0"/>
          <a:chOff x="0" y="0"/>
          <a:chExt cx="0" cy="0"/>
        </a:xfrm>
      </p:grpSpPr>
      <p:sp>
        <p:nvSpPr>
          <p:cNvPr id="2" name="Shape 0"/>
          <p:cNvSpPr/>
          <p:nvPr/>
        </p:nvSpPr>
        <p:spPr>
          <a:xfrm>
            <a:off x="9180736" y="1785677"/>
            <a:ext cx="162602" cy="162602"/>
          </a:xfrm>
          <a:prstGeom prst="ellipse">
            <a:avLst/>
          </a:prstGeom>
          <a:solidFill>
            <a:srgbClr val="D9553C">
              <a:alpha val="80000"/>
            </a:srgbClr>
          </a:solidFill>
          <a:ln w="12700">
            <a:solidFill>
              <a:srgbClr val="D9553C"/>
            </a:solidFill>
            <a:prstDash val="solid"/>
          </a:ln>
        </p:spPr>
      </p:sp>
      <p:sp>
        <p:nvSpPr>
          <p:cNvPr id="3" name="Shape 1"/>
          <p:cNvSpPr/>
          <p:nvPr/>
        </p:nvSpPr>
        <p:spPr>
          <a:xfrm>
            <a:off x="9801789" y="2149074"/>
            <a:ext cx="149272" cy="149272"/>
          </a:xfrm>
          <a:prstGeom prst="ellipse">
            <a:avLst/>
          </a:prstGeom>
          <a:solidFill>
            <a:srgbClr val="D9553C">
              <a:alpha val="80000"/>
            </a:srgbClr>
          </a:solidFill>
          <a:ln w="12700">
            <a:solidFill>
              <a:srgbClr val="D9553C"/>
            </a:solidFill>
            <a:prstDash val="solid"/>
          </a:ln>
        </p:spPr>
      </p:sp>
      <p:sp>
        <p:nvSpPr>
          <p:cNvPr id="4" name="Shape 2"/>
          <p:cNvSpPr/>
          <p:nvPr/>
        </p:nvSpPr>
        <p:spPr>
          <a:xfrm>
            <a:off x="9151067" y="1429708"/>
            <a:ext cx="145252" cy="145252"/>
          </a:xfrm>
          <a:prstGeom prst="ellipse">
            <a:avLst/>
          </a:prstGeom>
          <a:solidFill>
            <a:srgbClr val="D9553C">
              <a:alpha val="80000"/>
            </a:srgbClr>
          </a:solidFill>
          <a:ln w="12700">
            <a:solidFill>
              <a:srgbClr val="D9553C"/>
            </a:solidFill>
            <a:prstDash val="solid"/>
          </a:ln>
        </p:spPr>
      </p:sp>
      <p:sp>
        <p:nvSpPr>
          <p:cNvPr id="5" name="Shape 3"/>
          <p:cNvSpPr/>
          <p:nvPr/>
        </p:nvSpPr>
        <p:spPr>
          <a:xfrm>
            <a:off x="8724889" y="2252013"/>
            <a:ext cx="109865" cy="109865"/>
          </a:xfrm>
          <a:prstGeom prst="ellipse">
            <a:avLst/>
          </a:prstGeom>
          <a:solidFill>
            <a:srgbClr val="D9553C">
              <a:alpha val="80000"/>
            </a:srgbClr>
          </a:solidFill>
          <a:ln w="12700">
            <a:solidFill>
              <a:srgbClr val="D9553C"/>
            </a:solidFill>
            <a:prstDash val="solid"/>
          </a:ln>
        </p:spPr>
      </p:sp>
      <p:sp>
        <p:nvSpPr>
          <p:cNvPr id="6" name="Shape 4"/>
          <p:cNvSpPr/>
          <p:nvPr/>
        </p:nvSpPr>
        <p:spPr>
          <a:xfrm>
            <a:off x="9609050" y="2205610"/>
            <a:ext cx="130024" cy="130024"/>
          </a:xfrm>
          <a:prstGeom prst="ellipse">
            <a:avLst/>
          </a:prstGeom>
          <a:solidFill>
            <a:srgbClr val="D9553C">
              <a:alpha val="80000"/>
            </a:srgbClr>
          </a:solidFill>
          <a:ln w="12700">
            <a:solidFill>
              <a:srgbClr val="D9553C"/>
            </a:solidFill>
            <a:prstDash val="solid"/>
          </a:ln>
        </p:spPr>
      </p:sp>
      <p:sp>
        <p:nvSpPr>
          <p:cNvPr id="7" name="Shape 5"/>
          <p:cNvSpPr/>
          <p:nvPr/>
        </p:nvSpPr>
        <p:spPr>
          <a:xfrm>
            <a:off x="9150998" y="1909231"/>
            <a:ext cx="139175" cy="139175"/>
          </a:xfrm>
          <a:prstGeom prst="ellipse">
            <a:avLst/>
          </a:prstGeom>
          <a:solidFill>
            <a:srgbClr val="D9553C">
              <a:alpha val="80000"/>
            </a:srgbClr>
          </a:solidFill>
          <a:ln w="12700">
            <a:solidFill>
              <a:srgbClr val="D9553C"/>
            </a:solidFill>
            <a:prstDash val="solid"/>
          </a:ln>
        </p:spPr>
      </p:sp>
      <p:sp>
        <p:nvSpPr>
          <p:cNvPr id="8" name="Shape 6"/>
          <p:cNvSpPr/>
          <p:nvPr/>
        </p:nvSpPr>
        <p:spPr>
          <a:xfrm>
            <a:off x="9321171" y="2026159"/>
            <a:ext cx="119919" cy="119919"/>
          </a:xfrm>
          <a:prstGeom prst="ellipse">
            <a:avLst/>
          </a:prstGeom>
          <a:solidFill>
            <a:srgbClr val="D9553C">
              <a:alpha val="80000"/>
            </a:srgbClr>
          </a:solidFill>
          <a:ln w="12700">
            <a:solidFill>
              <a:srgbClr val="D9553C"/>
            </a:solidFill>
            <a:prstDash val="solid"/>
          </a:ln>
        </p:spPr>
      </p:sp>
      <p:sp>
        <p:nvSpPr>
          <p:cNvPr id="9" name="Shape 7"/>
          <p:cNvSpPr/>
          <p:nvPr/>
        </p:nvSpPr>
        <p:spPr>
          <a:xfrm>
            <a:off x="9443669" y="1835182"/>
            <a:ext cx="163340" cy="163340"/>
          </a:xfrm>
          <a:prstGeom prst="ellipse">
            <a:avLst/>
          </a:prstGeom>
          <a:solidFill>
            <a:srgbClr val="D9553C">
              <a:alpha val="80000"/>
            </a:srgbClr>
          </a:solidFill>
          <a:ln w="12700">
            <a:solidFill>
              <a:srgbClr val="D9553C"/>
            </a:solidFill>
            <a:prstDash val="solid"/>
          </a:ln>
        </p:spPr>
      </p:sp>
      <p:sp>
        <p:nvSpPr>
          <p:cNvPr id="10" name="Shape 8"/>
          <p:cNvSpPr/>
          <p:nvPr/>
        </p:nvSpPr>
        <p:spPr>
          <a:xfrm>
            <a:off x="9008133" y="1361358"/>
            <a:ext cx="147676" cy="147676"/>
          </a:xfrm>
          <a:prstGeom prst="ellipse">
            <a:avLst/>
          </a:prstGeom>
          <a:solidFill>
            <a:srgbClr val="D9553C">
              <a:alpha val="80000"/>
            </a:srgbClr>
          </a:solidFill>
          <a:ln w="12700">
            <a:solidFill>
              <a:srgbClr val="D9553C"/>
            </a:solidFill>
            <a:prstDash val="solid"/>
          </a:ln>
        </p:spPr>
      </p:sp>
      <p:sp>
        <p:nvSpPr>
          <p:cNvPr id="11" name="Shape 9"/>
          <p:cNvSpPr/>
          <p:nvPr/>
        </p:nvSpPr>
        <p:spPr>
          <a:xfrm>
            <a:off x="9210427" y="1638524"/>
            <a:ext cx="107861" cy="107861"/>
          </a:xfrm>
          <a:prstGeom prst="ellipse">
            <a:avLst/>
          </a:prstGeom>
          <a:solidFill>
            <a:srgbClr val="D9553C">
              <a:alpha val="80000"/>
            </a:srgbClr>
          </a:solidFill>
          <a:ln w="12700">
            <a:solidFill>
              <a:srgbClr val="D9553C"/>
            </a:solidFill>
            <a:prstDash val="solid"/>
          </a:ln>
        </p:spPr>
      </p:sp>
      <p:sp>
        <p:nvSpPr>
          <p:cNvPr id="12" name="Shape 10"/>
          <p:cNvSpPr/>
          <p:nvPr/>
        </p:nvSpPr>
        <p:spPr>
          <a:xfrm>
            <a:off x="9289894" y="989230"/>
            <a:ext cx="103414" cy="103414"/>
          </a:xfrm>
          <a:prstGeom prst="ellipse">
            <a:avLst/>
          </a:prstGeom>
          <a:solidFill>
            <a:srgbClr val="D9553C">
              <a:alpha val="80000"/>
            </a:srgbClr>
          </a:solidFill>
          <a:ln w="12700">
            <a:solidFill>
              <a:srgbClr val="D9553C"/>
            </a:solidFill>
            <a:prstDash val="solid"/>
          </a:ln>
        </p:spPr>
      </p:sp>
      <p:sp>
        <p:nvSpPr>
          <p:cNvPr id="13" name="Shape 11"/>
          <p:cNvSpPr/>
          <p:nvPr/>
        </p:nvSpPr>
        <p:spPr>
          <a:xfrm>
            <a:off x="8380569" y="2064497"/>
            <a:ext cx="161203" cy="161203"/>
          </a:xfrm>
          <a:prstGeom prst="ellipse">
            <a:avLst/>
          </a:prstGeom>
          <a:solidFill>
            <a:srgbClr val="D9553C">
              <a:alpha val="80000"/>
            </a:srgbClr>
          </a:solidFill>
          <a:ln w="12700">
            <a:solidFill>
              <a:srgbClr val="D9553C"/>
            </a:solidFill>
            <a:prstDash val="solid"/>
          </a:ln>
        </p:spPr>
      </p:sp>
      <p:sp>
        <p:nvSpPr>
          <p:cNvPr id="14" name="Shape 12"/>
          <p:cNvSpPr/>
          <p:nvPr/>
        </p:nvSpPr>
        <p:spPr>
          <a:xfrm>
            <a:off x="8869528" y="1545141"/>
            <a:ext cx="121686" cy="121686"/>
          </a:xfrm>
          <a:prstGeom prst="ellipse">
            <a:avLst/>
          </a:prstGeom>
          <a:solidFill>
            <a:srgbClr val="D9553C">
              <a:alpha val="80000"/>
            </a:srgbClr>
          </a:solidFill>
          <a:ln w="12700">
            <a:solidFill>
              <a:srgbClr val="D9553C"/>
            </a:solidFill>
            <a:prstDash val="solid"/>
          </a:ln>
        </p:spPr>
      </p:sp>
      <p:sp>
        <p:nvSpPr>
          <p:cNvPr id="15" name="Shape 13"/>
          <p:cNvSpPr/>
          <p:nvPr/>
        </p:nvSpPr>
        <p:spPr>
          <a:xfrm>
            <a:off x="8956223" y="1460681"/>
            <a:ext cx="152278" cy="152278"/>
          </a:xfrm>
          <a:prstGeom prst="ellipse">
            <a:avLst/>
          </a:prstGeom>
          <a:solidFill>
            <a:srgbClr val="D9553C">
              <a:alpha val="80000"/>
            </a:srgbClr>
          </a:solidFill>
          <a:ln w="12700">
            <a:solidFill>
              <a:srgbClr val="D9553C"/>
            </a:solidFill>
            <a:prstDash val="solid"/>
          </a:ln>
        </p:spPr>
      </p:sp>
      <p:sp>
        <p:nvSpPr>
          <p:cNvPr id="16" name="Shape 14"/>
          <p:cNvSpPr/>
          <p:nvPr/>
        </p:nvSpPr>
        <p:spPr>
          <a:xfrm>
            <a:off x="9628619" y="1634827"/>
            <a:ext cx="128020" cy="128020"/>
          </a:xfrm>
          <a:prstGeom prst="ellipse">
            <a:avLst/>
          </a:prstGeom>
          <a:solidFill>
            <a:srgbClr val="D9553C">
              <a:alpha val="80000"/>
            </a:srgbClr>
          </a:solidFill>
          <a:ln w="12700">
            <a:solidFill>
              <a:srgbClr val="D9553C"/>
            </a:solidFill>
            <a:prstDash val="solid"/>
          </a:ln>
        </p:spPr>
      </p:sp>
      <p:sp>
        <p:nvSpPr>
          <p:cNvPr id="17" name="Shape 15"/>
          <p:cNvSpPr/>
          <p:nvPr/>
        </p:nvSpPr>
        <p:spPr>
          <a:xfrm>
            <a:off x="8768572" y="1859716"/>
            <a:ext cx="155271" cy="155271"/>
          </a:xfrm>
          <a:prstGeom prst="ellipse">
            <a:avLst/>
          </a:prstGeom>
          <a:solidFill>
            <a:srgbClr val="D9553C">
              <a:alpha val="80000"/>
            </a:srgbClr>
          </a:solidFill>
          <a:ln w="12700">
            <a:solidFill>
              <a:srgbClr val="D9553C"/>
            </a:solidFill>
            <a:prstDash val="solid"/>
          </a:ln>
        </p:spPr>
      </p:sp>
      <p:sp>
        <p:nvSpPr>
          <p:cNvPr id="18" name="Shape 16"/>
          <p:cNvSpPr/>
          <p:nvPr/>
        </p:nvSpPr>
        <p:spPr>
          <a:xfrm>
            <a:off x="9315038" y="2240338"/>
            <a:ext cx="129222" cy="129222"/>
          </a:xfrm>
          <a:prstGeom prst="ellipse">
            <a:avLst/>
          </a:prstGeom>
          <a:solidFill>
            <a:srgbClr val="D9553C">
              <a:alpha val="80000"/>
            </a:srgbClr>
          </a:solidFill>
          <a:ln w="12700">
            <a:solidFill>
              <a:srgbClr val="D9553C"/>
            </a:solidFill>
            <a:prstDash val="solid"/>
          </a:ln>
        </p:spPr>
      </p:sp>
      <p:sp>
        <p:nvSpPr>
          <p:cNvPr id="19" name="Shape 17"/>
          <p:cNvSpPr/>
          <p:nvPr/>
        </p:nvSpPr>
        <p:spPr>
          <a:xfrm>
            <a:off x="9176149" y="1865707"/>
            <a:ext cx="148542" cy="148542"/>
          </a:xfrm>
          <a:prstGeom prst="ellipse">
            <a:avLst/>
          </a:prstGeom>
          <a:solidFill>
            <a:srgbClr val="D9553C">
              <a:alpha val="80000"/>
            </a:srgbClr>
          </a:solidFill>
          <a:ln w="12700">
            <a:solidFill>
              <a:srgbClr val="D9553C"/>
            </a:solidFill>
            <a:prstDash val="solid"/>
          </a:ln>
        </p:spPr>
      </p:sp>
      <p:sp>
        <p:nvSpPr>
          <p:cNvPr id="20" name="Shape 18"/>
          <p:cNvSpPr/>
          <p:nvPr/>
        </p:nvSpPr>
        <p:spPr>
          <a:xfrm>
            <a:off x="9501786" y="1956268"/>
            <a:ext cx="164217" cy="164217"/>
          </a:xfrm>
          <a:prstGeom prst="ellipse">
            <a:avLst/>
          </a:prstGeom>
          <a:solidFill>
            <a:srgbClr val="D9553C">
              <a:alpha val="80000"/>
            </a:srgbClr>
          </a:solidFill>
          <a:ln w="12700">
            <a:solidFill>
              <a:srgbClr val="D9553C"/>
            </a:solidFill>
            <a:prstDash val="solid"/>
          </a:ln>
        </p:spPr>
      </p:sp>
      <p:sp>
        <p:nvSpPr>
          <p:cNvPr id="21" name="Shape 19"/>
          <p:cNvSpPr/>
          <p:nvPr/>
        </p:nvSpPr>
        <p:spPr>
          <a:xfrm>
            <a:off x="8728575" y="1765541"/>
            <a:ext cx="167100" cy="167100"/>
          </a:xfrm>
          <a:prstGeom prst="ellipse">
            <a:avLst/>
          </a:prstGeom>
          <a:solidFill>
            <a:srgbClr val="D9553C">
              <a:alpha val="80000"/>
            </a:srgbClr>
          </a:solidFill>
          <a:ln w="12700">
            <a:solidFill>
              <a:srgbClr val="D9553C"/>
            </a:solidFill>
            <a:prstDash val="solid"/>
          </a:ln>
        </p:spPr>
      </p:sp>
      <p:sp>
        <p:nvSpPr>
          <p:cNvPr id="22" name="Shape 20"/>
          <p:cNvSpPr/>
          <p:nvPr/>
        </p:nvSpPr>
        <p:spPr>
          <a:xfrm>
            <a:off x="8902432" y="2382183"/>
            <a:ext cx="176983" cy="176983"/>
          </a:xfrm>
          <a:prstGeom prst="ellipse">
            <a:avLst/>
          </a:prstGeom>
          <a:solidFill>
            <a:srgbClr val="D9553C">
              <a:alpha val="80000"/>
            </a:srgbClr>
          </a:solidFill>
          <a:ln w="12700">
            <a:solidFill>
              <a:srgbClr val="D9553C"/>
            </a:solidFill>
            <a:prstDash val="solid"/>
          </a:ln>
        </p:spPr>
      </p:sp>
      <p:sp>
        <p:nvSpPr>
          <p:cNvPr id="23" name="Shape 21"/>
          <p:cNvSpPr/>
          <p:nvPr/>
        </p:nvSpPr>
        <p:spPr>
          <a:xfrm>
            <a:off x="9132521" y="1701348"/>
            <a:ext cx="147606" cy="147606"/>
          </a:xfrm>
          <a:prstGeom prst="ellipse">
            <a:avLst/>
          </a:prstGeom>
          <a:solidFill>
            <a:srgbClr val="D9553C">
              <a:alpha val="80000"/>
            </a:srgbClr>
          </a:solidFill>
          <a:ln w="12700">
            <a:solidFill>
              <a:srgbClr val="D9553C"/>
            </a:solidFill>
            <a:prstDash val="solid"/>
          </a:ln>
        </p:spPr>
      </p:sp>
      <p:sp>
        <p:nvSpPr>
          <p:cNvPr id="24" name="Shape 22"/>
          <p:cNvSpPr/>
          <p:nvPr/>
        </p:nvSpPr>
        <p:spPr>
          <a:xfrm>
            <a:off x="9074528" y="1851606"/>
            <a:ext cx="104967" cy="104967"/>
          </a:xfrm>
          <a:prstGeom prst="ellipse">
            <a:avLst/>
          </a:prstGeom>
          <a:solidFill>
            <a:srgbClr val="D9553C">
              <a:alpha val="80000"/>
            </a:srgbClr>
          </a:solidFill>
          <a:ln w="12700">
            <a:solidFill>
              <a:srgbClr val="D9553C"/>
            </a:solidFill>
            <a:prstDash val="solid"/>
          </a:ln>
        </p:spPr>
      </p:sp>
      <p:sp>
        <p:nvSpPr>
          <p:cNvPr id="25" name="Shape 23"/>
          <p:cNvSpPr/>
          <p:nvPr/>
        </p:nvSpPr>
        <p:spPr>
          <a:xfrm>
            <a:off x="8428405" y="2085141"/>
            <a:ext cx="149849" cy="149849"/>
          </a:xfrm>
          <a:prstGeom prst="ellipse">
            <a:avLst/>
          </a:prstGeom>
          <a:solidFill>
            <a:srgbClr val="D9553C">
              <a:alpha val="80000"/>
            </a:srgbClr>
          </a:solidFill>
          <a:ln w="12700">
            <a:solidFill>
              <a:srgbClr val="D9553C"/>
            </a:solidFill>
            <a:prstDash val="solid"/>
          </a:ln>
        </p:spPr>
      </p:sp>
      <p:sp>
        <p:nvSpPr>
          <p:cNvPr id="26" name="Shape 24"/>
          <p:cNvSpPr/>
          <p:nvPr/>
        </p:nvSpPr>
        <p:spPr>
          <a:xfrm>
            <a:off x="9228108" y="1496013"/>
            <a:ext cx="145416" cy="145416"/>
          </a:xfrm>
          <a:prstGeom prst="ellipse">
            <a:avLst/>
          </a:prstGeom>
          <a:solidFill>
            <a:srgbClr val="D9553C">
              <a:alpha val="80000"/>
            </a:srgbClr>
          </a:solidFill>
          <a:ln w="12700">
            <a:solidFill>
              <a:srgbClr val="D9553C"/>
            </a:solidFill>
            <a:prstDash val="solid"/>
          </a:ln>
        </p:spPr>
      </p:sp>
      <p:sp>
        <p:nvSpPr>
          <p:cNvPr id="27" name="Shape 25"/>
          <p:cNvSpPr/>
          <p:nvPr/>
        </p:nvSpPr>
        <p:spPr>
          <a:xfrm>
            <a:off x="9063975" y="1391567"/>
            <a:ext cx="106320" cy="106320"/>
          </a:xfrm>
          <a:prstGeom prst="ellipse">
            <a:avLst/>
          </a:prstGeom>
          <a:solidFill>
            <a:srgbClr val="D9553C">
              <a:alpha val="80000"/>
            </a:srgbClr>
          </a:solidFill>
          <a:ln w="12700">
            <a:solidFill>
              <a:srgbClr val="D9553C"/>
            </a:solidFill>
            <a:prstDash val="solid"/>
          </a:ln>
        </p:spPr>
      </p:sp>
      <p:sp>
        <p:nvSpPr>
          <p:cNvPr id="28" name="Shape 26"/>
          <p:cNvSpPr/>
          <p:nvPr/>
        </p:nvSpPr>
        <p:spPr>
          <a:xfrm>
            <a:off x="10898254" y="3053482"/>
            <a:ext cx="136169" cy="136169"/>
          </a:xfrm>
          <a:prstGeom prst="ellipse">
            <a:avLst/>
          </a:prstGeom>
          <a:solidFill>
            <a:srgbClr val="1F8F82">
              <a:alpha val="80000"/>
            </a:srgbClr>
          </a:solidFill>
          <a:ln w="12700">
            <a:solidFill>
              <a:srgbClr val="1F8F82"/>
            </a:solidFill>
            <a:prstDash val="solid"/>
          </a:ln>
        </p:spPr>
      </p:sp>
      <p:sp>
        <p:nvSpPr>
          <p:cNvPr id="29" name="Shape 27"/>
          <p:cNvSpPr/>
          <p:nvPr/>
        </p:nvSpPr>
        <p:spPr>
          <a:xfrm>
            <a:off x="10465795" y="3541450"/>
            <a:ext cx="114435" cy="114435"/>
          </a:xfrm>
          <a:prstGeom prst="ellipse">
            <a:avLst/>
          </a:prstGeom>
          <a:solidFill>
            <a:srgbClr val="1F8F82">
              <a:alpha val="80000"/>
            </a:srgbClr>
          </a:solidFill>
          <a:ln w="12700">
            <a:solidFill>
              <a:srgbClr val="1F8F82"/>
            </a:solidFill>
            <a:prstDash val="solid"/>
          </a:ln>
        </p:spPr>
      </p:sp>
      <p:sp>
        <p:nvSpPr>
          <p:cNvPr id="30" name="Shape 28"/>
          <p:cNvSpPr/>
          <p:nvPr/>
        </p:nvSpPr>
        <p:spPr>
          <a:xfrm>
            <a:off x="10121308" y="3589389"/>
            <a:ext cx="138846" cy="138846"/>
          </a:xfrm>
          <a:prstGeom prst="ellipse">
            <a:avLst/>
          </a:prstGeom>
          <a:solidFill>
            <a:srgbClr val="1F8F82">
              <a:alpha val="80000"/>
            </a:srgbClr>
          </a:solidFill>
          <a:ln w="12700">
            <a:solidFill>
              <a:srgbClr val="1F8F82"/>
            </a:solidFill>
            <a:prstDash val="solid"/>
          </a:ln>
        </p:spPr>
      </p:sp>
      <p:sp>
        <p:nvSpPr>
          <p:cNvPr id="31" name="Shape 29"/>
          <p:cNvSpPr/>
          <p:nvPr/>
        </p:nvSpPr>
        <p:spPr>
          <a:xfrm>
            <a:off x="10755301" y="3384083"/>
            <a:ext cx="112884" cy="112884"/>
          </a:xfrm>
          <a:prstGeom prst="ellipse">
            <a:avLst/>
          </a:prstGeom>
          <a:solidFill>
            <a:srgbClr val="1F8F82">
              <a:alpha val="80000"/>
            </a:srgbClr>
          </a:solidFill>
          <a:ln w="12700">
            <a:solidFill>
              <a:srgbClr val="1F8F82"/>
            </a:solidFill>
            <a:prstDash val="solid"/>
          </a:ln>
        </p:spPr>
      </p:sp>
      <p:sp>
        <p:nvSpPr>
          <p:cNvPr id="32" name="Shape 30"/>
          <p:cNvSpPr/>
          <p:nvPr/>
        </p:nvSpPr>
        <p:spPr>
          <a:xfrm>
            <a:off x="10377252" y="2862059"/>
            <a:ext cx="124131" cy="124131"/>
          </a:xfrm>
          <a:prstGeom prst="ellipse">
            <a:avLst/>
          </a:prstGeom>
          <a:solidFill>
            <a:srgbClr val="1F8F82">
              <a:alpha val="80000"/>
            </a:srgbClr>
          </a:solidFill>
          <a:ln w="12700">
            <a:solidFill>
              <a:srgbClr val="1F8F82"/>
            </a:solidFill>
            <a:prstDash val="solid"/>
          </a:ln>
        </p:spPr>
      </p:sp>
      <p:sp>
        <p:nvSpPr>
          <p:cNvPr id="33" name="Shape 31"/>
          <p:cNvSpPr/>
          <p:nvPr/>
        </p:nvSpPr>
        <p:spPr>
          <a:xfrm>
            <a:off x="10365164" y="3771526"/>
            <a:ext cx="138623" cy="138623"/>
          </a:xfrm>
          <a:prstGeom prst="ellipse">
            <a:avLst/>
          </a:prstGeom>
          <a:solidFill>
            <a:srgbClr val="1F8F82">
              <a:alpha val="80000"/>
            </a:srgbClr>
          </a:solidFill>
          <a:ln w="12700">
            <a:solidFill>
              <a:srgbClr val="1F8F82"/>
            </a:solidFill>
            <a:prstDash val="solid"/>
          </a:ln>
        </p:spPr>
      </p:sp>
      <p:sp>
        <p:nvSpPr>
          <p:cNvPr id="34" name="Shape 32"/>
          <p:cNvSpPr/>
          <p:nvPr/>
        </p:nvSpPr>
        <p:spPr>
          <a:xfrm>
            <a:off x="10180247" y="3682103"/>
            <a:ext cx="124321" cy="124321"/>
          </a:xfrm>
          <a:prstGeom prst="ellipse">
            <a:avLst/>
          </a:prstGeom>
          <a:solidFill>
            <a:srgbClr val="1F8F82">
              <a:alpha val="80000"/>
            </a:srgbClr>
          </a:solidFill>
          <a:ln w="12700">
            <a:solidFill>
              <a:srgbClr val="1F8F82"/>
            </a:solidFill>
            <a:prstDash val="solid"/>
          </a:ln>
        </p:spPr>
      </p:sp>
      <p:sp>
        <p:nvSpPr>
          <p:cNvPr id="35" name="Shape 33"/>
          <p:cNvSpPr/>
          <p:nvPr/>
        </p:nvSpPr>
        <p:spPr>
          <a:xfrm>
            <a:off x="10583831" y="3119861"/>
            <a:ext cx="163368" cy="163368"/>
          </a:xfrm>
          <a:prstGeom prst="ellipse">
            <a:avLst/>
          </a:prstGeom>
          <a:solidFill>
            <a:srgbClr val="1F8F82">
              <a:alpha val="80000"/>
            </a:srgbClr>
          </a:solidFill>
          <a:ln w="12700">
            <a:solidFill>
              <a:srgbClr val="1F8F82"/>
            </a:solidFill>
            <a:prstDash val="solid"/>
          </a:ln>
        </p:spPr>
      </p:sp>
      <p:sp>
        <p:nvSpPr>
          <p:cNvPr id="36" name="Shape 34"/>
          <p:cNvSpPr/>
          <p:nvPr/>
        </p:nvSpPr>
        <p:spPr>
          <a:xfrm>
            <a:off x="11066628" y="3211484"/>
            <a:ext cx="133980" cy="133980"/>
          </a:xfrm>
          <a:prstGeom prst="ellipse">
            <a:avLst/>
          </a:prstGeom>
          <a:solidFill>
            <a:srgbClr val="1F8F82">
              <a:alpha val="80000"/>
            </a:srgbClr>
          </a:solidFill>
          <a:ln w="12700">
            <a:solidFill>
              <a:srgbClr val="1F8F82"/>
            </a:solidFill>
            <a:prstDash val="solid"/>
          </a:ln>
        </p:spPr>
      </p:sp>
      <p:sp>
        <p:nvSpPr>
          <p:cNvPr id="37" name="Shape 35"/>
          <p:cNvSpPr/>
          <p:nvPr/>
        </p:nvSpPr>
        <p:spPr>
          <a:xfrm>
            <a:off x="11223034" y="3357047"/>
            <a:ext cx="153569" cy="153569"/>
          </a:xfrm>
          <a:prstGeom prst="ellipse">
            <a:avLst/>
          </a:prstGeom>
          <a:solidFill>
            <a:srgbClr val="1F8F82">
              <a:alpha val="80000"/>
            </a:srgbClr>
          </a:solidFill>
          <a:ln w="12700">
            <a:solidFill>
              <a:srgbClr val="1F8F82"/>
            </a:solidFill>
            <a:prstDash val="solid"/>
          </a:ln>
        </p:spPr>
      </p:sp>
      <p:sp>
        <p:nvSpPr>
          <p:cNvPr id="38" name="Shape 36"/>
          <p:cNvSpPr/>
          <p:nvPr/>
        </p:nvSpPr>
        <p:spPr>
          <a:xfrm>
            <a:off x="10060611" y="3200023"/>
            <a:ext cx="142413" cy="142413"/>
          </a:xfrm>
          <a:prstGeom prst="ellipse">
            <a:avLst/>
          </a:prstGeom>
          <a:solidFill>
            <a:srgbClr val="1F8F82">
              <a:alpha val="80000"/>
            </a:srgbClr>
          </a:solidFill>
          <a:ln w="12700">
            <a:solidFill>
              <a:srgbClr val="1F8F82"/>
            </a:solidFill>
            <a:prstDash val="solid"/>
          </a:ln>
        </p:spPr>
      </p:sp>
      <p:sp>
        <p:nvSpPr>
          <p:cNvPr id="39" name="Shape 37"/>
          <p:cNvSpPr/>
          <p:nvPr/>
        </p:nvSpPr>
        <p:spPr>
          <a:xfrm>
            <a:off x="10541741" y="3391912"/>
            <a:ext cx="161472" cy="161472"/>
          </a:xfrm>
          <a:prstGeom prst="ellipse">
            <a:avLst/>
          </a:prstGeom>
          <a:solidFill>
            <a:srgbClr val="1F8F82">
              <a:alpha val="80000"/>
            </a:srgbClr>
          </a:solidFill>
          <a:ln w="12700">
            <a:solidFill>
              <a:srgbClr val="1F8F82"/>
            </a:solidFill>
            <a:prstDash val="solid"/>
          </a:ln>
        </p:spPr>
      </p:sp>
      <p:sp>
        <p:nvSpPr>
          <p:cNvPr id="40" name="Shape 38"/>
          <p:cNvSpPr/>
          <p:nvPr/>
        </p:nvSpPr>
        <p:spPr>
          <a:xfrm>
            <a:off x="10540975" y="3181793"/>
            <a:ext cx="152859" cy="152859"/>
          </a:xfrm>
          <a:prstGeom prst="ellipse">
            <a:avLst/>
          </a:prstGeom>
          <a:solidFill>
            <a:srgbClr val="1F8F82">
              <a:alpha val="80000"/>
            </a:srgbClr>
          </a:solidFill>
          <a:ln w="12700">
            <a:solidFill>
              <a:srgbClr val="1F8F82"/>
            </a:solidFill>
            <a:prstDash val="solid"/>
          </a:ln>
        </p:spPr>
      </p:sp>
      <p:sp>
        <p:nvSpPr>
          <p:cNvPr id="41" name="Shape 39"/>
          <p:cNvSpPr/>
          <p:nvPr/>
        </p:nvSpPr>
        <p:spPr>
          <a:xfrm>
            <a:off x="10517999" y="3874750"/>
            <a:ext cx="142553" cy="142553"/>
          </a:xfrm>
          <a:prstGeom prst="ellipse">
            <a:avLst/>
          </a:prstGeom>
          <a:solidFill>
            <a:srgbClr val="1F8F82">
              <a:alpha val="80000"/>
            </a:srgbClr>
          </a:solidFill>
          <a:ln w="12700">
            <a:solidFill>
              <a:srgbClr val="1F8F82"/>
            </a:solidFill>
            <a:prstDash val="solid"/>
          </a:ln>
        </p:spPr>
      </p:sp>
      <p:sp>
        <p:nvSpPr>
          <p:cNvPr id="42" name="Shape 40"/>
          <p:cNvSpPr/>
          <p:nvPr/>
        </p:nvSpPr>
        <p:spPr>
          <a:xfrm>
            <a:off x="10775715" y="3059059"/>
            <a:ext cx="175442" cy="175442"/>
          </a:xfrm>
          <a:prstGeom prst="ellipse">
            <a:avLst/>
          </a:prstGeom>
          <a:solidFill>
            <a:srgbClr val="1F8F82">
              <a:alpha val="80000"/>
            </a:srgbClr>
          </a:solidFill>
          <a:ln w="12700">
            <a:solidFill>
              <a:srgbClr val="1F8F82"/>
            </a:solidFill>
            <a:prstDash val="solid"/>
          </a:ln>
        </p:spPr>
      </p:sp>
      <p:sp>
        <p:nvSpPr>
          <p:cNvPr id="43" name="Shape 41"/>
          <p:cNvSpPr/>
          <p:nvPr/>
        </p:nvSpPr>
        <p:spPr>
          <a:xfrm>
            <a:off x="10415583" y="3253700"/>
            <a:ext cx="152173" cy="152173"/>
          </a:xfrm>
          <a:prstGeom prst="ellipse">
            <a:avLst/>
          </a:prstGeom>
          <a:solidFill>
            <a:srgbClr val="1F8F82">
              <a:alpha val="80000"/>
            </a:srgbClr>
          </a:solidFill>
          <a:ln w="12700">
            <a:solidFill>
              <a:srgbClr val="1F8F82"/>
            </a:solidFill>
            <a:prstDash val="solid"/>
          </a:ln>
        </p:spPr>
      </p:sp>
      <p:sp>
        <p:nvSpPr>
          <p:cNvPr id="44" name="Shape 42"/>
          <p:cNvSpPr/>
          <p:nvPr/>
        </p:nvSpPr>
        <p:spPr>
          <a:xfrm>
            <a:off x="10090841" y="3585817"/>
            <a:ext cx="149701" cy="149701"/>
          </a:xfrm>
          <a:prstGeom prst="ellipse">
            <a:avLst/>
          </a:prstGeom>
          <a:solidFill>
            <a:srgbClr val="1F8F82">
              <a:alpha val="80000"/>
            </a:srgbClr>
          </a:solidFill>
          <a:ln w="12700">
            <a:solidFill>
              <a:srgbClr val="1F8F82"/>
            </a:solidFill>
            <a:prstDash val="solid"/>
          </a:ln>
        </p:spPr>
      </p:sp>
      <p:sp>
        <p:nvSpPr>
          <p:cNvPr id="45" name="Shape 43"/>
          <p:cNvSpPr/>
          <p:nvPr/>
        </p:nvSpPr>
        <p:spPr>
          <a:xfrm>
            <a:off x="10439500" y="3057589"/>
            <a:ext cx="134910" cy="134910"/>
          </a:xfrm>
          <a:prstGeom prst="ellipse">
            <a:avLst/>
          </a:prstGeom>
          <a:solidFill>
            <a:srgbClr val="1F8F82">
              <a:alpha val="80000"/>
            </a:srgbClr>
          </a:solidFill>
          <a:ln w="12700">
            <a:solidFill>
              <a:srgbClr val="1F8F82"/>
            </a:solidFill>
            <a:prstDash val="solid"/>
          </a:ln>
        </p:spPr>
      </p:sp>
      <p:sp>
        <p:nvSpPr>
          <p:cNvPr id="46" name="Shape 44"/>
          <p:cNvSpPr/>
          <p:nvPr/>
        </p:nvSpPr>
        <p:spPr>
          <a:xfrm>
            <a:off x="10215036" y="3384181"/>
            <a:ext cx="174726" cy="174726"/>
          </a:xfrm>
          <a:prstGeom prst="ellipse">
            <a:avLst/>
          </a:prstGeom>
          <a:solidFill>
            <a:srgbClr val="1F8F82">
              <a:alpha val="80000"/>
            </a:srgbClr>
          </a:solidFill>
          <a:ln w="12700">
            <a:solidFill>
              <a:srgbClr val="1F8F82"/>
            </a:solidFill>
            <a:prstDash val="solid"/>
          </a:ln>
        </p:spPr>
      </p:sp>
      <p:sp>
        <p:nvSpPr>
          <p:cNvPr id="47" name="Shape 45"/>
          <p:cNvSpPr/>
          <p:nvPr/>
        </p:nvSpPr>
        <p:spPr>
          <a:xfrm>
            <a:off x="10634430" y="3875351"/>
            <a:ext cx="122969" cy="122969"/>
          </a:xfrm>
          <a:prstGeom prst="ellipse">
            <a:avLst/>
          </a:prstGeom>
          <a:solidFill>
            <a:srgbClr val="1F8F82">
              <a:alpha val="80000"/>
            </a:srgbClr>
          </a:solidFill>
          <a:ln w="12700">
            <a:solidFill>
              <a:srgbClr val="1F8F82"/>
            </a:solidFill>
            <a:prstDash val="solid"/>
          </a:ln>
        </p:spPr>
      </p:sp>
      <p:sp>
        <p:nvSpPr>
          <p:cNvPr id="48" name="Shape 46"/>
          <p:cNvSpPr/>
          <p:nvPr/>
        </p:nvSpPr>
        <p:spPr>
          <a:xfrm>
            <a:off x="10282025" y="3366416"/>
            <a:ext cx="109506" cy="109506"/>
          </a:xfrm>
          <a:prstGeom prst="ellipse">
            <a:avLst/>
          </a:prstGeom>
          <a:solidFill>
            <a:srgbClr val="1F8F82">
              <a:alpha val="80000"/>
            </a:srgbClr>
          </a:solidFill>
          <a:ln w="12700">
            <a:solidFill>
              <a:srgbClr val="1F8F82"/>
            </a:solidFill>
            <a:prstDash val="solid"/>
          </a:ln>
        </p:spPr>
      </p:sp>
      <p:sp>
        <p:nvSpPr>
          <p:cNvPr id="49" name="Shape 47"/>
          <p:cNvSpPr/>
          <p:nvPr/>
        </p:nvSpPr>
        <p:spPr>
          <a:xfrm>
            <a:off x="10335595" y="3623568"/>
            <a:ext cx="116584" cy="116584"/>
          </a:xfrm>
          <a:prstGeom prst="ellipse">
            <a:avLst/>
          </a:prstGeom>
          <a:solidFill>
            <a:srgbClr val="1F8F82">
              <a:alpha val="80000"/>
            </a:srgbClr>
          </a:solidFill>
          <a:ln w="12700">
            <a:solidFill>
              <a:srgbClr val="1F8F82"/>
            </a:solidFill>
            <a:prstDash val="solid"/>
          </a:ln>
        </p:spPr>
      </p:sp>
      <p:sp>
        <p:nvSpPr>
          <p:cNvPr id="50" name="Shape 48"/>
          <p:cNvSpPr/>
          <p:nvPr/>
        </p:nvSpPr>
        <p:spPr>
          <a:xfrm>
            <a:off x="10450591" y="3168157"/>
            <a:ext cx="165159" cy="165159"/>
          </a:xfrm>
          <a:prstGeom prst="ellipse">
            <a:avLst/>
          </a:prstGeom>
          <a:solidFill>
            <a:srgbClr val="1F8F82">
              <a:alpha val="80000"/>
            </a:srgbClr>
          </a:solidFill>
          <a:ln w="12700">
            <a:solidFill>
              <a:srgbClr val="1F8F82"/>
            </a:solidFill>
            <a:prstDash val="solid"/>
          </a:ln>
        </p:spPr>
      </p:sp>
      <p:sp>
        <p:nvSpPr>
          <p:cNvPr id="51" name="Shape 49"/>
          <p:cNvSpPr/>
          <p:nvPr/>
        </p:nvSpPr>
        <p:spPr>
          <a:xfrm>
            <a:off x="10237880" y="3025930"/>
            <a:ext cx="102171" cy="102171"/>
          </a:xfrm>
          <a:prstGeom prst="ellipse">
            <a:avLst/>
          </a:prstGeom>
          <a:solidFill>
            <a:srgbClr val="1F8F82">
              <a:alpha val="80000"/>
            </a:srgbClr>
          </a:solidFill>
          <a:ln w="12700">
            <a:solidFill>
              <a:srgbClr val="1F8F82"/>
            </a:solidFill>
            <a:prstDash val="solid"/>
          </a:ln>
        </p:spPr>
      </p:sp>
      <p:sp>
        <p:nvSpPr>
          <p:cNvPr id="52" name="Shape 50"/>
          <p:cNvSpPr/>
          <p:nvPr/>
        </p:nvSpPr>
        <p:spPr>
          <a:xfrm>
            <a:off x="10360494" y="3096723"/>
            <a:ext cx="131366" cy="131366"/>
          </a:xfrm>
          <a:prstGeom prst="ellipse">
            <a:avLst/>
          </a:prstGeom>
          <a:solidFill>
            <a:srgbClr val="1F8F82">
              <a:alpha val="80000"/>
            </a:srgbClr>
          </a:solidFill>
          <a:ln w="12700">
            <a:solidFill>
              <a:srgbClr val="1F8F82"/>
            </a:solidFill>
            <a:prstDash val="solid"/>
          </a:ln>
        </p:spPr>
      </p:sp>
      <p:sp>
        <p:nvSpPr>
          <p:cNvPr id="53" name="Shape 51"/>
          <p:cNvSpPr/>
          <p:nvPr/>
        </p:nvSpPr>
        <p:spPr>
          <a:xfrm>
            <a:off x="10546545" y="3631807"/>
            <a:ext cx="144966" cy="144966"/>
          </a:xfrm>
          <a:prstGeom prst="ellipse">
            <a:avLst/>
          </a:prstGeom>
          <a:solidFill>
            <a:srgbClr val="1F8F82">
              <a:alpha val="80000"/>
            </a:srgbClr>
          </a:solidFill>
          <a:ln w="12700">
            <a:solidFill>
              <a:srgbClr val="1F8F82"/>
            </a:solidFill>
            <a:prstDash val="solid"/>
          </a:ln>
        </p:spPr>
      </p:sp>
      <p:sp>
        <p:nvSpPr>
          <p:cNvPr id="54" name="Shape 52"/>
          <p:cNvSpPr/>
          <p:nvPr/>
        </p:nvSpPr>
        <p:spPr>
          <a:xfrm>
            <a:off x="8663209" y="4779083"/>
            <a:ext cx="170218" cy="170218"/>
          </a:xfrm>
          <a:prstGeom prst="ellipse">
            <a:avLst/>
          </a:prstGeom>
          <a:solidFill>
            <a:srgbClr val="E09B21">
              <a:alpha val="80000"/>
            </a:srgbClr>
          </a:solidFill>
          <a:ln w="12700">
            <a:solidFill>
              <a:srgbClr val="E09B21"/>
            </a:solidFill>
            <a:prstDash val="solid"/>
          </a:ln>
        </p:spPr>
      </p:sp>
      <p:sp>
        <p:nvSpPr>
          <p:cNvPr id="55" name="Shape 53"/>
          <p:cNvSpPr/>
          <p:nvPr/>
        </p:nvSpPr>
        <p:spPr>
          <a:xfrm>
            <a:off x="9439003" y="4842072"/>
            <a:ext cx="139936" cy="139936"/>
          </a:xfrm>
          <a:prstGeom prst="ellipse">
            <a:avLst/>
          </a:prstGeom>
          <a:solidFill>
            <a:srgbClr val="E09B21">
              <a:alpha val="80000"/>
            </a:srgbClr>
          </a:solidFill>
          <a:ln w="12700">
            <a:solidFill>
              <a:srgbClr val="E09B21"/>
            </a:solidFill>
            <a:prstDash val="solid"/>
          </a:ln>
        </p:spPr>
      </p:sp>
      <p:sp>
        <p:nvSpPr>
          <p:cNvPr id="56" name="Shape 54"/>
          <p:cNvSpPr/>
          <p:nvPr/>
        </p:nvSpPr>
        <p:spPr>
          <a:xfrm>
            <a:off x="9209938" y="4721901"/>
            <a:ext cx="122342" cy="122342"/>
          </a:xfrm>
          <a:prstGeom prst="ellipse">
            <a:avLst/>
          </a:prstGeom>
          <a:solidFill>
            <a:srgbClr val="E09B21">
              <a:alpha val="80000"/>
            </a:srgbClr>
          </a:solidFill>
          <a:ln w="12700">
            <a:solidFill>
              <a:srgbClr val="E09B21"/>
            </a:solidFill>
            <a:prstDash val="solid"/>
          </a:ln>
        </p:spPr>
      </p:sp>
      <p:sp>
        <p:nvSpPr>
          <p:cNvPr id="57" name="Shape 55"/>
          <p:cNvSpPr/>
          <p:nvPr/>
        </p:nvSpPr>
        <p:spPr>
          <a:xfrm>
            <a:off x="8509900" y="5116241"/>
            <a:ext cx="132079" cy="132079"/>
          </a:xfrm>
          <a:prstGeom prst="ellipse">
            <a:avLst/>
          </a:prstGeom>
          <a:solidFill>
            <a:srgbClr val="E09B21">
              <a:alpha val="80000"/>
            </a:srgbClr>
          </a:solidFill>
          <a:ln w="12700">
            <a:solidFill>
              <a:srgbClr val="E09B21"/>
            </a:solidFill>
            <a:prstDash val="solid"/>
          </a:ln>
        </p:spPr>
      </p:sp>
      <p:sp>
        <p:nvSpPr>
          <p:cNvPr id="58" name="Shape 56"/>
          <p:cNvSpPr/>
          <p:nvPr/>
        </p:nvSpPr>
        <p:spPr>
          <a:xfrm>
            <a:off x="8504562" y="4910631"/>
            <a:ext cx="118054" cy="118054"/>
          </a:xfrm>
          <a:prstGeom prst="ellipse">
            <a:avLst/>
          </a:prstGeom>
          <a:solidFill>
            <a:srgbClr val="E09B21">
              <a:alpha val="80000"/>
            </a:srgbClr>
          </a:solidFill>
          <a:ln w="12700">
            <a:solidFill>
              <a:srgbClr val="E09B21"/>
            </a:solidFill>
            <a:prstDash val="solid"/>
          </a:ln>
        </p:spPr>
      </p:sp>
      <p:sp>
        <p:nvSpPr>
          <p:cNvPr id="59" name="Shape 57"/>
          <p:cNvSpPr/>
          <p:nvPr/>
        </p:nvSpPr>
        <p:spPr>
          <a:xfrm>
            <a:off x="9354263" y="5171277"/>
            <a:ext cx="168991" cy="168991"/>
          </a:xfrm>
          <a:prstGeom prst="ellipse">
            <a:avLst/>
          </a:prstGeom>
          <a:solidFill>
            <a:srgbClr val="E09B21">
              <a:alpha val="80000"/>
            </a:srgbClr>
          </a:solidFill>
          <a:ln w="12700">
            <a:solidFill>
              <a:srgbClr val="E09B21"/>
            </a:solidFill>
            <a:prstDash val="solid"/>
          </a:ln>
        </p:spPr>
      </p:sp>
      <p:sp>
        <p:nvSpPr>
          <p:cNvPr id="60" name="Shape 58"/>
          <p:cNvSpPr/>
          <p:nvPr/>
        </p:nvSpPr>
        <p:spPr>
          <a:xfrm>
            <a:off x="9318151" y="4976646"/>
            <a:ext cx="162746" cy="162746"/>
          </a:xfrm>
          <a:prstGeom prst="ellipse">
            <a:avLst/>
          </a:prstGeom>
          <a:solidFill>
            <a:srgbClr val="E09B21">
              <a:alpha val="80000"/>
            </a:srgbClr>
          </a:solidFill>
          <a:ln w="12700">
            <a:solidFill>
              <a:srgbClr val="E09B21"/>
            </a:solidFill>
            <a:prstDash val="solid"/>
          </a:ln>
        </p:spPr>
      </p:sp>
      <p:sp>
        <p:nvSpPr>
          <p:cNvPr id="61" name="Shape 59"/>
          <p:cNvSpPr/>
          <p:nvPr/>
        </p:nvSpPr>
        <p:spPr>
          <a:xfrm>
            <a:off x="8653351" y="4948768"/>
            <a:ext cx="102120" cy="102120"/>
          </a:xfrm>
          <a:prstGeom prst="ellipse">
            <a:avLst/>
          </a:prstGeom>
          <a:solidFill>
            <a:srgbClr val="E09B21">
              <a:alpha val="80000"/>
            </a:srgbClr>
          </a:solidFill>
          <a:ln w="12700">
            <a:solidFill>
              <a:srgbClr val="E09B21"/>
            </a:solidFill>
            <a:prstDash val="solid"/>
          </a:ln>
        </p:spPr>
      </p:sp>
      <p:sp>
        <p:nvSpPr>
          <p:cNvPr id="62" name="Shape 60"/>
          <p:cNvSpPr/>
          <p:nvPr/>
        </p:nvSpPr>
        <p:spPr>
          <a:xfrm>
            <a:off x="9310069" y="5141282"/>
            <a:ext cx="115990" cy="115990"/>
          </a:xfrm>
          <a:prstGeom prst="ellipse">
            <a:avLst/>
          </a:prstGeom>
          <a:solidFill>
            <a:srgbClr val="E09B21">
              <a:alpha val="80000"/>
            </a:srgbClr>
          </a:solidFill>
          <a:ln w="12700">
            <a:solidFill>
              <a:srgbClr val="E09B21"/>
            </a:solidFill>
            <a:prstDash val="solid"/>
          </a:ln>
        </p:spPr>
      </p:sp>
      <p:sp>
        <p:nvSpPr>
          <p:cNvPr id="63" name="Shape 61"/>
          <p:cNvSpPr/>
          <p:nvPr/>
        </p:nvSpPr>
        <p:spPr>
          <a:xfrm>
            <a:off x="9054173" y="4656368"/>
            <a:ext cx="123309" cy="123309"/>
          </a:xfrm>
          <a:prstGeom prst="ellipse">
            <a:avLst/>
          </a:prstGeom>
          <a:solidFill>
            <a:srgbClr val="E09B21">
              <a:alpha val="80000"/>
            </a:srgbClr>
          </a:solidFill>
          <a:ln w="12700">
            <a:solidFill>
              <a:srgbClr val="E09B21"/>
            </a:solidFill>
            <a:prstDash val="solid"/>
          </a:ln>
        </p:spPr>
      </p:sp>
      <p:sp>
        <p:nvSpPr>
          <p:cNvPr id="64" name="Shape 62"/>
          <p:cNvSpPr/>
          <p:nvPr/>
        </p:nvSpPr>
        <p:spPr>
          <a:xfrm>
            <a:off x="9086280" y="4217492"/>
            <a:ext cx="132098" cy="132098"/>
          </a:xfrm>
          <a:prstGeom prst="ellipse">
            <a:avLst/>
          </a:prstGeom>
          <a:solidFill>
            <a:srgbClr val="E09B21">
              <a:alpha val="80000"/>
            </a:srgbClr>
          </a:solidFill>
          <a:ln w="12700">
            <a:solidFill>
              <a:srgbClr val="E09B21"/>
            </a:solidFill>
            <a:prstDash val="solid"/>
          </a:ln>
        </p:spPr>
      </p:sp>
      <p:sp>
        <p:nvSpPr>
          <p:cNvPr id="65" name="Shape 63"/>
          <p:cNvSpPr/>
          <p:nvPr/>
        </p:nvSpPr>
        <p:spPr>
          <a:xfrm>
            <a:off x="8725322" y="4733382"/>
            <a:ext cx="178714" cy="178714"/>
          </a:xfrm>
          <a:prstGeom prst="ellipse">
            <a:avLst/>
          </a:prstGeom>
          <a:solidFill>
            <a:srgbClr val="E09B21">
              <a:alpha val="80000"/>
            </a:srgbClr>
          </a:solidFill>
          <a:ln w="12700">
            <a:solidFill>
              <a:srgbClr val="E09B21"/>
            </a:solidFill>
            <a:prstDash val="solid"/>
          </a:ln>
        </p:spPr>
      </p:sp>
      <p:sp>
        <p:nvSpPr>
          <p:cNvPr id="66" name="Shape 64"/>
          <p:cNvSpPr/>
          <p:nvPr/>
        </p:nvSpPr>
        <p:spPr>
          <a:xfrm>
            <a:off x="8985013" y="4577692"/>
            <a:ext cx="176200" cy="176200"/>
          </a:xfrm>
          <a:prstGeom prst="ellipse">
            <a:avLst/>
          </a:prstGeom>
          <a:solidFill>
            <a:srgbClr val="E09B21">
              <a:alpha val="80000"/>
            </a:srgbClr>
          </a:solidFill>
          <a:ln w="12700">
            <a:solidFill>
              <a:srgbClr val="E09B21"/>
            </a:solidFill>
            <a:prstDash val="solid"/>
          </a:ln>
        </p:spPr>
      </p:sp>
      <p:sp>
        <p:nvSpPr>
          <p:cNvPr id="67" name="Shape 65"/>
          <p:cNvSpPr/>
          <p:nvPr/>
        </p:nvSpPr>
        <p:spPr>
          <a:xfrm>
            <a:off x="8833516" y="4356136"/>
            <a:ext cx="120489" cy="120489"/>
          </a:xfrm>
          <a:prstGeom prst="ellipse">
            <a:avLst/>
          </a:prstGeom>
          <a:solidFill>
            <a:srgbClr val="E09B21">
              <a:alpha val="80000"/>
            </a:srgbClr>
          </a:solidFill>
          <a:ln w="12700">
            <a:solidFill>
              <a:srgbClr val="E09B21"/>
            </a:solidFill>
            <a:prstDash val="solid"/>
          </a:ln>
        </p:spPr>
      </p:sp>
      <p:sp>
        <p:nvSpPr>
          <p:cNvPr id="68" name="Shape 66"/>
          <p:cNvSpPr/>
          <p:nvPr/>
        </p:nvSpPr>
        <p:spPr>
          <a:xfrm>
            <a:off x="8937528" y="4929560"/>
            <a:ext cx="116661" cy="116661"/>
          </a:xfrm>
          <a:prstGeom prst="ellipse">
            <a:avLst/>
          </a:prstGeom>
          <a:solidFill>
            <a:srgbClr val="E09B21">
              <a:alpha val="80000"/>
            </a:srgbClr>
          </a:solidFill>
          <a:ln w="12700">
            <a:solidFill>
              <a:srgbClr val="E09B21"/>
            </a:solidFill>
            <a:prstDash val="solid"/>
          </a:ln>
        </p:spPr>
      </p:sp>
      <p:sp>
        <p:nvSpPr>
          <p:cNvPr id="69" name="Shape 67"/>
          <p:cNvSpPr/>
          <p:nvPr/>
        </p:nvSpPr>
        <p:spPr>
          <a:xfrm>
            <a:off x="8441916" y="4761064"/>
            <a:ext cx="163024" cy="163024"/>
          </a:xfrm>
          <a:prstGeom prst="ellipse">
            <a:avLst/>
          </a:prstGeom>
          <a:solidFill>
            <a:srgbClr val="E09B21">
              <a:alpha val="80000"/>
            </a:srgbClr>
          </a:solidFill>
          <a:ln w="12700">
            <a:solidFill>
              <a:srgbClr val="E09B21"/>
            </a:solidFill>
            <a:prstDash val="solid"/>
          </a:ln>
        </p:spPr>
      </p:sp>
      <p:sp>
        <p:nvSpPr>
          <p:cNvPr id="70" name="Shape 68"/>
          <p:cNvSpPr/>
          <p:nvPr/>
        </p:nvSpPr>
        <p:spPr>
          <a:xfrm>
            <a:off x="8964039" y="5143170"/>
            <a:ext cx="105895" cy="105895"/>
          </a:xfrm>
          <a:prstGeom prst="ellipse">
            <a:avLst/>
          </a:prstGeom>
          <a:solidFill>
            <a:srgbClr val="E09B21">
              <a:alpha val="80000"/>
            </a:srgbClr>
          </a:solidFill>
          <a:ln w="12700">
            <a:solidFill>
              <a:srgbClr val="E09B21"/>
            </a:solidFill>
            <a:prstDash val="solid"/>
          </a:ln>
        </p:spPr>
      </p:sp>
      <p:sp>
        <p:nvSpPr>
          <p:cNvPr id="71" name="Shape 69"/>
          <p:cNvSpPr/>
          <p:nvPr/>
        </p:nvSpPr>
        <p:spPr>
          <a:xfrm>
            <a:off x="9513451" y="4704588"/>
            <a:ext cx="164781" cy="164781"/>
          </a:xfrm>
          <a:prstGeom prst="ellipse">
            <a:avLst/>
          </a:prstGeom>
          <a:solidFill>
            <a:srgbClr val="E09B21">
              <a:alpha val="80000"/>
            </a:srgbClr>
          </a:solidFill>
          <a:ln w="12700">
            <a:solidFill>
              <a:srgbClr val="E09B21"/>
            </a:solidFill>
            <a:prstDash val="solid"/>
          </a:ln>
        </p:spPr>
      </p:sp>
      <p:sp>
        <p:nvSpPr>
          <p:cNvPr id="72" name="Shape 70"/>
          <p:cNvSpPr/>
          <p:nvPr/>
        </p:nvSpPr>
        <p:spPr>
          <a:xfrm>
            <a:off x="9337758" y="4268468"/>
            <a:ext cx="136907" cy="136907"/>
          </a:xfrm>
          <a:prstGeom prst="ellipse">
            <a:avLst/>
          </a:prstGeom>
          <a:solidFill>
            <a:srgbClr val="E09B21">
              <a:alpha val="80000"/>
            </a:srgbClr>
          </a:solidFill>
          <a:ln w="12700">
            <a:solidFill>
              <a:srgbClr val="E09B21"/>
            </a:solidFill>
            <a:prstDash val="solid"/>
          </a:ln>
        </p:spPr>
      </p:sp>
      <p:sp>
        <p:nvSpPr>
          <p:cNvPr id="73" name="Shape 71"/>
          <p:cNvSpPr/>
          <p:nvPr/>
        </p:nvSpPr>
        <p:spPr>
          <a:xfrm>
            <a:off x="9263862" y="4798179"/>
            <a:ext cx="178618" cy="178618"/>
          </a:xfrm>
          <a:prstGeom prst="ellipse">
            <a:avLst/>
          </a:prstGeom>
          <a:solidFill>
            <a:srgbClr val="E09B21">
              <a:alpha val="80000"/>
            </a:srgbClr>
          </a:solidFill>
          <a:ln w="12700">
            <a:solidFill>
              <a:srgbClr val="E09B21"/>
            </a:solidFill>
            <a:prstDash val="solid"/>
          </a:ln>
        </p:spPr>
      </p:sp>
      <p:sp>
        <p:nvSpPr>
          <p:cNvPr id="74" name="Shape 72"/>
          <p:cNvSpPr/>
          <p:nvPr/>
        </p:nvSpPr>
        <p:spPr>
          <a:xfrm>
            <a:off x="8229653" y="4628569"/>
            <a:ext cx="162220" cy="162220"/>
          </a:xfrm>
          <a:prstGeom prst="ellipse">
            <a:avLst/>
          </a:prstGeom>
          <a:solidFill>
            <a:srgbClr val="E09B21">
              <a:alpha val="80000"/>
            </a:srgbClr>
          </a:solidFill>
          <a:ln w="12700">
            <a:solidFill>
              <a:srgbClr val="E09B21"/>
            </a:solidFill>
            <a:prstDash val="solid"/>
          </a:ln>
        </p:spPr>
      </p:sp>
      <p:sp>
        <p:nvSpPr>
          <p:cNvPr id="75" name="Shape 73"/>
          <p:cNvSpPr/>
          <p:nvPr/>
        </p:nvSpPr>
        <p:spPr>
          <a:xfrm>
            <a:off x="9155035" y="4662906"/>
            <a:ext cx="111483" cy="111483"/>
          </a:xfrm>
          <a:prstGeom prst="ellipse">
            <a:avLst/>
          </a:prstGeom>
          <a:solidFill>
            <a:srgbClr val="E09B21">
              <a:alpha val="80000"/>
            </a:srgbClr>
          </a:solidFill>
          <a:ln w="12700">
            <a:solidFill>
              <a:srgbClr val="E09B21"/>
            </a:solidFill>
            <a:prstDash val="solid"/>
          </a:ln>
        </p:spPr>
      </p:sp>
      <p:sp>
        <p:nvSpPr>
          <p:cNvPr id="76" name="Shape 74"/>
          <p:cNvSpPr/>
          <p:nvPr/>
        </p:nvSpPr>
        <p:spPr>
          <a:xfrm>
            <a:off x="9589257" y="4914625"/>
            <a:ext cx="167582" cy="167582"/>
          </a:xfrm>
          <a:prstGeom prst="ellipse">
            <a:avLst/>
          </a:prstGeom>
          <a:solidFill>
            <a:srgbClr val="E09B21">
              <a:alpha val="80000"/>
            </a:srgbClr>
          </a:solidFill>
          <a:ln w="12700">
            <a:solidFill>
              <a:srgbClr val="E09B21"/>
            </a:solidFill>
            <a:prstDash val="solid"/>
          </a:ln>
        </p:spPr>
      </p:sp>
      <p:sp>
        <p:nvSpPr>
          <p:cNvPr id="77" name="Shape 75"/>
          <p:cNvSpPr/>
          <p:nvPr/>
        </p:nvSpPr>
        <p:spPr>
          <a:xfrm>
            <a:off x="9126464" y="4552970"/>
            <a:ext cx="106159" cy="106159"/>
          </a:xfrm>
          <a:prstGeom prst="ellipse">
            <a:avLst/>
          </a:prstGeom>
          <a:solidFill>
            <a:srgbClr val="E09B21">
              <a:alpha val="80000"/>
            </a:srgbClr>
          </a:solidFill>
          <a:ln w="12700">
            <a:solidFill>
              <a:srgbClr val="E09B21"/>
            </a:solidFill>
            <a:prstDash val="solid"/>
          </a:ln>
        </p:spPr>
      </p:sp>
      <p:sp>
        <p:nvSpPr>
          <p:cNvPr id="78" name="Shape 76"/>
          <p:cNvSpPr/>
          <p:nvPr/>
        </p:nvSpPr>
        <p:spPr>
          <a:xfrm>
            <a:off x="8739031" y="4494147"/>
            <a:ext cx="178451" cy="178451"/>
          </a:xfrm>
          <a:prstGeom prst="ellipse">
            <a:avLst/>
          </a:prstGeom>
          <a:solidFill>
            <a:srgbClr val="E09B21">
              <a:alpha val="80000"/>
            </a:srgbClr>
          </a:solidFill>
          <a:ln w="12700">
            <a:solidFill>
              <a:srgbClr val="E09B21"/>
            </a:solidFill>
            <a:prstDash val="solid"/>
          </a:ln>
        </p:spPr>
      </p:sp>
      <p:sp>
        <p:nvSpPr>
          <p:cNvPr id="79" name="Shape 77"/>
          <p:cNvSpPr/>
          <p:nvPr/>
        </p:nvSpPr>
        <p:spPr>
          <a:xfrm>
            <a:off x="8889129" y="4438924"/>
            <a:ext cx="156567" cy="156567"/>
          </a:xfrm>
          <a:prstGeom prst="ellipse">
            <a:avLst/>
          </a:prstGeom>
          <a:solidFill>
            <a:srgbClr val="E09B21">
              <a:alpha val="80000"/>
            </a:srgbClr>
          </a:solidFill>
          <a:ln w="12700">
            <a:solidFill>
              <a:srgbClr val="E09B21"/>
            </a:solidFill>
            <a:prstDash val="solid"/>
          </a:ln>
        </p:spPr>
      </p:sp>
      <p:sp>
        <p:nvSpPr>
          <p:cNvPr id="80" name="Shape 78"/>
          <p:cNvSpPr/>
          <p:nvPr/>
        </p:nvSpPr>
        <p:spPr>
          <a:xfrm>
            <a:off x="8102778" y="5613934"/>
            <a:ext cx="110306" cy="110306"/>
          </a:xfrm>
          <a:prstGeom prst="ellipse">
            <a:avLst/>
          </a:prstGeom>
          <a:solidFill>
            <a:srgbClr val="6B6797">
              <a:alpha val="45000"/>
            </a:srgbClr>
          </a:solidFill>
          <a:ln w="12700">
            <a:solidFill>
              <a:srgbClr val="6B6797"/>
            </a:solidFill>
            <a:prstDash val="solid"/>
          </a:ln>
        </p:spPr>
      </p:sp>
      <p:sp>
        <p:nvSpPr>
          <p:cNvPr id="81" name="Shape 79"/>
          <p:cNvSpPr/>
          <p:nvPr/>
        </p:nvSpPr>
        <p:spPr>
          <a:xfrm>
            <a:off x="10425847" y="2835815"/>
            <a:ext cx="102985" cy="102985"/>
          </a:xfrm>
          <a:prstGeom prst="ellipse">
            <a:avLst/>
          </a:prstGeom>
          <a:solidFill>
            <a:srgbClr val="6B6797">
              <a:alpha val="45000"/>
            </a:srgbClr>
          </a:solidFill>
          <a:ln w="12700">
            <a:solidFill>
              <a:srgbClr val="6B6797"/>
            </a:solidFill>
            <a:prstDash val="solid"/>
          </a:ln>
        </p:spPr>
      </p:sp>
      <p:sp>
        <p:nvSpPr>
          <p:cNvPr id="82" name="Shape 80"/>
          <p:cNvSpPr/>
          <p:nvPr/>
        </p:nvSpPr>
        <p:spPr>
          <a:xfrm>
            <a:off x="10825335" y="3033515"/>
            <a:ext cx="116884" cy="116884"/>
          </a:xfrm>
          <a:prstGeom prst="ellipse">
            <a:avLst/>
          </a:prstGeom>
          <a:solidFill>
            <a:srgbClr val="6B6797">
              <a:alpha val="45000"/>
            </a:srgbClr>
          </a:solidFill>
          <a:ln w="12700">
            <a:solidFill>
              <a:srgbClr val="6B6797"/>
            </a:solidFill>
            <a:prstDash val="solid"/>
          </a:ln>
        </p:spPr>
      </p:sp>
      <p:sp>
        <p:nvSpPr>
          <p:cNvPr id="83" name="Shape 81"/>
          <p:cNvSpPr/>
          <p:nvPr/>
        </p:nvSpPr>
        <p:spPr>
          <a:xfrm>
            <a:off x="9468587" y="4046640"/>
            <a:ext cx="86205" cy="86205"/>
          </a:xfrm>
          <a:prstGeom prst="ellipse">
            <a:avLst/>
          </a:prstGeom>
          <a:solidFill>
            <a:srgbClr val="6B6797">
              <a:alpha val="45000"/>
            </a:srgbClr>
          </a:solidFill>
          <a:ln w="12700">
            <a:solidFill>
              <a:srgbClr val="6B6797"/>
            </a:solidFill>
            <a:prstDash val="solid"/>
          </a:ln>
        </p:spPr>
      </p:sp>
      <p:sp>
        <p:nvSpPr>
          <p:cNvPr id="84" name="Shape 82"/>
          <p:cNvSpPr/>
          <p:nvPr/>
        </p:nvSpPr>
        <p:spPr>
          <a:xfrm>
            <a:off x="9601916" y="6259153"/>
            <a:ext cx="107839" cy="107839"/>
          </a:xfrm>
          <a:prstGeom prst="ellipse">
            <a:avLst/>
          </a:prstGeom>
          <a:solidFill>
            <a:srgbClr val="6B6797">
              <a:alpha val="45000"/>
            </a:srgbClr>
          </a:solidFill>
          <a:ln w="12700">
            <a:solidFill>
              <a:srgbClr val="6B6797"/>
            </a:solidFill>
            <a:prstDash val="solid"/>
          </a:ln>
        </p:spPr>
      </p:sp>
      <p:sp>
        <p:nvSpPr>
          <p:cNvPr id="85" name="Shape 83"/>
          <p:cNvSpPr/>
          <p:nvPr/>
        </p:nvSpPr>
        <p:spPr>
          <a:xfrm>
            <a:off x="10426149" y="3903039"/>
            <a:ext cx="93485" cy="93485"/>
          </a:xfrm>
          <a:prstGeom prst="ellipse">
            <a:avLst/>
          </a:prstGeom>
          <a:solidFill>
            <a:srgbClr val="6B6797">
              <a:alpha val="45000"/>
            </a:srgbClr>
          </a:solidFill>
          <a:ln w="12700">
            <a:solidFill>
              <a:srgbClr val="6B6797"/>
            </a:solidFill>
            <a:prstDash val="solid"/>
          </a:ln>
        </p:spPr>
      </p:sp>
      <p:sp>
        <p:nvSpPr>
          <p:cNvPr id="86" name="Shape 84"/>
          <p:cNvSpPr/>
          <p:nvPr/>
        </p:nvSpPr>
        <p:spPr>
          <a:xfrm>
            <a:off x="9380937" y="6132158"/>
            <a:ext cx="96102" cy="96102"/>
          </a:xfrm>
          <a:prstGeom prst="ellipse">
            <a:avLst/>
          </a:prstGeom>
          <a:solidFill>
            <a:srgbClr val="6B6797">
              <a:alpha val="45000"/>
            </a:srgbClr>
          </a:solidFill>
          <a:ln w="12700">
            <a:solidFill>
              <a:srgbClr val="6B6797"/>
            </a:solidFill>
            <a:prstDash val="solid"/>
          </a:ln>
        </p:spPr>
      </p:sp>
      <p:sp>
        <p:nvSpPr>
          <p:cNvPr id="87" name="Shape 85"/>
          <p:cNvSpPr/>
          <p:nvPr/>
        </p:nvSpPr>
        <p:spPr>
          <a:xfrm>
            <a:off x="8723551" y="1897263"/>
            <a:ext cx="99797" cy="99797"/>
          </a:xfrm>
          <a:prstGeom prst="ellipse">
            <a:avLst/>
          </a:prstGeom>
          <a:solidFill>
            <a:srgbClr val="6B6797">
              <a:alpha val="45000"/>
            </a:srgbClr>
          </a:solidFill>
          <a:ln w="12700">
            <a:solidFill>
              <a:srgbClr val="6B6797"/>
            </a:solidFill>
            <a:prstDash val="solid"/>
          </a:ln>
        </p:spPr>
      </p:sp>
      <p:sp>
        <p:nvSpPr>
          <p:cNvPr id="88" name="Shape 86"/>
          <p:cNvSpPr/>
          <p:nvPr/>
        </p:nvSpPr>
        <p:spPr>
          <a:xfrm>
            <a:off x="11469457" y="5432592"/>
            <a:ext cx="130461" cy="130461"/>
          </a:xfrm>
          <a:prstGeom prst="ellipse">
            <a:avLst/>
          </a:prstGeom>
          <a:solidFill>
            <a:srgbClr val="6B6797">
              <a:alpha val="45000"/>
            </a:srgbClr>
          </a:solidFill>
          <a:ln w="12700">
            <a:solidFill>
              <a:srgbClr val="6B6797"/>
            </a:solidFill>
            <a:prstDash val="solid"/>
          </a:ln>
        </p:spPr>
      </p:sp>
      <p:sp>
        <p:nvSpPr>
          <p:cNvPr id="89" name="Shape 87"/>
          <p:cNvSpPr/>
          <p:nvPr/>
        </p:nvSpPr>
        <p:spPr>
          <a:xfrm>
            <a:off x="8305050" y="1276245"/>
            <a:ext cx="128172" cy="128172"/>
          </a:xfrm>
          <a:prstGeom prst="ellipse">
            <a:avLst/>
          </a:prstGeom>
          <a:solidFill>
            <a:srgbClr val="6B6797">
              <a:alpha val="45000"/>
            </a:srgbClr>
          </a:solidFill>
          <a:ln w="12700">
            <a:solidFill>
              <a:srgbClr val="6B6797"/>
            </a:solidFill>
            <a:prstDash val="solid"/>
          </a:ln>
        </p:spPr>
      </p:sp>
      <p:sp>
        <p:nvSpPr>
          <p:cNvPr id="90" name="Shape 88"/>
          <p:cNvSpPr/>
          <p:nvPr/>
        </p:nvSpPr>
        <p:spPr>
          <a:xfrm>
            <a:off x="9417846" y="4353887"/>
            <a:ext cx="96327" cy="96327"/>
          </a:xfrm>
          <a:prstGeom prst="ellipse">
            <a:avLst/>
          </a:prstGeom>
          <a:solidFill>
            <a:srgbClr val="6B6797">
              <a:alpha val="45000"/>
            </a:srgbClr>
          </a:solidFill>
          <a:ln w="12700">
            <a:solidFill>
              <a:srgbClr val="6B6797"/>
            </a:solidFill>
            <a:prstDash val="solid"/>
          </a:ln>
        </p:spPr>
      </p:sp>
      <p:sp>
        <p:nvSpPr>
          <p:cNvPr id="91" name="Shape 89"/>
          <p:cNvSpPr/>
          <p:nvPr/>
        </p:nvSpPr>
        <p:spPr>
          <a:xfrm>
            <a:off x="8671942" y="6106195"/>
            <a:ext cx="98660" cy="98660"/>
          </a:xfrm>
          <a:prstGeom prst="ellipse">
            <a:avLst/>
          </a:prstGeom>
          <a:solidFill>
            <a:srgbClr val="6B6797">
              <a:alpha val="45000"/>
            </a:srgbClr>
          </a:solidFill>
          <a:ln w="12700">
            <a:solidFill>
              <a:srgbClr val="6B6797"/>
            </a:solidFill>
            <a:prstDash val="solid"/>
          </a:ln>
        </p:spPr>
      </p:sp>
      <p:sp>
        <p:nvSpPr>
          <p:cNvPr id="92" name="Shape 90"/>
          <p:cNvSpPr/>
          <p:nvPr/>
        </p:nvSpPr>
        <p:spPr>
          <a:xfrm>
            <a:off x="10545477" y="6210006"/>
            <a:ext cx="107832" cy="107832"/>
          </a:xfrm>
          <a:prstGeom prst="ellipse">
            <a:avLst/>
          </a:prstGeom>
          <a:solidFill>
            <a:srgbClr val="6B6797">
              <a:alpha val="45000"/>
            </a:srgbClr>
          </a:solidFill>
          <a:ln w="12700">
            <a:solidFill>
              <a:srgbClr val="6B6797"/>
            </a:solidFill>
            <a:prstDash val="solid"/>
          </a:ln>
        </p:spPr>
      </p:sp>
      <p:sp>
        <p:nvSpPr>
          <p:cNvPr id="93" name="Shape 91"/>
          <p:cNvSpPr/>
          <p:nvPr/>
        </p:nvSpPr>
        <p:spPr>
          <a:xfrm>
            <a:off x="10655996" y="5551601"/>
            <a:ext cx="122830" cy="122830"/>
          </a:xfrm>
          <a:prstGeom prst="ellipse">
            <a:avLst/>
          </a:prstGeom>
          <a:solidFill>
            <a:srgbClr val="6B6797">
              <a:alpha val="45000"/>
            </a:srgbClr>
          </a:solidFill>
          <a:ln w="12700">
            <a:solidFill>
              <a:srgbClr val="6B6797"/>
            </a:solidFill>
            <a:prstDash val="solid"/>
          </a:ln>
        </p:spPr>
      </p:sp>
      <p:sp>
        <p:nvSpPr>
          <p:cNvPr id="94" name="Shape 92"/>
          <p:cNvSpPr/>
          <p:nvPr/>
        </p:nvSpPr>
        <p:spPr>
          <a:xfrm>
            <a:off x="9059312" y="4906924"/>
            <a:ext cx="117191" cy="117191"/>
          </a:xfrm>
          <a:prstGeom prst="ellipse">
            <a:avLst/>
          </a:prstGeom>
          <a:solidFill>
            <a:srgbClr val="6B6797">
              <a:alpha val="45000"/>
            </a:srgbClr>
          </a:solidFill>
          <a:ln w="12700">
            <a:solidFill>
              <a:srgbClr val="6B6797"/>
            </a:solidFill>
            <a:prstDash val="solid"/>
          </a:ln>
        </p:spPr>
      </p:sp>
      <p:sp>
        <p:nvSpPr>
          <p:cNvPr id="95" name="Shape 93"/>
          <p:cNvSpPr/>
          <p:nvPr/>
        </p:nvSpPr>
        <p:spPr>
          <a:xfrm>
            <a:off x="11607077" y="1047291"/>
            <a:ext cx="132699" cy="132699"/>
          </a:xfrm>
          <a:prstGeom prst="ellipse">
            <a:avLst/>
          </a:prstGeom>
          <a:solidFill>
            <a:srgbClr val="6B6797">
              <a:alpha val="45000"/>
            </a:srgbClr>
          </a:solidFill>
          <a:ln w="12700">
            <a:solidFill>
              <a:srgbClr val="6B6797"/>
            </a:solidFill>
            <a:prstDash val="solid"/>
          </a:ln>
        </p:spPr>
      </p:sp>
      <p:sp>
        <p:nvSpPr>
          <p:cNvPr id="96" name="Shape 94"/>
          <p:cNvSpPr/>
          <p:nvPr/>
        </p:nvSpPr>
        <p:spPr>
          <a:xfrm>
            <a:off x="10134192" y="2829648"/>
            <a:ext cx="87482" cy="87482"/>
          </a:xfrm>
          <a:prstGeom prst="ellipse">
            <a:avLst/>
          </a:prstGeom>
          <a:solidFill>
            <a:srgbClr val="6B6797">
              <a:alpha val="45000"/>
            </a:srgbClr>
          </a:solidFill>
          <a:ln w="12700">
            <a:solidFill>
              <a:srgbClr val="6B6797"/>
            </a:solidFill>
            <a:prstDash val="solid"/>
          </a:ln>
        </p:spPr>
      </p:sp>
      <p:sp>
        <p:nvSpPr>
          <p:cNvPr id="97" name="Shape 95"/>
          <p:cNvSpPr/>
          <p:nvPr/>
        </p:nvSpPr>
        <p:spPr>
          <a:xfrm>
            <a:off x="11828523" y="1513935"/>
            <a:ext cx="132151" cy="132151"/>
          </a:xfrm>
          <a:prstGeom prst="ellipse">
            <a:avLst/>
          </a:prstGeom>
          <a:solidFill>
            <a:srgbClr val="6B6797">
              <a:alpha val="45000"/>
            </a:srgbClr>
          </a:solidFill>
          <a:ln w="12700">
            <a:solidFill>
              <a:srgbClr val="6B6797"/>
            </a:solidFill>
            <a:prstDash val="solid"/>
          </a:ln>
        </p:spPr>
      </p:sp>
      <p:sp>
        <p:nvSpPr>
          <p:cNvPr id="98" name="Shape 96"/>
          <p:cNvSpPr/>
          <p:nvPr/>
        </p:nvSpPr>
        <p:spPr>
          <a:xfrm>
            <a:off x="10087368" y="1273322"/>
            <a:ext cx="94194" cy="94194"/>
          </a:xfrm>
          <a:prstGeom prst="ellipse">
            <a:avLst/>
          </a:prstGeom>
          <a:solidFill>
            <a:srgbClr val="6B6797">
              <a:alpha val="45000"/>
            </a:srgbClr>
          </a:solidFill>
          <a:ln w="12700">
            <a:solidFill>
              <a:srgbClr val="6B6797"/>
            </a:solidFill>
            <a:prstDash val="solid"/>
          </a:ln>
        </p:spPr>
      </p:sp>
      <p:sp>
        <p:nvSpPr>
          <p:cNvPr id="99" name="Shape 97"/>
          <p:cNvSpPr/>
          <p:nvPr/>
        </p:nvSpPr>
        <p:spPr>
          <a:xfrm>
            <a:off x="11546457" y="3114073"/>
            <a:ext cx="125952" cy="125952"/>
          </a:xfrm>
          <a:prstGeom prst="ellipse">
            <a:avLst/>
          </a:prstGeom>
          <a:solidFill>
            <a:srgbClr val="6B6797">
              <a:alpha val="45000"/>
            </a:srgbClr>
          </a:solidFill>
          <a:ln w="12700">
            <a:solidFill>
              <a:srgbClr val="6B6797"/>
            </a:solidFill>
            <a:prstDash val="solid"/>
          </a:ln>
        </p:spPr>
      </p:sp>
      <p:sp>
        <p:nvSpPr>
          <p:cNvPr id="100" name="Shape 98"/>
          <p:cNvSpPr/>
          <p:nvPr/>
        </p:nvSpPr>
        <p:spPr>
          <a:xfrm>
            <a:off x="11557844" y="4011693"/>
            <a:ext cx="110150" cy="110150"/>
          </a:xfrm>
          <a:prstGeom prst="ellipse">
            <a:avLst/>
          </a:prstGeom>
          <a:solidFill>
            <a:srgbClr val="6B6797">
              <a:alpha val="45000"/>
            </a:srgbClr>
          </a:solidFill>
          <a:ln w="12700">
            <a:solidFill>
              <a:srgbClr val="6B6797"/>
            </a:solidFill>
            <a:prstDash val="solid"/>
          </a:ln>
        </p:spPr>
      </p:sp>
      <p:sp>
        <p:nvSpPr>
          <p:cNvPr id="101" name="Shape 99"/>
          <p:cNvSpPr/>
          <p:nvPr/>
        </p:nvSpPr>
        <p:spPr>
          <a:xfrm>
            <a:off x="10219621" y="762392"/>
            <a:ext cx="123826" cy="123826"/>
          </a:xfrm>
          <a:prstGeom prst="ellipse">
            <a:avLst/>
          </a:prstGeom>
          <a:solidFill>
            <a:srgbClr val="6B6797">
              <a:alpha val="45000"/>
            </a:srgbClr>
          </a:solidFill>
          <a:ln w="12700">
            <a:solidFill>
              <a:srgbClr val="6B6797"/>
            </a:solidFill>
            <a:prstDash val="solid"/>
          </a:ln>
        </p:spPr>
      </p:sp>
      <p:sp>
        <p:nvSpPr>
          <p:cNvPr id="102" name="Text 100"/>
          <p:cNvSpPr/>
          <p:nvPr/>
        </p:nvSpPr>
        <p:spPr>
          <a:xfrm>
            <a:off x="566928" y="1481328"/>
            <a:ext cx="7315200" cy="274320"/>
          </a:xfrm>
          <a:prstGeom prst="rect">
            <a:avLst/>
          </a:prstGeom>
          <a:noFill/>
          <a:ln/>
        </p:spPr>
        <p:txBody>
          <a:bodyPr wrap="square" lIns="0" tIns="0" rIns="0" bIns="0" rtlCol="0" anchor="ctr"/>
          <a:lstStyle/>
          <a:p>
            <a:pPr indent="0" marL="0">
              <a:buNone/>
            </a:pPr>
            <a:r>
              <a:rPr lang="en-US" sz="1200" b="1" spc="200" kern="0" dirty="0">
                <a:solidFill>
                  <a:srgbClr val="E09B21"/>
                </a:solidFill>
                <a:latin typeface="Calibri" pitchFamily="34" charset="0"/>
                <a:ea typeface="Calibri" pitchFamily="34" charset="-122"/>
                <a:cs typeface="Calibri" pitchFamily="34" charset="-120"/>
              </a:rPr>
              <a:t>A GENTLE INTRODUCTION  ·  WITH HANDS-ON PRACTICE</a:t>
            </a:r>
            <a:endParaRPr lang="en-US" sz="1200" dirty="0"/>
          </a:p>
        </p:txBody>
      </p:sp>
      <p:sp>
        <p:nvSpPr>
          <p:cNvPr id="103" name="Text 101"/>
          <p:cNvSpPr/>
          <p:nvPr/>
        </p:nvSpPr>
        <p:spPr>
          <a:xfrm>
            <a:off x="566928" y="1901952"/>
            <a:ext cx="7498080" cy="7772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Latent Class Analysis</a:t>
            </a:r>
            <a:endParaRPr lang="en-US" sz="4000" dirty="0"/>
          </a:p>
        </p:txBody>
      </p:sp>
      <p:sp>
        <p:nvSpPr>
          <p:cNvPr id="104" name="Text 102"/>
          <p:cNvSpPr/>
          <p:nvPr/>
        </p:nvSpPr>
        <p:spPr>
          <a:xfrm>
            <a:off x="566928" y="2615184"/>
            <a:ext cx="7498080" cy="777240"/>
          </a:xfrm>
          <a:prstGeom prst="rect">
            <a:avLst/>
          </a:prstGeom>
          <a:noFill/>
          <a:ln/>
        </p:spPr>
        <p:txBody>
          <a:bodyPr wrap="square" lIns="0" tIns="0" rIns="0" bIns="0" rtlCol="0" anchor="t"/>
          <a:lstStyle/>
          <a:p>
            <a:pPr indent="0" marL="0">
              <a:buNone/>
            </a:pPr>
            <a:r>
              <a:rPr lang="en-US" sz="4000" b="1" dirty="0">
                <a:solidFill>
                  <a:srgbClr val="E09B21"/>
                </a:solidFill>
                <a:latin typeface="Cambria" pitchFamily="34" charset="0"/>
                <a:ea typeface="Cambria" pitchFamily="34" charset="-122"/>
                <a:cs typeface="Cambria" pitchFamily="34" charset="-120"/>
              </a:rPr>
              <a:t>&amp; Latent Profile Analysis</a:t>
            </a:r>
            <a:endParaRPr lang="en-US" sz="4000" dirty="0"/>
          </a:p>
        </p:txBody>
      </p:sp>
      <p:sp>
        <p:nvSpPr>
          <p:cNvPr id="105" name="Text 103"/>
          <p:cNvSpPr/>
          <p:nvPr/>
        </p:nvSpPr>
        <p:spPr>
          <a:xfrm>
            <a:off x="566928" y="3584448"/>
            <a:ext cx="6858000" cy="914400"/>
          </a:xfrm>
          <a:prstGeom prst="rect">
            <a:avLst/>
          </a:prstGeom>
          <a:noFill/>
          <a:ln/>
        </p:spPr>
        <p:txBody>
          <a:bodyPr wrap="square" lIns="0" tIns="0" rIns="0" bIns="0" rtlCol="0" anchor="t"/>
          <a:lstStyle/>
          <a:p>
            <a:pPr indent="0" marL="0">
              <a:lnSpc>
                <a:spcPts val="2300"/>
              </a:lnSpc>
              <a:buNone/>
            </a:pPr>
            <a:r>
              <a:rPr lang="en-US" sz="1550" dirty="0">
                <a:solidFill>
                  <a:srgbClr val="C9C4E6"/>
                </a:solidFill>
                <a:latin typeface="Calibri" pitchFamily="34" charset="0"/>
                <a:ea typeface="Calibri" pitchFamily="34" charset="-122"/>
                <a:cs typeface="Calibri" pitchFamily="34" charset="-120"/>
              </a:rPr>
              <a:t>Finding hidden subgroups in survey, cohort and health data — what the two methods are, how they differ, and how to run one yourself in R.</a:t>
            </a:r>
            <a:endParaRPr lang="en-US" sz="1550" dirty="0"/>
          </a:p>
        </p:txBody>
      </p:sp>
      <p:sp>
        <p:nvSpPr>
          <p:cNvPr id="106" name="Text 104"/>
          <p:cNvSpPr/>
          <p:nvPr/>
        </p:nvSpPr>
        <p:spPr>
          <a:xfrm>
            <a:off x="566928" y="4846320"/>
            <a:ext cx="6858000" cy="274320"/>
          </a:xfrm>
          <a:prstGeom prst="rect">
            <a:avLst/>
          </a:prstGeom>
          <a:noFill/>
          <a:ln/>
        </p:spPr>
        <p:txBody>
          <a:bodyPr wrap="square" lIns="0" tIns="0" rIns="0" bIns="0" rtlCol="0" anchor="ctr"/>
          <a:lstStyle/>
          <a:p>
            <a:pPr indent="0" marL="0">
              <a:buNone/>
            </a:pPr>
            <a:r>
              <a:rPr lang="en-US" sz="1200" dirty="0">
                <a:solidFill>
                  <a:srgbClr val="8F89B8"/>
                </a:solidFill>
                <a:latin typeface="Calibri" pitchFamily="34" charset="0"/>
                <a:ea typeface="Calibri" pitchFamily="34" charset="-122"/>
                <a:cs typeface="Calibri" pitchFamily="34" charset="-120"/>
              </a:rPr>
              <a:t>Seminar deck  ·  approx. 60 minutes  ·  no prior knowledge assumed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AIMS</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What you should be able to do by the end</a:t>
            </a:r>
            <a:endParaRPr lang="en-US" sz="2900" dirty="0"/>
          </a:p>
        </p:txBody>
      </p:sp>
      <p:sp>
        <p:nvSpPr>
          <p:cNvPr id="4" name="Shape 2"/>
          <p:cNvSpPr/>
          <p:nvPr/>
        </p:nvSpPr>
        <p:spPr>
          <a:xfrm>
            <a:off x="566928" y="1481328"/>
            <a:ext cx="11055096" cy="1078992"/>
          </a:xfrm>
          <a:prstGeom prst="roundRect">
            <a:avLst>
              <a:gd name="adj" fmla="val 8475"/>
            </a:avLst>
          </a:prstGeom>
          <a:solidFill>
            <a:srgbClr val="F5F4FA"/>
          </a:solidFill>
          <a:ln w="12700">
            <a:solidFill>
              <a:srgbClr val="DBD8E8"/>
            </a:solidFill>
            <a:prstDash val="solid"/>
          </a:ln>
        </p:spPr>
      </p:sp>
      <p:sp>
        <p:nvSpPr>
          <p:cNvPr id="5" name="Shape 3"/>
          <p:cNvSpPr/>
          <p:nvPr/>
        </p:nvSpPr>
        <p:spPr>
          <a:xfrm>
            <a:off x="841248" y="1783080"/>
            <a:ext cx="475488" cy="475488"/>
          </a:xfrm>
          <a:prstGeom prst="ellipse">
            <a:avLst/>
          </a:prstGeom>
          <a:solidFill>
            <a:srgbClr val="D9553C"/>
          </a:solidFill>
          <a:ln w="12700">
            <a:solidFill>
              <a:srgbClr val="D9553C"/>
            </a:solidFill>
            <a:prstDash val="solid"/>
          </a:ln>
        </p:spPr>
      </p:sp>
      <p:sp>
        <p:nvSpPr>
          <p:cNvPr id="6" name="Text 4"/>
          <p:cNvSpPr/>
          <p:nvPr/>
        </p:nvSpPr>
        <p:spPr>
          <a:xfrm>
            <a:off x="841248" y="17830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499616" y="1682496"/>
            <a:ext cx="2743200" cy="310896"/>
          </a:xfrm>
          <a:prstGeom prst="rect">
            <a:avLst/>
          </a:prstGeom>
          <a:noFill/>
          <a:ln/>
        </p:spPr>
        <p:txBody>
          <a:bodyPr wrap="square" lIns="0" tIns="0" rIns="0" bIns="0" rtlCol="0" anchor="ctr"/>
          <a:lstStyle/>
          <a:p>
            <a:pPr indent="0" marL="0">
              <a:buNone/>
            </a:pPr>
            <a:r>
              <a:rPr lang="en-US" sz="1500" b="1" dirty="0">
                <a:solidFill>
                  <a:srgbClr val="1A1633"/>
                </a:solidFill>
                <a:latin typeface="Calibri" pitchFamily="34" charset="0"/>
                <a:ea typeface="Calibri" pitchFamily="34" charset="-122"/>
                <a:cs typeface="Calibri" pitchFamily="34" charset="-120"/>
              </a:rPr>
              <a:t>Explain the idea</a:t>
            </a:r>
            <a:endParaRPr lang="en-US" sz="1500" dirty="0"/>
          </a:p>
        </p:txBody>
      </p:sp>
      <p:sp>
        <p:nvSpPr>
          <p:cNvPr id="8" name="Text 6"/>
          <p:cNvSpPr/>
          <p:nvPr/>
        </p:nvSpPr>
        <p:spPr>
          <a:xfrm>
            <a:off x="1499616" y="2020824"/>
            <a:ext cx="9692640" cy="384048"/>
          </a:xfrm>
          <a:prstGeom prst="rect">
            <a:avLst/>
          </a:prstGeom>
          <a:noFill/>
          <a:ln/>
        </p:spPr>
        <p:txBody>
          <a:bodyPr wrap="square" lIns="0" tIns="0" rIns="0" bIns="0" rtlCol="0" anchor="ctr"/>
          <a:lstStyle/>
          <a:p>
            <a:pPr indent="0" marL="0">
              <a:buNone/>
            </a:pPr>
            <a:r>
              <a:rPr lang="en-US" sz="1250" dirty="0">
                <a:solidFill>
                  <a:srgbClr val="6B6785"/>
                </a:solidFill>
                <a:latin typeface="Calibri" pitchFamily="34" charset="0"/>
                <a:ea typeface="Calibri" pitchFamily="34" charset="-122"/>
                <a:cs typeface="Calibri" pitchFamily="34" charset="-120"/>
              </a:rPr>
              <a:t>Say, in plain words, what a latent variable is and what a latent class is — without reaching for jargon.</a:t>
            </a:r>
            <a:endParaRPr lang="en-US" sz="1250" dirty="0"/>
          </a:p>
        </p:txBody>
      </p:sp>
      <p:sp>
        <p:nvSpPr>
          <p:cNvPr id="9" name="Shape 7"/>
          <p:cNvSpPr/>
          <p:nvPr/>
        </p:nvSpPr>
        <p:spPr>
          <a:xfrm>
            <a:off x="566928" y="2724912"/>
            <a:ext cx="11055096" cy="1078992"/>
          </a:xfrm>
          <a:prstGeom prst="roundRect">
            <a:avLst>
              <a:gd name="adj" fmla="val 8475"/>
            </a:avLst>
          </a:prstGeom>
          <a:solidFill>
            <a:srgbClr val="FFFFFF"/>
          </a:solidFill>
          <a:ln w="12700">
            <a:solidFill>
              <a:srgbClr val="DBD8E8"/>
            </a:solidFill>
            <a:prstDash val="solid"/>
          </a:ln>
        </p:spPr>
      </p:sp>
      <p:sp>
        <p:nvSpPr>
          <p:cNvPr id="10" name="Shape 8"/>
          <p:cNvSpPr/>
          <p:nvPr/>
        </p:nvSpPr>
        <p:spPr>
          <a:xfrm>
            <a:off x="841248" y="3026664"/>
            <a:ext cx="475488" cy="475488"/>
          </a:xfrm>
          <a:prstGeom prst="ellipse">
            <a:avLst/>
          </a:prstGeom>
          <a:solidFill>
            <a:srgbClr val="1F8F82"/>
          </a:solidFill>
          <a:ln w="12700">
            <a:solidFill>
              <a:srgbClr val="1F8F82"/>
            </a:solidFill>
            <a:prstDash val="solid"/>
          </a:ln>
        </p:spPr>
      </p:sp>
      <p:sp>
        <p:nvSpPr>
          <p:cNvPr id="11" name="Text 9"/>
          <p:cNvSpPr/>
          <p:nvPr/>
        </p:nvSpPr>
        <p:spPr>
          <a:xfrm>
            <a:off x="841248" y="302666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499616" y="2926080"/>
            <a:ext cx="2743200" cy="310896"/>
          </a:xfrm>
          <a:prstGeom prst="rect">
            <a:avLst/>
          </a:prstGeom>
          <a:noFill/>
          <a:ln/>
        </p:spPr>
        <p:txBody>
          <a:bodyPr wrap="square" lIns="0" tIns="0" rIns="0" bIns="0" rtlCol="0" anchor="ctr"/>
          <a:lstStyle/>
          <a:p>
            <a:pPr indent="0" marL="0">
              <a:buNone/>
            </a:pPr>
            <a:r>
              <a:rPr lang="en-US" sz="1500" b="1" dirty="0">
                <a:solidFill>
                  <a:srgbClr val="1A1633"/>
                </a:solidFill>
                <a:latin typeface="Calibri" pitchFamily="34" charset="0"/>
                <a:ea typeface="Calibri" pitchFamily="34" charset="-122"/>
                <a:cs typeface="Calibri" pitchFamily="34" charset="-120"/>
              </a:rPr>
              <a:t>Tell LCA from LPA</a:t>
            </a:r>
            <a:endParaRPr lang="en-US" sz="1500" dirty="0"/>
          </a:p>
        </p:txBody>
      </p:sp>
      <p:sp>
        <p:nvSpPr>
          <p:cNvPr id="13" name="Text 11"/>
          <p:cNvSpPr/>
          <p:nvPr/>
        </p:nvSpPr>
        <p:spPr>
          <a:xfrm>
            <a:off x="1499616" y="3264408"/>
            <a:ext cx="9692640" cy="384048"/>
          </a:xfrm>
          <a:prstGeom prst="rect">
            <a:avLst/>
          </a:prstGeom>
          <a:noFill/>
          <a:ln/>
        </p:spPr>
        <p:txBody>
          <a:bodyPr wrap="square" lIns="0" tIns="0" rIns="0" bIns="0" rtlCol="0" anchor="ctr"/>
          <a:lstStyle/>
          <a:p>
            <a:pPr indent="0" marL="0">
              <a:buNone/>
            </a:pPr>
            <a:r>
              <a:rPr lang="en-US" sz="1250" dirty="0">
                <a:solidFill>
                  <a:srgbClr val="6B6785"/>
                </a:solidFill>
                <a:latin typeface="Calibri" pitchFamily="34" charset="0"/>
                <a:ea typeface="Calibri" pitchFamily="34" charset="-122"/>
                <a:cs typeface="Calibri" pitchFamily="34" charset="-120"/>
              </a:rPr>
              <a:t>Look at your own variables and know immediately which of the two methods applies, and why.</a:t>
            </a:r>
            <a:endParaRPr lang="en-US" sz="1250" dirty="0"/>
          </a:p>
        </p:txBody>
      </p:sp>
      <p:sp>
        <p:nvSpPr>
          <p:cNvPr id="14" name="Shape 12"/>
          <p:cNvSpPr/>
          <p:nvPr/>
        </p:nvSpPr>
        <p:spPr>
          <a:xfrm>
            <a:off x="566928" y="3968496"/>
            <a:ext cx="11055096" cy="1078992"/>
          </a:xfrm>
          <a:prstGeom prst="roundRect">
            <a:avLst>
              <a:gd name="adj" fmla="val 8475"/>
            </a:avLst>
          </a:prstGeom>
          <a:solidFill>
            <a:srgbClr val="F5F4FA"/>
          </a:solidFill>
          <a:ln w="12700">
            <a:solidFill>
              <a:srgbClr val="DBD8E8"/>
            </a:solidFill>
            <a:prstDash val="solid"/>
          </a:ln>
        </p:spPr>
      </p:sp>
      <p:sp>
        <p:nvSpPr>
          <p:cNvPr id="15" name="Shape 13"/>
          <p:cNvSpPr/>
          <p:nvPr/>
        </p:nvSpPr>
        <p:spPr>
          <a:xfrm>
            <a:off x="841248" y="4270248"/>
            <a:ext cx="475488" cy="475488"/>
          </a:xfrm>
          <a:prstGeom prst="ellipse">
            <a:avLst/>
          </a:prstGeom>
          <a:solidFill>
            <a:srgbClr val="E09B21"/>
          </a:solidFill>
          <a:ln w="12700">
            <a:solidFill>
              <a:srgbClr val="E09B21"/>
            </a:solidFill>
            <a:prstDash val="solid"/>
          </a:ln>
        </p:spPr>
      </p:sp>
      <p:sp>
        <p:nvSpPr>
          <p:cNvPr id="16" name="Text 14"/>
          <p:cNvSpPr/>
          <p:nvPr/>
        </p:nvSpPr>
        <p:spPr>
          <a:xfrm>
            <a:off x="841248" y="427024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499616" y="4169664"/>
            <a:ext cx="2743200" cy="310896"/>
          </a:xfrm>
          <a:prstGeom prst="rect">
            <a:avLst/>
          </a:prstGeom>
          <a:noFill/>
          <a:ln/>
        </p:spPr>
        <p:txBody>
          <a:bodyPr wrap="square" lIns="0" tIns="0" rIns="0" bIns="0" rtlCol="0" anchor="ctr"/>
          <a:lstStyle/>
          <a:p>
            <a:pPr indent="0" marL="0">
              <a:buNone/>
            </a:pPr>
            <a:r>
              <a:rPr lang="en-US" sz="1500" b="1" dirty="0">
                <a:solidFill>
                  <a:srgbClr val="1A1633"/>
                </a:solidFill>
                <a:latin typeface="Calibri" pitchFamily="34" charset="0"/>
                <a:ea typeface="Calibri" pitchFamily="34" charset="-122"/>
                <a:cs typeface="Calibri" pitchFamily="34" charset="-120"/>
              </a:rPr>
              <a:t>Judge a model</a:t>
            </a:r>
            <a:endParaRPr lang="en-US" sz="1500" dirty="0"/>
          </a:p>
        </p:txBody>
      </p:sp>
      <p:sp>
        <p:nvSpPr>
          <p:cNvPr id="18" name="Text 16"/>
          <p:cNvSpPr/>
          <p:nvPr/>
        </p:nvSpPr>
        <p:spPr>
          <a:xfrm>
            <a:off x="1499616" y="4507992"/>
            <a:ext cx="9692640" cy="384048"/>
          </a:xfrm>
          <a:prstGeom prst="rect">
            <a:avLst/>
          </a:prstGeom>
          <a:noFill/>
          <a:ln/>
        </p:spPr>
        <p:txBody>
          <a:bodyPr wrap="square" lIns="0" tIns="0" rIns="0" bIns="0" rtlCol="0" anchor="ctr"/>
          <a:lstStyle/>
          <a:p>
            <a:pPr indent="0" marL="0">
              <a:buNone/>
            </a:pPr>
            <a:r>
              <a:rPr lang="en-US" sz="1250" dirty="0">
                <a:solidFill>
                  <a:srgbClr val="6B6785"/>
                </a:solidFill>
                <a:latin typeface="Calibri" pitchFamily="34" charset="0"/>
                <a:ea typeface="Calibri" pitchFamily="34" charset="-122"/>
                <a:cs typeface="Calibri" pitchFamily="34" charset="-120"/>
              </a:rPr>
              <a:t>Read a fit table — BIC, entropy, BLRT, class sizes — and defend your choice of how many classes.</a:t>
            </a:r>
            <a:endParaRPr lang="en-US" sz="1250" dirty="0"/>
          </a:p>
        </p:txBody>
      </p:sp>
      <p:sp>
        <p:nvSpPr>
          <p:cNvPr id="19" name="Shape 17"/>
          <p:cNvSpPr/>
          <p:nvPr/>
        </p:nvSpPr>
        <p:spPr>
          <a:xfrm>
            <a:off x="566928" y="5212080"/>
            <a:ext cx="11055096" cy="1078992"/>
          </a:xfrm>
          <a:prstGeom prst="roundRect">
            <a:avLst>
              <a:gd name="adj" fmla="val 8475"/>
            </a:avLst>
          </a:prstGeom>
          <a:solidFill>
            <a:srgbClr val="FFFFFF"/>
          </a:solidFill>
          <a:ln w="12700">
            <a:solidFill>
              <a:srgbClr val="DBD8E8"/>
            </a:solidFill>
            <a:prstDash val="solid"/>
          </a:ln>
        </p:spPr>
      </p:sp>
      <p:sp>
        <p:nvSpPr>
          <p:cNvPr id="20" name="Shape 18"/>
          <p:cNvSpPr/>
          <p:nvPr/>
        </p:nvSpPr>
        <p:spPr>
          <a:xfrm>
            <a:off x="841248" y="5513832"/>
            <a:ext cx="475488" cy="475488"/>
          </a:xfrm>
          <a:prstGeom prst="ellipse">
            <a:avLst/>
          </a:prstGeom>
          <a:solidFill>
            <a:srgbClr val="6F63C9"/>
          </a:solidFill>
          <a:ln w="12700">
            <a:solidFill>
              <a:srgbClr val="6F63C9"/>
            </a:solidFill>
            <a:prstDash val="solid"/>
          </a:ln>
        </p:spPr>
      </p:sp>
      <p:sp>
        <p:nvSpPr>
          <p:cNvPr id="21" name="Text 19"/>
          <p:cNvSpPr/>
          <p:nvPr/>
        </p:nvSpPr>
        <p:spPr>
          <a:xfrm>
            <a:off x="841248" y="55138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1499616" y="5413248"/>
            <a:ext cx="2743200" cy="310896"/>
          </a:xfrm>
          <a:prstGeom prst="rect">
            <a:avLst/>
          </a:prstGeom>
          <a:noFill/>
          <a:ln/>
        </p:spPr>
        <p:txBody>
          <a:bodyPr wrap="square" lIns="0" tIns="0" rIns="0" bIns="0" rtlCol="0" anchor="ctr"/>
          <a:lstStyle/>
          <a:p>
            <a:pPr indent="0" marL="0">
              <a:buNone/>
            </a:pPr>
            <a:r>
              <a:rPr lang="en-US" sz="1500" b="1" dirty="0">
                <a:solidFill>
                  <a:srgbClr val="1A1633"/>
                </a:solidFill>
                <a:latin typeface="Calibri" pitchFamily="34" charset="0"/>
                <a:ea typeface="Calibri" pitchFamily="34" charset="-122"/>
                <a:cs typeface="Calibri" pitchFamily="34" charset="-120"/>
              </a:rPr>
              <a:t>Run one yourself</a:t>
            </a:r>
            <a:endParaRPr lang="en-US" sz="1500" dirty="0"/>
          </a:p>
        </p:txBody>
      </p:sp>
      <p:sp>
        <p:nvSpPr>
          <p:cNvPr id="23" name="Text 21"/>
          <p:cNvSpPr/>
          <p:nvPr/>
        </p:nvSpPr>
        <p:spPr>
          <a:xfrm>
            <a:off x="1499616" y="5751576"/>
            <a:ext cx="9692640" cy="384048"/>
          </a:xfrm>
          <a:prstGeom prst="rect">
            <a:avLst/>
          </a:prstGeom>
          <a:noFill/>
          <a:ln/>
        </p:spPr>
        <p:txBody>
          <a:bodyPr wrap="square" lIns="0" tIns="0" rIns="0" bIns="0" rtlCol="0" anchor="ctr"/>
          <a:lstStyle/>
          <a:p>
            <a:pPr indent="0" marL="0">
              <a:buNone/>
            </a:pPr>
            <a:r>
              <a:rPr lang="en-US" sz="1250" dirty="0">
                <a:solidFill>
                  <a:srgbClr val="6B6785"/>
                </a:solidFill>
                <a:latin typeface="Calibri" pitchFamily="34" charset="0"/>
                <a:ea typeface="Calibri" pitchFamily="34" charset="-122"/>
                <a:cs typeface="Calibri" pitchFamily="34" charset="-120"/>
              </a:rPr>
              <a:t>Fit, plot and interpret both an LCA and an LPA in R using the practical script that comes with this deck.</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Where we are going</a:t>
            </a:r>
            <a:endParaRPr lang="en-US" sz="2900" dirty="0"/>
          </a:p>
        </p:txBody>
      </p:sp>
      <p:sp>
        <p:nvSpPr>
          <p:cNvPr id="4" name="Shape 2"/>
          <p:cNvSpPr/>
          <p:nvPr/>
        </p:nvSpPr>
        <p:spPr>
          <a:xfrm>
            <a:off x="566928" y="1691640"/>
            <a:ext cx="2103120" cy="3063240"/>
          </a:xfrm>
          <a:prstGeom prst="roundRect">
            <a:avLst>
              <a:gd name="adj" fmla="val 4348"/>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5" name="Shape 3"/>
          <p:cNvSpPr/>
          <p:nvPr/>
        </p:nvSpPr>
        <p:spPr>
          <a:xfrm>
            <a:off x="1344168" y="1965960"/>
            <a:ext cx="548640" cy="548640"/>
          </a:xfrm>
          <a:prstGeom prst="ellipse">
            <a:avLst/>
          </a:prstGeom>
          <a:solidFill>
            <a:srgbClr val="D9553C"/>
          </a:solidFill>
          <a:ln w="12700">
            <a:solidFill>
              <a:srgbClr val="D9553C"/>
            </a:solidFill>
            <a:prstDash val="solid"/>
          </a:ln>
        </p:spPr>
      </p:sp>
      <p:sp>
        <p:nvSpPr>
          <p:cNvPr id="6" name="Text 4"/>
          <p:cNvSpPr/>
          <p:nvPr/>
        </p:nvSpPr>
        <p:spPr>
          <a:xfrm>
            <a:off x="1344168" y="19659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749808" y="2697480"/>
            <a:ext cx="1737360" cy="566928"/>
          </a:xfrm>
          <a:prstGeom prst="rect">
            <a:avLst/>
          </a:prstGeom>
          <a:noFill/>
          <a:ln/>
        </p:spPr>
        <p:txBody>
          <a:bodyPr wrap="square" lIns="0" tIns="0" rIns="0" bIns="0" rtlCol="0" anchor="t"/>
          <a:lstStyle/>
          <a:p>
            <a:pPr algn="ctr" indent="0" marL="0">
              <a:buNone/>
            </a:pPr>
            <a:r>
              <a:rPr lang="en-US" sz="1600" b="1" dirty="0">
                <a:solidFill>
                  <a:srgbClr val="1A1633"/>
                </a:solidFill>
                <a:latin typeface="Cambria" pitchFamily="34" charset="0"/>
                <a:ea typeface="Cambria" pitchFamily="34" charset="-122"/>
                <a:cs typeface="Cambria" pitchFamily="34" charset="-120"/>
              </a:rPr>
              <a:t>Foundations</a:t>
            </a:r>
            <a:endParaRPr lang="en-US" sz="1600" dirty="0"/>
          </a:p>
        </p:txBody>
      </p:sp>
      <p:sp>
        <p:nvSpPr>
          <p:cNvPr id="8" name="Text 6"/>
          <p:cNvSpPr/>
          <p:nvPr/>
        </p:nvSpPr>
        <p:spPr>
          <a:xfrm>
            <a:off x="749808" y="3310128"/>
            <a:ext cx="1737360" cy="914400"/>
          </a:xfrm>
          <a:prstGeom prst="rect">
            <a:avLst/>
          </a:prstGeom>
          <a:noFill/>
          <a:ln/>
        </p:spPr>
        <p:txBody>
          <a:bodyPr wrap="square" lIns="0" tIns="0" rIns="0" bIns="0" rtlCol="0" anchor="t"/>
          <a:lstStyle/>
          <a:p>
            <a:pPr algn="ctr" indent="0" marL="0">
              <a:lnSpc>
                <a:spcPts val="1700"/>
              </a:lnSpc>
              <a:buNone/>
            </a:pPr>
            <a:r>
              <a:rPr lang="en-US" sz="1200" dirty="0">
                <a:solidFill>
                  <a:srgbClr val="6B6785"/>
                </a:solidFill>
                <a:latin typeface="Calibri" pitchFamily="34" charset="0"/>
                <a:ea typeface="Calibri" pitchFamily="34" charset="-122"/>
                <a:cs typeface="Calibri" pitchFamily="34" charset="-120"/>
              </a:rPr>
              <a:t>Clustering · latent variables · latent classes</a:t>
            </a:r>
            <a:endParaRPr lang="en-US" sz="1200" dirty="0"/>
          </a:p>
        </p:txBody>
      </p:sp>
      <p:sp>
        <p:nvSpPr>
          <p:cNvPr id="9" name="Text 7"/>
          <p:cNvSpPr/>
          <p:nvPr/>
        </p:nvSpPr>
        <p:spPr>
          <a:xfrm>
            <a:off x="749808" y="4315968"/>
            <a:ext cx="1737360" cy="274320"/>
          </a:xfrm>
          <a:prstGeom prst="rect">
            <a:avLst/>
          </a:prstGeom>
          <a:noFill/>
          <a:ln/>
        </p:spPr>
        <p:txBody>
          <a:bodyPr wrap="square" lIns="0" tIns="0" rIns="0" bIns="0" rtlCol="0" anchor="ctr"/>
          <a:lstStyle/>
          <a:p>
            <a:pPr algn="ctr" indent="0" marL="0">
              <a:buNone/>
            </a:pPr>
            <a:r>
              <a:rPr lang="en-US" sz="1050" b="1" dirty="0">
                <a:solidFill>
                  <a:srgbClr val="D9553C"/>
                </a:solidFill>
                <a:latin typeface="Calibri" pitchFamily="34" charset="0"/>
                <a:ea typeface="Calibri" pitchFamily="34" charset="-122"/>
                <a:cs typeface="Calibri" pitchFamily="34" charset="-120"/>
              </a:rPr>
              <a:t>~15 min</a:t>
            </a:r>
            <a:endParaRPr lang="en-US" sz="1050" dirty="0"/>
          </a:p>
        </p:txBody>
      </p:sp>
      <p:sp>
        <p:nvSpPr>
          <p:cNvPr id="10" name="Shape 8"/>
          <p:cNvSpPr/>
          <p:nvPr/>
        </p:nvSpPr>
        <p:spPr>
          <a:xfrm>
            <a:off x="2804922" y="1691640"/>
            <a:ext cx="2103120" cy="3063240"/>
          </a:xfrm>
          <a:prstGeom prst="roundRect">
            <a:avLst>
              <a:gd name="adj" fmla="val 4348"/>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1" name="Shape 9"/>
          <p:cNvSpPr/>
          <p:nvPr/>
        </p:nvSpPr>
        <p:spPr>
          <a:xfrm>
            <a:off x="3582162" y="1965960"/>
            <a:ext cx="548640" cy="548640"/>
          </a:xfrm>
          <a:prstGeom prst="ellipse">
            <a:avLst/>
          </a:prstGeom>
          <a:solidFill>
            <a:srgbClr val="1F8F82"/>
          </a:solidFill>
          <a:ln w="12700">
            <a:solidFill>
              <a:srgbClr val="1F8F82"/>
            </a:solidFill>
            <a:prstDash val="solid"/>
          </a:ln>
        </p:spPr>
      </p:sp>
      <p:sp>
        <p:nvSpPr>
          <p:cNvPr id="12" name="Text 10"/>
          <p:cNvSpPr/>
          <p:nvPr/>
        </p:nvSpPr>
        <p:spPr>
          <a:xfrm>
            <a:off x="3582162" y="19659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2987802" y="2697480"/>
            <a:ext cx="1737360" cy="566928"/>
          </a:xfrm>
          <a:prstGeom prst="rect">
            <a:avLst/>
          </a:prstGeom>
          <a:noFill/>
          <a:ln/>
        </p:spPr>
        <p:txBody>
          <a:bodyPr wrap="square" lIns="0" tIns="0" rIns="0" bIns="0" rtlCol="0" anchor="t"/>
          <a:lstStyle/>
          <a:p>
            <a:pPr algn="ctr" indent="0" marL="0">
              <a:buNone/>
            </a:pPr>
            <a:r>
              <a:rPr lang="en-US" sz="1600" b="1" dirty="0">
                <a:solidFill>
                  <a:srgbClr val="1A1633"/>
                </a:solidFill>
                <a:latin typeface="Cambria" pitchFamily="34" charset="0"/>
                <a:ea typeface="Cambria" pitchFamily="34" charset="-122"/>
                <a:cs typeface="Cambria" pitchFamily="34" charset="-120"/>
              </a:rPr>
              <a:t>LCA vs LPA</a:t>
            </a:r>
            <a:endParaRPr lang="en-US" sz="1600" dirty="0"/>
          </a:p>
        </p:txBody>
      </p:sp>
      <p:sp>
        <p:nvSpPr>
          <p:cNvPr id="14" name="Text 12"/>
          <p:cNvSpPr/>
          <p:nvPr/>
        </p:nvSpPr>
        <p:spPr>
          <a:xfrm>
            <a:off x="2987802" y="3310128"/>
            <a:ext cx="1737360" cy="914400"/>
          </a:xfrm>
          <a:prstGeom prst="rect">
            <a:avLst/>
          </a:prstGeom>
          <a:noFill/>
          <a:ln/>
        </p:spPr>
        <p:txBody>
          <a:bodyPr wrap="square" lIns="0" tIns="0" rIns="0" bIns="0" rtlCol="0" anchor="t"/>
          <a:lstStyle/>
          <a:p>
            <a:pPr algn="ctr" indent="0" marL="0">
              <a:lnSpc>
                <a:spcPts val="1700"/>
              </a:lnSpc>
              <a:buNone/>
            </a:pPr>
            <a:r>
              <a:rPr lang="en-US" sz="1200" dirty="0">
                <a:solidFill>
                  <a:srgbClr val="6B6785"/>
                </a:solidFill>
                <a:latin typeface="Calibri" pitchFamily="34" charset="0"/>
                <a:ea typeface="Calibri" pitchFamily="34" charset="-122"/>
                <a:cs typeface="Calibri" pitchFamily="34" charset="-120"/>
              </a:rPr>
              <a:t>The distinction, in one question</a:t>
            </a:r>
            <a:endParaRPr lang="en-US" sz="1200" dirty="0"/>
          </a:p>
        </p:txBody>
      </p:sp>
      <p:sp>
        <p:nvSpPr>
          <p:cNvPr id="15" name="Text 13"/>
          <p:cNvSpPr/>
          <p:nvPr/>
        </p:nvSpPr>
        <p:spPr>
          <a:xfrm>
            <a:off x="2987802" y="4315968"/>
            <a:ext cx="1737360" cy="274320"/>
          </a:xfrm>
          <a:prstGeom prst="rect">
            <a:avLst/>
          </a:prstGeom>
          <a:noFill/>
          <a:ln/>
        </p:spPr>
        <p:txBody>
          <a:bodyPr wrap="square" lIns="0" tIns="0" rIns="0" bIns="0" rtlCol="0" anchor="ctr"/>
          <a:lstStyle/>
          <a:p>
            <a:pPr algn="ctr" indent="0" marL="0">
              <a:buNone/>
            </a:pPr>
            <a:r>
              <a:rPr lang="en-US" sz="1050" b="1" dirty="0">
                <a:solidFill>
                  <a:srgbClr val="1F8F82"/>
                </a:solidFill>
                <a:latin typeface="Calibri" pitchFamily="34" charset="0"/>
                <a:ea typeface="Calibri" pitchFamily="34" charset="-122"/>
                <a:cs typeface="Calibri" pitchFamily="34" charset="-120"/>
              </a:rPr>
              <a:t>~10 min</a:t>
            </a:r>
            <a:endParaRPr lang="en-US" sz="1050" dirty="0"/>
          </a:p>
        </p:txBody>
      </p:sp>
      <p:sp>
        <p:nvSpPr>
          <p:cNvPr id="16" name="Shape 14"/>
          <p:cNvSpPr/>
          <p:nvPr/>
        </p:nvSpPr>
        <p:spPr>
          <a:xfrm>
            <a:off x="5042916" y="1691640"/>
            <a:ext cx="2103120" cy="3063240"/>
          </a:xfrm>
          <a:prstGeom prst="roundRect">
            <a:avLst>
              <a:gd name="adj" fmla="val 4348"/>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7" name="Shape 15"/>
          <p:cNvSpPr/>
          <p:nvPr/>
        </p:nvSpPr>
        <p:spPr>
          <a:xfrm>
            <a:off x="5820156" y="1965960"/>
            <a:ext cx="548640" cy="548640"/>
          </a:xfrm>
          <a:prstGeom prst="ellipse">
            <a:avLst/>
          </a:prstGeom>
          <a:solidFill>
            <a:srgbClr val="E09B21"/>
          </a:solidFill>
          <a:ln w="12700">
            <a:solidFill>
              <a:srgbClr val="E09B21"/>
            </a:solidFill>
            <a:prstDash val="solid"/>
          </a:ln>
        </p:spPr>
      </p:sp>
      <p:sp>
        <p:nvSpPr>
          <p:cNvPr id="18" name="Text 16"/>
          <p:cNvSpPr/>
          <p:nvPr/>
        </p:nvSpPr>
        <p:spPr>
          <a:xfrm>
            <a:off x="5820156" y="19659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5225796" y="2697480"/>
            <a:ext cx="1737360" cy="566928"/>
          </a:xfrm>
          <a:prstGeom prst="rect">
            <a:avLst/>
          </a:prstGeom>
          <a:noFill/>
          <a:ln/>
        </p:spPr>
        <p:txBody>
          <a:bodyPr wrap="square" lIns="0" tIns="0" rIns="0" bIns="0" rtlCol="0" anchor="t"/>
          <a:lstStyle/>
          <a:p>
            <a:pPr algn="ctr" indent="0" marL="0">
              <a:buNone/>
            </a:pPr>
            <a:r>
              <a:rPr lang="en-US" sz="1600" b="1" dirty="0">
                <a:solidFill>
                  <a:srgbClr val="1A1633"/>
                </a:solidFill>
                <a:latin typeface="Cambria" pitchFamily="34" charset="0"/>
                <a:ea typeface="Cambria" pitchFamily="34" charset="-122"/>
                <a:cs typeface="Cambria" pitchFamily="34" charset="-120"/>
              </a:rPr>
              <a:t>Real studies</a:t>
            </a:r>
            <a:endParaRPr lang="en-US" sz="1600" dirty="0"/>
          </a:p>
        </p:txBody>
      </p:sp>
      <p:sp>
        <p:nvSpPr>
          <p:cNvPr id="20" name="Text 18"/>
          <p:cNvSpPr/>
          <p:nvPr/>
        </p:nvSpPr>
        <p:spPr>
          <a:xfrm>
            <a:off x="5225796" y="3310128"/>
            <a:ext cx="1737360" cy="914400"/>
          </a:xfrm>
          <a:prstGeom prst="rect">
            <a:avLst/>
          </a:prstGeom>
          <a:noFill/>
          <a:ln/>
        </p:spPr>
        <p:txBody>
          <a:bodyPr wrap="square" lIns="0" tIns="0" rIns="0" bIns="0" rtlCol="0" anchor="t"/>
          <a:lstStyle/>
          <a:p>
            <a:pPr algn="ctr" indent="0" marL="0">
              <a:lnSpc>
                <a:spcPts val="1700"/>
              </a:lnSpc>
              <a:buNone/>
            </a:pPr>
            <a:r>
              <a:rPr lang="en-US" sz="1200" dirty="0">
                <a:solidFill>
                  <a:srgbClr val="6B6785"/>
                </a:solidFill>
                <a:latin typeface="Calibri" pitchFamily="34" charset="0"/>
                <a:ea typeface="Calibri" pitchFamily="34" charset="-122"/>
                <a:cs typeface="Calibri" pitchFamily="34" charset="-120"/>
              </a:rPr>
              <a:t>Three published examples</a:t>
            </a:r>
            <a:endParaRPr lang="en-US" sz="1200" dirty="0"/>
          </a:p>
        </p:txBody>
      </p:sp>
      <p:sp>
        <p:nvSpPr>
          <p:cNvPr id="21" name="Text 19"/>
          <p:cNvSpPr/>
          <p:nvPr/>
        </p:nvSpPr>
        <p:spPr>
          <a:xfrm>
            <a:off x="5225796" y="4315968"/>
            <a:ext cx="1737360" cy="274320"/>
          </a:xfrm>
          <a:prstGeom prst="rect">
            <a:avLst/>
          </a:prstGeom>
          <a:noFill/>
          <a:ln/>
        </p:spPr>
        <p:txBody>
          <a:bodyPr wrap="square" lIns="0" tIns="0" rIns="0" bIns="0" rtlCol="0" anchor="ctr"/>
          <a:lstStyle/>
          <a:p>
            <a:pPr algn="ctr" indent="0" marL="0">
              <a:buNone/>
            </a:pPr>
            <a:r>
              <a:rPr lang="en-US" sz="1050" b="1" dirty="0">
                <a:solidFill>
                  <a:srgbClr val="E09B21"/>
                </a:solidFill>
                <a:latin typeface="Calibri" pitchFamily="34" charset="0"/>
                <a:ea typeface="Calibri" pitchFamily="34" charset="-122"/>
                <a:cs typeface="Calibri" pitchFamily="34" charset="-120"/>
              </a:rPr>
              <a:t>~8 min</a:t>
            </a:r>
            <a:endParaRPr lang="en-US" sz="1050" dirty="0"/>
          </a:p>
        </p:txBody>
      </p:sp>
      <p:sp>
        <p:nvSpPr>
          <p:cNvPr id="22" name="Shape 20"/>
          <p:cNvSpPr/>
          <p:nvPr/>
        </p:nvSpPr>
        <p:spPr>
          <a:xfrm>
            <a:off x="7280910" y="1691640"/>
            <a:ext cx="2103120" cy="3063240"/>
          </a:xfrm>
          <a:prstGeom prst="roundRect">
            <a:avLst>
              <a:gd name="adj" fmla="val 4348"/>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23" name="Shape 21"/>
          <p:cNvSpPr/>
          <p:nvPr/>
        </p:nvSpPr>
        <p:spPr>
          <a:xfrm>
            <a:off x="8058150" y="1965960"/>
            <a:ext cx="548640" cy="548640"/>
          </a:xfrm>
          <a:prstGeom prst="ellipse">
            <a:avLst/>
          </a:prstGeom>
          <a:solidFill>
            <a:srgbClr val="6F63C9"/>
          </a:solidFill>
          <a:ln w="12700">
            <a:solidFill>
              <a:srgbClr val="6F63C9"/>
            </a:solidFill>
            <a:prstDash val="solid"/>
          </a:ln>
        </p:spPr>
      </p:sp>
      <p:sp>
        <p:nvSpPr>
          <p:cNvPr id="24" name="Text 22"/>
          <p:cNvSpPr/>
          <p:nvPr/>
        </p:nvSpPr>
        <p:spPr>
          <a:xfrm>
            <a:off x="8058150" y="19659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5" name="Text 23"/>
          <p:cNvSpPr/>
          <p:nvPr/>
        </p:nvSpPr>
        <p:spPr>
          <a:xfrm>
            <a:off x="7463790" y="2697480"/>
            <a:ext cx="1737360" cy="566928"/>
          </a:xfrm>
          <a:prstGeom prst="rect">
            <a:avLst/>
          </a:prstGeom>
          <a:noFill/>
          <a:ln/>
        </p:spPr>
        <p:txBody>
          <a:bodyPr wrap="square" lIns="0" tIns="0" rIns="0" bIns="0" rtlCol="0" anchor="t"/>
          <a:lstStyle/>
          <a:p>
            <a:pPr algn="ctr" indent="0" marL="0">
              <a:buNone/>
            </a:pPr>
            <a:r>
              <a:rPr lang="en-US" sz="1600" b="1" dirty="0">
                <a:solidFill>
                  <a:srgbClr val="1A1633"/>
                </a:solidFill>
                <a:latin typeface="Cambria" pitchFamily="34" charset="0"/>
                <a:ea typeface="Cambria" pitchFamily="34" charset="-122"/>
                <a:cs typeface="Cambria" pitchFamily="34" charset="-120"/>
              </a:rPr>
              <a:t>The five steps</a:t>
            </a:r>
            <a:endParaRPr lang="en-US" sz="1600" dirty="0"/>
          </a:p>
        </p:txBody>
      </p:sp>
      <p:sp>
        <p:nvSpPr>
          <p:cNvPr id="26" name="Text 24"/>
          <p:cNvSpPr/>
          <p:nvPr/>
        </p:nvSpPr>
        <p:spPr>
          <a:xfrm>
            <a:off x="7463790" y="3310128"/>
            <a:ext cx="1737360" cy="914400"/>
          </a:xfrm>
          <a:prstGeom prst="rect">
            <a:avLst/>
          </a:prstGeom>
          <a:noFill/>
          <a:ln/>
        </p:spPr>
        <p:txBody>
          <a:bodyPr wrap="square" lIns="0" tIns="0" rIns="0" bIns="0" rtlCol="0" anchor="t"/>
          <a:lstStyle/>
          <a:p>
            <a:pPr algn="ctr" indent="0" marL="0">
              <a:lnSpc>
                <a:spcPts val="1700"/>
              </a:lnSpc>
              <a:buNone/>
            </a:pPr>
            <a:r>
              <a:rPr lang="en-US" sz="1200" dirty="0">
                <a:solidFill>
                  <a:srgbClr val="6B6785"/>
                </a:solidFill>
                <a:latin typeface="Calibri" pitchFamily="34" charset="0"/>
                <a:ea typeface="Calibri" pitchFamily="34" charset="-122"/>
                <a:cs typeface="Calibri" pitchFamily="34" charset="-120"/>
              </a:rPr>
              <a:t>How a model is actually built</a:t>
            </a:r>
            <a:endParaRPr lang="en-US" sz="1200" dirty="0"/>
          </a:p>
        </p:txBody>
      </p:sp>
      <p:sp>
        <p:nvSpPr>
          <p:cNvPr id="27" name="Text 25"/>
          <p:cNvSpPr/>
          <p:nvPr/>
        </p:nvSpPr>
        <p:spPr>
          <a:xfrm>
            <a:off x="7463790" y="4315968"/>
            <a:ext cx="1737360" cy="274320"/>
          </a:xfrm>
          <a:prstGeom prst="rect">
            <a:avLst/>
          </a:prstGeom>
          <a:noFill/>
          <a:ln/>
        </p:spPr>
        <p:txBody>
          <a:bodyPr wrap="square" lIns="0" tIns="0" rIns="0" bIns="0" rtlCol="0" anchor="ctr"/>
          <a:lstStyle/>
          <a:p>
            <a:pPr algn="ctr" indent="0" marL="0">
              <a:buNone/>
            </a:pPr>
            <a:r>
              <a:rPr lang="en-US" sz="1050" b="1" dirty="0">
                <a:solidFill>
                  <a:srgbClr val="6F63C9"/>
                </a:solidFill>
                <a:latin typeface="Calibri" pitchFamily="34" charset="0"/>
                <a:ea typeface="Calibri" pitchFamily="34" charset="-122"/>
                <a:cs typeface="Calibri" pitchFamily="34" charset="-120"/>
              </a:rPr>
              <a:t>~15 min</a:t>
            </a:r>
            <a:endParaRPr lang="en-US" sz="1050" dirty="0"/>
          </a:p>
        </p:txBody>
      </p:sp>
      <p:sp>
        <p:nvSpPr>
          <p:cNvPr id="28" name="Shape 26"/>
          <p:cNvSpPr/>
          <p:nvPr/>
        </p:nvSpPr>
        <p:spPr>
          <a:xfrm>
            <a:off x="9518904" y="1691640"/>
            <a:ext cx="2103120" cy="3063240"/>
          </a:xfrm>
          <a:prstGeom prst="roundRect">
            <a:avLst>
              <a:gd name="adj" fmla="val 4348"/>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29" name="Shape 27"/>
          <p:cNvSpPr/>
          <p:nvPr/>
        </p:nvSpPr>
        <p:spPr>
          <a:xfrm>
            <a:off x="10296144" y="1965960"/>
            <a:ext cx="548640" cy="548640"/>
          </a:xfrm>
          <a:prstGeom prst="ellipse">
            <a:avLst/>
          </a:prstGeom>
          <a:solidFill>
            <a:srgbClr val="B23A6B"/>
          </a:solidFill>
          <a:ln w="12700">
            <a:solidFill>
              <a:srgbClr val="B23A6B"/>
            </a:solidFill>
            <a:prstDash val="solid"/>
          </a:ln>
        </p:spPr>
      </p:sp>
      <p:sp>
        <p:nvSpPr>
          <p:cNvPr id="30" name="Text 28"/>
          <p:cNvSpPr/>
          <p:nvPr/>
        </p:nvSpPr>
        <p:spPr>
          <a:xfrm>
            <a:off x="10296144" y="19659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1" name="Text 29"/>
          <p:cNvSpPr/>
          <p:nvPr/>
        </p:nvSpPr>
        <p:spPr>
          <a:xfrm>
            <a:off x="9701784" y="2697480"/>
            <a:ext cx="1737360" cy="566928"/>
          </a:xfrm>
          <a:prstGeom prst="rect">
            <a:avLst/>
          </a:prstGeom>
          <a:noFill/>
          <a:ln/>
        </p:spPr>
        <p:txBody>
          <a:bodyPr wrap="square" lIns="0" tIns="0" rIns="0" bIns="0" rtlCol="0" anchor="t"/>
          <a:lstStyle/>
          <a:p>
            <a:pPr algn="ctr" indent="0" marL="0">
              <a:buNone/>
            </a:pPr>
            <a:r>
              <a:rPr lang="en-US" sz="1600" b="1" dirty="0">
                <a:solidFill>
                  <a:srgbClr val="1A1633"/>
                </a:solidFill>
                <a:latin typeface="Cambria" pitchFamily="34" charset="0"/>
                <a:ea typeface="Cambria" pitchFamily="34" charset="-122"/>
                <a:cs typeface="Cambria" pitchFamily="34" charset="-120"/>
              </a:rPr>
              <a:t>Practical</a:t>
            </a:r>
            <a:endParaRPr lang="en-US" sz="1600" dirty="0"/>
          </a:p>
        </p:txBody>
      </p:sp>
      <p:sp>
        <p:nvSpPr>
          <p:cNvPr id="32" name="Text 30"/>
          <p:cNvSpPr/>
          <p:nvPr/>
        </p:nvSpPr>
        <p:spPr>
          <a:xfrm>
            <a:off x="9701784" y="3310128"/>
            <a:ext cx="1737360" cy="914400"/>
          </a:xfrm>
          <a:prstGeom prst="rect">
            <a:avLst/>
          </a:prstGeom>
          <a:noFill/>
          <a:ln/>
        </p:spPr>
        <p:txBody>
          <a:bodyPr wrap="square" lIns="0" tIns="0" rIns="0" bIns="0" rtlCol="0" anchor="t"/>
          <a:lstStyle/>
          <a:p>
            <a:pPr algn="ctr" indent="0" marL="0">
              <a:lnSpc>
                <a:spcPts val="1700"/>
              </a:lnSpc>
              <a:buNone/>
            </a:pPr>
            <a:r>
              <a:rPr lang="en-US" sz="1200" dirty="0">
                <a:solidFill>
                  <a:srgbClr val="6B6785"/>
                </a:solidFill>
                <a:latin typeface="Calibri" pitchFamily="34" charset="0"/>
                <a:ea typeface="Calibri" pitchFamily="34" charset="-122"/>
                <a:cs typeface="Calibri" pitchFamily="34" charset="-120"/>
              </a:rPr>
              <a:t>Run it yourself in R</a:t>
            </a:r>
            <a:endParaRPr lang="en-US" sz="1200" dirty="0"/>
          </a:p>
        </p:txBody>
      </p:sp>
      <p:sp>
        <p:nvSpPr>
          <p:cNvPr id="33" name="Text 31"/>
          <p:cNvSpPr/>
          <p:nvPr/>
        </p:nvSpPr>
        <p:spPr>
          <a:xfrm>
            <a:off x="9701784" y="4315968"/>
            <a:ext cx="1737360" cy="274320"/>
          </a:xfrm>
          <a:prstGeom prst="rect">
            <a:avLst/>
          </a:prstGeom>
          <a:noFill/>
          <a:ln/>
        </p:spPr>
        <p:txBody>
          <a:bodyPr wrap="square" lIns="0" tIns="0" rIns="0" bIns="0" rtlCol="0" anchor="ctr"/>
          <a:lstStyle/>
          <a:p>
            <a:pPr algn="ctr" indent="0" marL="0">
              <a:buNone/>
            </a:pPr>
            <a:r>
              <a:rPr lang="en-US" sz="1050" b="1" dirty="0">
                <a:solidFill>
                  <a:srgbClr val="B23A6B"/>
                </a:solidFill>
                <a:latin typeface="Calibri" pitchFamily="34" charset="0"/>
                <a:ea typeface="Calibri" pitchFamily="34" charset="-122"/>
                <a:cs typeface="Calibri" pitchFamily="34" charset="-120"/>
              </a:rPr>
              <a:t>~12 min</a:t>
            </a:r>
            <a:endParaRPr lang="en-US" sz="1050" dirty="0"/>
          </a:p>
        </p:txBody>
      </p:sp>
      <p:sp>
        <p:nvSpPr>
          <p:cNvPr id="34" name="Shape 32"/>
          <p:cNvSpPr/>
          <p:nvPr/>
        </p:nvSpPr>
        <p:spPr>
          <a:xfrm>
            <a:off x="566928" y="5074920"/>
            <a:ext cx="11055096" cy="841248"/>
          </a:xfrm>
          <a:prstGeom prst="roundRect">
            <a:avLst>
              <a:gd name="adj" fmla="val 10870"/>
            </a:avLst>
          </a:prstGeom>
          <a:solidFill>
            <a:srgbClr val="EBE9F5"/>
          </a:solidFill>
          <a:ln w="12700">
            <a:solidFill>
              <a:srgbClr val="DBD8E8"/>
            </a:solidFill>
            <a:prstDash val="solid"/>
          </a:ln>
        </p:spPr>
      </p:sp>
      <p:sp>
        <p:nvSpPr>
          <p:cNvPr id="35" name="Text 33"/>
          <p:cNvSpPr/>
          <p:nvPr/>
        </p:nvSpPr>
        <p:spPr>
          <a:xfrm>
            <a:off x="886968" y="5074920"/>
            <a:ext cx="10415016" cy="841248"/>
          </a:xfrm>
          <a:prstGeom prst="rect">
            <a:avLst/>
          </a:prstGeom>
          <a:noFill/>
          <a:ln/>
        </p:spPr>
        <p:txBody>
          <a:bodyPr wrap="square" lIns="0" tIns="0" rIns="0" bIns="0" rtlCol="0" anchor="ctr"/>
          <a:lstStyle/>
          <a:p>
            <a:pPr indent="0" marL="0">
              <a:buNone/>
            </a:pPr>
            <a:r>
              <a:rPr lang="en-US" sz="1400" dirty="0">
                <a:solidFill>
                  <a:srgbClr val="6B6785"/>
                </a:solidFill>
                <a:latin typeface="Calibri" pitchFamily="34" charset="0"/>
                <a:ea typeface="Calibri" pitchFamily="34" charset="-122"/>
                <a:cs typeface="Calibri" pitchFamily="34" charset="-120"/>
              </a:rPr>
              <a:t>One idea runs through all five parts:  </a:t>
            </a:r>
            <a:pPr indent="0" marL="0">
              <a:buNone/>
            </a:pPr>
            <a:r>
              <a:rPr lang="en-US" sz="1400" b="1" dirty="0">
                <a:solidFill>
                  <a:srgbClr val="1A1633"/>
                </a:solidFill>
                <a:latin typeface="Calibri" pitchFamily="34" charset="0"/>
                <a:ea typeface="Calibri" pitchFamily="34" charset="-122"/>
                <a:cs typeface="Calibri" pitchFamily="34" charset="-120"/>
              </a:rPr>
              <a:t>people are not all the same, and the groups that matter are usually not labelled in your dataset.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A2356"/>
        </a:solidFill>
      </p:bgPr>
    </p:bg>
    <p:spTree>
      <p:nvGrpSpPr>
        <p:cNvPr id="1" name=""/>
        <p:cNvGrpSpPr/>
        <p:nvPr/>
      </p:nvGrpSpPr>
      <p:grpSpPr>
        <a:xfrm>
          <a:off x="0" y="0"/>
          <a:ext cx="0" cy="0"/>
          <a:chOff x="0" y="0"/>
          <a:chExt cx="0" cy="0"/>
        </a:xfrm>
      </p:grpSpPr>
      <p:sp>
        <p:nvSpPr>
          <p:cNvPr id="2" name="Shape 0"/>
          <p:cNvSpPr/>
          <p:nvPr/>
        </p:nvSpPr>
        <p:spPr>
          <a:xfrm>
            <a:off x="10811019" y="5916964"/>
            <a:ext cx="158293" cy="158293"/>
          </a:xfrm>
          <a:prstGeom prst="ellipse">
            <a:avLst/>
          </a:prstGeom>
          <a:solidFill>
            <a:srgbClr val="D9553C">
              <a:alpha val="55000"/>
            </a:srgbClr>
          </a:solidFill>
          <a:ln w="12700">
            <a:solidFill>
              <a:srgbClr val="D9553C"/>
            </a:solidFill>
            <a:prstDash val="solid"/>
          </a:ln>
        </p:spPr>
      </p:sp>
      <p:sp>
        <p:nvSpPr>
          <p:cNvPr id="3" name="Shape 1"/>
          <p:cNvSpPr/>
          <p:nvPr/>
        </p:nvSpPr>
        <p:spPr>
          <a:xfrm>
            <a:off x="11375546" y="3767314"/>
            <a:ext cx="199046" cy="199046"/>
          </a:xfrm>
          <a:prstGeom prst="ellipse">
            <a:avLst/>
          </a:prstGeom>
          <a:solidFill>
            <a:srgbClr val="1F8F82">
              <a:alpha val="55000"/>
            </a:srgbClr>
          </a:solidFill>
          <a:ln w="12700">
            <a:solidFill>
              <a:srgbClr val="1F8F82"/>
            </a:solidFill>
            <a:prstDash val="solid"/>
          </a:ln>
        </p:spPr>
      </p:sp>
      <p:sp>
        <p:nvSpPr>
          <p:cNvPr id="4" name="Shape 2"/>
          <p:cNvSpPr/>
          <p:nvPr/>
        </p:nvSpPr>
        <p:spPr>
          <a:xfrm>
            <a:off x="11067922" y="3820995"/>
            <a:ext cx="171515" cy="171515"/>
          </a:xfrm>
          <a:prstGeom prst="ellipse">
            <a:avLst/>
          </a:prstGeom>
          <a:solidFill>
            <a:srgbClr val="E09B21">
              <a:alpha val="55000"/>
            </a:srgbClr>
          </a:solidFill>
          <a:ln w="12700">
            <a:solidFill>
              <a:srgbClr val="E09B21"/>
            </a:solidFill>
            <a:prstDash val="solid"/>
          </a:ln>
        </p:spPr>
      </p:sp>
      <p:sp>
        <p:nvSpPr>
          <p:cNvPr id="5" name="Shape 3"/>
          <p:cNvSpPr/>
          <p:nvPr/>
        </p:nvSpPr>
        <p:spPr>
          <a:xfrm>
            <a:off x="10412888" y="1426634"/>
            <a:ext cx="199097" cy="199097"/>
          </a:xfrm>
          <a:prstGeom prst="ellipse">
            <a:avLst/>
          </a:prstGeom>
          <a:solidFill>
            <a:srgbClr val="6F63C9">
              <a:alpha val="55000"/>
            </a:srgbClr>
          </a:solidFill>
          <a:ln w="12700">
            <a:solidFill>
              <a:srgbClr val="6F63C9"/>
            </a:solidFill>
            <a:prstDash val="solid"/>
          </a:ln>
        </p:spPr>
      </p:sp>
      <p:sp>
        <p:nvSpPr>
          <p:cNvPr id="6" name="Shape 4"/>
          <p:cNvSpPr/>
          <p:nvPr/>
        </p:nvSpPr>
        <p:spPr>
          <a:xfrm>
            <a:off x="9714451" y="2673710"/>
            <a:ext cx="188578" cy="188578"/>
          </a:xfrm>
          <a:prstGeom prst="ellipse">
            <a:avLst/>
          </a:prstGeom>
          <a:solidFill>
            <a:srgbClr val="B23A6B">
              <a:alpha val="55000"/>
            </a:srgbClr>
          </a:solidFill>
          <a:ln w="12700">
            <a:solidFill>
              <a:srgbClr val="B23A6B"/>
            </a:solidFill>
            <a:prstDash val="solid"/>
          </a:ln>
        </p:spPr>
      </p:sp>
      <p:sp>
        <p:nvSpPr>
          <p:cNvPr id="7" name="Shape 5"/>
          <p:cNvSpPr/>
          <p:nvPr/>
        </p:nvSpPr>
        <p:spPr>
          <a:xfrm>
            <a:off x="9963791" y="1092527"/>
            <a:ext cx="205254" cy="205254"/>
          </a:xfrm>
          <a:prstGeom prst="ellipse">
            <a:avLst/>
          </a:prstGeom>
          <a:solidFill>
            <a:srgbClr val="D9553C">
              <a:alpha val="55000"/>
            </a:srgbClr>
          </a:solidFill>
          <a:ln w="12700">
            <a:solidFill>
              <a:srgbClr val="D9553C"/>
            </a:solidFill>
            <a:prstDash val="solid"/>
          </a:ln>
        </p:spPr>
      </p:sp>
      <p:sp>
        <p:nvSpPr>
          <p:cNvPr id="8" name="Shape 6"/>
          <p:cNvSpPr/>
          <p:nvPr/>
        </p:nvSpPr>
        <p:spPr>
          <a:xfrm>
            <a:off x="8763383" y="4663881"/>
            <a:ext cx="126119" cy="126119"/>
          </a:xfrm>
          <a:prstGeom prst="ellipse">
            <a:avLst/>
          </a:prstGeom>
          <a:solidFill>
            <a:srgbClr val="1F8F82">
              <a:alpha val="55000"/>
            </a:srgbClr>
          </a:solidFill>
          <a:ln w="12700">
            <a:solidFill>
              <a:srgbClr val="1F8F82"/>
            </a:solidFill>
            <a:prstDash val="solid"/>
          </a:ln>
        </p:spPr>
      </p:sp>
      <p:sp>
        <p:nvSpPr>
          <p:cNvPr id="9" name="Shape 7"/>
          <p:cNvSpPr/>
          <p:nvPr/>
        </p:nvSpPr>
        <p:spPr>
          <a:xfrm>
            <a:off x="8643827" y="1751041"/>
            <a:ext cx="110308" cy="110308"/>
          </a:xfrm>
          <a:prstGeom prst="ellipse">
            <a:avLst/>
          </a:prstGeom>
          <a:solidFill>
            <a:srgbClr val="E09B21">
              <a:alpha val="55000"/>
            </a:srgbClr>
          </a:solidFill>
          <a:ln w="12700">
            <a:solidFill>
              <a:srgbClr val="E09B21"/>
            </a:solidFill>
            <a:prstDash val="solid"/>
          </a:ln>
        </p:spPr>
      </p:sp>
      <p:sp>
        <p:nvSpPr>
          <p:cNvPr id="10" name="Shape 8"/>
          <p:cNvSpPr/>
          <p:nvPr/>
        </p:nvSpPr>
        <p:spPr>
          <a:xfrm>
            <a:off x="10129055" y="1134410"/>
            <a:ext cx="193468" cy="193468"/>
          </a:xfrm>
          <a:prstGeom prst="ellipse">
            <a:avLst/>
          </a:prstGeom>
          <a:solidFill>
            <a:srgbClr val="6F63C9">
              <a:alpha val="55000"/>
            </a:srgbClr>
          </a:solidFill>
          <a:ln w="12700">
            <a:solidFill>
              <a:srgbClr val="6F63C9"/>
            </a:solidFill>
            <a:prstDash val="solid"/>
          </a:ln>
        </p:spPr>
      </p:sp>
      <p:sp>
        <p:nvSpPr>
          <p:cNvPr id="11" name="Shape 9"/>
          <p:cNvSpPr/>
          <p:nvPr/>
        </p:nvSpPr>
        <p:spPr>
          <a:xfrm>
            <a:off x="10469795" y="4448893"/>
            <a:ext cx="157088" cy="157088"/>
          </a:xfrm>
          <a:prstGeom prst="ellipse">
            <a:avLst/>
          </a:prstGeom>
          <a:solidFill>
            <a:srgbClr val="B23A6B">
              <a:alpha val="55000"/>
            </a:srgbClr>
          </a:solidFill>
          <a:ln w="12700">
            <a:solidFill>
              <a:srgbClr val="B23A6B"/>
            </a:solidFill>
            <a:prstDash val="solid"/>
          </a:ln>
        </p:spPr>
      </p:sp>
      <p:sp>
        <p:nvSpPr>
          <p:cNvPr id="12" name="Shape 10"/>
          <p:cNvSpPr/>
          <p:nvPr/>
        </p:nvSpPr>
        <p:spPr>
          <a:xfrm>
            <a:off x="8478164" y="3190335"/>
            <a:ext cx="166830" cy="166830"/>
          </a:xfrm>
          <a:prstGeom prst="ellipse">
            <a:avLst/>
          </a:prstGeom>
          <a:solidFill>
            <a:srgbClr val="D9553C">
              <a:alpha val="55000"/>
            </a:srgbClr>
          </a:solidFill>
          <a:ln w="12700">
            <a:solidFill>
              <a:srgbClr val="D9553C"/>
            </a:solidFill>
            <a:prstDash val="solid"/>
          </a:ln>
        </p:spPr>
      </p:sp>
      <p:sp>
        <p:nvSpPr>
          <p:cNvPr id="13" name="Shape 11"/>
          <p:cNvSpPr/>
          <p:nvPr/>
        </p:nvSpPr>
        <p:spPr>
          <a:xfrm>
            <a:off x="11025596" y="4651104"/>
            <a:ext cx="209987" cy="209987"/>
          </a:xfrm>
          <a:prstGeom prst="ellipse">
            <a:avLst/>
          </a:prstGeom>
          <a:solidFill>
            <a:srgbClr val="1F8F82">
              <a:alpha val="55000"/>
            </a:srgbClr>
          </a:solidFill>
          <a:ln w="12700">
            <a:solidFill>
              <a:srgbClr val="1F8F82"/>
            </a:solidFill>
            <a:prstDash val="solid"/>
          </a:ln>
        </p:spPr>
      </p:sp>
      <p:sp>
        <p:nvSpPr>
          <p:cNvPr id="14" name="Shape 12"/>
          <p:cNvSpPr/>
          <p:nvPr/>
        </p:nvSpPr>
        <p:spPr>
          <a:xfrm>
            <a:off x="8063567" y="4141081"/>
            <a:ext cx="149473" cy="149473"/>
          </a:xfrm>
          <a:prstGeom prst="ellipse">
            <a:avLst/>
          </a:prstGeom>
          <a:solidFill>
            <a:srgbClr val="E09B21">
              <a:alpha val="55000"/>
            </a:srgbClr>
          </a:solidFill>
          <a:ln w="12700">
            <a:solidFill>
              <a:srgbClr val="E09B21"/>
            </a:solidFill>
            <a:prstDash val="solid"/>
          </a:ln>
        </p:spPr>
      </p:sp>
      <p:sp>
        <p:nvSpPr>
          <p:cNvPr id="15" name="Shape 13"/>
          <p:cNvSpPr/>
          <p:nvPr/>
        </p:nvSpPr>
        <p:spPr>
          <a:xfrm>
            <a:off x="9277056" y="4119158"/>
            <a:ext cx="173272" cy="173272"/>
          </a:xfrm>
          <a:prstGeom prst="ellipse">
            <a:avLst/>
          </a:prstGeom>
          <a:solidFill>
            <a:srgbClr val="6F63C9">
              <a:alpha val="55000"/>
            </a:srgbClr>
          </a:solidFill>
          <a:ln w="12700">
            <a:solidFill>
              <a:srgbClr val="6F63C9"/>
            </a:solidFill>
            <a:prstDash val="solid"/>
          </a:ln>
        </p:spPr>
      </p:sp>
      <p:sp>
        <p:nvSpPr>
          <p:cNvPr id="16" name="Shape 14"/>
          <p:cNvSpPr/>
          <p:nvPr/>
        </p:nvSpPr>
        <p:spPr>
          <a:xfrm>
            <a:off x="9529317" y="4512249"/>
            <a:ext cx="160407" cy="160407"/>
          </a:xfrm>
          <a:prstGeom prst="ellipse">
            <a:avLst/>
          </a:prstGeom>
          <a:solidFill>
            <a:srgbClr val="B23A6B">
              <a:alpha val="55000"/>
            </a:srgbClr>
          </a:solidFill>
          <a:ln w="12700">
            <a:solidFill>
              <a:srgbClr val="B23A6B"/>
            </a:solidFill>
            <a:prstDash val="solid"/>
          </a:ln>
        </p:spPr>
      </p:sp>
      <p:sp>
        <p:nvSpPr>
          <p:cNvPr id="17" name="Shape 15"/>
          <p:cNvSpPr/>
          <p:nvPr/>
        </p:nvSpPr>
        <p:spPr>
          <a:xfrm>
            <a:off x="9569757" y="4353013"/>
            <a:ext cx="92373" cy="92373"/>
          </a:xfrm>
          <a:prstGeom prst="ellipse">
            <a:avLst/>
          </a:prstGeom>
          <a:solidFill>
            <a:srgbClr val="D9553C">
              <a:alpha val="55000"/>
            </a:srgbClr>
          </a:solidFill>
          <a:ln w="12700">
            <a:solidFill>
              <a:srgbClr val="D9553C"/>
            </a:solidFill>
            <a:prstDash val="solid"/>
          </a:ln>
        </p:spPr>
      </p:sp>
      <p:sp>
        <p:nvSpPr>
          <p:cNvPr id="18" name="Shape 16"/>
          <p:cNvSpPr/>
          <p:nvPr/>
        </p:nvSpPr>
        <p:spPr>
          <a:xfrm>
            <a:off x="11153098" y="3575048"/>
            <a:ext cx="155662" cy="155662"/>
          </a:xfrm>
          <a:prstGeom prst="ellipse">
            <a:avLst/>
          </a:prstGeom>
          <a:solidFill>
            <a:srgbClr val="1F8F82">
              <a:alpha val="55000"/>
            </a:srgbClr>
          </a:solidFill>
          <a:ln w="12700">
            <a:solidFill>
              <a:srgbClr val="1F8F82"/>
            </a:solidFill>
            <a:prstDash val="solid"/>
          </a:ln>
        </p:spPr>
      </p:sp>
      <p:sp>
        <p:nvSpPr>
          <p:cNvPr id="19" name="Shape 17"/>
          <p:cNvSpPr/>
          <p:nvPr/>
        </p:nvSpPr>
        <p:spPr>
          <a:xfrm>
            <a:off x="10421062" y="5215008"/>
            <a:ext cx="151643" cy="151643"/>
          </a:xfrm>
          <a:prstGeom prst="ellipse">
            <a:avLst/>
          </a:prstGeom>
          <a:solidFill>
            <a:srgbClr val="E09B21">
              <a:alpha val="55000"/>
            </a:srgbClr>
          </a:solidFill>
          <a:ln w="12700">
            <a:solidFill>
              <a:srgbClr val="E09B21"/>
            </a:solidFill>
            <a:prstDash val="solid"/>
          </a:ln>
        </p:spPr>
      </p:sp>
      <p:sp>
        <p:nvSpPr>
          <p:cNvPr id="20" name="Shape 18"/>
          <p:cNvSpPr/>
          <p:nvPr/>
        </p:nvSpPr>
        <p:spPr>
          <a:xfrm>
            <a:off x="11552618" y="947045"/>
            <a:ext cx="119179" cy="119179"/>
          </a:xfrm>
          <a:prstGeom prst="ellipse">
            <a:avLst/>
          </a:prstGeom>
          <a:solidFill>
            <a:srgbClr val="6F63C9">
              <a:alpha val="55000"/>
            </a:srgbClr>
          </a:solidFill>
          <a:ln w="12700">
            <a:solidFill>
              <a:srgbClr val="6F63C9"/>
            </a:solidFill>
            <a:prstDash val="solid"/>
          </a:ln>
        </p:spPr>
      </p:sp>
      <p:sp>
        <p:nvSpPr>
          <p:cNvPr id="21" name="Shape 19"/>
          <p:cNvSpPr/>
          <p:nvPr/>
        </p:nvSpPr>
        <p:spPr>
          <a:xfrm>
            <a:off x="8487375" y="2926436"/>
            <a:ext cx="200048" cy="200048"/>
          </a:xfrm>
          <a:prstGeom prst="ellipse">
            <a:avLst/>
          </a:prstGeom>
          <a:solidFill>
            <a:srgbClr val="B23A6B">
              <a:alpha val="55000"/>
            </a:srgbClr>
          </a:solidFill>
          <a:ln w="12700">
            <a:solidFill>
              <a:srgbClr val="B23A6B"/>
            </a:solidFill>
            <a:prstDash val="solid"/>
          </a:ln>
        </p:spPr>
      </p:sp>
      <p:sp>
        <p:nvSpPr>
          <p:cNvPr id="22" name="Shape 20"/>
          <p:cNvSpPr/>
          <p:nvPr/>
        </p:nvSpPr>
        <p:spPr>
          <a:xfrm>
            <a:off x="9517629" y="2895068"/>
            <a:ext cx="108224" cy="108224"/>
          </a:xfrm>
          <a:prstGeom prst="ellipse">
            <a:avLst/>
          </a:prstGeom>
          <a:solidFill>
            <a:srgbClr val="D9553C">
              <a:alpha val="55000"/>
            </a:srgbClr>
          </a:solidFill>
          <a:ln w="12700">
            <a:solidFill>
              <a:srgbClr val="D9553C"/>
            </a:solidFill>
            <a:prstDash val="solid"/>
          </a:ln>
        </p:spPr>
      </p:sp>
      <p:sp>
        <p:nvSpPr>
          <p:cNvPr id="23" name="Shape 21"/>
          <p:cNvSpPr/>
          <p:nvPr/>
        </p:nvSpPr>
        <p:spPr>
          <a:xfrm>
            <a:off x="10788917" y="5661396"/>
            <a:ext cx="146498" cy="146498"/>
          </a:xfrm>
          <a:prstGeom prst="ellipse">
            <a:avLst/>
          </a:prstGeom>
          <a:solidFill>
            <a:srgbClr val="1F8F82">
              <a:alpha val="55000"/>
            </a:srgbClr>
          </a:solidFill>
          <a:ln w="12700">
            <a:solidFill>
              <a:srgbClr val="1F8F82"/>
            </a:solidFill>
            <a:prstDash val="solid"/>
          </a:ln>
        </p:spPr>
      </p:sp>
      <p:sp>
        <p:nvSpPr>
          <p:cNvPr id="24" name="Shape 22"/>
          <p:cNvSpPr/>
          <p:nvPr/>
        </p:nvSpPr>
        <p:spPr>
          <a:xfrm>
            <a:off x="8930316" y="1851502"/>
            <a:ext cx="137213" cy="137213"/>
          </a:xfrm>
          <a:prstGeom prst="ellipse">
            <a:avLst/>
          </a:prstGeom>
          <a:solidFill>
            <a:srgbClr val="E09B21">
              <a:alpha val="55000"/>
            </a:srgbClr>
          </a:solidFill>
          <a:ln w="12700">
            <a:solidFill>
              <a:srgbClr val="E09B21"/>
            </a:solidFill>
            <a:prstDash val="solid"/>
          </a:ln>
        </p:spPr>
      </p:sp>
      <p:sp>
        <p:nvSpPr>
          <p:cNvPr id="25" name="Shape 23"/>
          <p:cNvSpPr/>
          <p:nvPr/>
        </p:nvSpPr>
        <p:spPr>
          <a:xfrm>
            <a:off x="10076809" y="3401977"/>
            <a:ext cx="139532" cy="139532"/>
          </a:xfrm>
          <a:prstGeom prst="ellipse">
            <a:avLst/>
          </a:prstGeom>
          <a:solidFill>
            <a:srgbClr val="6F63C9">
              <a:alpha val="55000"/>
            </a:srgbClr>
          </a:solidFill>
          <a:ln w="12700">
            <a:solidFill>
              <a:srgbClr val="6F63C9"/>
            </a:solidFill>
            <a:prstDash val="solid"/>
          </a:ln>
        </p:spPr>
      </p:sp>
      <p:sp>
        <p:nvSpPr>
          <p:cNvPr id="26" name="Shape 24"/>
          <p:cNvSpPr/>
          <p:nvPr/>
        </p:nvSpPr>
        <p:spPr>
          <a:xfrm>
            <a:off x="8644086" y="1072844"/>
            <a:ext cx="111599" cy="111599"/>
          </a:xfrm>
          <a:prstGeom prst="ellipse">
            <a:avLst/>
          </a:prstGeom>
          <a:solidFill>
            <a:srgbClr val="B23A6B">
              <a:alpha val="55000"/>
            </a:srgbClr>
          </a:solidFill>
          <a:ln w="12700">
            <a:solidFill>
              <a:srgbClr val="B23A6B"/>
            </a:solidFill>
            <a:prstDash val="solid"/>
          </a:ln>
        </p:spPr>
      </p:sp>
      <p:sp>
        <p:nvSpPr>
          <p:cNvPr id="27" name="Shape 25"/>
          <p:cNvSpPr/>
          <p:nvPr/>
        </p:nvSpPr>
        <p:spPr>
          <a:xfrm>
            <a:off x="10105636" y="5449830"/>
            <a:ext cx="94762" cy="94762"/>
          </a:xfrm>
          <a:prstGeom prst="ellipse">
            <a:avLst/>
          </a:prstGeom>
          <a:solidFill>
            <a:srgbClr val="D9553C">
              <a:alpha val="55000"/>
            </a:srgbClr>
          </a:solidFill>
          <a:ln w="12700">
            <a:solidFill>
              <a:srgbClr val="D9553C"/>
            </a:solidFill>
            <a:prstDash val="solid"/>
          </a:ln>
        </p:spPr>
      </p:sp>
      <p:sp>
        <p:nvSpPr>
          <p:cNvPr id="28" name="Shape 26"/>
          <p:cNvSpPr/>
          <p:nvPr/>
        </p:nvSpPr>
        <p:spPr>
          <a:xfrm>
            <a:off x="8337292" y="5278039"/>
            <a:ext cx="141389" cy="141389"/>
          </a:xfrm>
          <a:prstGeom prst="ellipse">
            <a:avLst/>
          </a:prstGeom>
          <a:solidFill>
            <a:srgbClr val="1F8F82">
              <a:alpha val="55000"/>
            </a:srgbClr>
          </a:solidFill>
          <a:ln w="12700">
            <a:solidFill>
              <a:srgbClr val="1F8F82"/>
            </a:solidFill>
            <a:prstDash val="solid"/>
          </a:ln>
        </p:spPr>
      </p:sp>
      <p:sp>
        <p:nvSpPr>
          <p:cNvPr id="29" name="Shape 27"/>
          <p:cNvSpPr/>
          <p:nvPr/>
        </p:nvSpPr>
        <p:spPr>
          <a:xfrm>
            <a:off x="8478112" y="2790181"/>
            <a:ext cx="101676" cy="101676"/>
          </a:xfrm>
          <a:prstGeom prst="ellipse">
            <a:avLst/>
          </a:prstGeom>
          <a:solidFill>
            <a:srgbClr val="E09B21">
              <a:alpha val="55000"/>
            </a:srgbClr>
          </a:solidFill>
          <a:ln w="12700">
            <a:solidFill>
              <a:srgbClr val="E09B21"/>
            </a:solidFill>
            <a:prstDash val="solid"/>
          </a:ln>
        </p:spPr>
      </p:sp>
      <p:sp>
        <p:nvSpPr>
          <p:cNvPr id="30" name="Shape 28"/>
          <p:cNvSpPr/>
          <p:nvPr/>
        </p:nvSpPr>
        <p:spPr>
          <a:xfrm>
            <a:off x="11016702" y="5556049"/>
            <a:ext cx="96861" cy="96861"/>
          </a:xfrm>
          <a:prstGeom prst="ellipse">
            <a:avLst/>
          </a:prstGeom>
          <a:solidFill>
            <a:srgbClr val="6F63C9">
              <a:alpha val="55000"/>
            </a:srgbClr>
          </a:solidFill>
          <a:ln w="12700">
            <a:solidFill>
              <a:srgbClr val="6F63C9"/>
            </a:solidFill>
            <a:prstDash val="solid"/>
          </a:ln>
        </p:spPr>
      </p:sp>
      <p:sp>
        <p:nvSpPr>
          <p:cNvPr id="31" name="Shape 29"/>
          <p:cNvSpPr/>
          <p:nvPr/>
        </p:nvSpPr>
        <p:spPr>
          <a:xfrm>
            <a:off x="9622316" y="4318214"/>
            <a:ext cx="173713" cy="173713"/>
          </a:xfrm>
          <a:prstGeom prst="ellipse">
            <a:avLst/>
          </a:prstGeom>
          <a:solidFill>
            <a:srgbClr val="B23A6B">
              <a:alpha val="55000"/>
            </a:srgbClr>
          </a:solidFill>
          <a:ln w="12700">
            <a:solidFill>
              <a:srgbClr val="B23A6B"/>
            </a:solidFill>
            <a:prstDash val="solid"/>
          </a:ln>
        </p:spPr>
      </p:sp>
      <p:sp>
        <p:nvSpPr>
          <p:cNvPr id="32" name="Shape 30"/>
          <p:cNvSpPr/>
          <p:nvPr/>
        </p:nvSpPr>
        <p:spPr>
          <a:xfrm>
            <a:off x="8799816" y="656394"/>
            <a:ext cx="104640" cy="104640"/>
          </a:xfrm>
          <a:prstGeom prst="ellipse">
            <a:avLst/>
          </a:prstGeom>
          <a:solidFill>
            <a:srgbClr val="D9553C">
              <a:alpha val="55000"/>
            </a:srgbClr>
          </a:solidFill>
          <a:ln w="12700">
            <a:solidFill>
              <a:srgbClr val="D9553C"/>
            </a:solidFill>
            <a:prstDash val="solid"/>
          </a:ln>
        </p:spPr>
      </p:sp>
      <p:sp>
        <p:nvSpPr>
          <p:cNvPr id="33" name="Shape 31"/>
          <p:cNvSpPr/>
          <p:nvPr/>
        </p:nvSpPr>
        <p:spPr>
          <a:xfrm>
            <a:off x="10851782" y="3131251"/>
            <a:ext cx="122103" cy="122103"/>
          </a:xfrm>
          <a:prstGeom prst="ellipse">
            <a:avLst/>
          </a:prstGeom>
          <a:solidFill>
            <a:srgbClr val="1F8F82">
              <a:alpha val="55000"/>
            </a:srgbClr>
          </a:solidFill>
          <a:ln w="12700">
            <a:solidFill>
              <a:srgbClr val="1F8F82"/>
            </a:solidFill>
            <a:prstDash val="solid"/>
          </a:ln>
        </p:spPr>
      </p:sp>
      <p:sp>
        <p:nvSpPr>
          <p:cNvPr id="34" name="Shape 32"/>
          <p:cNvSpPr/>
          <p:nvPr/>
        </p:nvSpPr>
        <p:spPr>
          <a:xfrm>
            <a:off x="11596380" y="6386605"/>
            <a:ext cx="205270" cy="205270"/>
          </a:xfrm>
          <a:prstGeom prst="ellipse">
            <a:avLst/>
          </a:prstGeom>
          <a:solidFill>
            <a:srgbClr val="E09B21">
              <a:alpha val="55000"/>
            </a:srgbClr>
          </a:solidFill>
          <a:ln w="12700">
            <a:solidFill>
              <a:srgbClr val="E09B21"/>
            </a:solidFill>
            <a:prstDash val="solid"/>
          </a:ln>
        </p:spPr>
      </p:sp>
      <p:sp>
        <p:nvSpPr>
          <p:cNvPr id="35" name="Shape 33"/>
          <p:cNvSpPr/>
          <p:nvPr/>
        </p:nvSpPr>
        <p:spPr>
          <a:xfrm>
            <a:off x="9511181" y="3515275"/>
            <a:ext cx="176044" cy="176044"/>
          </a:xfrm>
          <a:prstGeom prst="ellipse">
            <a:avLst/>
          </a:prstGeom>
          <a:solidFill>
            <a:srgbClr val="6F63C9">
              <a:alpha val="55000"/>
            </a:srgbClr>
          </a:solidFill>
          <a:ln w="12700">
            <a:solidFill>
              <a:srgbClr val="6F63C9"/>
            </a:solidFill>
            <a:prstDash val="solid"/>
          </a:ln>
        </p:spPr>
      </p:sp>
      <p:sp>
        <p:nvSpPr>
          <p:cNvPr id="36" name="Shape 34"/>
          <p:cNvSpPr/>
          <p:nvPr/>
        </p:nvSpPr>
        <p:spPr>
          <a:xfrm>
            <a:off x="10733852" y="1565218"/>
            <a:ext cx="204719" cy="204719"/>
          </a:xfrm>
          <a:prstGeom prst="ellipse">
            <a:avLst/>
          </a:prstGeom>
          <a:solidFill>
            <a:srgbClr val="B23A6B">
              <a:alpha val="55000"/>
            </a:srgbClr>
          </a:solidFill>
          <a:ln w="12700">
            <a:solidFill>
              <a:srgbClr val="B23A6B"/>
            </a:solidFill>
            <a:prstDash val="solid"/>
          </a:ln>
        </p:spPr>
      </p:sp>
      <p:sp>
        <p:nvSpPr>
          <p:cNvPr id="37" name="Shape 35"/>
          <p:cNvSpPr/>
          <p:nvPr/>
        </p:nvSpPr>
        <p:spPr>
          <a:xfrm>
            <a:off x="9978120" y="3779132"/>
            <a:ext cx="174835" cy="174835"/>
          </a:xfrm>
          <a:prstGeom prst="ellipse">
            <a:avLst/>
          </a:prstGeom>
          <a:solidFill>
            <a:srgbClr val="D9553C">
              <a:alpha val="55000"/>
            </a:srgbClr>
          </a:solidFill>
          <a:ln w="12700">
            <a:solidFill>
              <a:srgbClr val="D9553C"/>
            </a:solidFill>
            <a:prstDash val="solid"/>
          </a:ln>
        </p:spPr>
      </p:sp>
      <p:sp>
        <p:nvSpPr>
          <p:cNvPr id="38" name="Shape 36"/>
          <p:cNvSpPr/>
          <p:nvPr/>
        </p:nvSpPr>
        <p:spPr>
          <a:xfrm>
            <a:off x="8091152" y="4538058"/>
            <a:ext cx="105343" cy="105343"/>
          </a:xfrm>
          <a:prstGeom prst="ellipse">
            <a:avLst/>
          </a:prstGeom>
          <a:solidFill>
            <a:srgbClr val="1F8F82">
              <a:alpha val="55000"/>
            </a:srgbClr>
          </a:solidFill>
          <a:ln w="12700">
            <a:solidFill>
              <a:srgbClr val="1F8F82"/>
            </a:solidFill>
            <a:prstDash val="solid"/>
          </a:ln>
        </p:spPr>
      </p:sp>
      <p:sp>
        <p:nvSpPr>
          <p:cNvPr id="39" name="Shape 37"/>
          <p:cNvSpPr/>
          <p:nvPr/>
        </p:nvSpPr>
        <p:spPr>
          <a:xfrm>
            <a:off x="8548147" y="3484999"/>
            <a:ext cx="174634" cy="174634"/>
          </a:xfrm>
          <a:prstGeom prst="ellipse">
            <a:avLst/>
          </a:prstGeom>
          <a:solidFill>
            <a:srgbClr val="E09B21">
              <a:alpha val="55000"/>
            </a:srgbClr>
          </a:solidFill>
          <a:ln w="12700">
            <a:solidFill>
              <a:srgbClr val="E09B21"/>
            </a:solidFill>
            <a:prstDash val="solid"/>
          </a:ln>
        </p:spPr>
      </p:sp>
      <p:sp>
        <p:nvSpPr>
          <p:cNvPr id="40" name="Shape 38"/>
          <p:cNvSpPr/>
          <p:nvPr/>
        </p:nvSpPr>
        <p:spPr>
          <a:xfrm>
            <a:off x="9312428" y="4842362"/>
            <a:ext cx="180991" cy="180991"/>
          </a:xfrm>
          <a:prstGeom prst="ellipse">
            <a:avLst/>
          </a:prstGeom>
          <a:solidFill>
            <a:srgbClr val="6F63C9">
              <a:alpha val="55000"/>
            </a:srgbClr>
          </a:solidFill>
          <a:ln w="12700">
            <a:solidFill>
              <a:srgbClr val="6F63C9"/>
            </a:solidFill>
            <a:prstDash val="solid"/>
          </a:ln>
        </p:spPr>
      </p:sp>
      <p:sp>
        <p:nvSpPr>
          <p:cNvPr id="41" name="Shape 39"/>
          <p:cNvSpPr/>
          <p:nvPr/>
        </p:nvSpPr>
        <p:spPr>
          <a:xfrm>
            <a:off x="9901475" y="6357244"/>
            <a:ext cx="124313" cy="124313"/>
          </a:xfrm>
          <a:prstGeom prst="ellipse">
            <a:avLst/>
          </a:prstGeom>
          <a:solidFill>
            <a:srgbClr val="B23A6B">
              <a:alpha val="55000"/>
            </a:srgbClr>
          </a:solidFill>
          <a:ln w="12700">
            <a:solidFill>
              <a:srgbClr val="B23A6B"/>
            </a:solidFill>
            <a:prstDash val="solid"/>
          </a:ln>
        </p:spPr>
      </p:sp>
      <p:sp>
        <p:nvSpPr>
          <p:cNvPr id="42" name="Shape 40"/>
          <p:cNvSpPr/>
          <p:nvPr/>
        </p:nvSpPr>
        <p:spPr>
          <a:xfrm>
            <a:off x="10376968" y="1149412"/>
            <a:ext cx="152944" cy="152944"/>
          </a:xfrm>
          <a:prstGeom prst="ellipse">
            <a:avLst/>
          </a:prstGeom>
          <a:solidFill>
            <a:srgbClr val="D9553C">
              <a:alpha val="55000"/>
            </a:srgbClr>
          </a:solidFill>
          <a:ln w="12700">
            <a:solidFill>
              <a:srgbClr val="D9553C"/>
            </a:solidFill>
            <a:prstDash val="solid"/>
          </a:ln>
        </p:spPr>
      </p:sp>
      <p:sp>
        <p:nvSpPr>
          <p:cNvPr id="43" name="Shape 41"/>
          <p:cNvSpPr/>
          <p:nvPr/>
        </p:nvSpPr>
        <p:spPr>
          <a:xfrm>
            <a:off x="9893892" y="2610014"/>
            <a:ext cx="108133" cy="108133"/>
          </a:xfrm>
          <a:prstGeom prst="ellipse">
            <a:avLst/>
          </a:prstGeom>
          <a:solidFill>
            <a:srgbClr val="1F8F82">
              <a:alpha val="55000"/>
            </a:srgbClr>
          </a:solidFill>
          <a:ln w="12700">
            <a:solidFill>
              <a:srgbClr val="1F8F82"/>
            </a:solidFill>
            <a:prstDash val="solid"/>
          </a:ln>
        </p:spPr>
      </p:sp>
      <p:sp>
        <p:nvSpPr>
          <p:cNvPr id="44" name="Shape 42"/>
          <p:cNvSpPr/>
          <p:nvPr/>
        </p:nvSpPr>
        <p:spPr>
          <a:xfrm>
            <a:off x="9786741" y="2147132"/>
            <a:ext cx="182429" cy="182429"/>
          </a:xfrm>
          <a:prstGeom prst="ellipse">
            <a:avLst/>
          </a:prstGeom>
          <a:solidFill>
            <a:srgbClr val="E09B21">
              <a:alpha val="55000"/>
            </a:srgbClr>
          </a:solidFill>
          <a:ln w="12700">
            <a:solidFill>
              <a:srgbClr val="E09B21"/>
            </a:solidFill>
            <a:prstDash val="solid"/>
          </a:ln>
        </p:spPr>
      </p:sp>
      <p:sp>
        <p:nvSpPr>
          <p:cNvPr id="45" name="Shape 43"/>
          <p:cNvSpPr/>
          <p:nvPr/>
        </p:nvSpPr>
        <p:spPr>
          <a:xfrm>
            <a:off x="7876364" y="5125280"/>
            <a:ext cx="91470" cy="91470"/>
          </a:xfrm>
          <a:prstGeom prst="ellipse">
            <a:avLst/>
          </a:prstGeom>
          <a:solidFill>
            <a:srgbClr val="6F63C9">
              <a:alpha val="55000"/>
            </a:srgbClr>
          </a:solidFill>
          <a:ln w="12700">
            <a:solidFill>
              <a:srgbClr val="6F63C9"/>
            </a:solidFill>
            <a:prstDash val="solid"/>
          </a:ln>
        </p:spPr>
      </p:sp>
      <p:sp>
        <p:nvSpPr>
          <p:cNvPr id="46" name="Shape 44"/>
          <p:cNvSpPr/>
          <p:nvPr/>
        </p:nvSpPr>
        <p:spPr>
          <a:xfrm>
            <a:off x="11480124" y="3271145"/>
            <a:ext cx="198716" cy="198716"/>
          </a:xfrm>
          <a:prstGeom prst="ellipse">
            <a:avLst/>
          </a:prstGeom>
          <a:solidFill>
            <a:srgbClr val="B23A6B">
              <a:alpha val="55000"/>
            </a:srgbClr>
          </a:solidFill>
          <a:ln w="12700">
            <a:solidFill>
              <a:srgbClr val="B23A6B"/>
            </a:solidFill>
            <a:prstDash val="solid"/>
          </a:ln>
        </p:spPr>
      </p:sp>
      <p:sp>
        <p:nvSpPr>
          <p:cNvPr id="47" name="Shape 45"/>
          <p:cNvSpPr/>
          <p:nvPr/>
        </p:nvSpPr>
        <p:spPr>
          <a:xfrm>
            <a:off x="11297522" y="3404224"/>
            <a:ext cx="172727" cy="172727"/>
          </a:xfrm>
          <a:prstGeom prst="ellipse">
            <a:avLst/>
          </a:prstGeom>
          <a:solidFill>
            <a:srgbClr val="D9553C">
              <a:alpha val="55000"/>
            </a:srgbClr>
          </a:solidFill>
          <a:ln w="12700">
            <a:solidFill>
              <a:srgbClr val="D9553C"/>
            </a:solidFill>
            <a:prstDash val="solid"/>
          </a:ln>
        </p:spPr>
      </p:sp>
      <p:sp>
        <p:nvSpPr>
          <p:cNvPr id="48" name="Shape 46"/>
          <p:cNvSpPr/>
          <p:nvPr/>
        </p:nvSpPr>
        <p:spPr>
          <a:xfrm>
            <a:off x="566928" y="2011680"/>
            <a:ext cx="786384" cy="786384"/>
          </a:xfrm>
          <a:prstGeom prst="ellipse">
            <a:avLst/>
          </a:prstGeom>
          <a:solidFill>
            <a:srgbClr val="E09B21"/>
          </a:solidFill>
          <a:ln w="12700">
            <a:solidFill>
              <a:srgbClr val="E09B21"/>
            </a:solidFill>
            <a:prstDash val="solid"/>
          </a:ln>
        </p:spPr>
      </p:sp>
      <p:sp>
        <p:nvSpPr>
          <p:cNvPr id="49" name="Text 47"/>
          <p:cNvSpPr/>
          <p:nvPr/>
        </p:nvSpPr>
        <p:spPr>
          <a:xfrm>
            <a:off x="566928" y="2011680"/>
            <a:ext cx="786384" cy="786384"/>
          </a:xfrm>
          <a:prstGeom prst="rect">
            <a:avLst/>
          </a:prstGeom>
          <a:noFill/>
          <a:ln/>
        </p:spPr>
        <p:txBody>
          <a:bodyPr wrap="square" lIns="0" tIns="0" rIns="0" bIns="0" rtlCol="0" anchor="ctr"/>
          <a:lstStyle/>
          <a:p>
            <a:pPr algn="ctr" indent="0" marL="0">
              <a:buNone/>
            </a:pPr>
            <a:r>
              <a:rPr lang="en-US" sz="3000" b="1" dirty="0">
                <a:solidFill>
                  <a:srgbClr val="2A2356"/>
                </a:solidFill>
                <a:latin typeface="Calibri" pitchFamily="34" charset="0"/>
                <a:ea typeface="Calibri" pitchFamily="34" charset="-122"/>
                <a:cs typeface="Calibri" pitchFamily="34" charset="-120"/>
              </a:rPr>
              <a:t>1</a:t>
            </a:r>
            <a:endParaRPr lang="en-US" sz="3000" dirty="0"/>
          </a:p>
        </p:txBody>
      </p:sp>
      <p:sp>
        <p:nvSpPr>
          <p:cNvPr id="50" name="Text 48"/>
          <p:cNvSpPr/>
          <p:nvPr/>
        </p:nvSpPr>
        <p:spPr>
          <a:xfrm>
            <a:off x="566928" y="2999232"/>
            <a:ext cx="6766560" cy="9601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Foundations</a:t>
            </a:r>
            <a:endParaRPr lang="en-US" sz="4000" dirty="0"/>
          </a:p>
        </p:txBody>
      </p:sp>
      <p:sp>
        <p:nvSpPr>
          <p:cNvPr id="51" name="Text 49"/>
          <p:cNvSpPr/>
          <p:nvPr/>
        </p:nvSpPr>
        <p:spPr>
          <a:xfrm>
            <a:off x="566928" y="4041648"/>
            <a:ext cx="6400800" cy="731520"/>
          </a:xfrm>
          <a:prstGeom prst="rect">
            <a:avLst/>
          </a:prstGeom>
          <a:noFill/>
          <a:ln/>
        </p:spPr>
        <p:txBody>
          <a:bodyPr wrap="square" lIns="0" tIns="0" rIns="0" bIns="0" rtlCol="0" anchor="t"/>
          <a:lstStyle/>
          <a:p>
            <a:pPr indent="0" marL="0">
              <a:buNone/>
            </a:pPr>
            <a:r>
              <a:rPr lang="en-US" sz="1600" dirty="0">
                <a:solidFill>
                  <a:srgbClr val="C9C4E6"/>
                </a:solidFill>
                <a:latin typeface="Calibri" pitchFamily="34" charset="0"/>
                <a:ea typeface="Calibri" pitchFamily="34" charset="-122"/>
                <a:cs typeface="Calibri" pitchFamily="34" charset="-120"/>
              </a:rPr>
              <a:t>Three ideas you need before the method makes any sense at all: clustering, latent variables, and latent classes.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You have 800 people and 40 questions. Now what?</a:t>
            </a:r>
            <a:endParaRPr lang="en-US" sz="2900" dirty="0"/>
          </a:p>
        </p:txBody>
      </p:sp>
      <p:sp>
        <p:nvSpPr>
          <p:cNvPr id="4" name="Text 2"/>
          <p:cNvSpPr/>
          <p:nvPr/>
        </p:nvSpPr>
        <p:spPr>
          <a:xfrm>
            <a:off x="566928" y="1417320"/>
            <a:ext cx="5120640" cy="2194560"/>
          </a:xfrm>
          <a:prstGeom prst="rect">
            <a:avLst/>
          </a:prstGeom>
          <a:noFill/>
          <a:ln/>
        </p:spPr>
        <p:txBody>
          <a:bodyPr wrap="square" lIns="0" tIns="0" rIns="0" bIns="0" rtlCol="0" anchor="t"/>
          <a:lstStyle/>
          <a:p>
            <a:pPr algn="l" indent="0" marL="0">
              <a:lnSpc>
                <a:spcPts val="2300"/>
              </a:lnSpc>
              <a:buNone/>
            </a:pPr>
            <a:r>
              <a:rPr lang="en-US" sz="1450" dirty="0">
                <a:solidFill>
                  <a:srgbClr val="1A1633"/>
                </a:solidFill>
                <a:latin typeface="Calibri" pitchFamily="34" charset="0"/>
                <a:ea typeface="Calibri" pitchFamily="34" charset="-122"/>
                <a:cs typeface="Calibri" pitchFamily="34" charset="-120"/>
              </a:rPr>
              <a:t>A dataset is a rectangle of numbers. Averages describe the rectangle as though everyone in it were the same person — but they rarely are.</a:t>
            </a:r>
            <a:endParaRPr lang="en-US" sz="1450" dirty="0"/>
          </a:p>
          <a:p>
            <a:pPr algn="l" indent="0" marL="0">
              <a:lnSpc>
                <a:spcPts val="2300"/>
              </a:lnSpc>
              <a:buNone/>
            </a:pPr>
            <a:endParaRPr lang="en-US" sz="1450" dirty="0"/>
          </a:p>
          <a:p>
            <a:pPr algn="l" indent="0" marL="0">
              <a:lnSpc>
                <a:spcPts val="2300"/>
              </a:lnSpc>
              <a:buNone/>
            </a:pPr>
            <a:r>
              <a:rPr lang="en-US" sz="1450" dirty="0">
                <a:solidFill>
                  <a:srgbClr val="1A1633"/>
                </a:solidFill>
                <a:latin typeface="Calibri" pitchFamily="34" charset="0"/>
                <a:ea typeface="Calibri" pitchFamily="34" charset="-122"/>
                <a:cs typeface="Calibri" pitchFamily="34" charset="-120"/>
              </a:rPr>
              <a:t>Underneath the average there are usually distinct kinds of people, each with their own pattern of answers. Nothing in the data tells you they are there, and no column holds their names.</a:t>
            </a:r>
            <a:endParaRPr lang="en-US" sz="1450" dirty="0"/>
          </a:p>
        </p:txBody>
      </p:sp>
      <p:sp>
        <p:nvSpPr>
          <p:cNvPr id="5" name="Shape 3"/>
          <p:cNvSpPr/>
          <p:nvPr/>
        </p:nvSpPr>
        <p:spPr>
          <a:xfrm>
            <a:off x="566928" y="4041648"/>
            <a:ext cx="5120640" cy="1920240"/>
          </a:xfrm>
          <a:prstGeom prst="roundRect">
            <a:avLst>
              <a:gd name="adj" fmla="val 4762"/>
            </a:avLst>
          </a:prstGeom>
          <a:solidFill>
            <a:srgbClr val="F5F4FA"/>
          </a:solidFill>
          <a:ln w="12700">
            <a:solidFill>
              <a:srgbClr val="DBD8E8"/>
            </a:solidFill>
            <a:prstDash val="solid"/>
          </a:ln>
        </p:spPr>
      </p:sp>
      <p:sp>
        <p:nvSpPr>
          <p:cNvPr id="6" name="Text 4"/>
          <p:cNvSpPr/>
          <p:nvPr/>
        </p:nvSpPr>
        <p:spPr>
          <a:xfrm>
            <a:off x="822960" y="4279392"/>
            <a:ext cx="4617720" cy="274320"/>
          </a:xfrm>
          <a:prstGeom prst="rect">
            <a:avLst/>
          </a:prstGeom>
          <a:noFill/>
          <a:ln/>
        </p:spPr>
        <p:txBody>
          <a:bodyPr wrap="square" lIns="0" tIns="0" rIns="0" bIns="0" rtlCol="0" anchor="ctr"/>
          <a:lstStyle/>
          <a:p>
            <a:pPr indent="0" marL="0">
              <a:buNone/>
            </a:pPr>
            <a:r>
              <a:rPr lang="en-US" sz="1100" b="1" spc="100" kern="0" dirty="0">
                <a:solidFill>
                  <a:srgbClr val="D9553C"/>
                </a:solidFill>
                <a:latin typeface="Calibri" pitchFamily="34" charset="0"/>
                <a:ea typeface="Calibri" pitchFamily="34" charset="-122"/>
                <a:cs typeface="Calibri" pitchFamily="34" charset="-120"/>
              </a:rPr>
              <a:t>The question every mixture model asks</a:t>
            </a:r>
            <a:endParaRPr lang="en-US" sz="1100" dirty="0"/>
          </a:p>
        </p:txBody>
      </p:sp>
      <p:sp>
        <p:nvSpPr>
          <p:cNvPr id="7" name="Text 5"/>
          <p:cNvSpPr/>
          <p:nvPr/>
        </p:nvSpPr>
        <p:spPr>
          <a:xfrm>
            <a:off x="822960" y="4590288"/>
            <a:ext cx="4617720" cy="1188720"/>
          </a:xfrm>
          <a:prstGeom prst="rect">
            <a:avLst/>
          </a:prstGeom>
          <a:noFill/>
          <a:ln/>
        </p:spPr>
        <p:txBody>
          <a:bodyPr wrap="square" lIns="0" tIns="0" rIns="0" bIns="0" rtlCol="0" anchor="t"/>
          <a:lstStyle/>
          <a:p>
            <a:pPr indent="0" marL="0">
              <a:lnSpc>
                <a:spcPts val="2200"/>
              </a:lnSpc>
              <a:buNone/>
            </a:pPr>
            <a:r>
              <a:rPr lang="en-US" sz="1700" b="1" dirty="0">
                <a:solidFill>
                  <a:srgbClr val="1A1633"/>
                </a:solidFill>
                <a:latin typeface="Cambria" pitchFamily="34" charset="0"/>
                <a:ea typeface="Cambria" pitchFamily="34" charset="-122"/>
                <a:cs typeface="Cambria" pitchFamily="34" charset="-120"/>
              </a:rPr>
              <a:t>“Are there hidden groups here — and if so, who is in them?”</a:t>
            </a:r>
            <a:endParaRPr lang="en-US" sz="1700" dirty="0"/>
          </a:p>
        </p:txBody>
      </p:sp>
      <p:sp>
        <p:nvSpPr>
          <p:cNvPr id="8" name="Shape 6"/>
          <p:cNvSpPr/>
          <p:nvPr/>
        </p:nvSpPr>
        <p:spPr>
          <a:xfrm>
            <a:off x="6263640" y="1417320"/>
            <a:ext cx="5394960" cy="4544568"/>
          </a:xfrm>
          <a:prstGeom prst="roundRect">
            <a:avLst>
              <a:gd name="adj" fmla="val 2012"/>
            </a:avLst>
          </a:prstGeom>
          <a:solidFill>
            <a:srgbClr val="FFFFFF"/>
          </a:solidFill>
          <a:ln w="12700">
            <a:solidFill>
              <a:srgbClr val="DBD8E8"/>
            </a:solidFill>
            <a:prstDash val="solid"/>
          </a:ln>
        </p:spPr>
      </p:sp>
      <p:sp>
        <p:nvSpPr>
          <p:cNvPr id="9" name="Shape 7"/>
          <p:cNvSpPr/>
          <p:nvPr/>
        </p:nvSpPr>
        <p:spPr>
          <a:xfrm>
            <a:off x="7629236" y="4743881"/>
            <a:ext cx="118872" cy="118872"/>
          </a:xfrm>
          <a:prstGeom prst="ellipse">
            <a:avLst/>
          </a:prstGeom>
          <a:solidFill>
            <a:srgbClr val="8E89AE">
              <a:alpha val="85000"/>
            </a:srgbClr>
          </a:solidFill>
          <a:ln w="12700">
            <a:solidFill>
              <a:srgbClr val="8E89AE"/>
            </a:solidFill>
            <a:prstDash val="solid"/>
          </a:ln>
        </p:spPr>
      </p:sp>
      <p:sp>
        <p:nvSpPr>
          <p:cNvPr id="10" name="Shape 8"/>
          <p:cNvSpPr/>
          <p:nvPr/>
        </p:nvSpPr>
        <p:spPr>
          <a:xfrm>
            <a:off x="7307828" y="4231232"/>
            <a:ext cx="118872" cy="118872"/>
          </a:xfrm>
          <a:prstGeom prst="ellipse">
            <a:avLst/>
          </a:prstGeom>
          <a:solidFill>
            <a:srgbClr val="8E89AE">
              <a:alpha val="85000"/>
            </a:srgbClr>
          </a:solidFill>
          <a:ln w="12700">
            <a:solidFill>
              <a:srgbClr val="8E89AE"/>
            </a:solidFill>
            <a:prstDash val="solid"/>
          </a:ln>
        </p:spPr>
      </p:sp>
      <p:sp>
        <p:nvSpPr>
          <p:cNvPr id="11" name="Shape 9"/>
          <p:cNvSpPr/>
          <p:nvPr/>
        </p:nvSpPr>
        <p:spPr>
          <a:xfrm>
            <a:off x="8049318" y="4478382"/>
            <a:ext cx="118872" cy="118872"/>
          </a:xfrm>
          <a:prstGeom prst="ellipse">
            <a:avLst/>
          </a:prstGeom>
          <a:solidFill>
            <a:srgbClr val="8E89AE">
              <a:alpha val="85000"/>
            </a:srgbClr>
          </a:solidFill>
          <a:ln w="12700">
            <a:solidFill>
              <a:srgbClr val="8E89AE"/>
            </a:solidFill>
            <a:prstDash val="solid"/>
          </a:ln>
        </p:spPr>
      </p:sp>
      <p:sp>
        <p:nvSpPr>
          <p:cNvPr id="12" name="Shape 10"/>
          <p:cNvSpPr/>
          <p:nvPr/>
        </p:nvSpPr>
        <p:spPr>
          <a:xfrm>
            <a:off x="7380537" y="4494057"/>
            <a:ext cx="118872" cy="118872"/>
          </a:xfrm>
          <a:prstGeom prst="ellipse">
            <a:avLst/>
          </a:prstGeom>
          <a:solidFill>
            <a:srgbClr val="8E89AE">
              <a:alpha val="85000"/>
            </a:srgbClr>
          </a:solidFill>
          <a:ln w="12700">
            <a:solidFill>
              <a:srgbClr val="8E89AE"/>
            </a:solidFill>
            <a:prstDash val="solid"/>
          </a:ln>
        </p:spPr>
      </p:sp>
      <p:sp>
        <p:nvSpPr>
          <p:cNvPr id="13" name="Shape 11"/>
          <p:cNvSpPr/>
          <p:nvPr/>
        </p:nvSpPr>
        <p:spPr>
          <a:xfrm>
            <a:off x="7702430" y="4241347"/>
            <a:ext cx="118872" cy="118872"/>
          </a:xfrm>
          <a:prstGeom prst="ellipse">
            <a:avLst/>
          </a:prstGeom>
          <a:solidFill>
            <a:srgbClr val="8E89AE">
              <a:alpha val="85000"/>
            </a:srgbClr>
          </a:solidFill>
          <a:ln w="12700">
            <a:solidFill>
              <a:srgbClr val="8E89AE"/>
            </a:solidFill>
            <a:prstDash val="solid"/>
          </a:ln>
        </p:spPr>
      </p:sp>
      <p:sp>
        <p:nvSpPr>
          <p:cNvPr id="14" name="Shape 12"/>
          <p:cNvSpPr/>
          <p:nvPr/>
        </p:nvSpPr>
        <p:spPr>
          <a:xfrm>
            <a:off x="7782992" y="4367953"/>
            <a:ext cx="118872" cy="118872"/>
          </a:xfrm>
          <a:prstGeom prst="ellipse">
            <a:avLst/>
          </a:prstGeom>
          <a:solidFill>
            <a:srgbClr val="8E89AE">
              <a:alpha val="85000"/>
            </a:srgbClr>
          </a:solidFill>
          <a:ln w="12700">
            <a:solidFill>
              <a:srgbClr val="8E89AE"/>
            </a:solidFill>
            <a:prstDash val="solid"/>
          </a:ln>
        </p:spPr>
      </p:sp>
      <p:sp>
        <p:nvSpPr>
          <p:cNvPr id="15" name="Shape 13"/>
          <p:cNvSpPr/>
          <p:nvPr/>
        </p:nvSpPr>
        <p:spPr>
          <a:xfrm>
            <a:off x="7420366" y="4374548"/>
            <a:ext cx="118872" cy="118872"/>
          </a:xfrm>
          <a:prstGeom prst="ellipse">
            <a:avLst/>
          </a:prstGeom>
          <a:solidFill>
            <a:srgbClr val="8E89AE">
              <a:alpha val="85000"/>
            </a:srgbClr>
          </a:solidFill>
          <a:ln w="12700">
            <a:solidFill>
              <a:srgbClr val="8E89AE"/>
            </a:solidFill>
            <a:prstDash val="solid"/>
          </a:ln>
        </p:spPr>
      </p:sp>
      <p:sp>
        <p:nvSpPr>
          <p:cNvPr id="16" name="Shape 14"/>
          <p:cNvSpPr/>
          <p:nvPr/>
        </p:nvSpPr>
        <p:spPr>
          <a:xfrm>
            <a:off x="7387708" y="4506465"/>
            <a:ext cx="118872" cy="118872"/>
          </a:xfrm>
          <a:prstGeom prst="ellipse">
            <a:avLst/>
          </a:prstGeom>
          <a:solidFill>
            <a:srgbClr val="8E89AE">
              <a:alpha val="85000"/>
            </a:srgbClr>
          </a:solidFill>
          <a:ln w="12700">
            <a:solidFill>
              <a:srgbClr val="8E89AE"/>
            </a:solidFill>
            <a:prstDash val="solid"/>
          </a:ln>
        </p:spPr>
      </p:sp>
      <p:sp>
        <p:nvSpPr>
          <p:cNvPr id="17" name="Shape 15"/>
          <p:cNvSpPr/>
          <p:nvPr/>
        </p:nvSpPr>
        <p:spPr>
          <a:xfrm>
            <a:off x="7550787" y="3989567"/>
            <a:ext cx="118872" cy="118872"/>
          </a:xfrm>
          <a:prstGeom prst="ellipse">
            <a:avLst/>
          </a:prstGeom>
          <a:solidFill>
            <a:srgbClr val="8E89AE">
              <a:alpha val="85000"/>
            </a:srgbClr>
          </a:solidFill>
          <a:ln w="12700">
            <a:solidFill>
              <a:srgbClr val="8E89AE"/>
            </a:solidFill>
            <a:prstDash val="solid"/>
          </a:ln>
        </p:spPr>
      </p:sp>
      <p:sp>
        <p:nvSpPr>
          <p:cNvPr id="18" name="Shape 16"/>
          <p:cNvSpPr/>
          <p:nvPr/>
        </p:nvSpPr>
        <p:spPr>
          <a:xfrm>
            <a:off x="7792993" y="4808384"/>
            <a:ext cx="118872" cy="118872"/>
          </a:xfrm>
          <a:prstGeom prst="ellipse">
            <a:avLst/>
          </a:prstGeom>
          <a:solidFill>
            <a:srgbClr val="8E89AE">
              <a:alpha val="85000"/>
            </a:srgbClr>
          </a:solidFill>
          <a:ln w="12700">
            <a:solidFill>
              <a:srgbClr val="8E89AE"/>
            </a:solidFill>
            <a:prstDash val="solid"/>
          </a:ln>
        </p:spPr>
      </p:sp>
      <p:sp>
        <p:nvSpPr>
          <p:cNvPr id="19" name="Shape 17"/>
          <p:cNvSpPr/>
          <p:nvPr/>
        </p:nvSpPr>
        <p:spPr>
          <a:xfrm>
            <a:off x="7370977" y="4489564"/>
            <a:ext cx="118872" cy="118872"/>
          </a:xfrm>
          <a:prstGeom prst="ellipse">
            <a:avLst/>
          </a:prstGeom>
          <a:solidFill>
            <a:srgbClr val="8E89AE">
              <a:alpha val="85000"/>
            </a:srgbClr>
          </a:solidFill>
          <a:ln w="12700">
            <a:solidFill>
              <a:srgbClr val="8E89AE"/>
            </a:solidFill>
            <a:prstDash val="solid"/>
          </a:ln>
        </p:spPr>
      </p:sp>
      <p:sp>
        <p:nvSpPr>
          <p:cNvPr id="20" name="Shape 18"/>
          <p:cNvSpPr/>
          <p:nvPr/>
        </p:nvSpPr>
        <p:spPr>
          <a:xfrm>
            <a:off x="7808677" y="4450867"/>
            <a:ext cx="118872" cy="118872"/>
          </a:xfrm>
          <a:prstGeom prst="ellipse">
            <a:avLst/>
          </a:prstGeom>
          <a:solidFill>
            <a:srgbClr val="8E89AE">
              <a:alpha val="85000"/>
            </a:srgbClr>
          </a:solidFill>
          <a:ln w="12700">
            <a:solidFill>
              <a:srgbClr val="8E89AE"/>
            </a:solidFill>
            <a:prstDash val="solid"/>
          </a:ln>
        </p:spPr>
      </p:sp>
      <p:sp>
        <p:nvSpPr>
          <p:cNvPr id="21" name="Shape 19"/>
          <p:cNvSpPr/>
          <p:nvPr/>
        </p:nvSpPr>
        <p:spPr>
          <a:xfrm>
            <a:off x="7612976" y="4159593"/>
            <a:ext cx="118872" cy="118872"/>
          </a:xfrm>
          <a:prstGeom prst="ellipse">
            <a:avLst/>
          </a:prstGeom>
          <a:solidFill>
            <a:srgbClr val="8E89AE">
              <a:alpha val="85000"/>
            </a:srgbClr>
          </a:solidFill>
          <a:ln w="12700">
            <a:solidFill>
              <a:srgbClr val="8E89AE"/>
            </a:solidFill>
            <a:prstDash val="solid"/>
          </a:ln>
        </p:spPr>
      </p:sp>
      <p:sp>
        <p:nvSpPr>
          <p:cNvPr id="22" name="Shape 20"/>
          <p:cNvSpPr/>
          <p:nvPr/>
        </p:nvSpPr>
        <p:spPr>
          <a:xfrm>
            <a:off x="7467040" y="4231811"/>
            <a:ext cx="118872" cy="118872"/>
          </a:xfrm>
          <a:prstGeom prst="ellipse">
            <a:avLst/>
          </a:prstGeom>
          <a:solidFill>
            <a:srgbClr val="8E89AE">
              <a:alpha val="85000"/>
            </a:srgbClr>
          </a:solidFill>
          <a:ln w="12700">
            <a:solidFill>
              <a:srgbClr val="8E89AE"/>
            </a:solidFill>
            <a:prstDash val="solid"/>
          </a:ln>
        </p:spPr>
      </p:sp>
      <p:sp>
        <p:nvSpPr>
          <p:cNvPr id="23" name="Shape 21"/>
          <p:cNvSpPr/>
          <p:nvPr/>
        </p:nvSpPr>
        <p:spPr>
          <a:xfrm>
            <a:off x="7347386" y="4207528"/>
            <a:ext cx="118872" cy="118872"/>
          </a:xfrm>
          <a:prstGeom prst="ellipse">
            <a:avLst/>
          </a:prstGeom>
          <a:solidFill>
            <a:srgbClr val="8E89AE">
              <a:alpha val="85000"/>
            </a:srgbClr>
          </a:solidFill>
          <a:ln w="12700">
            <a:solidFill>
              <a:srgbClr val="8E89AE"/>
            </a:solidFill>
            <a:prstDash val="solid"/>
          </a:ln>
        </p:spPr>
      </p:sp>
      <p:sp>
        <p:nvSpPr>
          <p:cNvPr id="24" name="Shape 22"/>
          <p:cNvSpPr/>
          <p:nvPr/>
        </p:nvSpPr>
        <p:spPr>
          <a:xfrm>
            <a:off x="7097238" y="4500635"/>
            <a:ext cx="118872" cy="118872"/>
          </a:xfrm>
          <a:prstGeom prst="ellipse">
            <a:avLst/>
          </a:prstGeom>
          <a:solidFill>
            <a:srgbClr val="8E89AE">
              <a:alpha val="85000"/>
            </a:srgbClr>
          </a:solidFill>
          <a:ln w="12700">
            <a:solidFill>
              <a:srgbClr val="8E89AE"/>
            </a:solidFill>
            <a:prstDash val="solid"/>
          </a:ln>
        </p:spPr>
      </p:sp>
      <p:sp>
        <p:nvSpPr>
          <p:cNvPr id="25" name="Shape 23"/>
          <p:cNvSpPr/>
          <p:nvPr/>
        </p:nvSpPr>
        <p:spPr>
          <a:xfrm>
            <a:off x="7459920" y="4222879"/>
            <a:ext cx="118872" cy="118872"/>
          </a:xfrm>
          <a:prstGeom prst="ellipse">
            <a:avLst/>
          </a:prstGeom>
          <a:solidFill>
            <a:srgbClr val="8E89AE">
              <a:alpha val="85000"/>
            </a:srgbClr>
          </a:solidFill>
          <a:ln w="12700">
            <a:solidFill>
              <a:srgbClr val="8E89AE"/>
            </a:solidFill>
            <a:prstDash val="solid"/>
          </a:ln>
        </p:spPr>
      </p:sp>
      <p:sp>
        <p:nvSpPr>
          <p:cNvPr id="26" name="Shape 24"/>
          <p:cNvSpPr/>
          <p:nvPr/>
        </p:nvSpPr>
        <p:spPr>
          <a:xfrm>
            <a:off x="7949365" y="4279287"/>
            <a:ext cx="118872" cy="118872"/>
          </a:xfrm>
          <a:prstGeom prst="ellipse">
            <a:avLst/>
          </a:prstGeom>
          <a:solidFill>
            <a:srgbClr val="8E89AE">
              <a:alpha val="85000"/>
            </a:srgbClr>
          </a:solidFill>
          <a:ln w="12700">
            <a:solidFill>
              <a:srgbClr val="8E89AE"/>
            </a:solidFill>
            <a:prstDash val="solid"/>
          </a:ln>
        </p:spPr>
      </p:sp>
      <p:sp>
        <p:nvSpPr>
          <p:cNvPr id="27" name="Shape 25"/>
          <p:cNvSpPr/>
          <p:nvPr/>
        </p:nvSpPr>
        <p:spPr>
          <a:xfrm>
            <a:off x="7782578" y="4166928"/>
            <a:ext cx="118872" cy="118872"/>
          </a:xfrm>
          <a:prstGeom prst="ellipse">
            <a:avLst/>
          </a:prstGeom>
          <a:solidFill>
            <a:srgbClr val="8E89AE">
              <a:alpha val="85000"/>
            </a:srgbClr>
          </a:solidFill>
          <a:ln w="12700">
            <a:solidFill>
              <a:srgbClr val="8E89AE"/>
            </a:solidFill>
            <a:prstDash val="solid"/>
          </a:ln>
        </p:spPr>
      </p:sp>
      <p:sp>
        <p:nvSpPr>
          <p:cNvPr id="28" name="Shape 26"/>
          <p:cNvSpPr/>
          <p:nvPr/>
        </p:nvSpPr>
        <p:spPr>
          <a:xfrm>
            <a:off x="7899610" y="4193950"/>
            <a:ext cx="118872" cy="118872"/>
          </a:xfrm>
          <a:prstGeom prst="ellipse">
            <a:avLst/>
          </a:prstGeom>
          <a:solidFill>
            <a:srgbClr val="8E89AE">
              <a:alpha val="85000"/>
            </a:srgbClr>
          </a:solidFill>
          <a:ln w="12700">
            <a:solidFill>
              <a:srgbClr val="8E89AE"/>
            </a:solidFill>
            <a:prstDash val="solid"/>
          </a:ln>
        </p:spPr>
      </p:sp>
      <p:sp>
        <p:nvSpPr>
          <p:cNvPr id="29" name="Shape 27"/>
          <p:cNvSpPr/>
          <p:nvPr/>
        </p:nvSpPr>
        <p:spPr>
          <a:xfrm>
            <a:off x="7700378" y="4501105"/>
            <a:ext cx="118872" cy="118872"/>
          </a:xfrm>
          <a:prstGeom prst="ellipse">
            <a:avLst/>
          </a:prstGeom>
          <a:solidFill>
            <a:srgbClr val="8E89AE">
              <a:alpha val="85000"/>
            </a:srgbClr>
          </a:solidFill>
          <a:ln w="12700">
            <a:solidFill>
              <a:srgbClr val="8E89AE"/>
            </a:solidFill>
            <a:prstDash val="solid"/>
          </a:ln>
        </p:spPr>
      </p:sp>
      <p:sp>
        <p:nvSpPr>
          <p:cNvPr id="30" name="Shape 28"/>
          <p:cNvSpPr/>
          <p:nvPr/>
        </p:nvSpPr>
        <p:spPr>
          <a:xfrm>
            <a:off x="7415159" y="4735802"/>
            <a:ext cx="118872" cy="118872"/>
          </a:xfrm>
          <a:prstGeom prst="ellipse">
            <a:avLst/>
          </a:prstGeom>
          <a:solidFill>
            <a:srgbClr val="8E89AE">
              <a:alpha val="85000"/>
            </a:srgbClr>
          </a:solidFill>
          <a:ln w="12700">
            <a:solidFill>
              <a:srgbClr val="8E89AE"/>
            </a:solidFill>
            <a:prstDash val="solid"/>
          </a:ln>
        </p:spPr>
      </p:sp>
      <p:sp>
        <p:nvSpPr>
          <p:cNvPr id="31" name="Shape 29"/>
          <p:cNvSpPr/>
          <p:nvPr/>
        </p:nvSpPr>
        <p:spPr>
          <a:xfrm>
            <a:off x="7720082" y="4548261"/>
            <a:ext cx="118872" cy="118872"/>
          </a:xfrm>
          <a:prstGeom prst="ellipse">
            <a:avLst/>
          </a:prstGeom>
          <a:solidFill>
            <a:srgbClr val="8E89AE">
              <a:alpha val="85000"/>
            </a:srgbClr>
          </a:solidFill>
          <a:ln w="12700">
            <a:solidFill>
              <a:srgbClr val="8E89AE"/>
            </a:solidFill>
            <a:prstDash val="solid"/>
          </a:ln>
        </p:spPr>
      </p:sp>
      <p:sp>
        <p:nvSpPr>
          <p:cNvPr id="32" name="Shape 30"/>
          <p:cNvSpPr/>
          <p:nvPr/>
        </p:nvSpPr>
        <p:spPr>
          <a:xfrm>
            <a:off x="7746699" y="4389153"/>
            <a:ext cx="118872" cy="118872"/>
          </a:xfrm>
          <a:prstGeom prst="ellipse">
            <a:avLst/>
          </a:prstGeom>
          <a:solidFill>
            <a:srgbClr val="8E89AE">
              <a:alpha val="85000"/>
            </a:srgbClr>
          </a:solidFill>
          <a:ln w="12700">
            <a:solidFill>
              <a:srgbClr val="8E89AE"/>
            </a:solidFill>
            <a:prstDash val="solid"/>
          </a:ln>
        </p:spPr>
      </p:sp>
      <p:sp>
        <p:nvSpPr>
          <p:cNvPr id="33" name="Shape 31"/>
          <p:cNvSpPr/>
          <p:nvPr/>
        </p:nvSpPr>
        <p:spPr>
          <a:xfrm>
            <a:off x="7613325" y="4627447"/>
            <a:ext cx="118872" cy="118872"/>
          </a:xfrm>
          <a:prstGeom prst="ellipse">
            <a:avLst/>
          </a:prstGeom>
          <a:solidFill>
            <a:srgbClr val="8E89AE">
              <a:alpha val="85000"/>
            </a:srgbClr>
          </a:solidFill>
          <a:ln w="12700">
            <a:solidFill>
              <a:srgbClr val="8E89AE"/>
            </a:solidFill>
            <a:prstDash val="solid"/>
          </a:ln>
        </p:spPr>
      </p:sp>
      <p:sp>
        <p:nvSpPr>
          <p:cNvPr id="34" name="Shape 32"/>
          <p:cNvSpPr/>
          <p:nvPr/>
        </p:nvSpPr>
        <p:spPr>
          <a:xfrm>
            <a:off x="8282259" y="4411832"/>
            <a:ext cx="118872" cy="118872"/>
          </a:xfrm>
          <a:prstGeom prst="ellipse">
            <a:avLst/>
          </a:prstGeom>
          <a:solidFill>
            <a:srgbClr val="8E89AE">
              <a:alpha val="85000"/>
            </a:srgbClr>
          </a:solidFill>
          <a:ln w="12700">
            <a:solidFill>
              <a:srgbClr val="8E89AE"/>
            </a:solidFill>
            <a:prstDash val="solid"/>
          </a:ln>
        </p:spPr>
      </p:sp>
      <p:sp>
        <p:nvSpPr>
          <p:cNvPr id="35" name="Shape 33"/>
          <p:cNvSpPr/>
          <p:nvPr/>
        </p:nvSpPr>
        <p:spPr>
          <a:xfrm>
            <a:off x="7706925" y="4057340"/>
            <a:ext cx="118872" cy="118872"/>
          </a:xfrm>
          <a:prstGeom prst="ellipse">
            <a:avLst/>
          </a:prstGeom>
          <a:solidFill>
            <a:srgbClr val="8E89AE">
              <a:alpha val="85000"/>
            </a:srgbClr>
          </a:solidFill>
          <a:ln w="12700">
            <a:solidFill>
              <a:srgbClr val="8E89AE"/>
            </a:solidFill>
            <a:prstDash val="solid"/>
          </a:ln>
        </p:spPr>
      </p:sp>
      <p:sp>
        <p:nvSpPr>
          <p:cNvPr id="36" name="Shape 34"/>
          <p:cNvSpPr/>
          <p:nvPr/>
        </p:nvSpPr>
        <p:spPr>
          <a:xfrm>
            <a:off x="7477243" y="4307198"/>
            <a:ext cx="118872" cy="118872"/>
          </a:xfrm>
          <a:prstGeom prst="ellipse">
            <a:avLst/>
          </a:prstGeom>
          <a:solidFill>
            <a:srgbClr val="8E89AE">
              <a:alpha val="85000"/>
            </a:srgbClr>
          </a:solidFill>
          <a:ln w="12700">
            <a:solidFill>
              <a:srgbClr val="8E89AE"/>
            </a:solidFill>
            <a:prstDash val="solid"/>
          </a:ln>
        </p:spPr>
      </p:sp>
      <p:sp>
        <p:nvSpPr>
          <p:cNvPr id="37" name="Shape 35"/>
          <p:cNvSpPr/>
          <p:nvPr/>
        </p:nvSpPr>
        <p:spPr>
          <a:xfrm>
            <a:off x="7757478" y="4341039"/>
            <a:ext cx="118872" cy="118872"/>
          </a:xfrm>
          <a:prstGeom prst="ellipse">
            <a:avLst/>
          </a:prstGeom>
          <a:solidFill>
            <a:srgbClr val="8E89AE">
              <a:alpha val="85000"/>
            </a:srgbClr>
          </a:solidFill>
          <a:ln w="12700">
            <a:solidFill>
              <a:srgbClr val="8E89AE"/>
            </a:solidFill>
            <a:prstDash val="solid"/>
          </a:ln>
        </p:spPr>
      </p:sp>
      <p:sp>
        <p:nvSpPr>
          <p:cNvPr id="38" name="Shape 36"/>
          <p:cNvSpPr/>
          <p:nvPr/>
        </p:nvSpPr>
        <p:spPr>
          <a:xfrm>
            <a:off x="7586651" y="4478805"/>
            <a:ext cx="118872" cy="118872"/>
          </a:xfrm>
          <a:prstGeom prst="ellipse">
            <a:avLst/>
          </a:prstGeom>
          <a:solidFill>
            <a:srgbClr val="8E89AE">
              <a:alpha val="85000"/>
            </a:srgbClr>
          </a:solidFill>
          <a:ln w="12700">
            <a:solidFill>
              <a:srgbClr val="8E89AE"/>
            </a:solidFill>
            <a:prstDash val="solid"/>
          </a:ln>
        </p:spPr>
      </p:sp>
      <p:sp>
        <p:nvSpPr>
          <p:cNvPr id="39" name="Shape 37"/>
          <p:cNvSpPr/>
          <p:nvPr/>
        </p:nvSpPr>
        <p:spPr>
          <a:xfrm>
            <a:off x="7149285" y="4571659"/>
            <a:ext cx="118872" cy="118872"/>
          </a:xfrm>
          <a:prstGeom prst="ellipse">
            <a:avLst/>
          </a:prstGeom>
          <a:solidFill>
            <a:srgbClr val="8E89AE">
              <a:alpha val="85000"/>
            </a:srgbClr>
          </a:solidFill>
          <a:ln w="12700">
            <a:solidFill>
              <a:srgbClr val="8E89AE"/>
            </a:solidFill>
            <a:prstDash val="solid"/>
          </a:ln>
        </p:spPr>
      </p:sp>
      <p:sp>
        <p:nvSpPr>
          <p:cNvPr id="40" name="Shape 38"/>
          <p:cNvSpPr/>
          <p:nvPr/>
        </p:nvSpPr>
        <p:spPr>
          <a:xfrm>
            <a:off x="7406199" y="4084590"/>
            <a:ext cx="118872" cy="118872"/>
          </a:xfrm>
          <a:prstGeom prst="ellipse">
            <a:avLst/>
          </a:prstGeom>
          <a:solidFill>
            <a:srgbClr val="8E89AE">
              <a:alpha val="85000"/>
            </a:srgbClr>
          </a:solidFill>
          <a:ln w="12700">
            <a:solidFill>
              <a:srgbClr val="8E89AE"/>
            </a:solidFill>
            <a:prstDash val="solid"/>
          </a:ln>
        </p:spPr>
      </p:sp>
      <p:sp>
        <p:nvSpPr>
          <p:cNvPr id="41" name="Shape 39"/>
          <p:cNvSpPr/>
          <p:nvPr/>
        </p:nvSpPr>
        <p:spPr>
          <a:xfrm>
            <a:off x="7583063" y="4258667"/>
            <a:ext cx="118872" cy="118872"/>
          </a:xfrm>
          <a:prstGeom prst="ellipse">
            <a:avLst/>
          </a:prstGeom>
          <a:solidFill>
            <a:srgbClr val="8E89AE">
              <a:alpha val="85000"/>
            </a:srgbClr>
          </a:solidFill>
          <a:ln w="12700">
            <a:solidFill>
              <a:srgbClr val="8E89AE"/>
            </a:solidFill>
            <a:prstDash val="solid"/>
          </a:ln>
        </p:spPr>
      </p:sp>
      <p:sp>
        <p:nvSpPr>
          <p:cNvPr id="42" name="Shape 40"/>
          <p:cNvSpPr/>
          <p:nvPr/>
        </p:nvSpPr>
        <p:spPr>
          <a:xfrm>
            <a:off x="7380002" y="4249122"/>
            <a:ext cx="118872" cy="118872"/>
          </a:xfrm>
          <a:prstGeom prst="ellipse">
            <a:avLst/>
          </a:prstGeom>
          <a:solidFill>
            <a:srgbClr val="8E89AE">
              <a:alpha val="85000"/>
            </a:srgbClr>
          </a:solidFill>
          <a:ln w="12700">
            <a:solidFill>
              <a:srgbClr val="8E89AE"/>
            </a:solidFill>
            <a:prstDash val="solid"/>
          </a:ln>
        </p:spPr>
      </p:sp>
      <p:sp>
        <p:nvSpPr>
          <p:cNvPr id="43" name="Shape 41"/>
          <p:cNvSpPr/>
          <p:nvPr/>
        </p:nvSpPr>
        <p:spPr>
          <a:xfrm>
            <a:off x="8562351" y="2866129"/>
            <a:ext cx="118872" cy="118872"/>
          </a:xfrm>
          <a:prstGeom prst="ellipse">
            <a:avLst/>
          </a:prstGeom>
          <a:solidFill>
            <a:srgbClr val="8E89AE">
              <a:alpha val="85000"/>
            </a:srgbClr>
          </a:solidFill>
          <a:ln w="12700">
            <a:solidFill>
              <a:srgbClr val="8E89AE"/>
            </a:solidFill>
            <a:prstDash val="solid"/>
          </a:ln>
        </p:spPr>
      </p:sp>
      <p:sp>
        <p:nvSpPr>
          <p:cNvPr id="44" name="Shape 42"/>
          <p:cNvSpPr/>
          <p:nvPr/>
        </p:nvSpPr>
        <p:spPr>
          <a:xfrm>
            <a:off x="8590411" y="2722093"/>
            <a:ext cx="118872" cy="118872"/>
          </a:xfrm>
          <a:prstGeom prst="ellipse">
            <a:avLst/>
          </a:prstGeom>
          <a:solidFill>
            <a:srgbClr val="8E89AE">
              <a:alpha val="85000"/>
            </a:srgbClr>
          </a:solidFill>
          <a:ln w="12700">
            <a:solidFill>
              <a:srgbClr val="8E89AE"/>
            </a:solidFill>
            <a:prstDash val="solid"/>
          </a:ln>
        </p:spPr>
      </p:sp>
      <p:sp>
        <p:nvSpPr>
          <p:cNvPr id="45" name="Shape 43"/>
          <p:cNvSpPr/>
          <p:nvPr/>
        </p:nvSpPr>
        <p:spPr>
          <a:xfrm>
            <a:off x="8993510" y="2768185"/>
            <a:ext cx="118872" cy="118872"/>
          </a:xfrm>
          <a:prstGeom prst="ellipse">
            <a:avLst/>
          </a:prstGeom>
          <a:solidFill>
            <a:srgbClr val="8E89AE">
              <a:alpha val="85000"/>
            </a:srgbClr>
          </a:solidFill>
          <a:ln w="12700">
            <a:solidFill>
              <a:srgbClr val="8E89AE"/>
            </a:solidFill>
            <a:prstDash val="solid"/>
          </a:ln>
        </p:spPr>
      </p:sp>
      <p:sp>
        <p:nvSpPr>
          <p:cNvPr id="46" name="Shape 44"/>
          <p:cNvSpPr/>
          <p:nvPr/>
        </p:nvSpPr>
        <p:spPr>
          <a:xfrm>
            <a:off x="8576174" y="3137600"/>
            <a:ext cx="118872" cy="118872"/>
          </a:xfrm>
          <a:prstGeom prst="ellipse">
            <a:avLst/>
          </a:prstGeom>
          <a:solidFill>
            <a:srgbClr val="8E89AE">
              <a:alpha val="85000"/>
            </a:srgbClr>
          </a:solidFill>
          <a:ln w="12700">
            <a:solidFill>
              <a:srgbClr val="8E89AE"/>
            </a:solidFill>
            <a:prstDash val="solid"/>
          </a:ln>
        </p:spPr>
      </p:sp>
      <p:sp>
        <p:nvSpPr>
          <p:cNvPr id="47" name="Shape 45"/>
          <p:cNvSpPr/>
          <p:nvPr/>
        </p:nvSpPr>
        <p:spPr>
          <a:xfrm>
            <a:off x="8800670" y="2962477"/>
            <a:ext cx="118872" cy="118872"/>
          </a:xfrm>
          <a:prstGeom prst="ellipse">
            <a:avLst/>
          </a:prstGeom>
          <a:solidFill>
            <a:srgbClr val="8E89AE">
              <a:alpha val="85000"/>
            </a:srgbClr>
          </a:solidFill>
          <a:ln w="12700">
            <a:solidFill>
              <a:srgbClr val="8E89AE"/>
            </a:solidFill>
            <a:prstDash val="solid"/>
          </a:ln>
        </p:spPr>
      </p:sp>
      <p:sp>
        <p:nvSpPr>
          <p:cNvPr id="48" name="Shape 46"/>
          <p:cNvSpPr/>
          <p:nvPr/>
        </p:nvSpPr>
        <p:spPr>
          <a:xfrm>
            <a:off x="9038196" y="2404126"/>
            <a:ext cx="118872" cy="118872"/>
          </a:xfrm>
          <a:prstGeom prst="ellipse">
            <a:avLst/>
          </a:prstGeom>
          <a:solidFill>
            <a:srgbClr val="8E89AE">
              <a:alpha val="85000"/>
            </a:srgbClr>
          </a:solidFill>
          <a:ln w="12700">
            <a:solidFill>
              <a:srgbClr val="8E89AE"/>
            </a:solidFill>
            <a:prstDash val="solid"/>
          </a:ln>
        </p:spPr>
      </p:sp>
      <p:sp>
        <p:nvSpPr>
          <p:cNvPr id="49" name="Shape 47"/>
          <p:cNvSpPr/>
          <p:nvPr/>
        </p:nvSpPr>
        <p:spPr>
          <a:xfrm>
            <a:off x="8592287" y="2756787"/>
            <a:ext cx="118872" cy="118872"/>
          </a:xfrm>
          <a:prstGeom prst="ellipse">
            <a:avLst/>
          </a:prstGeom>
          <a:solidFill>
            <a:srgbClr val="8E89AE">
              <a:alpha val="85000"/>
            </a:srgbClr>
          </a:solidFill>
          <a:ln w="12700">
            <a:solidFill>
              <a:srgbClr val="8E89AE"/>
            </a:solidFill>
            <a:prstDash val="solid"/>
          </a:ln>
        </p:spPr>
      </p:sp>
      <p:sp>
        <p:nvSpPr>
          <p:cNvPr id="50" name="Shape 48"/>
          <p:cNvSpPr/>
          <p:nvPr/>
        </p:nvSpPr>
        <p:spPr>
          <a:xfrm>
            <a:off x="8440040" y="2731104"/>
            <a:ext cx="118872" cy="118872"/>
          </a:xfrm>
          <a:prstGeom prst="ellipse">
            <a:avLst/>
          </a:prstGeom>
          <a:solidFill>
            <a:srgbClr val="8E89AE">
              <a:alpha val="85000"/>
            </a:srgbClr>
          </a:solidFill>
          <a:ln w="12700">
            <a:solidFill>
              <a:srgbClr val="8E89AE"/>
            </a:solidFill>
            <a:prstDash val="solid"/>
          </a:ln>
        </p:spPr>
      </p:sp>
      <p:sp>
        <p:nvSpPr>
          <p:cNvPr id="51" name="Shape 49"/>
          <p:cNvSpPr/>
          <p:nvPr/>
        </p:nvSpPr>
        <p:spPr>
          <a:xfrm>
            <a:off x="9057325" y="2538963"/>
            <a:ext cx="118872" cy="118872"/>
          </a:xfrm>
          <a:prstGeom prst="ellipse">
            <a:avLst/>
          </a:prstGeom>
          <a:solidFill>
            <a:srgbClr val="8E89AE">
              <a:alpha val="85000"/>
            </a:srgbClr>
          </a:solidFill>
          <a:ln w="12700">
            <a:solidFill>
              <a:srgbClr val="8E89AE"/>
            </a:solidFill>
            <a:prstDash val="solid"/>
          </a:ln>
        </p:spPr>
      </p:sp>
      <p:sp>
        <p:nvSpPr>
          <p:cNvPr id="52" name="Shape 50"/>
          <p:cNvSpPr/>
          <p:nvPr/>
        </p:nvSpPr>
        <p:spPr>
          <a:xfrm>
            <a:off x="8779910" y="2494992"/>
            <a:ext cx="118872" cy="118872"/>
          </a:xfrm>
          <a:prstGeom prst="ellipse">
            <a:avLst/>
          </a:prstGeom>
          <a:solidFill>
            <a:srgbClr val="8E89AE">
              <a:alpha val="85000"/>
            </a:srgbClr>
          </a:solidFill>
          <a:ln w="12700">
            <a:solidFill>
              <a:srgbClr val="8E89AE"/>
            </a:solidFill>
            <a:prstDash val="solid"/>
          </a:ln>
        </p:spPr>
      </p:sp>
      <p:sp>
        <p:nvSpPr>
          <p:cNvPr id="53" name="Shape 51"/>
          <p:cNvSpPr/>
          <p:nvPr/>
        </p:nvSpPr>
        <p:spPr>
          <a:xfrm>
            <a:off x="9044974" y="2567966"/>
            <a:ext cx="118872" cy="118872"/>
          </a:xfrm>
          <a:prstGeom prst="ellipse">
            <a:avLst/>
          </a:prstGeom>
          <a:solidFill>
            <a:srgbClr val="8E89AE">
              <a:alpha val="85000"/>
            </a:srgbClr>
          </a:solidFill>
          <a:ln w="12700">
            <a:solidFill>
              <a:srgbClr val="8E89AE"/>
            </a:solidFill>
            <a:prstDash val="solid"/>
          </a:ln>
        </p:spPr>
      </p:sp>
      <p:sp>
        <p:nvSpPr>
          <p:cNvPr id="54" name="Shape 52"/>
          <p:cNvSpPr/>
          <p:nvPr/>
        </p:nvSpPr>
        <p:spPr>
          <a:xfrm>
            <a:off x="8758739" y="2682910"/>
            <a:ext cx="118872" cy="118872"/>
          </a:xfrm>
          <a:prstGeom prst="ellipse">
            <a:avLst/>
          </a:prstGeom>
          <a:solidFill>
            <a:srgbClr val="8E89AE">
              <a:alpha val="85000"/>
            </a:srgbClr>
          </a:solidFill>
          <a:ln w="12700">
            <a:solidFill>
              <a:srgbClr val="8E89AE"/>
            </a:solidFill>
            <a:prstDash val="solid"/>
          </a:ln>
        </p:spPr>
      </p:sp>
      <p:sp>
        <p:nvSpPr>
          <p:cNvPr id="55" name="Shape 53"/>
          <p:cNvSpPr/>
          <p:nvPr/>
        </p:nvSpPr>
        <p:spPr>
          <a:xfrm>
            <a:off x="8663592" y="2447066"/>
            <a:ext cx="118872" cy="118872"/>
          </a:xfrm>
          <a:prstGeom prst="ellipse">
            <a:avLst/>
          </a:prstGeom>
          <a:solidFill>
            <a:srgbClr val="8E89AE">
              <a:alpha val="85000"/>
            </a:srgbClr>
          </a:solidFill>
          <a:ln w="12700">
            <a:solidFill>
              <a:srgbClr val="8E89AE"/>
            </a:solidFill>
            <a:prstDash val="solid"/>
          </a:ln>
        </p:spPr>
      </p:sp>
      <p:sp>
        <p:nvSpPr>
          <p:cNvPr id="56" name="Shape 54"/>
          <p:cNvSpPr/>
          <p:nvPr/>
        </p:nvSpPr>
        <p:spPr>
          <a:xfrm>
            <a:off x="8621146" y="2769384"/>
            <a:ext cx="118872" cy="118872"/>
          </a:xfrm>
          <a:prstGeom prst="ellipse">
            <a:avLst/>
          </a:prstGeom>
          <a:solidFill>
            <a:srgbClr val="8E89AE">
              <a:alpha val="85000"/>
            </a:srgbClr>
          </a:solidFill>
          <a:ln w="12700">
            <a:solidFill>
              <a:srgbClr val="8E89AE"/>
            </a:solidFill>
            <a:prstDash val="solid"/>
          </a:ln>
        </p:spPr>
      </p:sp>
      <p:sp>
        <p:nvSpPr>
          <p:cNvPr id="57" name="Shape 55"/>
          <p:cNvSpPr/>
          <p:nvPr/>
        </p:nvSpPr>
        <p:spPr>
          <a:xfrm>
            <a:off x="9137299" y="2783598"/>
            <a:ext cx="118872" cy="118872"/>
          </a:xfrm>
          <a:prstGeom prst="ellipse">
            <a:avLst/>
          </a:prstGeom>
          <a:solidFill>
            <a:srgbClr val="8E89AE">
              <a:alpha val="85000"/>
            </a:srgbClr>
          </a:solidFill>
          <a:ln w="12700">
            <a:solidFill>
              <a:srgbClr val="8E89AE"/>
            </a:solidFill>
            <a:prstDash val="solid"/>
          </a:ln>
        </p:spPr>
      </p:sp>
      <p:sp>
        <p:nvSpPr>
          <p:cNvPr id="58" name="Shape 56"/>
          <p:cNvSpPr/>
          <p:nvPr/>
        </p:nvSpPr>
        <p:spPr>
          <a:xfrm>
            <a:off x="8936272" y="2561400"/>
            <a:ext cx="118872" cy="118872"/>
          </a:xfrm>
          <a:prstGeom prst="ellipse">
            <a:avLst/>
          </a:prstGeom>
          <a:solidFill>
            <a:srgbClr val="8E89AE">
              <a:alpha val="85000"/>
            </a:srgbClr>
          </a:solidFill>
          <a:ln w="12700">
            <a:solidFill>
              <a:srgbClr val="8E89AE"/>
            </a:solidFill>
            <a:prstDash val="solid"/>
          </a:ln>
        </p:spPr>
      </p:sp>
      <p:sp>
        <p:nvSpPr>
          <p:cNvPr id="59" name="Shape 57"/>
          <p:cNvSpPr/>
          <p:nvPr/>
        </p:nvSpPr>
        <p:spPr>
          <a:xfrm>
            <a:off x="8804664" y="2654885"/>
            <a:ext cx="118872" cy="118872"/>
          </a:xfrm>
          <a:prstGeom prst="ellipse">
            <a:avLst/>
          </a:prstGeom>
          <a:solidFill>
            <a:srgbClr val="8E89AE">
              <a:alpha val="85000"/>
            </a:srgbClr>
          </a:solidFill>
          <a:ln w="12700">
            <a:solidFill>
              <a:srgbClr val="8E89AE"/>
            </a:solidFill>
            <a:prstDash val="solid"/>
          </a:ln>
        </p:spPr>
      </p:sp>
      <p:sp>
        <p:nvSpPr>
          <p:cNvPr id="60" name="Shape 58"/>
          <p:cNvSpPr/>
          <p:nvPr/>
        </p:nvSpPr>
        <p:spPr>
          <a:xfrm>
            <a:off x="8679156" y="2850755"/>
            <a:ext cx="118872" cy="118872"/>
          </a:xfrm>
          <a:prstGeom prst="ellipse">
            <a:avLst/>
          </a:prstGeom>
          <a:solidFill>
            <a:srgbClr val="8E89AE">
              <a:alpha val="85000"/>
            </a:srgbClr>
          </a:solidFill>
          <a:ln w="12700">
            <a:solidFill>
              <a:srgbClr val="8E89AE"/>
            </a:solidFill>
            <a:prstDash val="solid"/>
          </a:ln>
        </p:spPr>
      </p:sp>
      <p:sp>
        <p:nvSpPr>
          <p:cNvPr id="61" name="Shape 59"/>
          <p:cNvSpPr/>
          <p:nvPr/>
        </p:nvSpPr>
        <p:spPr>
          <a:xfrm>
            <a:off x="8928896" y="2621673"/>
            <a:ext cx="118872" cy="118872"/>
          </a:xfrm>
          <a:prstGeom prst="ellipse">
            <a:avLst/>
          </a:prstGeom>
          <a:solidFill>
            <a:srgbClr val="8E89AE">
              <a:alpha val="85000"/>
            </a:srgbClr>
          </a:solidFill>
          <a:ln w="12700">
            <a:solidFill>
              <a:srgbClr val="8E89AE"/>
            </a:solidFill>
            <a:prstDash val="solid"/>
          </a:ln>
        </p:spPr>
      </p:sp>
      <p:sp>
        <p:nvSpPr>
          <p:cNvPr id="62" name="Shape 60"/>
          <p:cNvSpPr/>
          <p:nvPr/>
        </p:nvSpPr>
        <p:spPr>
          <a:xfrm>
            <a:off x="8836350" y="3050235"/>
            <a:ext cx="118872" cy="118872"/>
          </a:xfrm>
          <a:prstGeom prst="ellipse">
            <a:avLst/>
          </a:prstGeom>
          <a:solidFill>
            <a:srgbClr val="8E89AE">
              <a:alpha val="85000"/>
            </a:srgbClr>
          </a:solidFill>
          <a:ln w="12700">
            <a:solidFill>
              <a:srgbClr val="8E89AE"/>
            </a:solidFill>
            <a:prstDash val="solid"/>
          </a:ln>
        </p:spPr>
      </p:sp>
      <p:sp>
        <p:nvSpPr>
          <p:cNvPr id="63" name="Shape 61"/>
          <p:cNvSpPr/>
          <p:nvPr/>
        </p:nvSpPr>
        <p:spPr>
          <a:xfrm>
            <a:off x="8655579" y="2843007"/>
            <a:ext cx="118872" cy="118872"/>
          </a:xfrm>
          <a:prstGeom prst="ellipse">
            <a:avLst/>
          </a:prstGeom>
          <a:solidFill>
            <a:srgbClr val="8E89AE">
              <a:alpha val="85000"/>
            </a:srgbClr>
          </a:solidFill>
          <a:ln w="12700">
            <a:solidFill>
              <a:srgbClr val="8E89AE"/>
            </a:solidFill>
            <a:prstDash val="solid"/>
          </a:ln>
        </p:spPr>
      </p:sp>
      <p:sp>
        <p:nvSpPr>
          <p:cNvPr id="64" name="Shape 62"/>
          <p:cNvSpPr/>
          <p:nvPr/>
        </p:nvSpPr>
        <p:spPr>
          <a:xfrm>
            <a:off x="8884876" y="2763729"/>
            <a:ext cx="118872" cy="118872"/>
          </a:xfrm>
          <a:prstGeom prst="ellipse">
            <a:avLst/>
          </a:prstGeom>
          <a:solidFill>
            <a:srgbClr val="8E89AE">
              <a:alpha val="85000"/>
            </a:srgbClr>
          </a:solidFill>
          <a:ln w="12700">
            <a:solidFill>
              <a:srgbClr val="8E89AE"/>
            </a:solidFill>
            <a:prstDash val="solid"/>
          </a:ln>
        </p:spPr>
      </p:sp>
      <p:sp>
        <p:nvSpPr>
          <p:cNvPr id="65" name="Shape 63"/>
          <p:cNvSpPr/>
          <p:nvPr/>
        </p:nvSpPr>
        <p:spPr>
          <a:xfrm>
            <a:off x="8921426" y="2466539"/>
            <a:ext cx="118872" cy="118872"/>
          </a:xfrm>
          <a:prstGeom prst="ellipse">
            <a:avLst/>
          </a:prstGeom>
          <a:solidFill>
            <a:srgbClr val="8E89AE">
              <a:alpha val="85000"/>
            </a:srgbClr>
          </a:solidFill>
          <a:ln w="12700">
            <a:solidFill>
              <a:srgbClr val="8E89AE"/>
            </a:solidFill>
            <a:prstDash val="solid"/>
          </a:ln>
        </p:spPr>
      </p:sp>
      <p:sp>
        <p:nvSpPr>
          <p:cNvPr id="66" name="Shape 64"/>
          <p:cNvSpPr/>
          <p:nvPr/>
        </p:nvSpPr>
        <p:spPr>
          <a:xfrm>
            <a:off x="8537210" y="2514144"/>
            <a:ext cx="118872" cy="118872"/>
          </a:xfrm>
          <a:prstGeom prst="ellipse">
            <a:avLst/>
          </a:prstGeom>
          <a:solidFill>
            <a:srgbClr val="8E89AE">
              <a:alpha val="85000"/>
            </a:srgbClr>
          </a:solidFill>
          <a:ln w="12700">
            <a:solidFill>
              <a:srgbClr val="8E89AE"/>
            </a:solidFill>
            <a:prstDash val="solid"/>
          </a:ln>
        </p:spPr>
      </p:sp>
      <p:sp>
        <p:nvSpPr>
          <p:cNvPr id="67" name="Shape 65"/>
          <p:cNvSpPr/>
          <p:nvPr/>
        </p:nvSpPr>
        <p:spPr>
          <a:xfrm>
            <a:off x="8816288" y="2597458"/>
            <a:ext cx="118872" cy="118872"/>
          </a:xfrm>
          <a:prstGeom prst="ellipse">
            <a:avLst/>
          </a:prstGeom>
          <a:solidFill>
            <a:srgbClr val="8E89AE">
              <a:alpha val="85000"/>
            </a:srgbClr>
          </a:solidFill>
          <a:ln w="12700">
            <a:solidFill>
              <a:srgbClr val="8E89AE"/>
            </a:solidFill>
            <a:prstDash val="solid"/>
          </a:ln>
        </p:spPr>
      </p:sp>
      <p:sp>
        <p:nvSpPr>
          <p:cNvPr id="68" name="Shape 66"/>
          <p:cNvSpPr/>
          <p:nvPr/>
        </p:nvSpPr>
        <p:spPr>
          <a:xfrm>
            <a:off x="8795729" y="2471599"/>
            <a:ext cx="118872" cy="118872"/>
          </a:xfrm>
          <a:prstGeom prst="ellipse">
            <a:avLst/>
          </a:prstGeom>
          <a:solidFill>
            <a:srgbClr val="8E89AE">
              <a:alpha val="85000"/>
            </a:srgbClr>
          </a:solidFill>
          <a:ln w="12700">
            <a:solidFill>
              <a:srgbClr val="8E89AE"/>
            </a:solidFill>
            <a:prstDash val="solid"/>
          </a:ln>
        </p:spPr>
      </p:sp>
      <p:sp>
        <p:nvSpPr>
          <p:cNvPr id="69" name="Shape 67"/>
          <p:cNvSpPr/>
          <p:nvPr/>
        </p:nvSpPr>
        <p:spPr>
          <a:xfrm>
            <a:off x="8752016" y="2857460"/>
            <a:ext cx="118872" cy="118872"/>
          </a:xfrm>
          <a:prstGeom prst="ellipse">
            <a:avLst/>
          </a:prstGeom>
          <a:solidFill>
            <a:srgbClr val="8E89AE">
              <a:alpha val="85000"/>
            </a:srgbClr>
          </a:solidFill>
          <a:ln w="12700">
            <a:solidFill>
              <a:srgbClr val="8E89AE"/>
            </a:solidFill>
            <a:prstDash val="solid"/>
          </a:ln>
        </p:spPr>
      </p:sp>
      <p:sp>
        <p:nvSpPr>
          <p:cNvPr id="70" name="Shape 68"/>
          <p:cNvSpPr/>
          <p:nvPr/>
        </p:nvSpPr>
        <p:spPr>
          <a:xfrm>
            <a:off x="8717974" y="2528155"/>
            <a:ext cx="118872" cy="118872"/>
          </a:xfrm>
          <a:prstGeom prst="ellipse">
            <a:avLst/>
          </a:prstGeom>
          <a:solidFill>
            <a:srgbClr val="8E89AE">
              <a:alpha val="85000"/>
            </a:srgbClr>
          </a:solidFill>
          <a:ln w="12700">
            <a:solidFill>
              <a:srgbClr val="8E89AE"/>
            </a:solidFill>
            <a:prstDash val="solid"/>
          </a:ln>
        </p:spPr>
      </p:sp>
      <p:sp>
        <p:nvSpPr>
          <p:cNvPr id="71" name="Shape 69"/>
          <p:cNvSpPr/>
          <p:nvPr/>
        </p:nvSpPr>
        <p:spPr>
          <a:xfrm>
            <a:off x="8954673" y="2683384"/>
            <a:ext cx="118872" cy="118872"/>
          </a:xfrm>
          <a:prstGeom prst="ellipse">
            <a:avLst/>
          </a:prstGeom>
          <a:solidFill>
            <a:srgbClr val="8E89AE">
              <a:alpha val="85000"/>
            </a:srgbClr>
          </a:solidFill>
          <a:ln w="12700">
            <a:solidFill>
              <a:srgbClr val="8E89AE"/>
            </a:solidFill>
            <a:prstDash val="solid"/>
          </a:ln>
        </p:spPr>
      </p:sp>
      <p:sp>
        <p:nvSpPr>
          <p:cNvPr id="72" name="Shape 70"/>
          <p:cNvSpPr/>
          <p:nvPr/>
        </p:nvSpPr>
        <p:spPr>
          <a:xfrm>
            <a:off x="8796784" y="2281836"/>
            <a:ext cx="118872" cy="118872"/>
          </a:xfrm>
          <a:prstGeom prst="ellipse">
            <a:avLst/>
          </a:prstGeom>
          <a:solidFill>
            <a:srgbClr val="8E89AE">
              <a:alpha val="85000"/>
            </a:srgbClr>
          </a:solidFill>
          <a:ln w="12700">
            <a:solidFill>
              <a:srgbClr val="8E89AE"/>
            </a:solidFill>
            <a:prstDash val="solid"/>
          </a:ln>
        </p:spPr>
      </p:sp>
      <p:sp>
        <p:nvSpPr>
          <p:cNvPr id="73" name="Shape 71"/>
          <p:cNvSpPr/>
          <p:nvPr/>
        </p:nvSpPr>
        <p:spPr>
          <a:xfrm>
            <a:off x="9075085" y="3096490"/>
            <a:ext cx="118872" cy="118872"/>
          </a:xfrm>
          <a:prstGeom prst="ellipse">
            <a:avLst/>
          </a:prstGeom>
          <a:solidFill>
            <a:srgbClr val="8E89AE">
              <a:alpha val="85000"/>
            </a:srgbClr>
          </a:solidFill>
          <a:ln w="12700">
            <a:solidFill>
              <a:srgbClr val="8E89AE"/>
            </a:solidFill>
            <a:prstDash val="solid"/>
          </a:ln>
        </p:spPr>
      </p:sp>
      <p:sp>
        <p:nvSpPr>
          <p:cNvPr id="74" name="Shape 72"/>
          <p:cNvSpPr/>
          <p:nvPr/>
        </p:nvSpPr>
        <p:spPr>
          <a:xfrm>
            <a:off x="8929758" y="2779152"/>
            <a:ext cx="118872" cy="118872"/>
          </a:xfrm>
          <a:prstGeom prst="ellipse">
            <a:avLst/>
          </a:prstGeom>
          <a:solidFill>
            <a:srgbClr val="8E89AE">
              <a:alpha val="85000"/>
            </a:srgbClr>
          </a:solidFill>
          <a:ln w="12700">
            <a:solidFill>
              <a:srgbClr val="8E89AE"/>
            </a:solidFill>
            <a:prstDash val="solid"/>
          </a:ln>
        </p:spPr>
      </p:sp>
      <p:sp>
        <p:nvSpPr>
          <p:cNvPr id="75" name="Shape 73"/>
          <p:cNvSpPr/>
          <p:nvPr/>
        </p:nvSpPr>
        <p:spPr>
          <a:xfrm>
            <a:off x="8623363" y="2600520"/>
            <a:ext cx="118872" cy="118872"/>
          </a:xfrm>
          <a:prstGeom prst="ellipse">
            <a:avLst/>
          </a:prstGeom>
          <a:solidFill>
            <a:srgbClr val="8E89AE">
              <a:alpha val="85000"/>
            </a:srgbClr>
          </a:solidFill>
          <a:ln w="12700">
            <a:solidFill>
              <a:srgbClr val="8E89AE"/>
            </a:solidFill>
            <a:prstDash val="solid"/>
          </a:ln>
        </p:spPr>
      </p:sp>
      <p:sp>
        <p:nvSpPr>
          <p:cNvPr id="76" name="Shape 74"/>
          <p:cNvSpPr/>
          <p:nvPr/>
        </p:nvSpPr>
        <p:spPr>
          <a:xfrm>
            <a:off x="8855509" y="2848918"/>
            <a:ext cx="118872" cy="118872"/>
          </a:xfrm>
          <a:prstGeom prst="ellipse">
            <a:avLst/>
          </a:prstGeom>
          <a:solidFill>
            <a:srgbClr val="8E89AE">
              <a:alpha val="85000"/>
            </a:srgbClr>
          </a:solidFill>
          <a:ln w="12700">
            <a:solidFill>
              <a:srgbClr val="8E89AE"/>
            </a:solidFill>
            <a:prstDash val="solid"/>
          </a:ln>
        </p:spPr>
      </p:sp>
      <p:sp>
        <p:nvSpPr>
          <p:cNvPr id="77" name="Shape 75"/>
          <p:cNvSpPr/>
          <p:nvPr/>
        </p:nvSpPr>
        <p:spPr>
          <a:xfrm>
            <a:off x="10663927" y="4006310"/>
            <a:ext cx="118872" cy="118872"/>
          </a:xfrm>
          <a:prstGeom prst="ellipse">
            <a:avLst/>
          </a:prstGeom>
          <a:solidFill>
            <a:srgbClr val="8E89AE">
              <a:alpha val="85000"/>
            </a:srgbClr>
          </a:solidFill>
          <a:ln w="12700">
            <a:solidFill>
              <a:srgbClr val="8E89AE"/>
            </a:solidFill>
            <a:prstDash val="solid"/>
          </a:ln>
        </p:spPr>
      </p:sp>
      <p:sp>
        <p:nvSpPr>
          <p:cNvPr id="78" name="Shape 76"/>
          <p:cNvSpPr/>
          <p:nvPr/>
        </p:nvSpPr>
        <p:spPr>
          <a:xfrm>
            <a:off x="10658599" y="4059650"/>
            <a:ext cx="118872" cy="118872"/>
          </a:xfrm>
          <a:prstGeom prst="ellipse">
            <a:avLst/>
          </a:prstGeom>
          <a:solidFill>
            <a:srgbClr val="8E89AE">
              <a:alpha val="85000"/>
            </a:srgbClr>
          </a:solidFill>
          <a:ln w="12700">
            <a:solidFill>
              <a:srgbClr val="8E89AE"/>
            </a:solidFill>
            <a:prstDash val="solid"/>
          </a:ln>
        </p:spPr>
      </p:sp>
      <p:sp>
        <p:nvSpPr>
          <p:cNvPr id="79" name="Shape 77"/>
          <p:cNvSpPr/>
          <p:nvPr/>
        </p:nvSpPr>
        <p:spPr>
          <a:xfrm>
            <a:off x="10420628" y="4122513"/>
            <a:ext cx="118872" cy="118872"/>
          </a:xfrm>
          <a:prstGeom prst="ellipse">
            <a:avLst/>
          </a:prstGeom>
          <a:solidFill>
            <a:srgbClr val="8E89AE">
              <a:alpha val="85000"/>
            </a:srgbClr>
          </a:solidFill>
          <a:ln w="12700">
            <a:solidFill>
              <a:srgbClr val="8E89AE"/>
            </a:solidFill>
            <a:prstDash val="solid"/>
          </a:ln>
        </p:spPr>
      </p:sp>
      <p:sp>
        <p:nvSpPr>
          <p:cNvPr id="80" name="Shape 78"/>
          <p:cNvSpPr/>
          <p:nvPr/>
        </p:nvSpPr>
        <p:spPr>
          <a:xfrm>
            <a:off x="10564600" y="4003477"/>
            <a:ext cx="118872" cy="118872"/>
          </a:xfrm>
          <a:prstGeom prst="ellipse">
            <a:avLst/>
          </a:prstGeom>
          <a:solidFill>
            <a:srgbClr val="8E89AE">
              <a:alpha val="85000"/>
            </a:srgbClr>
          </a:solidFill>
          <a:ln w="12700">
            <a:solidFill>
              <a:srgbClr val="8E89AE"/>
            </a:solidFill>
            <a:prstDash val="solid"/>
          </a:ln>
        </p:spPr>
      </p:sp>
      <p:sp>
        <p:nvSpPr>
          <p:cNvPr id="81" name="Shape 79"/>
          <p:cNvSpPr/>
          <p:nvPr/>
        </p:nvSpPr>
        <p:spPr>
          <a:xfrm>
            <a:off x="10474270" y="4309859"/>
            <a:ext cx="118872" cy="118872"/>
          </a:xfrm>
          <a:prstGeom prst="ellipse">
            <a:avLst/>
          </a:prstGeom>
          <a:solidFill>
            <a:srgbClr val="8E89AE">
              <a:alpha val="85000"/>
            </a:srgbClr>
          </a:solidFill>
          <a:ln w="12700">
            <a:solidFill>
              <a:srgbClr val="8E89AE"/>
            </a:solidFill>
            <a:prstDash val="solid"/>
          </a:ln>
        </p:spPr>
      </p:sp>
      <p:sp>
        <p:nvSpPr>
          <p:cNvPr id="82" name="Shape 80"/>
          <p:cNvSpPr/>
          <p:nvPr/>
        </p:nvSpPr>
        <p:spPr>
          <a:xfrm>
            <a:off x="10616497" y="4262904"/>
            <a:ext cx="118872" cy="118872"/>
          </a:xfrm>
          <a:prstGeom prst="ellipse">
            <a:avLst/>
          </a:prstGeom>
          <a:solidFill>
            <a:srgbClr val="8E89AE">
              <a:alpha val="85000"/>
            </a:srgbClr>
          </a:solidFill>
          <a:ln w="12700">
            <a:solidFill>
              <a:srgbClr val="8E89AE"/>
            </a:solidFill>
            <a:prstDash val="solid"/>
          </a:ln>
        </p:spPr>
      </p:sp>
      <p:sp>
        <p:nvSpPr>
          <p:cNvPr id="83" name="Shape 81"/>
          <p:cNvSpPr/>
          <p:nvPr/>
        </p:nvSpPr>
        <p:spPr>
          <a:xfrm>
            <a:off x="10192713" y="4376891"/>
            <a:ext cx="118872" cy="118872"/>
          </a:xfrm>
          <a:prstGeom prst="ellipse">
            <a:avLst/>
          </a:prstGeom>
          <a:solidFill>
            <a:srgbClr val="8E89AE">
              <a:alpha val="85000"/>
            </a:srgbClr>
          </a:solidFill>
          <a:ln w="12700">
            <a:solidFill>
              <a:srgbClr val="8E89AE"/>
            </a:solidFill>
            <a:prstDash val="solid"/>
          </a:ln>
        </p:spPr>
      </p:sp>
      <p:sp>
        <p:nvSpPr>
          <p:cNvPr id="84" name="Shape 82"/>
          <p:cNvSpPr/>
          <p:nvPr/>
        </p:nvSpPr>
        <p:spPr>
          <a:xfrm>
            <a:off x="10395165" y="4031492"/>
            <a:ext cx="118872" cy="118872"/>
          </a:xfrm>
          <a:prstGeom prst="ellipse">
            <a:avLst/>
          </a:prstGeom>
          <a:solidFill>
            <a:srgbClr val="8E89AE">
              <a:alpha val="85000"/>
            </a:srgbClr>
          </a:solidFill>
          <a:ln w="12700">
            <a:solidFill>
              <a:srgbClr val="8E89AE"/>
            </a:solidFill>
            <a:prstDash val="solid"/>
          </a:ln>
        </p:spPr>
      </p:sp>
      <p:sp>
        <p:nvSpPr>
          <p:cNvPr id="85" name="Shape 83"/>
          <p:cNvSpPr/>
          <p:nvPr/>
        </p:nvSpPr>
        <p:spPr>
          <a:xfrm>
            <a:off x="10398388" y="4212939"/>
            <a:ext cx="118872" cy="118872"/>
          </a:xfrm>
          <a:prstGeom prst="ellipse">
            <a:avLst/>
          </a:prstGeom>
          <a:solidFill>
            <a:srgbClr val="8E89AE">
              <a:alpha val="85000"/>
            </a:srgbClr>
          </a:solidFill>
          <a:ln w="12700">
            <a:solidFill>
              <a:srgbClr val="8E89AE"/>
            </a:solidFill>
            <a:prstDash val="solid"/>
          </a:ln>
        </p:spPr>
      </p:sp>
      <p:sp>
        <p:nvSpPr>
          <p:cNvPr id="86" name="Shape 84"/>
          <p:cNvSpPr/>
          <p:nvPr/>
        </p:nvSpPr>
        <p:spPr>
          <a:xfrm>
            <a:off x="10378248" y="4009100"/>
            <a:ext cx="118872" cy="118872"/>
          </a:xfrm>
          <a:prstGeom prst="ellipse">
            <a:avLst/>
          </a:prstGeom>
          <a:solidFill>
            <a:srgbClr val="8E89AE">
              <a:alpha val="85000"/>
            </a:srgbClr>
          </a:solidFill>
          <a:ln w="12700">
            <a:solidFill>
              <a:srgbClr val="8E89AE"/>
            </a:solidFill>
            <a:prstDash val="solid"/>
          </a:ln>
        </p:spPr>
      </p:sp>
      <p:sp>
        <p:nvSpPr>
          <p:cNvPr id="87" name="Shape 85"/>
          <p:cNvSpPr/>
          <p:nvPr/>
        </p:nvSpPr>
        <p:spPr>
          <a:xfrm>
            <a:off x="10498582" y="4532672"/>
            <a:ext cx="118872" cy="118872"/>
          </a:xfrm>
          <a:prstGeom prst="ellipse">
            <a:avLst/>
          </a:prstGeom>
          <a:solidFill>
            <a:srgbClr val="8E89AE">
              <a:alpha val="85000"/>
            </a:srgbClr>
          </a:solidFill>
          <a:ln w="12700">
            <a:solidFill>
              <a:srgbClr val="8E89AE"/>
            </a:solidFill>
            <a:prstDash val="solid"/>
          </a:ln>
        </p:spPr>
      </p:sp>
      <p:sp>
        <p:nvSpPr>
          <p:cNvPr id="88" name="Shape 86"/>
          <p:cNvSpPr/>
          <p:nvPr/>
        </p:nvSpPr>
        <p:spPr>
          <a:xfrm>
            <a:off x="10332015" y="4025453"/>
            <a:ext cx="118872" cy="118872"/>
          </a:xfrm>
          <a:prstGeom prst="ellipse">
            <a:avLst/>
          </a:prstGeom>
          <a:solidFill>
            <a:srgbClr val="8E89AE">
              <a:alpha val="85000"/>
            </a:srgbClr>
          </a:solidFill>
          <a:ln w="12700">
            <a:solidFill>
              <a:srgbClr val="8E89AE"/>
            </a:solidFill>
            <a:prstDash val="solid"/>
          </a:ln>
        </p:spPr>
      </p:sp>
      <p:sp>
        <p:nvSpPr>
          <p:cNvPr id="89" name="Shape 87"/>
          <p:cNvSpPr/>
          <p:nvPr/>
        </p:nvSpPr>
        <p:spPr>
          <a:xfrm>
            <a:off x="10138466" y="4039813"/>
            <a:ext cx="118872" cy="118872"/>
          </a:xfrm>
          <a:prstGeom prst="ellipse">
            <a:avLst/>
          </a:prstGeom>
          <a:solidFill>
            <a:srgbClr val="8E89AE">
              <a:alpha val="85000"/>
            </a:srgbClr>
          </a:solidFill>
          <a:ln w="12700">
            <a:solidFill>
              <a:srgbClr val="8E89AE"/>
            </a:solidFill>
            <a:prstDash val="solid"/>
          </a:ln>
        </p:spPr>
      </p:sp>
      <p:sp>
        <p:nvSpPr>
          <p:cNvPr id="90" name="Shape 88"/>
          <p:cNvSpPr/>
          <p:nvPr/>
        </p:nvSpPr>
        <p:spPr>
          <a:xfrm>
            <a:off x="10731181" y="3928737"/>
            <a:ext cx="118872" cy="118872"/>
          </a:xfrm>
          <a:prstGeom prst="ellipse">
            <a:avLst/>
          </a:prstGeom>
          <a:solidFill>
            <a:srgbClr val="8E89AE">
              <a:alpha val="85000"/>
            </a:srgbClr>
          </a:solidFill>
          <a:ln w="12700">
            <a:solidFill>
              <a:srgbClr val="8E89AE"/>
            </a:solidFill>
            <a:prstDash val="solid"/>
          </a:ln>
        </p:spPr>
      </p:sp>
      <p:sp>
        <p:nvSpPr>
          <p:cNvPr id="91" name="Shape 89"/>
          <p:cNvSpPr/>
          <p:nvPr/>
        </p:nvSpPr>
        <p:spPr>
          <a:xfrm>
            <a:off x="10181140" y="4371856"/>
            <a:ext cx="118872" cy="118872"/>
          </a:xfrm>
          <a:prstGeom prst="ellipse">
            <a:avLst/>
          </a:prstGeom>
          <a:solidFill>
            <a:srgbClr val="8E89AE">
              <a:alpha val="85000"/>
            </a:srgbClr>
          </a:solidFill>
          <a:ln w="12700">
            <a:solidFill>
              <a:srgbClr val="8E89AE"/>
            </a:solidFill>
            <a:prstDash val="solid"/>
          </a:ln>
        </p:spPr>
      </p:sp>
      <p:sp>
        <p:nvSpPr>
          <p:cNvPr id="92" name="Shape 90"/>
          <p:cNvSpPr/>
          <p:nvPr/>
        </p:nvSpPr>
        <p:spPr>
          <a:xfrm>
            <a:off x="10081156" y="4261145"/>
            <a:ext cx="118872" cy="118872"/>
          </a:xfrm>
          <a:prstGeom prst="ellipse">
            <a:avLst/>
          </a:prstGeom>
          <a:solidFill>
            <a:srgbClr val="8E89AE">
              <a:alpha val="85000"/>
            </a:srgbClr>
          </a:solidFill>
          <a:ln w="12700">
            <a:solidFill>
              <a:srgbClr val="8E89AE"/>
            </a:solidFill>
            <a:prstDash val="solid"/>
          </a:ln>
        </p:spPr>
      </p:sp>
      <p:sp>
        <p:nvSpPr>
          <p:cNvPr id="93" name="Shape 91"/>
          <p:cNvSpPr/>
          <p:nvPr/>
        </p:nvSpPr>
        <p:spPr>
          <a:xfrm>
            <a:off x="10035012" y="4402604"/>
            <a:ext cx="118872" cy="118872"/>
          </a:xfrm>
          <a:prstGeom prst="ellipse">
            <a:avLst/>
          </a:prstGeom>
          <a:solidFill>
            <a:srgbClr val="8E89AE">
              <a:alpha val="85000"/>
            </a:srgbClr>
          </a:solidFill>
          <a:ln w="12700">
            <a:solidFill>
              <a:srgbClr val="8E89AE"/>
            </a:solidFill>
            <a:prstDash val="solid"/>
          </a:ln>
        </p:spPr>
      </p:sp>
      <p:sp>
        <p:nvSpPr>
          <p:cNvPr id="94" name="Shape 92"/>
          <p:cNvSpPr/>
          <p:nvPr/>
        </p:nvSpPr>
        <p:spPr>
          <a:xfrm>
            <a:off x="10177220" y="4220510"/>
            <a:ext cx="118872" cy="118872"/>
          </a:xfrm>
          <a:prstGeom prst="ellipse">
            <a:avLst/>
          </a:prstGeom>
          <a:solidFill>
            <a:srgbClr val="8E89AE">
              <a:alpha val="85000"/>
            </a:srgbClr>
          </a:solidFill>
          <a:ln w="12700">
            <a:solidFill>
              <a:srgbClr val="8E89AE"/>
            </a:solidFill>
            <a:prstDash val="solid"/>
          </a:ln>
        </p:spPr>
      </p:sp>
      <p:sp>
        <p:nvSpPr>
          <p:cNvPr id="95" name="Shape 93"/>
          <p:cNvSpPr/>
          <p:nvPr/>
        </p:nvSpPr>
        <p:spPr>
          <a:xfrm>
            <a:off x="10331293" y="4133812"/>
            <a:ext cx="118872" cy="118872"/>
          </a:xfrm>
          <a:prstGeom prst="ellipse">
            <a:avLst/>
          </a:prstGeom>
          <a:solidFill>
            <a:srgbClr val="8E89AE">
              <a:alpha val="85000"/>
            </a:srgbClr>
          </a:solidFill>
          <a:ln w="12700">
            <a:solidFill>
              <a:srgbClr val="8E89AE"/>
            </a:solidFill>
            <a:prstDash val="solid"/>
          </a:ln>
        </p:spPr>
      </p:sp>
      <p:sp>
        <p:nvSpPr>
          <p:cNvPr id="96" name="Shape 94"/>
          <p:cNvSpPr/>
          <p:nvPr/>
        </p:nvSpPr>
        <p:spPr>
          <a:xfrm>
            <a:off x="10004468" y="4449242"/>
            <a:ext cx="118872" cy="118872"/>
          </a:xfrm>
          <a:prstGeom prst="ellipse">
            <a:avLst/>
          </a:prstGeom>
          <a:solidFill>
            <a:srgbClr val="8E89AE">
              <a:alpha val="85000"/>
            </a:srgbClr>
          </a:solidFill>
          <a:ln w="12700">
            <a:solidFill>
              <a:srgbClr val="8E89AE"/>
            </a:solidFill>
            <a:prstDash val="solid"/>
          </a:ln>
        </p:spPr>
      </p:sp>
      <p:sp>
        <p:nvSpPr>
          <p:cNvPr id="97" name="Shape 95"/>
          <p:cNvSpPr/>
          <p:nvPr/>
        </p:nvSpPr>
        <p:spPr>
          <a:xfrm>
            <a:off x="10270986" y="4357474"/>
            <a:ext cx="118872" cy="118872"/>
          </a:xfrm>
          <a:prstGeom prst="ellipse">
            <a:avLst/>
          </a:prstGeom>
          <a:solidFill>
            <a:srgbClr val="8E89AE">
              <a:alpha val="85000"/>
            </a:srgbClr>
          </a:solidFill>
          <a:ln w="12700">
            <a:solidFill>
              <a:srgbClr val="8E89AE"/>
            </a:solidFill>
            <a:prstDash val="solid"/>
          </a:ln>
        </p:spPr>
      </p:sp>
      <p:sp>
        <p:nvSpPr>
          <p:cNvPr id="98" name="Shape 96"/>
          <p:cNvSpPr/>
          <p:nvPr/>
        </p:nvSpPr>
        <p:spPr>
          <a:xfrm>
            <a:off x="10380380" y="4316079"/>
            <a:ext cx="118872" cy="118872"/>
          </a:xfrm>
          <a:prstGeom prst="ellipse">
            <a:avLst/>
          </a:prstGeom>
          <a:solidFill>
            <a:srgbClr val="8E89AE">
              <a:alpha val="85000"/>
            </a:srgbClr>
          </a:solidFill>
          <a:ln w="12700">
            <a:solidFill>
              <a:srgbClr val="8E89AE"/>
            </a:solidFill>
            <a:prstDash val="solid"/>
          </a:ln>
        </p:spPr>
      </p:sp>
      <p:sp>
        <p:nvSpPr>
          <p:cNvPr id="99" name="Shape 97"/>
          <p:cNvSpPr/>
          <p:nvPr/>
        </p:nvSpPr>
        <p:spPr>
          <a:xfrm>
            <a:off x="10215753" y="4240054"/>
            <a:ext cx="118872" cy="118872"/>
          </a:xfrm>
          <a:prstGeom prst="ellipse">
            <a:avLst/>
          </a:prstGeom>
          <a:solidFill>
            <a:srgbClr val="8E89AE">
              <a:alpha val="85000"/>
            </a:srgbClr>
          </a:solidFill>
          <a:ln w="12700">
            <a:solidFill>
              <a:srgbClr val="8E89AE"/>
            </a:solidFill>
            <a:prstDash val="solid"/>
          </a:ln>
        </p:spPr>
      </p:sp>
      <p:sp>
        <p:nvSpPr>
          <p:cNvPr id="100" name="Shape 98"/>
          <p:cNvSpPr/>
          <p:nvPr/>
        </p:nvSpPr>
        <p:spPr>
          <a:xfrm>
            <a:off x="10631030" y="4226528"/>
            <a:ext cx="118872" cy="118872"/>
          </a:xfrm>
          <a:prstGeom prst="ellipse">
            <a:avLst/>
          </a:prstGeom>
          <a:solidFill>
            <a:srgbClr val="8E89AE">
              <a:alpha val="85000"/>
            </a:srgbClr>
          </a:solidFill>
          <a:ln w="12700">
            <a:solidFill>
              <a:srgbClr val="8E89AE"/>
            </a:solidFill>
            <a:prstDash val="solid"/>
          </a:ln>
        </p:spPr>
      </p:sp>
      <p:sp>
        <p:nvSpPr>
          <p:cNvPr id="101" name="Shape 99"/>
          <p:cNvSpPr/>
          <p:nvPr/>
        </p:nvSpPr>
        <p:spPr>
          <a:xfrm>
            <a:off x="9800671" y="4579187"/>
            <a:ext cx="118872" cy="118872"/>
          </a:xfrm>
          <a:prstGeom prst="ellipse">
            <a:avLst/>
          </a:prstGeom>
          <a:solidFill>
            <a:srgbClr val="8E89AE">
              <a:alpha val="85000"/>
            </a:srgbClr>
          </a:solidFill>
          <a:ln w="12700">
            <a:solidFill>
              <a:srgbClr val="8E89AE"/>
            </a:solidFill>
            <a:prstDash val="solid"/>
          </a:ln>
        </p:spPr>
      </p:sp>
      <p:sp>
        <p:nvSpPr>
          <p:cNvPr id="102" name="Shape 100"/>
          <p:cNvSpPr/>
          <p:nvPr/>
        </p:nvSpPr>
        <p:spPr>
          <a:xfrm>
            <a:off x="9976797" y="3950491"/>
            <a:ext cx="118872" cy="118872"/>
          </a:xfrm>
          <a:prstGeom prst="ellipse">
            <a:avLst/>
          </a:prstGeom>
          <a:solidFill>
            <a:srgbClr val="8E89AE">
              <a:alpha val="85000"/>
            </a:srgbClr>
          </a:solidFill>
          <a:ln w="12700">
            <a:solidFill>
              <a:srgbClr val="8E89AE"/>
            </a:solidFill>
            <a:prstDash val="solid"/>
          </a:ln>
        </p:spPr>
      </p:sp>
      <p:sp>
        <p:nvSpPr>
          <p:cNvPr id="103" name="Shape 101"/>
          <p:cNvSpPr/>
          <p:nvPr/>
        </p:nvSpPr>
        <p:spPr>
          <a:xfrm>
            <a:off x="10005592" y="4173331"/>
            <a:ext cx="118872" cy="118872"/>
          </a:xfrm>
          <a:prstGeom prst="ellipse">
            <a:avLst/>
          </a:prstGeom>
          <a:solidFill>
            <a:srgbClr val="8E89AE">
              <a:alpha val="85000"/>
            </a:srgbClr>
          </a:solidFill>
          <a:ln w="12700">
            <a:solidFill>
              <a:srgbClr val="8E89AE"/>
            </a:solidFill>
            <a:prstDash val="solid"/>
          </a:ln>
        </p:spPr>
      </p:sp>
      <p:sp>
        <p:nvSpPr>
          <p:cNvPr id="104" name="Shape 102"/>
          <p:cNvSpPr/>
          <p:nvPr/>
        </p:nvSpPr>
        <p:spPr>
          <a:xfrm>
            <a:off x="9782428" y="4219017"/>
            <a:ext cx="118872" cy="118872"/>
          </a:xfrm>
          <a:prstGeom prst="ellipse">
            <a:avLst/>
          </a:prstGeom>
          <a:solidFill>
            <a:srgbClr val="8E89AE">
              <a:alpha val="85000"/>
            </a:srgbClr>
          </a:solidFill>
          <a:ln w="12700">
            <a:solidFill>
              <a:srgbClr val="8E89AE"/>
            </a:solidFill>
            <a:prstDash val="solid"/>
          </a:ln>
        </p:spPr>
      </p:sp>
      <p:sp>
        <p:nvSpPr>
          <p:cNvPr id="105" name="Shape 103"/>
          <p:cNvSpPr/>
          <p:nvPr/>
        </p:nvSpPr>
        <p:spPr>
          <a:xfrm>
            <a:off x="10649133" y="4436549"/>
            <a:ext cx="118872" cy="118872"/>
          </a:xfrm>
          <a:prstGeom prst="ellipse">
            <a:avLst/>
          </a:prstGeom>
          <a:solidFill>
            <a:srgbClr val="8E89AE">
              <a:alpha val="85000"/>
            </a:srgbClr>
          </a:solidFill>
          <a:ln w="12700">
            <a:solidFill>
              <a:srgbClr val="8E89AE"/>
            </a:solidFill>
            <a:prstDash val="solid"/>
          </a:ln>
        </p:spPr>
      </p:sp>
      <p:sp>
        <p:nvSpPr>
          <p:cNvPr id="106" name="Shape 104"/>
          <p:cNvSpPr/>
          <p:nvPr/>
        </p:nvSpPr>
        <p:spPr>
          <a:xfrm>
            <a:off x="10162725" y="3977508"/>
            <a:ext cx="118872" cy="118872"/>
          </a:xfrm>
          <a:prstGeom prst="ellipse">
            <a:avLst/>
          </a:prstGeom>
          <a:solidFill>
            <a:srgbClr val="8E89AE">
              <a:alpha val="85000"/>
            </a:srgbClr>
          </a:solidFill>
          <a:ln w="12700">
            <a:solidFill>
              <a:srgbClr val="8E89AE"/>
            </a:solidFill>
            <a:prstDash val="solid"/>
          </a:ln>
        </p:spPr>
      </p:sp>
      <p:sp>
        <p:nvSpPr>
          <p:cNvPr id="107" name="Shape 105"/>
          <p:cNvSpPr/>
          <p:nvPr/>
        </p:nvSpPr>
        <p:spPr>
          <a:xfrm>
            <a:off x="10169445" y="4280863"/>
            <a:ext cx="118872" cy="118872"/>
          </a:xfrm>
          <a:prstGeom prst="ellipse">
            <a:avLst/>
          </a:prstGeom>
          <a:solidFill>
            <a:srgbClr val="8E89AE">
              <a:alpha val="85000"/>
            </a:srgbClr>
          </a:solidFill>
          <a:ln w="12700">
            <a:solidFill>
              <a:srgbClr val="8E89AE"/>
            </a:solidFill>
            <a:prstDash val="solid"/>
          </a:ln>
        </p:spPr>
      </p:sp>
      <p:sp>
        <p:nvSpPr>
          <p:cNvPr id="108" name="Shape 106"/>
          <p:cNvSpPr/>
          <p:nvPr/>
        </p:nvSpPr>
        <p:spPr>
          <a:xfrm>
            <a:off x="10273659" y="4306862"/>
            <a:ext cx="118872" cy="118872"/>
          </a:xfrm>
          <a:prstGeom prst="ellipse">
            <a:avLst/>
          </a:prstGeom>
          <a:solidFill>
            <a:srgbClr val="8E89AE">
              <a:alpha val="85000"/>
            </a:srgbClr>
          </a:solidFill>
          <a:ln w="12700">
            <a:solidFill>
              <a:srgbClr val="8E89AE"/>
            </a:solidFill>
            <a:prstDash val="solid"/>
          </a:ln>
        </p:spPr>
      </p:sp>
      <p:sp>
        <p:nvSpPr>
          <p:cNvPr id="109" name="Shape 107"/>
          <p:cNvSpPr/>
          <p:nvPr/>
        </p:nvSpPr>
        <p:spPr>
          <a:xfrm>
            <a:off x="10407365" y="3967186"/>
            <a:ext cx="118872" cy="118872"/>
          </a:xfrm>
          <a:prstGeom prst="ellipse">
            <a:avLst/>
          </a:prstGeom>
          <a:solidFill>
            <a:srgbClr val="8E89AE">
              <a:alpha val="85000"/>
            </a:srgbClr>
          </a:solidFill>
          <a:ln w="12700">
            <a:solidFill>
              <a:srgbClr val="8E89AE"/>
            </a:solidFill>
            <a:prstDash val="solid"/>
          </a:ln>
        </p:spPr>
      </p:sp>
      <p:sp>
        <p:nvSpPr>
          <p:cNvPr id="110" name="Shape 108"/>
          <p:cNvSpPr/>
          <p:nvPr/>
        </p:nvSpPr>
        <p:spPr>
          <a:xfrm>
            <a:off x="10307100" y="4201055"/>
            <a:ext cx="118872" cy="118872"/>
          </a:xfrm>
          <a:prstGeom prst="ellipse">
            <a:avLst/>
          </a:prstGeom>
          <a:solidFill>
            <a:srgbClr val="8E89AE">
              <a:alpha val="85000"/>
            </a:srgbClr>
          </a:solidFill>
          <a:ln w="12700">
            <a:solidFill>
              <a:srgbClr val="8E89AE"/>
            </a:solidFill>
            <a:prstDash val="solid"/>
          </a:ln>
        </p:spPr>
      </p:sp>
      <p:sp>
        <p:nvSpPr>
          <p:cNvPr id="111" name="Text 109"/>
          <p:cNvSpPr/>
          <p:nvPr/>
        </p:nvSpPr>
        <p:spPr>
          <a:xfrm>
            <a:off x="6720840" y="1527048"/>
            <a:ext cx="4663440" cy="256032"/>
          </a:xfrm>
          <a:prstGeom prst="rect">
            <a:avLst/>
          </a:prstGeom>
          <a:noFill/>
          <a:ln/>
        </p:spPr>
        <p:txBody>
          <a:bodyPr wrap="square" lIns="0" tIns="0" rIns="0" bIns="0" rtlCol="0" anchor="ctr"/>
          <a:lstStyle/>
          <a:p>
            <a:pPr indent="0" marL="0">
              <a:buNone/>
            </a:pPr>
            <a:r>
              <a:rPr lang="en-US" sz="1100" b="1" dirty="0">
                <a:solidFill>
                  <a:srgbClr val="6B6785"/>
                </a:solidFill>
                <a:latin typeface="Calibri" pitchFamily="34" charset="0"/>
                <a:ea typeface="Calibri" pitchFamily="34" charset="-122"/>
                <a:cs typeface="Calibri" pitchFamily="34" charset="-120"/>
              </a:rPr>
              <a:t>Every dot is one person</a:t>
            </a:r>
            <a:endParaRPr lang="en-US" sz="1100" dirty="0"/>
          </a:p>
        </p:txBody>
      </p:sp>
      <p:sp>
        <p:nvSpPr>
          <p:cNvPr id="112" name="Text 110"/>
          <p:cNvSpPr/>
          <p:nvPr/>
        </p:nvSpPr>
        <p:spPr>
          <a:xfrm>
            <a:off x="6766560" y="5577840"/>
            <a:ext cx="4480560" cy="256032"/>
          </a:xfrm>
          <a:prstGeom prst="rect">
            <a:avLst/>
          </a:prstGeom>
          <a:noFill/>
          <a:ln/>
        </p:spPr>
        <p:txBody>
          <a:bodyPr wrap="square" lIns="0" tIns="0" rIns="0" bIns="0" rtlCol="0" anchor="ctr"/>
          <a:lstStyle/>
          <a:p>
            <a:pPr algn="ctr" indent="0" marL="0">
              <a:buNone/>
            </a:pPr>
            <a:r>
              <a:rPr lang="en-US" sz="1050" dirty="0">
                <a:solidFill>
                  <a:srgbClr val="9E9AB4"/>
                </a:solidFill>
                <a:latin typeface="Calibri" pitchFamily="34" charset="0"/>
                <a:ea typeface="Calibri" pitchFamily="34" charset="-122"/>
                <a:cs typeface="Calibri" pitchFamily="34" charset="-120"/>
              </a:rPr>
              <a:t>Cups of coffee per day →</a:t>
            </a:r>
            <a:endParaRPr lang="en-US" sz="1050" dirty="0"/>
          </a:p>
        </p:txBody>
      </p:sp>
      <p:sp>
        <p:nvSpPr>
          <p:cNvPr id="113" name="Text 111"/>
          <p:cNvSpPr/>
          <p:nvPr/>
        </p:nvSpPr>
        <p:spPr>
          <a:xfrm rot="16200000">
            <a:off x="5605272" y="3323844"/>
            <a:ext cx="1737360" cy="256032"/>
          </a:xfrm>
          <a:prstGeom prst="rect">
            <a:avLst/>
          </a:prstGeom>
          <a:noFill/>
          <a:ln/>
        </p:spPr>
        <p:txBody>
          <a:bodyPr wrap="square" lIns="0" tIns="0" rIns="0" bIns="0" rtlCol="0" anchor="ctr"/>
          <a:lstStyle/>
          <a:p>
            <a:pPr algn="ctr" indent="0" marL="0">
              <a:buNone/>
            </a:pPr>
            <a:r>
              <a:rPr lang="en-US" sz="1050" dirty="0">
                <a:solidFill>
                  <a:srgbClr val="9E9AB4"/>
                </a:solidFill>
                <a:latin typeface="Calibri" pitchFamily="34" charset="0"/>
                <a:ea typeface="Calibri" pitchFamily="34" charset="-122"/>
                <a:cs typeface="Calibri" pitchFamily="34" charset="-120"/>
              </a:rPr>
              <a:t>Love of mornings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CONCEPT 1 OF 3 · CLUSTERING</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Grouping people who answer alike</a:t>
            </a:r>
            <a:endParaRPr lang="en-US" sz="2900" dirty="0"/>
          </a:p>
        </p:txBody>
      </p:sp>
      <p:sp>
        <p:nvSpPr>
          <p:cNvPr id="4" name="Text 2"/>
          <p:cNvSpPr/>
          <p:nvPr/>
        </p:nvSpPr>
        <p:spPr>
          <a:xfrm>
            <a:off x="566928" y="1389888"/>
            <a:ext cx="5120640" cy="822960"/>
          </a:xfrm>
          <a:prstGeom prst="rect">
            <a:avLst/>
          </a:prstGeom>
          <a:noFill/>
          <a:ln/>
        </p:spPr>
        <p:txBody>
          <a:bodyPr wrap="square" lIns="0" tIns="0" rIns="0" bIns="0" rtlCol="0" anchor="t"/>
          <a:lstStyle/>
          <a:p>
            <a:pPr algn="l" indent="0" marL="0">
              <a:lnSpc>
                <a:spcPts val="2100"/>
              </a:lnSpc>
              <a:buNone/>
            </a:pPr>
            <a:r>
              <a:rPr lang="en-US" sz="1400" dirty="0">
                <a:solidFill>
                  <a:srgbClr val="6B6785"/>
                </a:solidFill>
                <a:latin typeface="Calibri" pitchFamily="34" charset="0"/>
                <a:ea typeface="Calibri" pitchFamily="34" charset="-122"/>
                <a:cs typeface="Calibri" pitchFamily="34" charset="-120"/>
              </a:rPr>
              <a:t>Clustering just means putting people into groups on the basis of shared characteristics. Look at the same scatter again — now the structure is obvious.</a:t>
            </a:r>
            <a:endParaRPr lang="en-US" sz="1400" dirty="0"/>
          </a:p>
        </p:txBody>
      </p:sp>
      <p:sp>
        <p:nvSpPr>
          <p:cNvPr id="5" name="Shape 3"/>
          <p:cNvSpPr/>
          <p:nvPr/>
        </p:nvSpPr>
        <p:spPr>
          <a:xfrm>
            <a:off x="566928" y="2331720"/>
            <a:ext cx="5120640" cy="3520440"/>
          </a:xfrm>
          <a:prstGeom prst="roundRect">
            <a:avLst>
              <a:gd name="adj" fmla="val 2597"/>
            </a:avLst>
          </a:prstGeom>
          <a:solidFill>
            <a:srgbClr val="FFFFFF"/>
          </a:solidFill>
          <a:ln w="12700">
            <a:solidFill>
              <a:srgbClr val="DBD8E8"/>
            </a:solidFill>
            <a:prstDash val="solid"/>
          </a:ln>
        </p:spPr>
      </p:sp>
      <p:sp>
        <p:nvSpPr>
          <p:cNvPr id="6" name="Shape 4"/>
          <p:cNvSpPr/>
          <p:nvPr/>
        </p:nvSpPr>
        <p:spPr>
          <a:xfrm>
            <a:off x="2098385" y="4857059"/>
            <a:ext cx="118872" cy="118872"/>
          </a:xfrm>
          <a:prstGeom prst="ellipse">
            <a:avLst/>
          </a:prstGeom>
          <a:solidFill>
            <a:srgbClr val="D9553C">
              <a:alpha val="88000"/>
            </a:srgbClr>
          </a:solidFill>
          <a:ln w="12700">
            <a:solidFill>
              <a:srgbClr val="D9553C"/>
            </a:solidFill>
            <a:prstDash val="solid"/>
          </a:ln>
        </p:spPr>
      </p:sp>
      <p:sp>
        <p:nvSpPr>
          <p:cNvPr id="7" name="Shape 5"/>
          <p:cNvSpPr/>
          <p:nvPr/>
        </p:nvSpPr>
        <p:spPr>
          <a:xfrm>
            <a:off x="1946812" y="4563974"/>
            <a:ext cx="118872" cy="118872"/>
          </a:xfrm>
          <a:prstGeom prst="ellipse">
            <a:avLst/>
          </a:prstGeom>
          <a:solidFill>
            <a:srgbClr val="D9553C">
              <a:alpha val="88000"/>
            </a:srgbClr>
          </a:solidFill>
          <a:ln w="12700">
            <a:solidFill>
              <a:srgbClr val="D9553C"/>
            </a:solidFill>
            <a:prstDash val="solid"/>
          </a:ln>
        </p:spPr>
      </p:sp>
      <p:sp>
        <p:nvSpPr>
          <p:cNvPr id="8" name="Shape 6"/>
          <p:cNvSpPr/>
          <p:nvPr/>
        </p:nvSpPr>
        <p:spPr>
          <a:xfrm>
            <a:off x="1309565" y="4543819"/>
            <a:ext cx="118872" cy="118872"/>
          </a:xfrm>
          <a:prstGeom prst="ellipse">
            <a:avLst/>
          </a:prstGeom>
          <a:solidFill>
            <a:srgbClr val="D9553C">
              <a:alpha val="88000"/>
            </a:srgbClr>
          </a:solidFill>
          <a:ln w="12700">
            <a:solidFill>
              <a:srgbClr val="D9553C"/>
            </a:solidFill>
            <a:prstDash val="solid"/>
          </a:ln>
        </p:spPr>
      </p:sp>
      <p:sp>
        <p:nvSpPr>
          <p:cNvPr id="9" name="Shape 7"/>
          <p:cNvSpPr/>
          <p:nvPr/>
        </p:nvSpPr>
        <p:spPr>
          <a:xfrm>
            <a:off x="1724354" y="4820355"/>
            <a:ext cx="118872" cy="118872"/>
          </a:xfrm>
          <a:prstGeom prst="ellipse">
            <a:avLst/>
          </a:prstGeom>
          <a:solidFill>
            <a:srgbClr val="D9553C">
              <a:alpha val="88000"/>
            </a:srgbClr>
          </a:solidFill>
          <a:ln w="12700">
            <a:solidFill>
              <a:srgbClr val="D9553C"/>
            </a:solidFill>
            <a:prstDash val="solid"/>
          </a:ln>
        </p:spPr>
      </p:sp>
      <p:sp>
        <p:nvSpPr>
          <p:cNvPr id="10" name="Shape 8"/>
          <p:cNvSpPr/>
          <p:nvPr/>
        </p:nvSpPr>
        <p:spPr>
          <a:xfrm>
            <a:off x="1820003" y="4549379"/>
            <a:ext cx="118872" cy="118872"/>
          </a:xfrm>
          <a:prstGeom prst="ellipse">
            <a:avLst/>
          </a:prstGeom>
          <a:solidFill>
            <a:srgbClr val="D9553C">
              <a:alpha val="88000"/>
            </a:srgbClr>
          </a:solidFill>
          <a:ln w="12700">
            <a:solidFill>
              <a:srgbClr val="D9553C"/>
            </a:solidFill>
            <a:prstDash val="solid"/>
          </a:ln>
        </p:spPr>
      </p:sp>
      <p:sp>
        <p:nvSpPr>
          <p:cNvPr id="11" name="Shape 9"/>
          <p:cNvSpPr/>
          <p:nvPr/>
        </p:nvSpPr>
        <p:spPr>
          <a:xfrm>
            <a:off x="2195624" y="4249647"/>
            <a:ext cx="118872" cy="118872"/>
          </a:xfrm>
          <a:prstGeom prst="ellipse">
            <a:avLst/>
          </a:prstGeom>
          <a:solidFill>
            <a:srgbClr val="D9553C">
              <a:alpha val="88000"/>
            </a:srgbClr>
          </a:solidFill>
          <a:ln w="12700">
            <a:solidFill>
              <a:srgbClr val="D9553C"/>
            </a:solidFill>
            <a:prstDash val="solid"/>
          </a:ln>
        </p:spPr>
      </p:sp>
      <p:sp>
        <p:nvSpPr>
          <p:cNvPr id="12" name="Shape 10"/>
          <p:cNvSpPr/>
          <p:nvPr/>
        </p:nvSpPr>
        <p:spPr>
          <a:xfrm>
            <a:off x="1875409" y="4669024"/>
            <a:ext cx="118872" cy="118872"/>
          </a:xfrm>
          <a:prstGeom prst="ellipse">
            <a:avLst/>
          </a:prstGeom>
          <a:solidFill>
            <a:srgbClr val="D9553C">
              <a:alpha val="88000"/>
            </a:srgbClr>
          </a:solidFill>
          <a:ln w="12700">
            <a:solidFill>
              <a:srgbClr val="D9553C"/>
            </a:solidFill>
            <a:prstDash val="solid"/>
          </a:ln>
        </p:spPr>
      </p:sp>
      <p:sp>
        <p:nvSpPr>
          <p:cNvPr id="13" name="Shape 11"/>
          <p:cNvSpPr/>
          <p:nvPr/>
        </p:nvSpPr>
        <p:spPr>
          <a:xfrm>
            <a:off x="1805516" y="4259180"/>
            <a:ext cx="118872" cy="118872"/>
          </a:xfrm>
          <a:prstGeom prst="ellipse">
            <a:avLst/>
          </a:prstGeom>
          <a:solidFill>
            <a:srgbClr val="D9553C">
              <a:alpha val="88000"/>
            </a:srgbClr>
          </a:solidFill>
          <a:ln w="12700">
            <a:solidFill>
              <a:srgbClr val="D9553C"/>
            </a:solidFill>
            <a:prstDash val="solid"/>
          </a:ln>
        </p:spPr>
      </p:sp>
      <p:sp>
        <p:nvSpPr>
          <p:cNvPr id="14" name="Shape 12"/>
          <p:cNvSpPr/>
          <p:nvPr/>
        </p:nvSpPr>
        <p:spPr>
          <a:xfrm>
            <a:off x="1748014" y="4360026"/>
            <a:ext cx="118872" cy="118872"/>
          </a:xfrm>
          <a:prstGeom prst="ellipse">
            <a:avLst/>
          </a:prstGeom>
          <a:solidFill>
            <a:srgbClr val="D9553C">
              <a:alpha val="88000"/>
            </a:srgbClr>
          </a:solidFill>
          <a:ln w="12700">
            <a:solidFill>
              <a:srgbClr val="D9553C"/>
            </a:solidFill>
            <a:prstDash val="solid"/>
          </a:ln>
        </p:spPr>
      </p:sp>
      <p:sp>
        <p:nvSpPr>
          <p:cNvPr id="15" name="Shape 13"/>
          <p:cNvSpPr/>
          <p:nvPr/>
        </p:nvSpPr>
        <p:spPr>
          <a:xfrm>
            <a:off x="1558971" y="4326276"/>
            <a:ext cx="118872" cy="118872"/>
          </a:xfrm>
          <a:prstGeom prst="ellipse">
            <a:avLst/>
          </a:prstGeom>
          <a:solidFill>
            <a:srgbClr val="D9553C">
              <a:alpha val="88000"/>
            </a:srgbClr>
          </a:solidFill>
          <a:ln w="12700">
            <a:solidFill>
              <a:srgbClr val="D9553C"/>
            </a:solidFill>
            <a:prstDash val="solid"/>
          </a:ln>
        </p:spPr>
      </p:sp>
      <p:sp>
        <p:nvSpPr>
          <p:cNvPr id="16" name="Shape 14"/>
          <p:cNvSpPr/>
          <p:nvPr/>
        </p:nvSpPr>
        <p:spPr>
          <a:xfrm>
            <a:off x="1992332" y="4586248"/>
            <a:ext cx="118872" cy="118872"/>
          </a:xfrm>
          <a:prstGeom prst="ellipse">
            <a:avLst/>
          </a:prstGeom>
          <a:solidFill>
            <a:srgbClr val="D9553C">
              <a:alpha val="88000"/>
            </a:srgbClr>
          </a:solidFill>
          <a:ln w="12700">
            <a:solidFill>
              <a:srgbClr val="D9553C"/>
            </a:solidFill>
            <a:prstDash val="solid"/>
          </a:ln>
        </p:spPr>
      </p:sp>
      <p:sp>
        <p:nvSpPr>
          <p:cNvPr id="17" name="Shape 15"/>
          <p:cNvSpPr/>
          <p:nvPr/>
        </p:nvSpPr>
        <p:spPr>
          <a:xfrm>
            <a:off x="1624811" y="4700638"/>
            <a:ext cx="118872" cy="118872"/>
          </a:xfrm>
          <a:prstGeom prst="ellipse">
            <a:avLst/>
          </a:prstGeom>
          <a:solidFill>
            <a:srgbClr val="D9553C">
              <a:alpha val="88000"/>
            </a:srgbClr>
          </a:solidFill>
          <a:ln w="12700">
            <a:solidFill>
              <a:srgbClr val="D9553C"/>
            </a:solidFill>
            <a:prstDash val="solid"/>
          </a:ln>
        </p:spPr>
      </p:sp>
      <p:sp>
        <p:nvSpPr>
          <p:cNvPr id="18" name="Shape 16"/>
          <p:cNvSpPr/>
          <p:nvPr/>
        </p:nvSpPr>
        <p:spPr>
          <a:xfrm>
            <a:off x="1992579" y="4570581"/>
            <a:ext cx="118872" cy="118872"/>
          </a:xfrm>
          <a:prstGeom prst="ellipse">
            <a:avLst/>
          </a:prstGeom>
          <a:solidFill>
            <a:srgbClr val="D9553C">
              <a:alpha val="88000"/>
            </a:srgbClr>
          </a:solidFill>
          <a:ln w="12700">
            <a:solidFill>
              <a:srgbClr val="D9553C"/>
            </a:solidFill>
            <a:prstDash val="solid"/>
          </a:ln>
        </p:spPr>
      </p:sp>
      <p:sp>
        <p:nvSpPr>
          <p:cNvPr id="19" name="Shape 17"/>
          <p:cNvSpPr/>
          <p:nvPr/>
        </p:nvSpPr>
        <p:spPr>
          <a:xfrm>
            <a:off x="1891961" y="4388129"/>
            <a:ext cx="118872" cy="118872"/>
          </a:xfrm>
          <a:prstGeom prst="ellipse">
            <a:avLst/>
          </a:prstGeom>
          <a:solidFill>
            <a:srgbClr val="D9553C">
              <a:alpha val="88000"/>
            </a:srgbClr>
          </a:solidFill>
          <a:ln w="12700">
            <a:solidFill>
              <a:srgbClr val="D9553C"/>
            </a:solidFill>
            <a:prstDash val="solid"/>
          </a:ln>
        </p:spPr>
      </p:sp>
      <p:sp>
        <p:nvSpPr>
          <p:cNvPr id="20" name="Shape 18"/>
          <p:cNvSpPr/>
          <p:nvPr/>
        </p:nvSpPr>
        <p:spPr>
          <a:xfrm>
            <a:off x="1626911" y="4776670"/>
            <a:ext cx="118872" cy="118872"/>
          </a:xfrm>
          <a:prstGeom prst="ellipse">
            <a:avLst/>
          </a:prstGeom>
          <a:solidFill>
            <a:srgbClr val="D9553C">
              <a:alpha val="88000"/>
            </a:srgbClr>
          </a:solidFill>
          <a:ln w="12700">
            <a:solidFill>
              <a:srgbClr val="D9553C"/>
            </a:solidFill>
            <a:prstDash val="solid"/>
          </a:ln>
        </p:spPr>
      </p:sp>
      <p:sp>
        <p:nvSpPr>
          <p:cNvPr id="21" name="Shape 19"/>
          <p:cNvSpPr/>
          <p:nvPr/>
        </p:nvSpPr>
        <p:spPr>
          <a:xfrm>
            <a:off x="2124058" y="4530660"/>
            <a:ext cx="118872" cy="118872"/>
          </a:xfrm>
          <a:prstGeom prst="ellipse">
            <a:avLst/>
          </a:prstGeom>
          <a:solidFill>
            <a:srgbClr val="D9553C">
              <a:alpha val="88000"/>
            </a:srgbClr>
          </a:solidFill>
          <a:ln w="12700">
            <a:solidFill>
              <a:srgbClr val="D9553C"/>
            </a:solidFill>
            <a:prstDash val="solid"/>
          </a:ln>
        </p:spPr>
      </p:sp>
      <p:sp>
        <p:nvSpPr>
          <p:cNvPr id="22" name="Shape 20"/>
          <p:cNvSpPr/>
          <p:nvPr/>
        </p:nvSpPr>
        <p:spPr>
          <a:xfrm>
            <a:off x="1866359" y="4460380"/>
            <a:ext cx="118872" cy="118872"/>
          </a:xfrm>
          <a:prstGeom prst="ellipse">
            <a:avLst/>
          </a:prstGeom>
          <a:solidFill>
            <a:srgbClr val="D9553C">
              <a:alpha val="88000"/>
            </a:srgbClr>
          </a:solidFill>
          <a:ln w="12700">
            <a:solidFill>
              <a:srgbClr val="D9553C"/>
            </a:solidFill>
            <a:prstDash val="solid"/>
          </a:ln>
        </p:spPr>
      </p:sp>
      <p:sp>
        <p:nvSpPr>
          <p:cNvPr id="23" name="Shape 21"/>
          <p:cNvSpPr/>
          <p:nvPr/>
        </p:nvSpPr>
        <p:spPr>
          <a:xfrm>
            <a:off x="1667350" y="4528215"/>
            <a:ext cx="118872" cy="118872"/>
          </a:xfrm>
          <a:prstGeom prst="ellipse">
            <a:avLst/>
          </a:prstGeom>
          <a:solidFill>
            <a:srgbClr val="D9553C">
              <a:alpha val="88000"/>
            </a:srgbClr>
          </a:solidFill>
          <a:ln w="12700">
            <a:solidFill>
              <a:srgbClr val="D9553C"/>
            </a:solidFill>
            <a:prstDash val="solid"/>
          </a:ln>
        </p:spPr>
      </p:sp>
      <p:sp>
        <p:nvSpPr>
          <p:cNvPr id="24" name="Shape 22"/>
          <p:cNvSpPr/>
          <p:nvPr/>
        </p:nvSpPr>
        <p:spPr>
          <a:xfrm>
            <a:off x="1916182" y="4363692"/>
            <a:ext cx="118872" cy="118872"/>
          </a:xfrm>
          <a:prstGeom prst="ellipse">
            <a:avLst/>
          </a:prstGeom>
          <a:solidFill>
            <a:srgbClr val="D9553C">
              <a:alpha val="88000"/>
            </a:srgbClr>
          </a:solidFill>
          <a:ln w="12700">
            <a:solidFill>
              <a:srgbClr val="D9553C"/>
            </a:solidFill>
            <a:prstDash val="solid"/>
          </a:ln>
        </p:spPr>
      </p:sp>
      <p:sp>
        <p:nvSpPr>
          <p:cNvPr id="25" name="Shape 23"/>
          <p:cNvSpPr/>
          <p:nvPr/>
        </p:nvSpPr>
        <p:spPr>
          <a:xfrm>
            <a:off x="1853107" y="4635359"/>
            <a:ext cx="118872" cy="118872"/>
          </a:xfrm>
          <a:prstGeom prst="ellipse">
            <a:avLst/>
          </a:prstGeom>
          <a:solidFill>
            <a:srgbClr val="D9553C">
              <a:alpha val="88000"/>
            </a:srgbClr>
          </a:solidFill>
          <a:ln w="12700">
            <a:solidFill>
              <a:srgbClr val="D9553C"/>
            </a:solidFill>
            <a:prstDash val="solid"/>
          </a:ln>
        </p:spPr>
      </p:sp>
      <p:sp>
        <p:nvSpPr>
          <p:cNvPr id="26" name="Shape 24"/>
          <p:cNvSpPr/>
          <p:nvPr/>
        </p:nvSpPr>
        <p:spPr>
          <a:xfrm>
            <a:off x="1707003" y="4590492"/>
            <a:ext cx="118872" cy="118872"/>
          </a:xfrm>
          <a:prstGeom prst="ellipse">
            <a:avLst/>
          </a:prstGeom>
          <a:solidFill>
            <a:srgbClr val="D9553C">
              <a:alpha val="88000"/>
            </a:srgbClr>
          </a:solidFill>
          <a:ln w="12700">
            <a:solidFill>
              <a:srgbClr val="D9553C"/>
            </a:solidFill>
            <a:prstDash val="solid"/>
          </a:ln>
        </p:spPr>
      </p:sp>
      <p:sp>
        <p:nvSpPr>
          <p:cNvPr id="27" name="Shape 25"/>
          <p:cNvSpPr/>
          <p:nvPr/>
        </p:nvSpPr>
        <p:spPr>
          <a:xfrm>
            <a:off x="1934819" y="4364772"/>
            <a:ext cx="118872" cy="118872"/>
          </a:xfrm>
          <a:prstGeom prst="ellipse">
            <a:avLst/>
          </a:prstGeom>
          <a:solidFill>
            <a:srgbClr val="D9553C">
              <a:alpha val="88000"/>
            </a:srgbClr>
          </a:solidFill>
          <a:ln w="12700">
            <a:solidFill>
              <a:srgbClr val="D9553C"/>
            </a:solidFill>
            <a:prstDash val="solid"/>
          </a:ln>
        </p:spPr>
      </p:sp>
      <p:sp>
        <p:nvSpPr>
          <p:cNvPr id="28" name="Shape 26"/>
          <p:cNvSpPr/>
          <p:nvPr/>
        </p:nvSpPr>
        <p:spPr>
          <a:xfrm>
            <a:off x="1793952" y="4639249"/>
            <a:ext cx="118872" cy="118872"/>
          </a:xfrm>
          <a:prstGeom prst="ellipse">
            <a:avLst/>
          </a:prstGeom>
          <a:solidFill>
            <a:srgbClr val="D9553C">
              <a:alpha val="88000"/>
            </a:srgbClr>
          </a:solidFill>
          <a:ln w="12700">
            <a:solidFill>
              <a:srgbClr val="D9553C"/>
            </a:solidFill>
            <a:prstDash val="solid"/>
          </a:ln>
        </p:spPr>
      </p:sp>
      <p:sp>
        <p:nvSpPr>
          <p:cNvPr id="29" name="Shape 27"/>
          <p:cNvSpPr/>
          <p:nvPr/>
        </p:nvSpPr>
        <p:spPr>
          <a:xfrm>
            <a:off x="1663070" y="4486872"/>
            <a:ext cx="118872" cy="118872"/>
          </a:xfrm>
          <a:prstGeom prst="ellipse">
            <a:avLst/>
          </a:prstGeom>
          <a:solidFill>
            <a:srgbClr val="D9553C">
              <a:alpha val="88000"/>
            </a:srgbClr>
          </a:solidFill>
          <a:ln w="12700">
            <a:solidFill>
              <a:srgbClr val="D9553C"/>
            </a:solidFill>
            <a:prstDash val="solid"/>
          </a:ln>
        </p:spPr>
      </p:sp>
      <p:sp>
        <p:nvSpPr>
          <p:cNvPr id="30" name="Shape 28"/>
          <p:cNvSpPr/>
          <p:nvPr/>
        </p:nvSpPr>
        <p:spPr>
          <a:xfrm>
            <a:off x="1463323" y="4760348"/>
            <a:ext cx="118872" cy="118872"/>
          </a:xfrm>
          <a:prstGeom prst="ellipse">
            <a:avLst/>
          </a:prstGeom>
          <a:solidFill>
            <a:srgbClr val="D9553C">
              <a:alpha val="88000"/>
            </a:srgbClr>
          </a:solidFill>
          <a:ln w="12700">
            <a:solidFill>
              <a:srgbClr val="D9553C"/>
            </a:solidFill>
            <a:prstDash val="solid"/>
          </a:ln>
        </p:spPr>
      </p:sp>
      <p:sp>
        <p:nvSpPr>
          <p:cNvPr id="31" name="Shape 29"/>
          <p:cNvSpPr/>
          <p:nvPr/>
        </p:nvSpPr>
        <p:spPr>
          <a:xfrm>
            <a:off x="2067322" y="4610259"/>
            <a:ext cx="118872" cy="118872"/>
          </a:xfrm>
          <a:prstGeom prst="ellipse">
            <a:avLst/>
          </a:prstGeom>
          <a:solidFill>
            <a:srgbClr val="D9553C">
              <a:alpha val="88000"/>
            </a:srgbClr>
          </a:solidFill>
          <a:ln w="12700">
            <a:solidFill>
              <a:srgbClr val="D9553C"/>
            </a:solidFill>
            <a:prstDash val="solid"/>
          </a:ln>
        </p:spPr>
      </p:sp>
      <p:sp>
        <p:nvSpPr>
          <p:cNvPr id="32" name="Shape 30"/>
          <p:cNvSpPr/>
          <p:nvPr/>
        </p:nvSpPr>
        <p:spPr>
          <a:xfrm>
            <a:off x="1836128" y="4793339"/>
            <a:ext cx="118872" cy="118872"/>
          </a:xfrm>
          <a:prstGeom prst="ellipse">
            <a:avLst/>
          </a:prstGeom>
          <a:solidFill>
            <a:srgbClr val="D9553C">
              <a:alpha val="88000"/>
            </a:srgbClr>
          </a:solidFill>
          <a:ln w="12700">
            <a:solidFill>
              <a:srgbClr val="D9553C"/>
            </a:solidFill>
            <a:prstDash val="solid"/>
          </a:ln>
        </p:spPr>
      </p:sp>
      <p:sp>
        <p:nvSpPr>
          <p:cNvPr id="33" name="Shape 31"/>
          <p:cNvSpPr/>
          <p:nvPr/>
        </p:nvSpPr>
        <p:spPr>
          <a:xfrm>
            <a:off x="2128031" y="4409704"/>
            <a:ext cx="118872" cy="118872"/>
          </a:xfrm>
          <a:prstGeom prst="ellipse">
            <a:avLst/>
          </a:prstGeom>
          <a:solidFill>
            <a:srgbClr val="D9553C">
              <a:alpha val="88000"/>
            </a:srgbClr>
          </a:solidFill>
          <a:ln w="12700">
            <a:solidFill>
              <a:srgbClr val="D9553C"/>
            </a:solidFill>
            <a:prstDash val="solid"/>
          </a:ln>
        </p:spPr>
      </p:sp>
      <p:sp>
        <p:nvSpPr>
          <p:cNvPr id="34" name="Shape 32"/>
          <p:cNvSpPr/>
          <p:nvPr/>
        </p:nvSpPr>
        <p:spPr>
          <a:xfrm>
            <a:off x="2051531" y="4593977"/>
            <a:ext cx="118872" cy="118872"/>
          </a:xfrm>
          <a:prstGeom prst="ellipse">
            <a:avLst/>
          </a:prstGeom>
          <a:solidFill>
            <a:srgbClr val="D9553C">
              <a:alpha val="88000"/>
            </a:srgbClr>
          </a:solidFill>
          <a:ln w="12700">
            <a:solidFill>
              <a:srgbClr val="D9553C"/>
            </a:solidFill>
            <a:prstDash val="solid"/>
          </a:ln>
        </p:spPr>
      </p:sp>
      <p:sp>
        <p:nvSpPr>
          <p:cNvPr id="35" name="Shape 33"/>
          <p:cNvSpPr/>
          <p:nvPr/>
        </p:nvSpPr>
        <p:spPr>
          <a:xfrm>
            <a:off x="1672100" y="4487309"/>
            <a:ext cx="118872" cy="118872"/>
          </a:xfrm>
          <a:prstGeom prst="ellipse">
            <a:avLst/>
          </a:prstGeom>
          <a:solidFill>
            <a:srgbClr val="D9553C">
              <a:alpha val="88000"/>
            </a:srgbClr>
          </a:solidFill>
          <a:ln w="12700">
            <a:solidFill>
              <a:srgbClr val="D9553C"/>
            </a:solidFill>
            <a:prstDash val="solid"/>
          </a:ln>
        </p:spPr>
      </p:sp>
      <p:sp>
        <p:nvSpPr>
          <p:cNvPr id="36" name="Shape 34"/>
          <p:cNvSpPr/>
          <p:nvPr/>
        </p:nvSpPr>
        <p:spPr>
          <a:xfrm>
            <a:off x="3188817" y="3438604"/>
            <a:ext cx="118872" cy="118872"/>
          </a:xfrm>
          <a:prstGeom prst="ellipse">
            <a:avLst/>
          </a:prstGeom>
          <a:solidFill>
            <a:srgbClr val="1F8F82">
              <a:alpha val="88000"/>
            </a:srgbClr>
          </a:solidFill>
          <a:ln w="12700">
            <a:solidFill>
              <a:srgbClr val="1F8F82"/>
            </a:solidFill>
            <a:prstDash val="solid"/>
          </a:ln>
        </p:spPr>
      </p:sp>
      <p:sp>
        <p:nvSpPr>
          <p:cNvPr id="37" name="Shape 35"/>
          <p:cNvSpPr/>
          <p:nvPr/>
        </p:nvSpPr>
        <p:spPr>
          <a:xfrm>
            <a:off x="3139943" y="3184296"/>
            <a:ext cx="118872" cy="118872"/>
          </a:xfrm>
          <a:prstGeom prst="ellipse">
            <a:avLst/>
          </a:prstGeom>
          <a:solidFill>
            <a:srgbClr val="1F8F82">
              <a:alpha val="88000"/>
            </a:srgbClr>
          </a:solidFill>
          <a:ln w="12700">
            <a:solidFill>
              <a:srgbClr val="1F8F82"/>
            </a:solidFill>
            <a:prstDash val="solid"/>
          </a:ln>
        </p:spPr>
      </p:sp>
      <p:sp>
        <p:nvSpPr>
          <p:cNvPr id="38" name="Shape 36"/>
          <p:cNvSpPr/>
          <p:nvPr/>
        </p:nvSpPr>
        <p:spPr>
          <a:xfrm>
            <a:off x="2865386" y="3120811"/>
            <a:ext cx="118872" cy="118872"/>
          </a:xfrm>
          <a:prstGeom prst="ellipse">
            <a:avLst/>
          </a:prstGeom>
          <a:solidFill>
            <a:srgbClr val="1F8F82">
              <a:alpha val="88000"/>
            </a:srgbClr>
          </a:solidFill>
          <a:ln w="12700">
            <a:solidFill>
              <a:srgbClr val="1F8F82"/>
            </a:solidFill>
            <a:prstDash val="solid"/>
          </a:ln>
        </p:spPr>
      </p:sp>
      <p:sp>
        <p:nvSpPr>
          <p:cNvPr id="39" name="Shape 37"/>
          <p:cNvSpPr/>
          <p:nvPr/>
        </p:nvSpPr>
        <p:spPr>
          <a:xfrm>
            <a:off x="3100565" y="3048296"/>
            <a:ext cx="118872" cy="118872"/>
          </a:xfrm>
          <a:prstGeom prst="ellipse">
            <a:avLst/>
          </a:prstGeom>
          <a:solidFill>
            <a:srgbClr val="1F8F82">
              <a:alpha val="88000"/>
            </a:srgbClr>
          </a:solidFill>
          <a:ln w="12700">
            <a:solidFill>
              <a:srgbClr val="1F8F82"/>
            </a:solidFill>
            <a:prstDash val="solid"/>
          </a:ln>
        </p:spPr>
      </p:sp>
      <p:sp>
        <p:nvSpPr>
          <p:cNvPr id="40" name="Shape 38"/>
          <p:cNvSpPr/>
          <p:nvPr/>
        </p:nvSpPr>
        <p:spPr>
          <a:xfrm>
            <a:off x="2811743" y="3476418"/>
            <a:ext cx="118872" cy="118872"/>
          </a:xfrm>
          <a:prstGeom prst="ellipse">
            <a:avLst/>
          </a:prstGeom>
          <a:solidFill>
            <a:srgbClr val="1F8F82">
              <a:alpha val="88000"/>
            </a:srgbClr>
          </a:solidFill>
          <a:ln w="12700">
            <a:solidFill>
              <a:srgbClr val="1F8F82"/>
            </a:solidFill>
            <a:prstDash val="solid"/>
          </a:ln>
        </p:spPr>
      </p:sp>
      <p:sp>
        <p:nvSpPr>
          <p:cNvPr id="41" name="Shape 39"/>
          <p:cNvSpPr/>
          <p:nvPr/>
        </p:nvSpPr>
        <p:spPr>
          <a:xfrm>
            <a:off x="3141550" y="3431821"/>
            <a:ext cx="118872" cy="118872"/>
          </a:xfrm>
          <a:prstGeom prst="ellipse">
            <a:avLst/>
          </a:prstGeom>
          <a:solidFill>
            <a:srgbClr val="1F8F82">
              <a:alpha val="88000"/>
            </a:srgbClr>
          </a:solidFill>
          <a:ln w="12700">
            <a:solidFill>
              <a:srgbClr val="1F8F82"/>
            </a:solidFill>
            <a:prstDash val="solid"/>
          </a:ln>
        </p:spPr>
      </p:sp>
      <p:sp>
        <p:nvSpPr>
          <p:cNvPr id="42" name="Shape 40"/>
          <p:cNvSpPr/>
          <p:nvPr/>
        </p:nvSpPr>
        <p:spPr>
          <a:xfrm>
            <a:off x="3373309" y="3651361"/>
            <a:ext cx="118872" cy="118872"/>
          </a:xfrm>
          <a:prstGeom prst="ellipse">
            <a:avLst/>
          </a:prstGeom>
          <a:solidFill>
            <a:srgbClr val="1F8F82">
              <a:alpha val="88000"/>
            </a:srgbClr>
          </a:solidFill>
          <a:ln w="12700">
            <a:solidFill>
              <a:srgbClr val="1F8F82"/>
            </a:solidFill>
            <a:prstDash val="solid"/>
          </a:ln>
        </p:spPr>
      </p:sp>
      <p:sp>
        <p:nvSpPr>
          <p:cNvPr id="43" name="Shape 41"/>
          <p:cNvSpPr/>
          <p:nvPr/>
        </p:nvSpPr>
        <p:spPr>
          <a:xfrm>
            <a:off x="2727478" y="3164499"/>
            <a:ext cx="118872" cy="118872"/>
          </a:xfrm>
          <a:prstGeom prst="ellipse">
            <a:avLst/>
          </a:prstGeom>
          <a:solidFill>
            <a:srgbClr val="1F8F82">
              <a:alpha val="88000"/>
            </a:srgbClr>
          </a:solidFill>
          <a:ln w="12700">
            <a:solidFill>
              <a:srgbClr val="1F8F82"/>
            </a:solidFill>
            <a:prstDash val="solid"/>
          </a:ln>
        </p:spPr>
      </p:sp>
      <p:sp>
        <p:nvSpPr>
          <p:cNvPr id="44" name="Shape 42"/>
          <p:cNvSpPr/>
          <p:nvPr/>
        </p:nvSpPr>
        <p:spPr>
          <a:xfrm>
            <a:off x="2817257" y="3017047"/>
            <a:ext cx="118872" cy="118872"/>
          </a:xfrm>
          <a:prstGeom prst="ellipse">
            <a:avLst/>
          </a:prstGeom>
          <a:solidFill>
            <a:srgbClr val="1F8F82">
              <a:alpha val="88000"/>
            </a:srgbClr>
          </a:solidFill>
          <a:ln w="12700">
            <a:solidFill>
              <a:srgbClr val="1F8F82"/>
            </a:solidFill>
            <a:prstDash val="solid"/>
          </a:ln>
        </p:spPr>
      </p:sp>
      <p:sp>
        <p:nvSpPr>
          <p:cNvPr id="45" name="Shape 43"/>
          <p:cNvSpPr/>
          <p:nvPr/>
        </p:nvSpPr>
        <p:spPr>
          <a:xfrm>
            <a:off x="2639558" y="3223146"/>
            <a:ext cx="118872" cy="118872"/>
          </a:xfrm>
          <a:prstGeom prst="ellipse">
            <a:avLst/>
          </a:prstGeom>
          <a:solidFill>
            <a:srgbClr val="1F8F82">
              <a:alpha val="88000"/>
            </a:srgbClr>
          </a:solidFill>
          <a:ln w="12700">
            <a:solidFill>
              <a:srgbClr val="1F8F82"/>
            </a:solidFill>
            <a:prstDash val="solid"/>
          </a:ln>
        </p:spPr>
      </p:sp>
      <p:sp>
        <p:nvSpPr>
          <p:cNvPr id="46" name="Shape 44"/>
          <p:cNvSpPr/>
          <p:nvPr/>
        </p:nvSpPr>
        <p:spPr>
          <a:xfrm>
            <a:off x="2902363" y="3383913"/>
            <a:ext cx="118872" cy="118872"/>
          </a:xfrm>
          <a:prstGeom prst="ellipse">
            <a:avLst/>
          </a:prstGeom>
          <a:solidFill>
            <a:srgbClr val="1F8F82">
              <a:alpha val="88000"/>
            </a:srgbClr>
          </a:solidFill>
          <a:ln w="12700">
            <a:solidFill>
              <a:srgbClr val="1F8F82"/>
            </a:solidFill>
            <a:prstDash val="solid"/>
          </a:ln>
        </p:spPr>
      </p:sp>
      <p:sp>
        <p:nvSpPr>
          <p:cNvPr id="47" name="Shape 45"/>
          <p:cNvSpPr/>
          <p:nvPr/>
        </p:nvSpPr>
        <p:spPr>
          <a:xfrm>
            <a:off x="3097243" y="3354965"/>
            <a:ext cx="118872" cy="118872"/>
          </a:xfrm>
          <a:prstGeom prst="ellipse">
            <a:avLst/>
          </a:prstGeom>
          <a:solidFill>
            <a:srgbClr val="1F8F82">
              <a:alpha val="88000"/>
            </a:srgbClr>
          </a:solidFill>
          <a:ln w="12700">
            <a:solidFill>
              <a:srgbClr val="1F8F82"/>
            </a:solidFill>
            <a:prstDash val="solid"/>
          </a:ln>
        </p:spPr>
      </p:sp>
      <p:sp>
        <p:nvSpPr>
          <p:cNvPr id="48" name="Shape 46"/>
          <p:cNvSpPr/>
          <p:nvPr/>
        </p:nvSpPr>
        <p:spPr>
          <a:xfrm>
            <a:off x="2846036" y="3151922"/>
            <a:ext cx="118872" cy="118872"/>
          </a:xfrm>
          <a:prstGeom prst="ellipse">
            <a:avLst/>
          </a:prstGeom>
          <a:solidFill>
            <a:srgbClr val="1F8F82">
              <a:alpha val="88000"/>
            </a:srgbClr>
          </a:solidFill>
          <a:ln w="12700">
            <a:solidFill>
              <a:srgbClr val="1F8F82"/>
            </a:solidFill>
            <a:prstDash val="solid"/>
          </a:ln>
        </p:spPr>
      </p:sp>
      <p:sp>
        <p:nvSpPr>
          <p:cNvPr id="49" name="Shape 47"/>
          <p:cNvSpPr/>
          <p:nvPr/>
        </p:nvSpPr>
        <p:spPr>
          <a:xfrm>
            <a:off x="2921454" y="3069676"/>
            <a:ext cx="118872" cy="118872"/>
          </a:xfrm>
          <a:prstGeom prst="ellipse">
            <a:avLst/>
          </a:prstGeom>
          <a:solidFill>
            <a:srgbClr val="1F8F82">
              <a:alpha val="88000"/>
            </a:srgbClr>
          </a:solidFill>
          <a:ln w="12700">
            <a:solidFill>
              <a:srgbClr val="1F8F82"/>
            </a:solidFill>
            <a:prstDash val="solid"/>
          </a:ln>
        </p:spPr>
      </p:sp>
      <p:sp>
        <p:nvSpPr>
          <p:cNvPr id="50" name="Shape 48"/>
          <p:cNvSpPr/>
          <p:nvPr/>
        </p:nvSpPr>
        <p:spPr>
          <a:xfrm>
            <a:off x="2915044" y="3060757"/>
            <a:ext cx="118872" cy="118872"/>
          </a:xfrm>
          <a:prstGeom prst="ellipse">
            <a:avLst/>
          </a:prstGeom>
          <a:solidFill>
            <a:srgbClr val="1F8F82">
              <a:alpha val="88000"/>
            </a:srgbClr>
          </a:solidFill>
          <a:ln w="12700">
            <a:solidFill>
              <a:srgbClr val="1F8F82"/>
            </a:solidFill>
            <a:prstDash val="solid"/>
          </a:ln>
        </p:spPr>
      </p:sp>
      <p:sp>
        <p:nvSpPr>
          <p:cNvPr id="51" name="Shape 49"/>
          <p:cNvSpPr/>
          <p:nvPr/>
        </p:nvSpPr>
        <p:spPr>
          <a:xfrm>
            <a:off x="2777782" y="3050668"/>
            <a:ext cx="118872" cy="118872"/>
          </a:xfrm>
          <a:prstGeom prst="ellipse">
            <a:avLst/>
          </a:prstGeom>
          <a:solidFill>
            <a:srgbClr val="1F8F82">
              <a:alpha val="88000"/>
            </a:srgbClr>
          </a:solidFill>
          <a:ln w="12700">
            <a:solidFill>
              <a:srgbClr val="1F8F82"/>
            </a:solidFill>
            <a:prstDash val="solid"/>
          </a:ln>
        </p:spPr>
      </p:sp>
      <p:sp>
        <p:nvSpPr>
          <p:cNvPr id="52" name="Shape 50"/>
          <p:cNvSpPr/>
          <p:nvPr/>
        </p:nvSpPr>
        <p:spPr>
          <a:xfrm>
            <a:off x="2864264" y="3025089"/>
            <a:ext cx="118872" cy="118872"/>
          </a:xfrm>
          <a:prstGeom prst="ellipse">
            <a:avLst/>
          </a:prstGeom>
          <a:solidFill>
            <a:srgbClr val="1F8F82">
              <a:alpha val="88000"/>
            </a:srgbClr>
          </a:solidFill>
          <a:ln w="12700">
            <a:solidFill>
              <a:srgbClr val="1F8F82"/>
            </a:solidFill>
            <a:prstDash val="solid"/>
          </a:ln>
        </p:spPr>
      </p:sp>
      <p:sp>
        <p:nvSpPr>
          <p:cNvPr id="53" name="Shape 51"/>
          <p:cNvSpPr/>
          <p:nvPr/>
        </p:nvSpPr>
        <p:spPr>
          <a:xfrm>
            <a:off x="2319011" y="3306735"/>
            <a:ext cx="118872" cy="118872"/>
          </a:xfrm>
          <a:prstGeom prst="ellipse">
            <a:avLst/>
          </a:prstGeom>
          <a:solidFill>
            <a:srgbClr val="1F8F82">
              <a:alpha val="88000"/>
            </a:srgbClr>
          </a:solidFill>
          <a:ln w="12700">
            <a:solidFill>
              <a:srgbClr val="1F8F82"/>
            </a:solidFill>
            <a:prstDash val="solid"/>
          </a:ln>
        </p:spPr>
      </p:sp>
      <p:sp>
        <p:nvSpPr>
          <p:cNvPr id="54" name="Shape 52"/>
          <p:cNvSpPr/>
          <p:nvPr/>
        </p:nvSpPr>
        <p:spPr>
          <a:xfrm>
            <a:off x="2794786" y="3236416"/>
            <a:ext cx="118872" cy="118872"/>
          </a:xfrm>
          <a:prstGeom prst="ellipse">
            <a:avLst/>
          </a:prstGeom>
          <a:solidFill>
            <a:srgbClr val="1F8F82">
              <a:alpha val="88000"/>
            </a:srgbClr>
          </a:solidFill>
          <a:ln w="12700">
            <a:solidFill>
              <a:srgbClr val="1F8F82"/>
            </a:solidFill>
            <a:prstDash val="solid"/>
          </a:ln>
        </p:spPr>
      </p:sp>
      <p:sp>
        <p:nvSpPr>
          <p:cNvPr id="55" name="Shape 53"/>
          <p:cNvSpPr/>
          <p:nvPr/>
        </p:nvSpPr>
        <p:spPr>
          <a:xfrm>
            <a:off x="2784392" y="3452766"/>
            <a:ext cx="118872" cy="118872"/>
          </a:xfrm>
          <a:prstGeom prst="ellipse">
            <a:avLst/>
          </a:prstGeom>
          <a:solidFill>
            <a:srgbClr val="1F8F82">
              <a:alpha val="88000"/>
            </a:srgbClr>
          </a:solidFill>
          <a:ln w="12700">
            <a:solidFill>
              <a:srgbClr val="1F8F82"/>
            </a:solidFill>
            <a:prstDash val="solid"/>
          </a:ln>
        </p:spPr>
      </p:sp>
      <p:sp>
        <p:nvSpPr>
          <p:cNvPr id="56" name="Shape 54"/>
          <p:cNvSpPr/>
          <p:nvPr/>
        </p:nvSpPr>
        <p:spPr>
          <a:xfrm>
            <a:off x="2804373" y="3091942"/>
            <a:ext cx="118872" cy="118872"/>
          </a:xfrm>
          <a:prstGeom prst="ellipse">
            <a:avLst/>
          </a:prstGeom>
          <a:solidFill>
            <a:srgbClr val="1F8F82">
              <a:alpha val="88000"/>
            </a:srgbClr>
          </a:solidFill>
          <a:ln w="12700">
            <a:solidFill>
              <a:srgbClr val="1F8F82"/>
            </a:solidFill>
            <a:prstDash val="solid"/>
          </a:ln>
        </p:spPr>
      </p:sp>
      <p:sp>
        <p:nvSpPr>
          <p:cNvPr id="57" name="Shape 55"/>
          <p:cNvSpPr/>
          <p:nvPr/>
        </p:nvSpPr>
        <p:spPr>
          <a:xfrm>
            <a:off x="2866177" y="3414993"/>
            <a:ext cx="118872" cy="118872"/>
          </a:xfrm>
          <a:prstGeom prst="ellipse">
            <a:avLst/>
          </a:prstGeom>
          <a:solidFill>
            <a:srgbClr val="1F8F82">
              <a:alpha val="88000"/>
            </a:srgbClr>
          </a:solidFill>
          <a:ln w="12700">
            <a:solidFill>
              <a:srgbClr val="1F8F82"/>
            </a:solidFill>
            <a:prstDash val="solid"/>
          </a:ln>
        </p:spPr>
      </p:sp>
      <p:sp>
        <p:nvSpPr>
          <p:cNvPr id="58" name="Shape 56"/>
          <p:cNvSpPr/>
          <p:nvPr/>
        </p:nvSpPr>
        <p:spPr>
          <a:xfrm>
            <a:off x="2593105" y="3273521"/>
            <a:ext cx="118872" cy="118872"/>
          </a:xfrm>
          <a:prstGeom prst="ellipse">
            <a:avLst/>
          </a:prstGeom>
          <a:solidFill>
            <a:srgbClr val="1F8F82">
              <a:alpha val="88000"/>
            </a:srgbClr>
          </a:solidFill>
          <a:ln w="12700">
            <a:solidFill>
              <a:srgbClr val="1F8F82"/>
            </a:solidFill>
            <a:prstDash val="solid"/>
          </a:ln>
        </p:spPr>
      </p:sp>
      <p:sp>
        <p:nvSpPr>
          <p:cNvPr id="59" name="Shape 57"/>
          <p:cNvSpPr/>
          <p:nvPr/>
        </p:nvSpPr>
        <p:spPr>
          <a:xfrm>
            <a:off x="2888696" y="3131772"/>
            <a:ext cx="118872" cy="118872"/>
          </a:xfrm>
          <a:prstGeom prst="ellipse">
            <a:avLst/>
          </a:prstGeom>
          <a:solidFill>
            <a:srgbClr val="1F8F82">
              <a:alpha val="88000"/>
            </a:srgbClr>
          </a:solidFill>
          <a:ln w="12700">
            <a:solidFill>
              <a:srgbClr val="1F8F82"/>
            </a:solidFill>
            <a:prstDash val="solid"/>
          </a:ln>
        </p:spPr>
      </p:sp>
      <p:sp>
        <p:nvSpPr>
          <p:cNvPr id="60" name="Shape 58"/>
          <p:cNvSpPr/>
          <p:nvPr/>
        </p:nvSpPr>
        <p:spPr>
          <a:xfrm>
            <a:off x="2827910" y="2917734"/>
            <a:ext cx="118872" cy="118872"/>
          </a:xfrm>
          <a:prstGeom prst="ellipse">
            <a:avLst/>
          </a:prstGeom>
          <a:solidFill>
            <a:srgbClr val="1F8F82">
              <a:alpha val="88000"/>
            </a:srgbClr>
          </a:solidFill>
          <a:ln w="12700">
            <a:solidFill>
              <a:srgbClr val="1F8F82"/>
            </a:solidFill>
            <a:prstDash val="solid"/>
          </a:ln>
        </p:spPr>
      </p:sp>
      <p:sp>
        <p:nvSpPr>
          <p:cNvPr id="61" name="Shape 59"/>
          <p:cNvSpPr/>
          <p:nvPr/>
        </p:nvSpPr>
        <p:spPr>
          <a:xfrm>
            <a:off x="2829390" y="3057998"/>
            <a:ext cx="118872" cy="118872"/>
          </a:xfrm>
          <a:prstGeom prst="ellipse">
            <a:avLst/>
          </a:prstGeom>
          <a:solidFill>
            <a:srgbClr val="1F8F82">
              <a:alpha val="88000"/>
            </a:srgbClr>
          </a:solidFill>
          <a:ln w="12700">
            <a:solidFill>
              <a:srgbClr val="1F8F82"/>
            </a:solidFill>
            <a:prstDash val="solid"/>
          </a:ln>
        </p:spPr>
      </p:sp>
      <p:sp>
        <p:nvSpPr>
          <p:cNvPr id="62" name="Shape 60"/>
          <p:cNvSpPr/>
          <p:nvPr/>
        </p:nvSpPr>
        <p:spPr>
          <a:xfrm>
            <a:off x="3158538" y="2929229"/>
            <a:ext cx="118872" cy="118872"/>
          </a:xfrm>
          <a:prstGeom prst="ellipse">
            <a:avLst/>
          </a:prstGeom>
          <a:solidFill>
            <a:srgbClr val="1F8F82">
              <a:alpha val="88000"/>
            </a:srgbClr>
          </a:solidFill>
          <a:ln w="12700">
            <a:solidFill>
              <a:srgbClr val="1F8F82"/>
            </a:solidFill>
            <a:prstDash val="solid"/>
          </a:ln>
        </p:spPr>
      </p:sp>
      <p:sp>
        <p:nvSpPr>
          <p:cNvPr id="63" name="Shape 61"/>
          <p:cNvSpPr/>
          <p:nvPr/>
        </p:nvSpPr>
        <p:spPr>
          <a:xfrm>
            <a:off x="2824488" y="3318213"/>
            <a:ext cx="118872" cy="118872"/>
          </a:xfrm>
          <a:prstGeom prst="ellipse">
            <a:avLst/>
          </a:prstGeom>
          <a:solidFill>
            <a:srgbClr val="1F8F82">
              <a:alpha val="88000"/>
            </a:srgbClr>
          </a:solidFill>
          <a:ln w="12700">
            <a:solidFill>
              <a:srgbClr val="1F8F82"/>
            </a:solidFill>
            <a:prstDash val="solid"/>
          </a:ln>
        </p:spPr>
      </p:sp>
      <p:sp>
        <p:nvSpPr>
          <p:cNvPr id="64" name="Shape 62"/>
          <p:cNvSpPr/>
          <p:nvPr/>
        </p:nvSpPr>
        <p:spPr>
          <a:xfrm>
            <a:off x="2846731" y="3364794"/>
            <a:ext cx="118872" cy="118872"/>
          </a:xfrm>
          <a:prstGeom prst="ellipse">
            <a:avLst/>
          </a:prstGeom>
          <a:solidFill>
            <a:srgbClr val="1F8F82">
              <a:alpha val="88000"/>
            </a:srgbClr>
          </a:solidFill>
          <a:ln w="12700">
            <a:solidFill>
              <a:srgbClr val="1F8F82"/>
            </a:solidFill>
            <a:prstDash val="solid"/>
          </a:ln>
        </p:spPr>
      </p:sp>
      <p:sp>
        <p:nvSpPr>
          <p:cNvPr id="65" name="Shape 63"/>
          <p:cNvSpPr/>
          <p:nvPr/>
        </p:nvSpPr>
        <p:spPr>
          <a:xfrm>
            <a:off x="2936737" y="3363520"/>
            <a:ext cx="118872" cy="118872"/>
          </a:xfrm>
          <a:prstGeom prst="ellipse">
            <a:avLst/>
          </a:prstGeom>
          <a:solidFill>
            <a:srgbClr val="1F8F82">
              <a:alpha val="88000"/>
            </a:srgbClr>
          </a:solidFill>
          <a:ln w="12700">
            <a:solidFill>
              <a:srgbClr val="1F8F82"/>
            </a:solidFill>
            <a:prstDash val="solid"/>
          </a:ln>
        </p:spPr>
      </p:sp>
      <p:sp>
        <p:nvSpPr>
          <p:cNvPr id="66" name="Shape 64"/>
          <p:cNvSpPr/>
          <p:nvPr/>
        </p:nvSpPr>
        <p:spPr>
          <a:xfrm>
            <a:off x="4454350" y="4463054"/>
            <a:ext cx="118872" cy="118872"/>
          </a:xfrm>
          <a:prstGeom prst="ellipse">
            <a:avLst/>
          </a:prstGeom>
          <a:solidFill>
            <a:srgbClr val="E09B21">
              <a:alpha val="88000"/>
            </a:srgbClr>
          </a:solidFill>
          <a:ln w="12700">
            <a:solidFill>
              <a:srgbClr val="E09B21"/>
            </a:solidFill>
            <a:prstDash val="solid"/>
          </a:ln>
        </p:spPr>
      </p:sp>
      <p:sp>
        <p:nvSpPr>
          <p:cNvPr id="67" name="Shape 65"/>
          <p:cNvSpPr/>
          <p:nvPr/>
        </p:nvSpPr>
        <p:spPr>
          <a:xfrm>
            <a:off x="4483784" y="4395594"/>
            <a:ext cx="118872" cy="118872"/>
          </a:xfrm>
          <a:prstGeom prst="ellipse">
            <a:avLst/>
          </a:prstGeom>
          <a:solidFill>
            <a:srgbClr val="E09B21">
              <a:alpha val="88000"/>
            </a:srgbClr>
          </a:solidFill>
          <a:ln w="12700">
            <a:solidFill>
              <a:srgbClr val="E09B21"/>
            </a:solidFill>
            <a:prstDash val="solid"/>
          </a:ln>
        </p:spPr>
      </p:sp>
      <p:sp>
        <p:nvSpPr>
          <p:cNvPr id="68" name="Shape 66"/>
          <p:cNvSpPr/>
          <p:nvPr/>
        </p:nvSpPr>
        <p:spPr>
          <a:xfrm>
            <a:off x="4122466" y="4420571"/>
            <a:ext cx="118872" cy="118872"/>
          </a:xfrm>
          <a:prstGeom prst="ellipse">
            <a:avLst/>
          </a:prstGeom>
          <a:solidFill>
            <a:srgbClr val="E09B21">
              <a:alpha val="88000"/>
            </a:srgbClr>
          </a:solidFill>
          <a:ln w="12700">
            <a:solidFill>
              <a:srgbClr val="E09B21"/>
            </a:solidFill>
            <a:prstDash val="solid"/>
          </a:ln>
        </p:spPr>
      </p:sp>
      <p:sp>
        <p:nvSpPr>
          <p:cNvPr id="69" name="Shape 67"/>
          <p:cNvSpPr/>
          <p:nvPr/>
        </p:nvSpPr>
        <p:spPr>
          <a:xfrm>
            <a:off x="4523802" y="4347689"/>
            <a:ext cx="118872" cy="118872"/>
          </a:xfrm>
          <a:prstGeom prst="ellipse">
            <a:avLst/>
          </a:prstGeom>
          <a:solidFill>
            <a:srgbClr val="E09B21">
              <a:alpha val="88000"/>
            </a:srgbClr>
          </a:solidFill>
          <a:ln w="12700">
            <a:solidFill>
              <a:srgbClr val="E09B21"/>
            </a:solidFill>
            <a:prstDash val="solid"/>
          </a:ln>
        </p:spPr>
      </p:sp>
      <p:sp>
        <p:nvSpPr>
          <p:cNvPr id="70" name="Shape 68"/>
          <p:cNvSpPr/>
          <p:nvPr/>
        </p:nvSpPr>
        <p:spPr>
          <a:xfrm>
            <a:off x="4373241" y="4385558"/>
            <a:ext cx="118872" cy="118872"/>
          </a:xfrm>
          <a:prstGeom prst="ellipse">
            <a:avLst/>
          </a:prstGeom>
          <a:solidFill>
            <a:srgbClr val="E09B21">
              <a:alpha val="88000"/>
            </a:srgbClr>
          </a:solidFill>
          <a:ln w="12700">
            <a:solidFill>
              <a:srgbClr val="E09B21"/>
            </a:solidFill>
            <a:prstDash val="solid"/>
          </a:ln>
        </p:spPr>
      </p:sp>
      <p:sp>
        <p:nvSpPr>
          <p:cNvPr id="71" name="Shape 69"/>
          <p:cNvSpPr/>
          <p:nvPr/>
        </p:nvSpPr>
        <p:spPr>
          <a:xfrm>
            <a:off x="4572257" y="4268793"/>
            <a:ext cx="118872" cy="118872"/>
          </a:xfrm>
          <a:prstGeom prst="ellipse">
            <a:avLst/>
          </a:prstGeom>
          <a:solidFill>
            <a:srgbClr val="E09B21">
              <a:alpha val="88000"/>
            </a:srgbClr>
          </a:solidFill>
          <a:ln w="12700">
            <a:solidFill>
              <a:srgbClr val="E09B21"/>
            </a:solidFill>
            <a:prstDash val="solid"/>
          </a:ln>
        </p:spPr>
      </p:sp>
      <p:sp>
        <p:nvSpPr>
          <p:cNvPr id="72" name="Shape 70"/>
          <p:cNvSpPr/>
          <p:nvPr/>
        </p:nvSpPr>
        <p:spPr>
          <a:xfrm>
            <a:off x="4220679" y="4259056"/>
            <a:ext cx="118872" cy="118872"/>
          </a:xfrm>
          <a:prstGeom prst="ellipse">
            <a:avLst/>
          </a:prstGeom>
          <a:solidFill>
            <a:srgbClr val="E09B21">
              <a:alpha val="88000"/>
            </a:srgbClr>
          </a:solidFill>
          <a:ln w="12700">
            <a:solidFill>
              <a:srgbClr val="E09B21"/>
            </a:solidFill>
            <a:prstDash val="solid"/>
          </a:ln>
        </p:spPr>
      </p:sp>
      <p:sp>
        <p:nvSpPr>
          <p:cNvPr id="73" name="Shape 71"/>
          <p:cNvSpPr/>
          <p:nvPr/>
        </p:nvSpPr>
        <p:spPr>
          <a:xfrm>
            <a:off x="4455222" y="4139082"/>
            <a:ext cx="118872" cy="118872"/>
          </a:xfrm>
          <a:prstGeom prst="ellipse">
            <a:avLst/>
          </a:prstGeom>
          <a:solidFill>
            <a:srgbClr val="E09B21">
              <a:alpha val="88000"/>
            </a:srgbClr>
          </a:solidFill>
          <a:ln w="12700">
            <a:solidFill>
              <a:srgbClr val="E09B21"/>
            </a:solidFill>
            <a:prstDash val="solid"/>
          </a:ln>
        </p:spPr>
      </p:sp>
      <p:sp>
        <p:nvSpPr>
          <p:cNvPr id="74" name="Shape 72"/>
          <p:cNvSpPr/>
          <p:nvPr/>
        </p:nvSpPr>
        <p:spPr>
          <a:xfrm>
            <a:off x="4707031" y="4500070"/>
            <a:ext cx="118872" cy="118872"/>
          </a:xfrm>
          <a:prstGeom prst="ellipse">
            <a:avLst/>
          </a:prstGeom>
          <a:solidFill>
            <a:srgbClr val="E09B21">
              <a:alpha val="88000"/>
            </a:srgbClr>
          </a:solidFill>
          <a:ln w="12700">
            <a:solidFill>
              <a:srgbClr val="E09B21"/>
            </a:solidFill>
            <a:prstDash val="solid"/>
          </a:ln>
        </p:spPr>
      </p:sp>
      <p:sp>
        <p:nvSpPr>
          <p:cNvPr id="75" name="Shape 73"/>
          <p:cNvSpPr/>
          <p:nvPr/>
        </p:nvSpPr>
        <p:spPr>
          <a:xfrm>
            <a:off x="4648907" y="4484573"/>
            <a:ext cx="118872" cy="118872"/>
          </a:xfrm>
          <a:prstGeom prst="ellipse">
            <a:avLst/>
          </a:prstGeom>
          <a:solidFill>
            <a:srgbClr val="E09B21">
              <a:alpha val="88000"/>
            </a:srgbClr>
          </a:solidFill>
          <a:ln w="12700">
            <a:solidFill>
              <a:srgbClr val="E09B21"/>
            </a:solidFill>
            <a:prstDash val="solid"/>
          </a:ln>
        </p:spPr>
      </p:sp>
      <p:sp>
        <p:nvSpPr>
          <p:cNvPr id="76" name="Shape 74"/>
          <p:cNvSpPr/>
          <p:nvPr/>
        </p:nvSpPr>
        <p:spPr>
          <a:xfrm>
            <a:off x="4528434" y="4365585"/>
            <a:ext cx="118872" cy="118872"/>
          </a:xfrm>
          <a:prstGeom prst="ellipse">
            <a:avLst/>
          </a:prstGeom>
          <a:solidFill>
            <a:srgbClr val="E09B21">
              <a:alpha val="88000"/>
            </a:srgbClr>
          </a:solidFill>
          <a:ln w="12700">
            <a:solidFill>
              <a:srgbClr val="E09B21"/>
            </a:solidFill>
            <a:prstDash val="solid"/>
          </a:ln>
        </p:spPr>
      </p:sp>
      <p:sp>
        <p:nvSpPr>
          <p:cNvPr id="77" name="Shape 75"/>
          <p:cNvSpPr/>
          <p:nvPr/>
        </p:nvSpPr>
        <p:spPr>
          <a:xfrm>
            <a:off x="3981385" y="4529164"/>
            <a:ext cx="118872" cy="118872"/>
          </a:xfrm>
          <a:prstGeom prst="ellipse">
            <a:avLst/>
          </a:prstGeom>
          <a:solidFill>
            <a:srgbClr val="E09B21">
              <a:alpha val="88000"/>
            </a:srgbClr>
          </a:solidFill>
          <a:ln w="12700">
            <a:solidFill>
              <a:srgbClr val="E09B21"/>
            </a:solidFill>
            <a:prstDash val="solid"/>
          </a:ln>
        </p:spPr>
      </p:sp>
      <p:sp>
        <p:nvSpPr>
          <p:cNvPr id="78" name="Shape 76"/>
          <p:cNvSpPr/>
          <p:nvPr/>
        </p:nvSpPr>
        <p:spPr>
          <a:xfrm>
            <a:off x="4654140" y="4378156"/>
            <a:ext cx="118872" cy="118872"/>
          </a:xfrm>
          <a:prstGeom prst="ellipse">
            <a:avLst/>
          </a:prstGeom>
          <a:solidFill>
            <a:srgbClr val="E09B21">
              <a:alpha val="88000"/>
            </a:srgbClr>
          </a:solidFill>
          <a:ln w="12700">
            <a:solidFill>
              <a:srgbClr val="E09B21"/>
            </a:solidFill>
            <a:prstDash val="solid"/>
          </a:ln>
        </p:spPr>
      </p:sp>
      <p:sp>
        <p:nvSpPr>
          <p:cNvPr id="79" name="Shape 77"/>
          <p:cNvSpPr/>
          <p:nvPr/>
        </p:nvSpPr>
        <p:spPr>
          <a:xfrm>
            <a:off x="4466697" y="4177738"/>
            <a:ext cx="118872" cy="118872"/>
          </a:xfrm>
          <a:prstGeom prst="ellipse">
            <a:avLst/>
          </a:prstGeom>
          <a:solidFill>
            <a:srgbClr val="E09B21">
              <a:alpha val="88000"/>
            </a:srgbClr>
          </a:solidFill>
          <a:ln w="12700">
            <a:solidFill>
              <a:srgbClr val="E09B21"/>
            </a:solidFill>
            <a:prstDash val="solid"/>
          </a:ln>
        </p:spPr>
      </p:sp>
      <p:sp>
        <p:nvSpPr>
          <p:cNvPr id="80" name="Shape 78"/>
          <p:cNvSpPr/>
          <p:nvPr/>
        </p:nvSpPr>
        <p:spPr>
          <a:xfrm>
            <a:off x="4743307" y="4437833"/>
            <a:ext cx="118872" cy="118872"/>
          </a:xfrm>
          <a:prstGeom prst="ellipse">
            <a:avLst/>
          </a:prstGeom>
          <a:solidFill>
            <a:srgbClr val="E09B21">
              <a:alpha val="88000"/>
            </a:srgbClr>
          </a:solidFill>
          <a:ln w="12700">
            <a:solidFill>
              <a:srgbClr val="E09B21"/>
            </a:solidFill>
            <a:prstDash val="solid"/>
          </a:ln>
        </p:spPr>
      </p:sp>
      <p:sp>
        <p:nvSpPr>
          <p:cNvPr id="81" name="Shape 79"/>
          <p:cNvSpPr/>
          <p:nvPr/>
        </p:nvSpPr>
        <p:spPr>
          <a:xfrm>
            <a:off x="4485247" y="4466449"/>
            <a:ext cx="118872" cy="118872"/>
          </a:xfrm>
          <a:prstGeom prst="ellipse">
            <a:avLst/>
          </a:prstGeom>
          <a:solidFill>
            <a:srgbClr val="E09B21">
              <a:alpha val="88000"/>
            </a:srgbClr>
          </a:solidFill>
          <a:ln w="12700">
            <a:solidFill>
              <a:srgbClr val="E09B21"/>
            </a:solidFill>
            <a:prstDash val="solid"/>
          </a:ln>
        </p:spPr>
      </p:sp>
      <p:sp>
        <p:nvSpPr>
          <p:cNvPr id="82" name="Shape 80"/>
          <p:cNvSpPr/>
          <p:nvPr/>
        </p:nvSpPr>
        <p:spPr>
          <a:xfrm>
            <a:off x="4906677" y="4817603"/>
            <a:ext cx="118872" cy="118872"/>
          </a:xfrm>
          <a:prstGeom prst="ellipse">
            <a:avLst/>
          </a:prstGeom>
          <a:solidFill>
            <a:srgbClr val="E09B21">
              <a:alpha val="88000"/>
            </a:srgbClr>
          </a:solidFill>
          <a:ln w="12700">
            <a:solidFill>
              <a:srgbClr val="E09B21"/>
            </a:solidFill>
            <a:prstDash val="solid"/>
          </a:ln>
        </p:spPr>
      </p:sp>
      <p:sp>
        <p:nvSpPr>
          <p:cNvPr id="83" name="Shape 81"/>
          <p:cNvSpPr/>
          <p:nvPr/>
        </p:nvSpPr>
        <p:spPr>
          <a:xfrm>
            <a:off x="4316829" y="4459810"/>
            <a:ext cx="118872" cy="118872"/>
          </a:xfrm>
          <a:prstGeom prst="ellipse">
            <a:avLst/>
          </a:prstGeom>
          <a:solidFill>
            <a:srgbClr val="E09B21">
              <a:alpha val="88000"/>
            </a:srgbClr>
          </a:solidFill>
          <a:ln w="12700">
            <a:solidFill>
              <a:srgbClr val="E09B21"/>
            </a:solidFill>
            <a:prstDash val="solid"/>
          </a:ln>
        </p:spPr>
      </p:sp>
      <p:sp>
        <p:nvSpPr>
          <p:cNvPr id="84" name="Shape 82"/>
          <p:cNvSpPr/>
          <p:nvPr/>
        </p:nvSpPr>
        <p:spPr>
          <a:xfrm>
            <a:off x="4395127" y="4378654"/>
            <a:ext cx="118872" cy="118872"/>
          </a:xfrm>
          <a:prstGeom prst="ellipse">
            <a:avLst/>
          </a:prstGeom>
          <a:solidFill>
            <a:srgbClr val="E09B21">
              <a:alpha val="88000"/>
            </a:srgbClr>
          </a:solidFill>
          <a:ln w="12700">
            <a:solidFill>
              <a:srgbClr val="E09B21"/>
            </a:solidFill>
            <a:prstDash val="solid"/>
          </a:ln>
        </p:spPr>
      </p:sp>
      <p:sp>
        <p:nvSpPr>
          <p:cNvPr id="85" name="Shape 83"/>
          <p:cNvSpPr/>
          <p:nvPr/>
        </p:nvSpPr>
        <p:spPr>
          <a:xfrm>
            <a:off x="4514067" y="4521514"/>
            <a:ext cx="118872" cy="118872"/>
          </a:xfrm>
          <a:prstGeom prst="ellipse">
            <a:avLst/>
          </a:prstGeom>
          <a:solidFill>
            <a:srgbClr val="E09B21">
              <a:alpha val="88000"/>
            </a:srgbClr>
          </a:solidFill>
          <a:ln w="12700">
            <a:solidFill>
              <a:srgbClr val="E09B21"/>
            </a:solidFill>
            <a:prstDash val="solid"/>
          </a:ln>
        </p:spPr>
      </p:sp>
      <p:sp>
        <p:nvSpPr>
          <p:cNvPr id="86" name="Shape 84"/>
          <p:cNvSpPr/>
          <p:nvPr/>
        </p:nvSpPr>
        <p:spPr>
          <a:xfrm>
            <a:off x="4114685" y="4308305"/>
            <a:ext cx="118872" cy="118872"/>
          </a:xfrm>
          <a:prstGeom prst="ellipse">
            <a:avLst/>
          </a:prstGeom>
          <a:solidFill>
            <a:srgbClr val="E09B21">
              <a:alpha val="88000"/>
            </a:srgbClr>
          </a:solidFill>
          <a:ln w="12700">
            <a:solidFill>
              <a:srgbClr val="E09B21"/>
            </a:solidFill>
            <a:prstDash val="solid"/>
          </a:ln>
        </p:spPr>
      </p:sp>
      <p:sp>
        <p:nvSpPr>
          <p:cNvPr id="87" name="Shape 85"/>
          <p:cNvSpPr/>
          <p:nvPr/>
        </p:nvSpPr>
        <p:spPr>
          <a:xfrm>
            <a:off x="4476726" y="4412922"/>
            <a:ext cx="118872" cy="118872"/>
          </a:xfrm>
          <a:prstGeom prst="ellipse">
            <a:avLst/>
          </a:prstGeom>
          <a:solidFill>
            <a:srgbClr val="E09B21">
              <a:alpha val="88000"/>
            </a:srgbClr>
          </a:solidFill>
          <a:ln w="12700">
            <a:solidFill>
              <a:srgbClr val="E09B21"/>
            </a:solidFill>
            <a:prstDash val="solid"/>
          </a:ln>
        </p:spPr>
      </p:sp>
      <p:sp>
        <p:nvSpPr>
          <p:cNvPr id="88" name="Shape 86"/>
          <p:cNvSpPr/>
          <p:nvPr/>
        </p:nvSpPr>
        <p:spPr>
          <a:xfrm>
            <a:off x="4021721" y="4349463"/>
            <a:ext cx="118872" cy="118872"/>
          </a:xfrm>
          <a:prstGeom prst="ellipse">
            <a:avLst/>
          </a:prstGeom>
          <a:solidFill>
            <a:srgbClr val="E09B21">
              <a:alpha val="88000"/>
            </a:srgbClr>
          </a:solidFill>
          <a:ln w="12700">
            <a:solidFill>
              <a:srgbClr val="E09B21"/>
            </a:solidFill>
            <a:prstDash val="solid"/>
          </a:ln>
        </p:spPr>
      </p:sp>
      <p:sp>
        <p:nvSpPr>
          <p:cNvPr id="89" name="Shape 87"/>
          <p:cNvSpPr/>
          <p:nvPr/>
        </p:nvSpPr>
        <p:spPr>
          <a:xfrm>
            <a:off x="4228469" y="4330254"/>
            <a:ext cx="118872" cy="118872"/>
          </a:xfrm>
          <a:prstGeom prst="ellipse">
            <a:avLst/>
          </a:prstGeom>
          <a:solidFill>
            <a:srgbClr val="E09B21">
              <a:alpha val="88000"/>
            </a:srgbClr>
          </a:solidFill>
          <a:ln w="12700">
            <a:solidFill>
              <a:srgbClr val="E09B21"/>
            </a:solidFill>
            <a:prstDash val="solid"/>
          </a:ln>
        </p:spPr>
      </p:sp>
      <p:sp>
        <p:nvSpPr>
          <p:cNvPr id="90" name="Shape 88"/>
          <p:cNvSpPr/>
          <p:nvPr/>
        </p:nvSpPr>
        <p:spPr>
          <a:xfrm>
            <a:off x="4515381" y="4556630"/>
            <a:ext cx="118872" cy="118872"/>
          </a:xfrm>
          <a:prstGeom prst="ellipse">
            <a:avLst/>
          </a:prstGeom>
          <a:solidFill>
            <a:srgbClr val="E09B21">
              <a:alpha val="88000"/>
            </a:srgbClr>
          </a:solidFill>
          <a:ln w="12700">
            <a:solidFill>
              <a:srgbClr val="E09B21"/>
            </a:solidFill>
            <a:prstDash val="solid"/>
          </a:ln>
        </p:spPr>
      </p:sp>
      <p:sp>
        <p:nvSpPr>
          <p:cNvPr id="91" name="Shape 89"/>
          <p:cNvSpPr/>
          <p:nvPr/>
        </p:nvSpPr>
        <p:spPr>
          <a:xfrm>
            <a:off x="3931677" y="4354649"/>
            <a:ext cx="118872" cy="118872"/>
          </a:xfrm>
          <a:prstGeom prst="ellipse">
            <a:avLst/>
          </a:prstGeom>
          <a:solidFill>
            <a:srgbClr val="E09B21">
              <a:alpha val="88000"/>
            </a:srgbClr>
          </a:solidFill>
          <a:ln w="12700">
            <a:solidFill>
              <a:srgbClr val="E09B21"/>
            </a:solidFill>
            <a:prstDash val="solid"/>
          </a:ln>
        </p:spPr>
      </p:sp>
      <p:sp>
        <p:nvSpPr>
          <p:cNvPr id="92" name="Shape 90"/>
          <p:cNvSpPr/>
          <p:nvPr/>
        </p:nvSpPr>
        <p:spPr>
          <a:xfrm>
            <a:off x="4289532" y="4456981"/>
            <a:ext cx="118872" cy="118872"/>
          </a:xfrm>
          <a:prstGeom prst="ellipse">
            <a:avLst/>
          </a:prstGeom>
          <a:solidFill>
            <a:srgbClr val="E09B21">
              <a:alpha val="88000"/>
            </a:srgbClr>
          </a:solidFill>
          <a:ln w="12700">
            <a:solidFill>
              <a:srgbClr val="E09B21"/>
            </a:solidFill>
            <a:prstDash val="solid"/>
          </a:ln>
        </p:spPr>
      </p:sp>
      <p:sp>
        <p:nvSpPr>
          <p:cNvPr id="93" name="Shape 91"/>
          <p:cNvSpPr/>
          <p:nvPr/>
        </p:nvSpPr>
        <p:spPr>
          <a:xfrm>
            <a:off x="4248085" y="4382423"/>
            <a:ext cx="118872" cy="118872"/>
          </a:xfrm>
          <a:prstGeom prst="ellipse">
            <a:avLst/>
          </a:prstGeom>
          <a:solidFill>
            <a:srgbClr val="E09B21">
              <a:alpha val="88000"/>
            </a:srgbClr>
          </a:solidFill>
          <a:ln w="12700">
            <a:solidFill>
              <a:srgbClr val="E09B21"/>
            </a:solidFill>
            <a:prstDash val="solid"/>
          </a:ln>
        </p:spPr>
      </p:sp>
      <p:sp>
        <p:nvSpPr>
          <p:cNvPr id="94" name="Shape 92"/>
          <p:cNvSpPr/>
          <p:nvPr/>
        </p:nvSpPr>
        <p:spPr>
          <a:xfrm>
            <a:off x="4502432" y="4570843"/>
            <a:ext cx="118872" cy="118872"/>
          </a:xfrm>
          <a:prstGeom prst="ellipse">
            <a:avLst/>
          </a:prstGeom>
          <a:solidFill>
            <a:srgbClr val="E09B21">
              <a:alpha val="88000"/>
            </a:srgbClr>
          </a:solidFill>
          <a:ln w="12700">
            <a:solidFill>
              <a:srgbClr val="E09B21"/>
            </a:solidFill>
            <a:prstDash val="solid"/>
          </a:ln>
        </p:spPr>
      </p:sp>
      <p:sp>
        <p:nvSpPr>
          <p:cNvPr id="95" name="Shape 93"/>
          <p:cNvSpPr/>
          <p:nvPr/>
        </p:nvSpPr>
        <p:spPr>
          <a:xfrm>
            <a:off x="4488153" y="4779871"/>
            <a:ext cx="118872" cy="118872"/>
          </a:xfrm>
          <a:prstGeom prst="ellipse">
            <a:avLst/>
          </a:prstGeom>
          <a:solidFill>
            <a:srgbClr val="E09B21">
              <a:alpha val="88000"/>
            </a:srgbClr>
          </a:solidFill>
          <a:ln w="12700">
            <a:solidFill>
              <a:srgbClr val="E09B21"/>
            </a:solidFill>
            <a:prstDash val="solid"/>
          </a:ln>
        </p:spPr>
      </p:sp>
      <p:sp>
        <p:nvSpPr>
          <p:cNvPr id="96" name="Text 94"/>
          <p:cNvSpPr/>
          <p:nvPr/>
        </p:nvSpPr>
        <p:spPr>
          <a:xfrm>
            <a:off x="978408" y="5486400"/>
            <a:ext cx="4297680" cy="237744"/>
          </a:xfrm>
          <a:prstGeom prst="rect">
            <a:avLst/>
          </a:prstGeom>
          <a:noFill/>
          <a:ln/>
        </p:spPr>
        <p:txBody>
          <a:bodyPr wrap="square" lIns="0" tIns="0" rIns="0" bIns="0" rtlCol="0" anchor="ctr"/>
          <a:lstStyle/>
          <a:p>
            <a:pPr algn="ctr" indent="0" marL="0">
              <a:buNone/>
            </a:pPr>
            <a:r>
              <a:rPr lang="en-US" sz="1050" dirty="0">
                <a:solidFill>
                  <a:srgbClr val="9E9AB4"/>
                </a:solidFill>
                <a:latin typeface="Calibri" pitchFamily="34" charset="0"/>
                <a:ea typeface="Calibri" pitchFamily="34" charset="-122"/>
                <a:cs typeface="Calibri" pitchFamily="34" charset="-120"/>
              </a:rPr>
              <a:t>Cups of coffee per day →</a:t>
            </a:r>
            <a:endParaRPr lang="en-US" sz="1050" dirty="0"/>
          </a:p>
        </p:txBody>
      </p:sp>
      <p:sp>
        <p:nvSpPr>
          <p:cNvPr id="97" name="Shape 95"/>
          <p:cNvSpPr/>
          <p:nvPr/>
        </p:nvSpPr>
        <p:spPr>
          <a:xfrm>
            <a:off x="6080760" y="2331720"/>
            <a:ext cx="5541264" cy="1051560"/>
          </a:xfrm>
          <a:prstGeom prst="roundRect">
            <a:avLst>
              <a:gd name="adj" fmla="val 8696"/>
            </a:avLst>
          </a:prstGeom>
          <a:solidFill>
            <a:srgbClr val="F5F4FA"/>
          </a:solidFill>
          <a:ln w="12700">
            <a:solidFill>
              <a:srgbClr val="DBD8E8"/>
            </a:solidFill>
            <a:prstDash val="solid"/>
          </a:ln>
        </p:spPr>
      </p:sp>
      <p:sp>
        <p:nvSpPr>
          <p:cNvPr id="98" name="Shape 96"/>
          <p:cNvSpPr/>
          <p:nvPr/>
        </p:nvSpPr>
        <p:spPr>
          <a:xfrm>
            <a:off x="6309360" y="2706624"/>
            <a:ext cx="292608" cy="292608"/>
          </a:xfrm>
          <a:prstGeom prst="ellipse">
            <a:avLst/>
          </a:prstGeom>
          <a:solidFill>
            <a:srgbClr val="D9553C"/>
          </a:solidFill>
          <a:ln w="12700">
            <a:solidFill>
              <a:srgbClr val="D9553C"/>
            </a:solidFill>
            <a:prstDash val="solid"/>
          </a:ln>
        </p:spPr>
      </p:sp>
      <p:sp>
        <p:nvSpPr>
          <p:cNvPr id="99" name="Text 97"/>
          <p:cNvSpPr/>
          <p:nvPr/>
        </p:nvSpPr>
        <p:spPr>
          <a:xfrm>
            <a:off x="6729984" y="2514600"/>
            <a:ext cx="4846320" cy="292608"/>
          </a:xfrm>
          <a:prstGeom prst="rect">
            <a:avLst/>
          </a:prstGeom>
          <a:noFill/>
          <a:ln/>
        </p:spPr>
        <p:txBody>
          <a:bodyPr wrap="square" lIns="0" tIns="0" rIns="0" bIns="0" rtlCol="0" anchor="ctr"/>
          <a:lstStyle/>
          <a:p>
            <a:pPr indent="0" marL="0">
              <a:buNone/>
            </a:pPr>
            <a:r>
              <a:rPr lang="en-US" sz="1450" b="1" dirty="0">
                <a:solidFill>
                  <a:srgbClr val="1A1633"/>
                </a:solidFill>
                <a:latin typeface="Calibri" pitchFamily="34" charset="0"/>
                <a:ea typeface="Calibri" pitchFamily="34" charset="-122"/>
                <a:cs typeface="Calibri" pitchFamily="34" charset="-120"/>
              </a:rPr>
              <a:t>Night owls</a:t>
            </a:r>
            <a:endParaRPr lang="en-US" sz="1450" dirty="0"/>
          </a:p>
        </p:txBody>
      </p:sp>
      <p:sp>
        <p:nvSpPr>
          <p:cNvPr id="100" name="Text 98"/>
          <p:cNvSpPr/>
          <p:nvPr/>
        </p:nvSpPr>
        <p:spPr>
          <a:xfrm>
            <a:off x="6729984" y="2862072"/>
            <a:ext cx="4846320" cy="438912"/>
          </a:xfrm>
          <a:prstGeom prst="rect">
            <a:avLst/>
          </a:prstGeom>
          <a:noFill/>
          <a:ln/>
        </p:spPr>
        <p:txBody>
          <a:bodyPr wrap="square" lIns="0" tIns="0" rIns="0" bIns="0" rtlCol="0" anchor="ctr"/>
          <a:lstStyle/>
          <a:p>
            <a:pPr indent="0" marL="0">
              <a:buNone/>
            </a:pPr>
            <a:r>
              <a:rPr lang="en-US" sz="1200" dirty="0">
                <a:solidFill>
                  <a:srgbClr val="6B6785"/>
                </a:solidFill>
                <a:latin typeface="Calibri" pitchFamily="34" charset="0"/>
                <a:ea typeface="Calibri" pitchFamily="34" charset="-122"/>
                <a:cs typeface="Calibri" pitchFamily="34" charset="-120"/>
              </a:rPr>
              <a:t>Hate the morning, barely drink coffee. Low on both.</a:t>
            </a:r>
            <a:endParaRPr lang="en-US" sz="1200" dirty="0"/>
          </a:p>
        </p:txBody>
      </p:sp>
      <p:sp>
        <p:nvSpPr>
          <p:cNvPr id="101" name="Shape 99"/>
          <p:cNvSpPr/>
          <p:nvPr/>
        </p:nvSpPr>
        <p:spPr>
          <a:xfrm>
            <a:off x="6080760" y="3529584"/>
            <a:ext cx="5541264" cy="1051560"/>
          </a:xfrm>
          <a:prstGeom prst="roundRect">
            <a:avLst>
              <a:gd name="adj" fmla="val 8696"/>
            </a:avLst>
          </a:prstGeom>
          <a:solidFill>
            <a:srgbClr val="F5F4FA"/>
          </a:solidFill>
          <a:ln w="12700">
            <a:solidFill>
              <a:srgbClr val="DBD8E8"/>
            </a:solidFill>
            <a:prstDash val="solid"/>
          </a:ln>
        </p:spPr>
      </p:sp>
      <p:sp>
        <p:nvSpPr>
          <p:cNvPr id="102" name="Shape 100"/>
          <p:cNvSpPr/>
          <p:nvPr/>
        </p:nvSpPr>
        <p:spPr>
          <a:xfrm>
            <a:off x="6309360" y="3904488"/>
            <a:ext cx="292608" cy="292608"/>
          </a:xfrm>
          <a:prstGeom prst="ellipse">
            <a:avLst/>
          </a:prstGeom>
          <a:solidFill>
            <a:srgbClr val="1F8F82"/>
          </a:solidFill>
          <a:ln w="12700">
            <a:solidFill>
              <a:srgbClr val="1F8F82"/>
            </a:solidFill>
            <a:prstDash val="solid"/>
          </a:ln>
        </p:spPr>
      </p:sp>
      <p:sp>
        <p:nvSpPr>
          <p:cNvPr id="103" name="Text 101"/>
          <p:cNvSpPr/>
          <p:nvPr/>
        </p:nvSpPr>
        <p:spPr>
          <a:xfrm>
            <a:off x="6729984" y="3712464"/>
            <a:ext cx="4846320" cy="292608"/>
          </a:xfrm>
          <a:prstGeom prst="rect">
            <a:avLst/>
          </a:prstGeom>
          <a:noFill/>
          <a:ln/>
        </p:spPr>
        <p:txBody>
          <a:bodyPr wrap="square" lIns="0" tIns="0" rIns="0" bIns="0" rtlCol="0" anchor="ctr"/>
          <a:lstStyle/>
          <a:p>
            <a:pPr indent="0" marL="0">
              <a:buNone/>
            </a:pPr>
            <a:r>
              <a:rPr lang="en-US" sz="1450" b="1" dirty="0">
                <a:solidFill>
                  <a:srgbClr val="1A1633"/>
                </a:solidFill>
                <a:latin typeface="Calibri" pitchFamily="34" charset="0"/>
                <a:ea typeface="Calibri" pitchFamily="34" charset="-122"/>
                <a:cs typeface="Calibri" pitchFamily="34" charset="-120"/>
              </a:rPr>
              <a:t>Early risers</a:t>
            </a:r>
            <a:endParaRPr lang="en-US" sz="1450" dirty="0"/>
          </a:p>
        </p:txBody>
      </p:sp>
      <p:sp>
        <p:nvSpPr>
          <p:cNvPr id="104" name="Text 102"/>
          <p:cNvSpPr/>
          <p:nvPr/>
        </p:nvSpPr>
        <p:spPr>
          <a:xfrm>
            <a:off x="6729984" y="4059936"/>
            <a:ext cx="4846320" cy="438912"/>
          </a:xfrm>
          <a:prstGeom prst="rect">
            <a:avLst/>
          </a:prstGeom>
          <a:noFill/>
          <a:ln/>
        </p:spPr>
        <p:txBody>
          <a:bodyPr wrap="square" lIns="0" tIns="0" rIns="0" bIns="0" rtlCol="0" anchor="ctr"/>
          <a:lstStyle/>
          <a:p>
            <a:pPr indent="0" marL="0">
              <a:buNone/>
            </a:pPr>
            <a:r>
              <a:rPr lang="en-US" sz="1200" dirty="0">
                <a:solidFill>
                  <a:srgbClr val="6B6785"/>
                </a:solidFill>
                <a:latin typeface="Calibri" pitchFamily="34" charset="0"/>
                <a:ea typeface="Calibri" pitchFamily="34" charset="-122"/>
                <a:cs typeface="Calibri" pitchFamily="34" charset="-120"/>
              </a:rPr>
              <a:t>Love the morning, moderate coffee. Cheerful at 7am.</a:t>
            </a:r>
            <a:endParaRPr lang="en-US" sz="1200" dirty="0"/>
          </a:p>
        </p:txBody>
      </p:sp>
      <p:sp>
        <p:nvSpPr>
          <p:cNvPr id="105" name="Shape 103"/>
          <p:cNvSpPr/>
          <p:nvPr/>
        </p:nvSpPr>
        <p:spPr>
          <a:xfrm>
            <a:off x="6080760" y="4727448"/>
            <a:ext cx="5541264" cy="1051560"/>
          </a:xfrm>
          <a:prstGeom prst="roundRect">
            <a:avLst>
              <a:gd name="adj" fmla="val 8696"/>
            </a:avLst>
          </a:prstGeom>
          <a:solidFill>
            <a:srgbClr val="F5F4FA"/>
          </a:solidFill>
          <a:ln w="12700">
            <a:solidFill>
              <a:srgbClr val="DBD8E8"/>
            </a:solidFill>
            <a:prstDash val="solid"/>
          </a:ln>
        </p:spPr>
      </p:sp>
      <p:sp>
        <p:nvSpPr>
          <p:cNvPr id="106" name="Shape 104"/>
          <p:cNvSpPr/>
          <p:nvPr/>
        </p:nvSpPr>
        <p:spPr>
          <a:xfrm>
            <a:off x="6309360" y="5102352"/>
            <a:ext cx="292608" cy="292608"/>
          </a:xfrm>
          <a:prstGeom prst="ellipse">
            <a:avLst/>
          </a:prstGeom>
          <a:solidFill>
            <a:srgbClr val="E09B21"/>
          </a:solidFill>
          <a:ln w="12700">
            <a:solidFill>
              <a:srgbClr val="E09B21"/>
            </a:solidFill>
            <a:prstDash val="solid"/>
          </a:ln>
        </p:spPr>
      </p:sp>
      <p:sp>
        <p:nvSpPr>
          <p:cNvPr id="107" name="Text 105"/>
          <p:cNvSpPr/>
          <p:nvPr/>
        </p:nvSpPr>
        <p:spPr>
          <a:xfrm>
            <a:off x="6729984" y="4910328"/>
            <a:ext cx="4846320" cy="292608"/>
          </a:xfrm>
          <a:prstGeom prst="rect">
            <a:avLst/>
          </a:prstGeom>
          <a:noFill/>
          <a:ln/>
        </p:spPr>
        <p:txBody>
          <a:bodyPr wrap="square" lIns="0" tIns="0" rIns="0" bIns="0" rtlCol="0" anchor="ctr"/>
          <a:lstStyle/>
          <a:p>
            <a:pPr indent="0" marL="0">
              <a:buNone/>
            </a:pPr>
            <a:r>
              <a:rPr lang="en-US" sz="1450" b="1" dirty="0">
                <a:solidFill>
                  <a:srgbClr val="1A1633"/>
                </a:solidFill>
                <a:latin typeface="Calibri" pitchFamily="34" charset="0"/>
                <a:ea typeface="Calibri" pitchFamily="34" charset="-122"/>
                <a:cs typeface="Calibri" pitchFamily="34" charset="-120"/>
              </a:rPr>
              <a:t>Coffee-dependent</a:t>
            </a:r>
            <a:endParaRPr lang="en-US" sz="1450" dirty="0"/>
          </a:p>
        </p:txBody>
      </p:sp>
      <p:sp>
        <p:nvSpPr>
          <p:cNvPr id="108" name="Text 106"/>
          <p:cNvSpPr/>
          <p:nvPr/>
        </p:nvSpPr>
        <p:spPr>
          <a:xfrm>
            <a:off x="6729984" y="5257800"/>
            <a:ext cx="4846320" cy="438912"/>
          </a:xfrm>
          <a:prstGeom prst="rect">
            <a:avLst/>
          </a:prstGeom>
          <a:noFill/>
          <a:ln/>
        </p:spPr>
        <p:txBody>
          <a:bodyPr wrap="square" lIns="0" tIns="0" rIns="0" bIns="0" rtlCol="0" anchor="ctr"/>
          <a:lstStyle/>
          <a:p>
            <a:pPr indent="0" marL="0">
              <a:buNone/>
            </a:pPr>
            <a:r>
              <a:rPr lang="en-US" sz="1200" dirty="0">
                <a:solidFill>
                  <a:srgbClr val="6B6785"/>
                </a:solidFill>
                <a:latin typeface="Calibri" pitchFamily="34" charset="0"/>
                <a:ea typeface="Calibri" pitchFamily="34" charset="-122"/>
                <a:cs typeface="Calibri" pitchFamily="34" charset="-120"/>
              </a:rPr>
              <a:t>Hate the morning, enormous coffee intake. The pattern that averages hide.</a:t>
            </a:r>
            <a:endParaRPr lang="en-US" sz="1200" dirty="0"/>
          </a:p>
        </p:txBody>
      </p:sp>
      <p:sp>
        <p:nvSpPr>
          <p:cNvPr id="109" name="Text 107"/>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9E9AB4"/>
                </a:solidFill>
                <a:latin typeface="Calibri" pitchFamily="34" charset="0"/>
                <a:ea typeface="Calibri" pitchFamily="34" charset="-122"/>
                <a:cs typeface="Calibri" pitchFamily="34" charset="-120"/>
              </a:rPr>
              <a:t>Two questions were enough here. Real studies use 6–15 indicators, which is exactly why the groups stop being visible by eye.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CONCEPT 2 OF 3 · LATENT VARIABLES</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Some things cannot be measured directly</a:t>
            </a:r>
            <a:endParaRPr lang="en-US" sz="2900" dirty="0"/>
          </a:p>
        </p:txBody>
      </p:sp>
      <p:sp>
        <p:nvSpPr>
          <p:cNvPr id="4" name="Shape 2"/>
          <p:cNvSpPr/>
          <p:nvPr/>
        </p:nvSpPr>
        <p:spPr>
          <a:xfrm>
            <a:off x="566928" y="1417320"/>
            <a:ext cx="5349240" cy="2148840"/>
          </a:xfrm>
          <a:prstGeom prst="roundRect">
            <a:avLst>
              <a:gd name="adj" fmla="val 4255"/>
            </a:avLst>
          </a:prstGeom>
          <a:solidFill>
            <a:srgbClr val="F5F4FA"/>
          </a:solidFill>
          <a:ln w="12700">
            <a:solidFill>
              <a:srgbClr val="DBD8E8"/>
            </a:solidFill>
            <a:prstDash val="solid"/>
          </a:ln>
        </p:spPr>
      </p:sp>
      <p:sp>
        <p:nvSpPr>
          <p:cNvPr id="5" name="Text 3"/>
          <p:cNvSpPr/>
          <p:nvPr/>
        </p:nvSpPr>
        <p:spPr>
          <a:xfrm>
            <a:off x="859536" y="1609344"/>
            <a:ext cx="4754880" cy="256032"/>
          </a:xfrm>
          <a:prstGeom prst="rect">
            <a:avLst/>
          </a:prstGeom>
          <a:noFill/>
          <a:ln/>
        </p:spPr>
        <p:txBody>
          <a:bodyPr wrap="square" lIns="0" tIns="0" rIns="0" bIns="0" rtlCol="0" anchor="ctr"/>
          <a:lstStyle/>
          <a:p>
            <a:pPr indent="0" marL="0">
              <a:buNone/>
            </a:pPr>
            <a:r>
              <a:rPr lang="en-US" sz="1100" b="1" spc="150" kern="0" dirty="0">
                <a:solidFill>
                  <a:srgbClr val="1F8F82"/>
                </a:solidFill>
                <a:latin typeface="Calibri" pitchFamily="34" charset="0"/>
                <a:ea typeface="Calibri" pitchFamily="34" charset="-122"/>
                <a:cs typeface="Calibri" pitchFamily="34" charset="-120"/>
              </a:rPr>
              <a:t>MANIFEST  (observed)</a:t>
            </a:r>
            <a:endParaRPr lang="en-US" sz="1100" dirty="0"/>
          </a:p>
        </p:txBody>
      </p:sp>
      <p:sp>
        <p:nvSpPr>
          <p:cNvPr id="6" name="Text 4"/>
          <p:cNvSpPr/>
          <p:nvPr/>
        </p:nvSpPr>
        <p:spPr>
          <a:xfrm>
            <a:off x="859536" y="1901952"/>
            <a:ext cx="4754880" cy="292608"/>
          </a:xfrm>
          <a:prstGeom prst="rect">
            <a:avLst/>
          </a:prstGeom>
          <a:noFill/>
          <a:ln/>
        </p:spPr>
        <p:txBody>
          <a:bodyPr wrap="square" lIns="0" tIns="0" rIns="0" bIns="0" rtlCol="0" anchor="ctr"/>
          <a:lstStyle/>
          <a:p>
            <a:pPr indent="0" marL="0">
              <a:buNone/>
            </a:pPr>
            <a:r>
              <a:rPr lang="en-US" sz="1350" dirty="0">
                <a:solidFill>
                  <a:srgbClr val="1A1633"/>
                </a:solidFill>
                <a:latin typeface="Calibri" pitchFamily="34" charset="0"/>
                <a:ea typeface="Calibri" pitchFamily="34" charset="-122"/>
                <a:cs typeface="Calibri" pitchFamily="34" charset="-120"/>
              </a:rPr>
              <a:t>You can put an instrument on it.</a:t>
            </a:r>
            <a:endParaRPr lang="en-US" sz="1350" dirty="0"/>
          </a:p>
        </p:txBody>
      </p:sp>
      <p:sp>
        <p:nvSpPr>
          <p:cNvPr id="7" name="Text 5"/>
          <p:cNvSpPr/>
          <p:nvPr/>
        </p:nvSpPr>
        <p:spPr>
          <a:xfrm>
            <a:off x="859536" y="2286000"/>
            <a:ext cx="4754880" cy="1143000"/>
          </a:xfrm>
          <a:prstGeom prst="rect">
            <a:avLst/>
          </a:prstGeom>
          <a:noFill/>
          <a:ln/>
        </p:spPr>
        <p:txBody>
          <a:bodyPr wrap="square" lIns="0" tIns="0" rIns="0" bIns="0" rtlCol="0" anchor="t"/>
          <a:lstStyle/>
          <a:p>
            <a:pPr marL="203200" indent="-203200">
              <a:lnSpc>
                <a:spcPts val="2000"/>
              </a:lnSpc>
              <a:spcAft>
                <a:spcPts val="300"/>
              </a:spcAft>
              <a:buSzPct val="100000"/>
              <a:buChar char="•"/>
            </a:pPr>
            <a:r>
              <a:rPr lang="en-US" sz="1250" dirty="0">
                <a:solidFill>
                  <a:srgbClr val="6B6785"/>
                </a:solidFill>
                <a:latin typeface="Calibri" pitchFamily="34" charset="0"/>
                <a:ea typeface="Calibri" pitchFamily="34" charset="-122"/>
                <a:cs typeface="Calibri" pitchFamily="34" charset="-120"/>
              </a:rPr>
              <a:t>Height — tape measure</a:t>
            </a:r>
            <a:endParaRPr lang="en-US" sz="1250" dirty="0"/>
          </a:p>
          <a:p>
            <a:pPr marL="203200" indent="-203200">
              <a:lnSpc>
                <a:spcPts val="2000"/>
              </a:lnSpc>
              <a:spcAft>
                <a:spcPts val="300"/>
              </a:spcAft>
              <a:buSzPct val="100000"/>
              <a:buChar char="•"/>
            </a:pPr>
            <a:r>
              <a:rPr lang="en-US" sz="1250" dirty="0">
                <a:solidFill>
                  <a:srgbClr val="6B6785"/>
                </a:solidFill>
                <a:latin typeface="Calibri" pitchFamily="34" charset="0"/>
                <a:ea typeface="Calibri" pitchFamily="34" charset="-122"/>
                <a:cs typeface="Calibri" pitchFamily="34" charset="-120"/>
              </a:rPr>
              <a:t>Body temperature — thermometer</a:t>
            </a:r>
            <a:endParaRPr lang="en-US" sz="1250" dirty="0"/>
          </a:p>
          <a:p>
            <a:pPr marL="203200" indent="-203200">
              <a:lnSpc>
                <a:spcPts val="2000"/>
              </a:lnSpc>
              <a:spcAft>
                <a:spcPts val="300"/>
              </a:spcAft>
              <a:buSzPct val="100000"/>
              <a:buChar char="•"/>
            </a:pPr>
            <a:r>
              <a:rPr lang="en-US" sz="1250" dirty="0">
                <a:solidFill>
                  <a:srgbClr val="6B6785"/>
                </a:solidFill>
                <a:latin typeface="Calibri" pitchFamily="34" charset="0"/>
                <a:ea typeface="Calibri" pitchFamily="34" charset="-122"/>
                <a:cs typeface="Calibri" pitchFamily="34" charset="-120"/>
              </a:rPr>
              <a:t>Blood pressure — sphygmomanometer</a:t>
            </a:r>
            <a:endParaRPr lang="en-US" sz="1250" dirty="0"/>
          </a:p>
          <a:p>
            <a:pPr marL="203200" indent="-203200">
              <a:lnSpc>
                <a:spcPts val="2000"/>
              </a:lnSpc>
              <a:spcAft>
                <a:spcPts val="300"/>
              </a:spcAft>
              <a:buSzPct val="100000"/>
              <a:buChar char="•"/>
            </a:pPr>
            <a:r>
              <a:rPr lang="en-US" sz="1250" dirty="0">
                <a:solidFill>
                  <a:srgbClr val="6B6785"/>
                </a:solidFill>
                <a:latin typeface="Calibri" pitchFamily="34" charset="0"/>
                <a:ea typeface="Calibri" pitchFamily="34" charset="-122"/>
                <a:cs typeface="Calibri" pitchFamily="34" charset="-120"/>
              </a:rPr>
              <a:t>Age — date of birth</a:t>
            </a:r>
            <a:endParaRPr lang="en-US" sz="1250" dirty="0"/>
          </a:p>
        </p:txBody>
      </p:sp>
      <p:sp>
        <p:nvSpPr>
          <p:cNvPr id="8" name="Shape 6"/>
          <p:cNvSpPr/>
          <p:nvPr/>
        </p:nvSpPr>
        <p:spPr>
          <a:xfrm>
            <a:off x="6272784" y="1417320"/>
            <a:ext cx="5349240" cy="2148840"/>
          </a:xfrm>
          <a:prstGeom prst="roundRect">
            <a:avLst>
              <a:gd name="adj" fmla="val 4255"/>
            </a:avLst>
          </a:prstGeom>
          <a:solidFill>
            <a:srgbClr val="F7EFEC"/>
          </a:solidFill>
          <a:ln w="12700">
            <a:solidFill>
              <a:srgbClr val="E9CFC7"/>
            </a:solidFill>
            <a:prstDash val="solid"/>
          </a:ln>
        </p:spPr>
      </p:sp>
      <p:sp>
        <p:nvSpPr>
          <p:cNvPr id="9" name="Text 7"/>
          <p:cNvSpPr/>
          <p:nvPr/>
        </p:nvSpPr>
        <p:spPr>
          <a:xfrm>
            <a:off x="6565392" y="1609344"/>
            <a:ext cx="4754880" cy="256032"/>
          </a:xfrm>
          <a:prstGeom prst="rect">
            <a:avLst/>
          </a:prstGeom>
          <a:noFill/>
          <a:ln/>
        </p:spPr>
        <p:txBody>
          <a:bodyPr wrap="square" lIns="0" tIns="0" rIns="0" bIns="0" rtlCol="0" anchor="ctr"/>
          <a:lstStyle/>
          <a:p>
            <a:pPr indent="0" marL="0">
              <a:buNone/>
            </a:pPr>
            <a:r>
              <a:rPr lang="en-US" sz="1100" b="1" spc="150" kern="0" dirty="0">
                <a:solidFill>
                  <a:srgbClr val="D9553C"/>
                </a:solidFill>
                <a:latin typeface="Calibri" pitchFamily="34" charset="0"/>
                <a:ea typeface="Calibri" pitchFamily="34" charset="-122"/>
                <a:cs typeface="Calibri" pitchFamily="34" charset="-120"/>
              </a:rPr>
              <a:t>LATENT  (unobserved)</a:t>
            </a:r>
            <a:endParaRPr lang="en-US" sz="1100" dirty="0"/>
          </a:p>
        </p:txBody>
      </p:sp>
      <p:sp>
        <p:nvSpPr>
          <p:cNvPr id="10" name="Text 8"/>
          <p:cNvSpPr/>
          <p:nvPr/>
        </p:nvSpPr>
        <p:spPr>
          <a:xfrm>
            <a:off x="6565392" y="1901952"/>
            <a:ext cx="4754880" cy="292608"/>
          </a:xfrm>
          <a:prstGeom prst="rect">
            <a:avLst/>
          </a:prstGeom>
          <a:noFill/>
          <a:ln/>
        </p:spPr>
        <p:txBody>
          <a:bodyPr wrap="square" lIns="0" tIns="0" rIns="0" bIns="0" rtlCol="0" anchor="ctr"/>
          <a:lstStyle/>
          <a:p>
            <a:pPr indent="0" marL="0">
              <a:buNone/>
            </a:pPr>
            <a:r>
              <a:rPr lang="en-US" sz="1350" dirty="0">
                <a:solidFill>
                  <a:srgbClr val="1A1633"/>
                </a:solidFill>
                <a:latin typeface="Calibri" pitchFamily="34" charset="0"/>
                <a:ea typeface="Calibri" pitchFamily="34" charset="-122"/>
                <a:cs typeface="Calibri" pitchFamily="34" charset="-120"/>
              </a:rPr>
              <a:t>No instrument exists. You infer it.</a:t>
            </a:r>
            <a:endParaRPr lang="en-US" sz="1350" dirty="0"/>
          </a:p>
        </p:txBody>
      </p:sp>
      <p:sp>
        <p:nvSpPr>
          <p:cNvPr id="11" name="Text 9"/>
          <p:cNvSpPr/>
          <p:nvPr/>
        </p:nvSpPr>
        <p:spPr>
          <a:xfrm>
            <a:off x="6565392" y="2286000"/>
            <a:ext cx="4754880" cy="1143000"/>
          </a:xfrm>
          <a:prstGeom prst="rect">
            <a:avLst/>
          </a:prstGeom>
          <a:noFill/>
          <a:ln/>
        </p:spPr>
        <p:txBody>
          <a:bodyPr wrap="square" lIns="0" tIns="0" rIns="0" bIns="0" rtlCol="0" anchor="t"/>
          <a:lstStyle/>
          <a:p>
            <a:pPr marL="203200" indent="-203200">
              <a:lnSpc>
                <a:spcPts val="2000"/>
              </a:lnSpc>
              <a:spcAft>
                <a:spcPts val="300"/>
              </a:spcAft>
              <a:buSzPct val="100000"/>
              <a:buChar char="•"/>
            </a:pPr>
            <a:r>
              <a:rPr lang="en-US" sz="1250" dirty="0">
                <a:solidFill>
                  <a:srgbClr val="6B6785"/>
                </a:solidFill>
                <a:latin typeface="Calibri" pitchFamily="34" charset="0"/>
                <a:ea typeface="Calibri" pitchFamily="34" charset="-122"/>
                <a:cs typeface="Calibri" pitchFamily="34" charset="-120"/>
              </a:rPr>
              <a:t>Depression</a:t>
            </a:r>
            <a:endParaRPr lang="en-US" sz="1250" dirty="0"/>
          </a:p>
          <a:p>
            <a:pPr marL="203200" indent="-203200">
              <a:lnSpc>
                <a:spcPts val="2000"/>
              </a:lnSpc>
              <a:spcAft>
                <a:spcPts val="300"/>
              </a:spcAft>
              <a:buSzPct val="100000"/>
              <a:buChar char="•"/>
            </a:pPr>
            <a:r>
              <a:rPr lang="en-US" sz="1250" dirty="0">
                <a:solidFill>
                  <a:srgbClr val="6B6785"/>
                </a:solidFill>
                <a:latin typeface="Calibri" pitchFamily="34" charset="0"/>
                <a:ea typeface="Calibri" pitchFamily="34" charset="-122"/>
                <a:cs typeface="Calibri" pitchFamily="34" charset="-120"/>
              </a:rPr>
              <a:t>Mental wellbeing</a:t>
            </a:r>
            <a:endParaRPr lang="en-US" sz="1250" dirty="0"/>
          </a:p>
          <a:p>
            <a:pPr marL="203200" indent="-203200">
              <a:lnSpc>
                <a:spcPts val="2000"/>
              </a:lnSpc>
              <a:spcAft>
                <a:spcPts val="300"/>
              </a:spcAft>
              <a:buSzPct val="100000"/>
              <a:buChar char="•"/>
            </a:pPr>
            <a:r>
              <a:rPr lang="en-US" sz="1250" dirty="0">
                <a:solidFill>
                  <a:srgbClr val="6B6785"/>
                </a:solidFill>
                <a:latin typeface="Calibri" pitchFamily="34" charset="0"/>
                <a:ea typeface="Calibri" pitchFamily="34" charset="-122"/>
                <a:cs typeface="Calibri" pitchFamily="34" charset="-120"/>
              </a:rPr>
              <a:t>Socio-economic disadvantage</a:t>
            </a:r>
            <a:endParaRPr lang="en-US" sz="1250" dirty="0"/>
          </a:p>
          <a:p>
            <a:pPr marL="203200" indent="-203200">
              <a:lnSpc>
                <a:spcPts val="2000"/>
              </a:lnSpc>
              <a:spcAft>
                <a:spcPts val="300"/>
              </a:spcAft>
              <a:buSzPct val="100000"/>
              <a:buChar char="•"/>
            </a:pPr>
            <a:r>
              <a:rPr lang="en-US" sz="1250" dirty="0">
                <a:solidFill>
                  <a:srgbClr val="6B6785"/>
                </a:solidFill>
                <a:latin typeface="Calibri" pitchFamily="34" charset="0"/>
                <a:ea typeface="Calibri" pitchFamily="34" charset="-122"/>
                <a:cs typeface="Calibri" pitchFamily="34" charset="-120"/>
              </a:rPr>
              <a:t>Motivation, resilience, stigma</a:t>
            </a:r>
            <a:endParaRPr lang="en-US" sz="1250" dirty="0"/>
          </a:p>
        </p:txBody>
      </p:sp>
      <p:sp>
        <p:nvSpPr>
          <p:cNvPr id="12" name="Shape 10"/>
          <p:cNvSpPr/>
          <p:nvPr/>
        </p:nvSpPr>
        <p:spPr>
          <a:xfrm>
            <a:off x="566928" y="3794760"/>
            <a:ext cx="11055096" cy="960120"/>
          </a:xfrm>
          <a:prstGeom prst="roundRect">
            <a:avLst>
              <a:gd name="adj" fmla="val 9524"/>
            </a:avLst>
          </a:prstGeom>
          <a:solidFill>
            <a:srgbClr val="2A2356"/>
          </a:solidFill>
          <a:ln w="9525">
            <a:solidFill>
              <a:srgbClr val="2A2356"/>
            </a:solidFill>
            <a:prstDash val="solid"/>
          </a:ln>
        </p:spPr>
      </p:sp>
      <p:sp>
        <p:nvSpPr>
          <p:cNvPr id="13" name="Text 11"/>
          <p:cNvSpPr/>
          <p:nvPr/>
        </p:nvSpPr>
        <p:spPr>
          <a:xfrm>
            <a:off x="886968" y="3794760"/>
            <a:ext cx="10415016" cy="960120"/>
          </a:xfrm>
          <a:prstGeom prst="rect">
            <a:avLst/>
          </a:prstGeom>
          <a:noFill/>
          <a:ln/>
        </p:spPr>
        <p:txBody>
          <a:bodyPr wrap="square" lIns="0" tIns="0" rIns="0" bIns="0" rtlCol="0" anchor="ctr"/>
          <a:lstStyle/>
          <a:p>
            <a:pPr indent="0" marL="0">
              <a:lnSpc>
                <a:spcPts val="2100"/>
              </a:lnSpc>
              <a:buNone/>
            </a:pPr>
            <a:r>
              <a:rPr lang="en-US" sz="1500" b="1" dirty="0">
                <a:solidFill>
                  <a:srgbClr val="E09B21"/>
                </a:solidFill>
                <a:latin typeface="Calibri" pitchFamily="34" charset="0"/>
                <a:ea typeface="Calibri" pitchFamily="34" charset="-122"/>
                <a:cs typeface="Calibri" pitchFamily="34" charset="-120"/>
              </a:rPr>
              <a:t>The definition.  </a:t>
            </a:r>
            <a:pPr indent="0" marL="0">
              <a:lnSpc>
                <a:spcPts val="2100"/>
              </a:lnSpc>
              <a:buNone/>
            </a:pPr>
            <a:r>
              <a:rPr lang="en-US" sz="1500" dirty="0">
                <a:solidFill>
                  <a:srgbClr val="FFFFFF"/>
                </a:solidFill>
                <a:latin typeface="Calibri" pitchFamily="34" charset="0"/>
                <a:ea typeface="Calibri" pitchFamily="34" charset="-122"/>
                <a:cs typeface="Calibri" pitchFamily="34" charset="-120"/>
              </a:rPr>
              <a:t>A latent variable is something you cannot see or measure, but which you believe exists because it moves things you </a:t>
            </a:r>
            <a:pPr indent="0" marL="0">
              <a:lnSpc>
                <a:spcPts val="2100"/>
              </a:lnSpc>
              <a:buNone/>
            </a:pPr>
            <a:r>
              <a:rPr lang="en-US" sz="1500" i="1" dirty="0">
                <a:solidFill>
                  <a:srgbClr val="FFFFFF"/>
                </a:solidFill>
                <a:latin typeface="Calibri" pitchFamily="34" charset="0"/>
                <a:ea typeface="Calibri" pitchFamily="34" charset="-122"/>
                <a:cs typeface="Calibri" pitchFamily="34" charset="-120"/>
              </a:rPr>
              <a:t>can</a:t>
            </a:r>
            <a:pPr indent="0" marL="0">
              <a:lnSpc>
                <a:spcPts val="2100"/>
              </a:lnSpc>
              <a:buNone/>
            </a:pPr>
            <a:r>
              <a:rPr lang="en-US" sz="1500" dirty="0">
                <a:solidFill>
                  <a:srgbClr val="FFFFFF"/>
                </a:solidFill>
                <a:latin typeface="Calibri" pitchFamily="34" charset="0"/>
                <a:ea typeface="Calibri" pitchFamily="34" charset="-122"/>
                <a:cs typeface="Calibri" pitchFamily="34" charset="-120"/>
              </a:rPr>
              <a:t> see.</a:t>
            </a:r>
            <a:endParaRPr lang="en-US" sz="1500" dirty="0"/>
          </a:p>
        </p:txBody>
      </p:sp>
      <p:sp>
        <p:nvSpPr>
          <p:cNvPr id="14" name="Shape 12"/>
          <p:cNvSpPr/>
          <p:nvPr/>
        </p:nvSpPr>
        <p:spPr>
          <a:xfrm>
            <a:off x="566928" y="4983480"/>
            <a:ext cx="11055096" cy="1097280"/>
          </a:xfrm>
          <a:prstGeom prst="roundRect">
            <a:avLst>
              <a:gd name="adj" fmla="val 8333"/>
            </a:avLst>
          </a:prstGeom>
          <a:solidFill>
            <a:srgbClr val="EBE9F5"/>
          </a:solidFill>
          <a:ln w="12700">
            <a:solidFill>
              <a:srgbClr val="DBD8E8"/>
            </a:solidFill>
            <a:prstDash val="solid"/>
          </a:ln>
        </p:spPr>
      </p:sp>
      <p:sp>
        <p:nvSpPr>
          <p:cNvPr id="15" name="Text 13"/>
          <p:cNvSpPr/>
          <p:nvPr/>
        </p:nvSpPr>
        <p:spPr>
          <a:xfrm>
            <a:off x="886968" y="5120640"/>
            <a:ext cx="4937760" cy="274320"/>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The ghost under the bedsheet</a:t>
            </a:r>
            <a:endParaRPr lang="en-US" sz="1300" dirty="0"/>
          </a:p>
        </p:txBody>
      </p:sp>
      <p:sp>
        <p:nvSpPr>
          <p:cNvPr id="16" name="Text 14"/>
          <p:cNvSpPr/>
          <p:nvPr/>
        </p:nvSpPr>
        <p:spPr>
          <a:xfrm>
            <a:off x="886968" y="5413248"/>
            <a:ext cx="10415016" cy="566928"/>
          </a:xfrm>
          <a:prstGeom prst="rect">
            <a:avLst/>
          </a:prstGeom>
          <a:noFill/>
          <a:ln/>
        </p:spPr>
        <p:txBody>
          <a:bodyPr wrap="square" lIns="0" tIns="0" rIns="0" bIns="0" rtlCol="0" anchor="t"/>
          <a:lstStyle/>
          <a:p>
            <a:pPr indent="0" marL="0">
              <a:lnSpc>
                <a:spcPts val="1700"/>
              </a:lnSpc>
              <a:buNone/>
            </a:pPr>
            <a:r>
              <a:rPr lang="en-US" sz="1250" dirty="0">
                <a:solidFill>
                  <a:srgbClr val="6B6785"/>
                </a:solidFill>
                <a:latin typeface="Calibri" pitchFamily="34" charset="0"/>
                <a:ea typeface="Calibri" pitchFamily="34" charset="-122"/>
                <a:cs typeface="Calibri" pitchFamily="34" charset="-120"/>
              </a:rPr>
              <a:t>You never see the ghost. You see the sheet moving — and the movement is systematic enough that “something is under there” is the sensible conclusion. Your questionnaire items are the sheet; the construct is the ghost.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WORKED EXAMPLE · DEPRESSION</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How you get at something you cannot see</a:t>
            </a:r>
            <a:endParaRPr lang="en-US" sz="29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algn="l" indent="0" marL="0">
              <a:lnSpc>
                <a:spcPts val="1900"/>
              </a:lnSpc>
              <a:buNone/>
            </a:pPr>
            <a:r>
              <a:rPr lang="en-US" sz="1350" dirty="0">
                <a:solidFill>
                  <a:srgbClr val="6B6785"/>
                </a:solidFill>
                <a:latin typeface="Calibri" pitchFamily="34" charset="0"/>
                <a:ea typeface="Calibri" pitchFamily="34" charset="-122"/>
                <a:cs typeface="Calibri" pitchFamily="34" charset="-120"/>
              </a:rPr>
              <a:t>You cannot measure depression with a tape measure. But depression leaves fingerprints across several domains — so you ask about the fingerprints, and reason back to the cause.</a:t>
            </a:r>
            <a:endParaRPr lang="en-US" sz="1350" dirty="0"/>
          </a:p>
        </p:txBody>
      </p:sp>
      <p:sp>
        <p:nvSpPr>
          <p:cNvPr id="5" name="Shape 3"/>
          <p:cNvSpPr/>
          <p:nvPr/>
        </p:nvSpPr>
        <p:spPr>
          <a:xfrm>
            <a:off x="566928" y="2011680"/>
            <a:ext cx="2103120" cy="1463040"/>
          </a:xfrm>
          <a:prstGeom prst="roundRect">
            <a:avLst>
              <a:gd name="adj" fmla="val 625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6" name="Shape 4"/>
          <p:cNvSpPr/>
          <p:nvPr/>
        </p:nvSpPr>
        <p:spPr>
          <a:xfrm>
            <a:off x="768096" y="2212848"/>
            <a:ext cx="274320" cy="274320"/>
          </a:xfrm>
          <a:prstGeom prst="ellipse">
            <a:avLst/>
          </a:prstGeom>
          <a:solidFill>
            <a:srgbClr val="D9553C"/>
          </a:solidFill>
          <a:ln w="12700">
            <a:solidFill>
              <a:srgbClr val="D9553C"/>
            </a:solidFill>
            <a:prstDash val="solid"/>
          </a:ln>
        </p:spPr>
      </p:sp>
      <p:sp>
        <p:nvSpPr>
          <p:cNvPr id="7" name="Text 5"/>
          <p:cNvSpPr/>
          <p:nvPr/>
        </p:nvSpPr>
        <p:spPr>
          <a:xfrm>
            <a:off x="1115568" y="2231136"/>
            <a:ext cx="1417320" cy="256032"/>
          </a:xfrm>
          <a:prstGeom prst="rect">
            <a:avLst/>
          </a:prstGeom>
          <a:noFill/>
          <a:ln/>
        </p:spPr>
        <p:txBody>
          <a:bodyPr wrap="square" lIns="0" tIns="0" rIns="0" bIns="0" rtlCol="0" anchor="ctr"/>
          <a:lstStyle/>
          <a:p>
            <a:pPr indent="0" marL="0">
              <a:buNone/>
            </a:pPr>
            <a:r>
              <a:rPr lang="en-US" sz="1350" b="1" dirty="0">
                <a:solidFill>
                  <a:srgbClr val="1A1633"/>
                </a:solidFill>
                <a:latin typeface="Calibri" pitchFamily="34" charset="0"/>
                <a:ea typeface="Calibri" pitchFamily="34" charset="-122"/>
                <a:cs typeface="Calibri" pitchFamily="34" charset="-120"/>
              </a:rPr>
              <a:t>Thought</a:t>
            </a:r>
            <a:endParaRPr lang="en-US" sz="1350" dirty="0"/>
          </a:p>
        </p:txBody>
      </p:sp>
      <p:sp>
        <p:nvSpPr>
          <p:cNvPr id="8" name="Text 6"/>
          <p:cNvSpPr/>
          <p:nvPr/>
        </p:nvSpPr>
        <p:spPr>
          <a:xfrm>
            <a:off x="768096" y="2615184"/>
            <a:ext cx="1700784" cy="749808"/>
          </a:xfrm>
          <a:prstGeom prst="rect">
            <a:avLst/>
          </a:prstGeom>
          <a:noFill/>
          <a:ln/>
        </p:spPr>
        <p:txBody>
          <a:bodyPr wrap="square" lIns="0" tIns="0" rIns="0" bIns="0" rtlCol="0" anchor="t"/>
          <a:lstStyle/>
          <a:p>
            <a:pPr indent="0" marL="0">
              <a:lnSpc>
                <a:spcPts val="1500"/>
              </a:lnSpc>
              <a:buNone/>
            </a:pPr>
            <a:r>
              <a:rPr lang="en-US" sz="1100" dirty="0">
                <a:solidFill>
                  <a:srgbClr val="6B6785"/>
                </a:solidFill>
                <a:latin typeface="Calibri" pitchFamily="34" charset="0"/>
                <a:ea typeface="Calibri" pitchFamily="34" charset="-122"/>
                <a:cs typeface="Calibri" pitchFamily="34" charset="-120"/>
              </a:rPr>
              <a:t>Negative thought patterns, hopelessness, worthlessness</a:t>
            </a:r>
            <a:endParaRPr lang="en-US" sz="1100" dirty="0"/>
          </a:p>
        </p:txBody>
      </p:sp>
      <p:sp>
        <p:nvSpPr>
          <p:cNvPr id="9" name="Shape 7"/>
          <p:cNvSpPr/>
          <p:nvPr/>
        </p:nvSpPr>
        <p:spPr>
          <a:xfrm>
            <a:off x="1604772" y="3474720"/>
            <a:ext cx="27432" cy="384048"/>
          </a:xfrm>
          <a:prstGeom prst="rect">
            <a:avLst/>
          </a:prstGeom>
          <a:solidFill>
            <a:srgbClr val="DBD8E8"/>
          </a:solidFill>
          <a:ln w="12700">
            <a:solidFill>
              <a:srgbClr val="DBD8E8"/>
            </a:solidFill>
            <a:prstDash val="solid"/>
          </a:ln>
        </p:spPr>
      </p:sp>
      <p:sp>
        <p:nvSpPr>
          <p:cNvPr id="10" name="Shape 8"/>
          <p:cNvSpPr/>
          <p:nvPr/>
        </p:nvSpPr>
        <p:spPr>
          <a:xfrm>
            <a:off x="2804922" y="2011680"/>
            <a:ext cx="2103120" cy="1463040"/>
          </a:xfrm>
          <a:prstGeom prst="roundRect">
            <a:avLst>
              <a:gd name="adj" fmla="val 625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1" name="Shape 9"/>
          <p:cNvSpPr/>
          <p:nvPr/>
        </p:nvSpPr>
        <p:spPr>
          <a:xfrm>
            <a:off x="3006090" y="2212848"/>
            <a:ext cx="274320" cy="274320"/>
          </a:xfrm>
          <a:prstGeom prst="ellipse">
            <a:avLst/>
          </a:prstGeom>
          <a:solidFill>
            <a:srgbClr val="1F8F82"/>
          </a:solidFill>
          <a:ln w="12700">
            <a:solidFill>
              <a:srgbClr val="1F8F82"/>
            </a:solidFill>
            <a:prstDash val="solid"/>
          </a:ln>
        </p:spPr>
      </p:sp>
      <p:sp>
        <p:nvSpPr>
          <p:cNvPr id="12" name="Text 10"/>
          <p:cNvSpPr/>
          <p:nvPr/>
        </p:nvSpPr>
        <p:spPr>
          <a:xfrm>
            <a:off x="3353562" y="2231136"/>
            <a:ext cx="1417320" cy="256032"/>
          </a:xfrm>
          <a:prstGeom prst="rect">
            <a:avLst/>
          </a:prstGeom>
          <a:noFill/>
          <a:ln/>
        </p:spPr>
        <p:txBody>
          <a:bodyPr wrap="square" lIns="0" tIns="0" rIns="0" bIns="0" rtlCol="0" anchor="ctr"/>
          <a:lstStyle/>
          <a:p>
            <a:pPr indent="0" marL="0">
              <a:buNone/>
            </a:pPr>
            <a:r>
              <a:rPr lang="en-US" sz="1350" b="1" dirty="0">
                <a:solidFill>
                  <a:srgbClr val="1A1633"/>
                </a:solidFill>
                <a:latin typeface="Calibri" pitchFamily="34" charset="0"/>
                <a:ea typeface="Calibri" pitchFamily="34" charset="-122"/>
                <a:cs typeface="Calibri" pitchFamily="34" charset="-120"/>
              </a:rPr>
              <a:t>Mood</a:t>
            </a:r>
            <a:endParaRPr lang="en-US" sz="1350" dirty="0"/>
          </a:p>
        </p:txBody>
      </p:sp>
      <p:sp>
        <p:nvSpPr>
          <p:cNvPr id="13" name="Text 11"/>
          <p:cNvSpPr/>
          <p:nvPr/>
        </p:nvSpPr>
        <p:spPr>
          <a:xfrm>
            <a:off x="3006090" y="2615184"/>
            <a:ext cx="1700784" cy="749808"/>
          </a:xfrm>
          <a:prstGeom prst="rect">
            <a:avLst/>
          </a:prstGeom>
          <a:noFill/>
          <a:ln/>
        </p:spPr>
        <p:txBody>
          <a:bodyPr wrap="square" lIns="0" tIns="0" rIns="0" bIns="0" rtlCol="0" anchor="t"/>
          <a:lstStyle/>
          <a:p>
            <a:pPr indent="0" marL="0">
              <a:lnSpc>
                <a:spcPts val="1500"/>
              </a:lnSpc>
              <a:buNone/>
            </a:pPr>
            <a:r>
              <a:rPr lang="en-US" sz="1100" dirty="0">
                <a:solidFill>
                  <a:srgbClr val="6B6785"/>
                </a:solidFill>
                <a:latin typeface="Calibri" pitchFamily="34" charset="0"/>
                <a:ea typeface="Calibri" pitchFamily="34" charset="-122"/>
                <a:cs typeface="Calibri" pitchFamily="34" charset="-120"/>
              </a:rPr>
              <a:t>Persistent sadness, emptiness, loss of pleasure</a:t>
            </a:r>
            <a:endParaRPr lang="en-US" sz="1100" dirty="0"/>
          </a:p>
        </p:txBody>
      </p:sp>
      <p:sp>
        <p:nvSpPr>
          <p:cNvPr id="14" name="Shape 12"/>
          <p:cNvSpPr/>
          <p:nvPr/>
        </p:nvSpPr>
        <p:spPr>
          <a:xfrm>
            <a:off x="3842766" y="3474720"/>
            <a:ext cx="27432" cy="384048"/>
          </a:xfrm>
          <a:prstGeom prst="rect">
            <a:avLst/>
          </a:prstGeom>
          <a:solidFill>
            <a:srgbClr val="DBD8E8"/>
          </a:solidFill>
          <a:ln w="12700">
            <a:solidFill>
              <a:srgbClr val="DBD8E8"/>
            </a:solidFill>
            <a:prstDash val="solid"/>
          </a:ln>
        </p:spPr>
      </p:sp>
      <p:sp>
        <p:nvSpPr>
          <p:cNvPr id="15" name="Shape 13"/>
          <p:cNvSpPr/>
          <p:nvPr/>
        </p:nvSpPr>
        <p:spPr>
          <a:xfrm>
            <a:off x="5042916" y="2011680"/>
            <a:ext cx="2103120" cy="1463040"/>
          </a:xfrm>
          <a:prstGeom prst="roundRect">
            <a:avLst>
              <a:gd name="adj" fmla="val 625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6" name="Shape 14"/>
          <p:cNvSpPr/>
          <p:nvPr/>
        </p:nvSpPr>
        <p:spPr>
          <a:xfrm>
            <a:off x="5244084" y="2212848"/>
            <a:ext cx="274320" cy="274320"/>
          </a:xfrm>
          <a:prstGeom prst="ellipse">
            <a:avLst/>
          </a:prstGeom>
          <a:solidFill>
            <a:srgbClr val="E09B21"/>
          </a:solidFill>
          <a:ln w="12700">
            <a:solidFill>
              <a:srgbClr val="E09B21"/>
            </a:solidFill>
            <a:prstDash val="solid"/>
          </a:ln>
        </p:spPr>
      </p:sp>
      <p:sp>
        <p:nvSpPr>
          <p:cNvPr id="17" name="Text 15"/>
          <p:cNvSpPr/>
          <p:nvPr/>
        </p:nvSpPr>
        <p:spPr>
          <a:xfrm>
            <a:off x="5591556" y="2231136"/>
            <a:ext cx="1417320" cy="256032"/>
          </a:xfrm>
          <a:prstGeom prst="rect">
            <a:avLst/>
          </a:prstGeom>
          <a:noFill/>
          <a:ln/>
        </p:spPr>
        <p:txBody>
          <a:bodyPr wrap="square" lIns="0" tIns="0" rIns="0" bIns="0" rtlCol="0" anchor="ctr"/>
          <a:lstStyle/>
          <a:p>
            <a:pPr indent="0" marL="0">
              <a:buNone/>
            </a:pPr>
            <a:r>
              <a:rPr lang="en-US" sz="1350" b="1" dirty="0">
                <a:solidFill>
                  <a:srgbClr val="1A1633"/>
                </a:solidFill>
                <a:latin typeface="Calibri" pitchFamily="34" charset="0"/>
                <a:ea typeface="Calibri" pitchFamily="34" charset="-122"/>
                <a:cs typeface="Calibri" pitchFamily="34" charset="-120"/>
              </a:rPr>
              <a:t>Social</a:t>
            </a:r>
            <a:endParaRPr lang="en-US" sz="1350" dirty="0"/>
          </a:p>
        </p:txBody>
      </p:sp>
      <p:sp>
        <p:nvSpPr>
          <p:cNvPr id="18" name="Text 16"/>
          <p:cNvSpPr/>
          <p:nvPr/>
        </p:nvSpPr>
        <p:spPr>
          <a:xfrm>
            <a:off x="5244084" y="2615184"/>
            <a:ext cx="1700784" cy="749808"/>
          </a:xfrm>
          <a:prstGeom prst="rect">
            <a:avLst/>
          </a:prstGeom>
          <a:noFill/>
          <a:ln/>
        </p:spPr>
        <p:txBody>
          <a:bodyPr wrap="square" lIns="0" tIns="0" rIns="0" bIns="0" rtlCol="0" anchor="t"/>
          <a:lstStyle/>
          <a:p>
            <a:pPr indent="0" marL="0">
              <a:lnSpc>
                <a:spcPts val="1500"/>
              </a:lnSpc>
              <a:buNone/>
            </a:pPr>
            <a:r>
              <a:rPr lang="en-US" sz="1100" dirty="0">
                <a:solidFill>
                  <a:srgbClr val="6B6785"/>
                </a:solidFill>
                <a:latin typeface="Calibri" pitchFamily="34" charset="0"/>
                <a:ea typeface="Calibri" pitchFamily="34" charset="-122"/>
                <a:cs typeface="Calibri" pitchFamily="34" charset="-120"/>
              </a:rPr>
              <a:t>Withdrawal, strained relationships, isolation</a:t>
            </a:r>
            <a:endParaRPr lang="en-US" sz="1100" dirty="0"/>
          </a:p>
        </p:txBody>
      </p:sp>
      <p:sp>
        <p:nvSpPr>
          <p:cNvPr id="19" name="Shape 17"/>
          <p:cNvSpPr/>
          <p:nvPr/>
        </p:nvSpPr>
        <p:spPr>
          <a:xfrm>
            <a:off x="6080760" y="3474720"/>
            <a:ext cx="27432" cy="384048"/>
          </a:xfrm>
          <a:prstGeom prst="rect">
            <a:avLst/>
          </a:prstGeom>
          <a:solidFill>
            <a:srgbClr val="DBD8E8"/>
          </a:solidFill>
          <a:ln w="12700">
            <a:solidFill>
              <a:srgbClr val="DBD8E8"/>
            </a:solidFill>
            <a:prstDash val="solid"/>
          </a:ln>
        </p:spPr>
      </p:sp>
      <p:sp>
        <p:nvSpPr>
          <p:cNvPr id="20" name="Shape 18"/>
          <p:cNvSpPr/>
          <p:nvPr/>
        </p:nvSpPr>
        <p:spPr>
          <a:xfrm>
            <a:off x="7280910" y="2011680"/>
            <a:ext cx="2103120" cy="1463040"/>
          </a:xfrm>
          <a:prstGeom prst="roundRect">
            <a:avLst>
              <a:gd name="adj" fmla="val 625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21" name="Shape 19"/>
          <p:cNvSpPr/>
          <p:nvPr/>
        </p:nvSpPr>
        <p:spPr>
          <a:xfrm>
            <a:off x="7482078" y="2212848"/>
            <a:ext cx="274320" cy="274320"/>
          </a:xfrm>
          <a:prstGeom prst="ellipse">
            <a:avLst/>
          </a:prstGeom>
          <a:solidFill>
            <a:srgbClr val="6F63C9"/>
          </a:solidFill>
          <a:ln w="12700">
            <a:solidFill>
              <a:srgbClr val="6F63C9"/>
            </a:solidFill>
            <a:prstDash val="solid"/>
          </a:ln>
        </p:spPr>
      </p:sp>
      <p:sp>
        <p:nvSpPr>
          <p:cNvPr id="22" name="Text 20"/>
          <p:cNvSpPr/>
          <p:nvPr/>
        </p:nvSpPr>
        <p:spPr>
          <a:xfrm>
            <a:off x="7829550" y="2231136"/>
            <a:ext cx="1417320" cy="256032"/>
          </a:xfrm>
          <a:prstGeom prst="rect">
            <a:avLst/>
          </a:prstGeom>
          <a:noFill/>
          <a:ln/>
        </p:spPr>
        <p:txBody>
          <a:bodyPr wrap="square" lIns="0" tIns="0" rIns="0" bIns="0" rtlCol="0" anchor="ctr"/>
          <a:lstStyle/>
          <a:p>
            <a:pPr indent="0" marL="0">
              <a:buNone/>
            </a:pPr>
            <a:r>
              <a:rPr lang="en-US" sz="1350" b="1" dirty="0">
                <a:solidFill>
                  <a:srgbClr val="1A1633"/>
                </a:solidFill>
                <a:latin typeface="Calibri" pitchFamily="34" charset="0"/>
                <a:ea typeface="Calibri" pitchFamily="34" charset="-122"/>
                <a:cs typeface="Calibri" pitchFamily="34" charset="-120"/>
              </a:rPr>
              <a:t>Behaviour</a:t>
            </a:r>
            <a:endParaRPr lang="en-US" sz="1350" dirty="0"/>
          </a:p>
        </p:txBody>
      </p:sp>
      <p:sp>
        <p:nvSpPr>
          <p:cNvPr id="23" name="Text 21"/>
          <p:cNvSpPr/>
          <p:nvPr/>
        </p:nvSpPr>
        <p:spPr>
          <a:xfrm>
            <a:off x="7482078" y="2615184"/>
            <a:ext cx="1700784" cy="749808"/>
          </a:xfrm>
          <a:prstGeom prst="rect">
            <a:avLst/>
          </a:prstGeom>
          <a:noFill/>
          <a:ln/>
        </p:spPr>
        <p:txBody>
          <a:bodyPr wrap="square" lIns="0" tIns="0" rIns="0" bIns="0" rtlCol="0" anchor="t"/>
          <a:lstStyle/>
          <a:p>
            <a:pPr indent="0" marL="0">
              <a:lnSpc>
                <a:spcPts val="1500"/>
              </a:lnSpc>
              <a:buNone/>
            </a:pPr>
            <a:r>
              <a:rPr lang="en-US" sz="1100" dirty="0">
                <a:solidFill>
                  <a:srgbClr val="6B6785"/>
                </a:solidFill>
                <a:latin typeface="Calibri" pitchFamily="34" charset="0"/>
                <a:ea typeface="Calibri" pitchFamily="34" charset="-122"/>
                <a:cs typeface="Calibri" pitchFamily="34" charset="-120"/>
              </a:rPr>
              <a:t>Dropping activities that once brought joy</a:t>
            </a:r>
            <a:endParaRPr lang="en-US" sz="1100" dirty="0"/>
          </a:p>
        </p:txBody>
      </p:sp>
      <p:sp>
        <p:nvSpPr>
          <p:cNvPr id="24" name="Shape 22"/>
          <p:cNvSpPr/>
          <p:nvPr/>
        </p:nvSpPr>
        <p:spPr>
          <a:xfrm>
            <a:off x="8318754" y="3474720"/>
            <a:ext cx="27432" cy="384048"/>
          </a:xfrm>
          <a:prstGeom prst="rect">
            <a:avLst/>
          </a:prstGeom>
          <a:solidFill>
            <a:srgbClr val="DBD8E8"/>
          </a:solidFill>
          <a:ln w="12700">
            <a:solidFill>
              <a:srgbClr val="DBD8E8"/>
            </a:solidFill>
            <a:prstDash val="solid"/>
          </a:ln>
        </p:spPr>
      </p:sp>
      <p:sp>
        <p:nvSpPr>
          <p:cNvPr id="25" name="Shape 23"/>
          <p:cNvSpPr/>
          <p:nvPr/>
        </p:nvSpPr>
        <p:spPr>
          <a:xfrm>
            <a:off x="9518904" y="2011680"/>
            <a:ext cx="2103120" cy="1463040"/>
          </a:xfrm>
          <a:prstGeom prst="roundRect">
            <a:avLst>
              <a:gd name="adj" fmla="val 625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26" name="Shape 24"/>
          <p:cNvSpPr/>
          <p:nvPr/>
        </p:nvSpPr>
        <p:spPr>
          <a:xfrm>
            <a:off x="9720072" y="2212848"/>
            <a:ext cx="274320" cy="274320"/>
          </a:xfrm>
          <a:prstGeom prst="ellipse">
            <a:avLst/>
          </a:prstGeom>
          <a:solidFill>
            <a:srgbClr val="B23A6B"/>
          </a:solidFill>
          <a:ln w="12700">
            <a:solidFill>
              <a:srgbClr val="B23A6B"/>
            </a:solidFill>
            <a:prstDash val="solid"/>
          </a:ln>
        </p:spPr>
      </p:sp>
      <p:sp>
        <p:nvSpPr>
          <p:cNvPr id="27" name="Text 25"/>
          <p:cNvSpPr/>
          <p:nvPr/>
        </p:nvSpPr>
        <p:spPr>
          <a:xfrm>
            <a:off x="10067544" y="2231136"/>
            <a:ext cx="1417320" cy="256032"/>
          </a:xfrm>
          <a:prstGeom prst="rect">
            <a:avLst/>
          </a:prstGeom>
          <a:noFill/>
          <a:ln/>
        </p:spPr>
        <p:txBody>
          <a:bodyPr wrap="square" lIns="0" tIns="0" rIns="0" bIns="0" rtlCol="0" anchor="ctr"/>
          <a:lstStyle/>
          <a:p>
            <a:pPr indent="0" marL="0">
              <a:buNone/>
            </a:pPr>
            <a:r>
              <a:rPr lang="en-US" sz="1350" b="1" dirty="0">
                <a:solidFill>
                  <a:srgbClr val="1A1633"/>
                </a:solidFill>
                <a:latin typeface="Calibri" pitchFamily="34" charset="0"/>
                <a:ea typeface="Calibri" pitchFamily="34" charset="-122"/>
                <a:cs typeface="Calibri" pitchFamily="34" charset="-120"/>
              </a:rPr>
              <a:t>Physical</a:t>
            </a:r>
            <a:endParaRPr lang="en-US" sz="1350" dirty="0"/>
          </a:p>
        </p:txBody>
      </p:sp>
      <p:sp>
        <p:nvSpPr>
          <p:cNvPr id="28" name="Text 26"/>
          <p:cNvSpPr/>
          <p:nvPr/>
        </p:nvSpPr>
        <p:spPr>
          <a:xfrm>
            <a:off x="9720072" y="2615184"/>
            <a:ext cx="1700784" cy="749808"/>
          </a:xfrm>
          <a:prstGeom prst="rect">
            <a:avLst/>
          </a:prstGeom>
          <a:noFill/>
          <a:ln/>
        </p:spPr>
        <p:txBody>
          <a:bodyPr wrap="square" lIns="0" tIns="0" rIns="0" bIns="0" rtlCol="0" anchor="t"/>
          <a:lstStyle/>
          <a:p>
            <a:pPr indent="0" marL="0">
              <a:lnSpc>
                <a:spcPts val="1500"/>
              </a:lnSpc>
              <a:buNone/>
            </a:pPr>
            <a:r>
              <a:rPr lang="en-US" sz="1100" dirty="0">
                <a:solidFill>
                  <a:srgbClr val="6B6785"/>
                </a:solidFill>
                <a:latin typeface="Calibri" pitchFamily="34" charset="0"/>
                <a:ea typeface="Calibri" pitchFamily="34" charset="-122"/>
                <a:cs typeface="Calibri" pitchFamily="34" charset="-120"/>
              </a:rPr>
              <a:t>Fatigue, disturbed sleep, appetite change</a:t>
            </a:r>
            <a:endParaRPr lang="en-US" sz="1100" dirty="0"/>
          </a:p>
        </p:txBody>
      </p:sp>
      <p:sp>
        <p:nvSpPr>
          <p:cNvPr id="29" name="Shape 27"/>
          <p:cNvSpPr/>
          <p:nvPr/>
        </p:nvSpPr>
        <p:spPr>
          <a:xfrm>
            <a:off x="10556748" y="3474720"/>
            <a:ext cx="27432" cy="384048"/>
          </a:xfrm>
          <a:prstGeom prst="rect">
            <a:avLst/>
          </a:prstGeom>
          <a:solidFill>
            <a:srgbClr val="DBD8E8"/>
          </a:solidFill>
          <a:ln w="12700">
            <a:solidFill>
              <a:srgbClr val="DBD8E8"/>
            </a:solidFill>
            <a:prstDash val="solid"/>
          </a:ln>
        </p:spPr>
      </p:sp>
      <p:sp>
        <p:nvSpPr>
          <p:cNvPr id="30" name="Shape 28"/>
          <p:cNvSpPr/>
          <p:nvPr/>
        </p:nvSpPr>
        <p:spPr>
          <a:xfrm>
            <a:off x="566928" y="3858768"/>
            <a:ext cx="11055096" cy="713232"/>
          </a:xfrm>
          <a:prstGeom prst="roundRect">
            <a:avLst>
              <a:gd name="adj" fmla="val 12821"/>
            </a:avLst>
          </a:prstGeom>
          <a:solidFill>
            <a:srgbClr val="2A2356"/>
          </a:solidFill>
          <a:ln w="9525">
            <a:solidFill>
              <a:srgbClr val="2A2356"/>
            </a:solidFill>
            <a:prstDash val="solid"/>
          </a:ln>
        </p:spPr>
      </p:sp>
      <p:sp>
        <p:nvSpPr>
          <p:cNvPr id="31" name="Text 29"/>
          <p:cNvSpPr/>
          <p:nvPr/>
        </p:nvSpPr>
        <p:spPr>
          <a:xfrm>
            <a:off x="566928" y="3858768"/>
            <a:ext cx="11055096"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observed answers      ·      DEPRESSION  —  the latent variable      ·      inferred, never measured  ↑</a:t>
            </a:r>
            <a:endParaRPr lang="en-US" sz="1400" dirty="0"/>
          </a:p>
        </p:txBody>
      </p:sp>
      <p:sp>
        <p:nvSpPr>
          <p:cNvPr id="32" name="Shape 30"/>
          <p:cNvSpPr/>
          <p:nvPr/>
        </p:nvSpPr>
        <p:spPr>
          <a:xfrm>
            <a:off x="566928" y="4791456"/>
            <a:ext cx="11055096" cy="1417320"/>
          </a:xfrm>
          <a:prstGeom prst="roundRect">
            <a:avLst>
              <a:gd name="adj" fmla="val 6452"/>
            </a:avLst>
          </a:prstGeom>
          <a:solidFill>
            <a:srgbClr val="F5F4FA"/>
          </a:solidFill>
          <a:ln w="12700">
            <a:solidFill>
              <a:srgbClr val="DBD8E8"/>
            </a:solidFill>
            <a:prstDash val="solid"/>
          </a:ln>
        </p:spPr>
      </p:sp>
      <p:sp>
        <p:nvSpPr>
          <p:cNvPr id="33" name="Text 31"/>
          <p:cNvSpPr/>
          <p:nvPr/>
        </p:nvSpPr>
        <p:spPr>
          <a:xfrm>
            <a:off x="886968" y="4937760"/>
            <a:ext cx="548640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Two different ways to model the same construct</a:t>
            </a:r>
            <a:endParaRPr lang="en-US" sz="1250" dirty="0"/>
          </a:p>
        </p:txBody>
      </p:sp>
      <p:sp>
        <p:nvSpPr>
          <p:cNvPr id="34" name="Text 32"/>
          <p:cNvSpPr/>
          <p:nvPr/>
        </p:nvSpPr>
        <p:spPr>
          <a:xfrm>
            <a:off x="886968" y="5230368"/>
            <a:ext cx="10415016" cy="932688"/>
          </a:xfrm>
          <a:prstGeom prst="rect">
            <a:avLst/>
          </a:prstGeom>
          <a:noFill/>
          <a:ln/>
        </p:spPr>
        <p:txBody>
          <a:bodyPr wrap="square" lIns="0" tIns="0" rIns="0" bIns="0" rtlCol="0" anchor="t"/>
          <a:lstStyle/>
          <a:p>
            <a:pPr indent="0" marL="0">
              <a:lnSpc>
                <a:spcPts val="1800"/>
              </a:lnSpc>
              <a:buNone/>
            </a:pPr>
            <a:r>
              <a:rPr lang="en-US" sz="1250" b="1" dirty="0">
                <a:solidFill>
                  <a:srgbClr val="1F8F82"/>
                </a:solidFill>
                <a:latin typeface="Calibri" pitchFamily="34" charset="0"/>
                <a:ea typeface="Calibri" pitchFamily="34" charset="-122"/>
                <a:cs typeface="Calibri" pitchFamily="34" charset="-120"/>
              </a:rPr>
              <a:t>As a dimension:  </a:t>
            </a:r>
            <a:pPr indent="0" marL="0">
              <a:lnSpc>
                <a:spcPts val="1800"/>
              </a:lnSpc>
              <a:buNone/>
            </a:pPr>
            <a:r>
              <a:rPr lang="en-US" sz="1250" dirty="0">
                <a:solidFill>
                  <a:srgbClr val="6B6785"/>
                </a:solidFill>
                <a:latin typeface="Calibri" pitchFamily="34" charset="0"/>
                <a:ea typeface="Calibri" pitchFamily="34" charset="-122"/>
                <a:cs typeface="Calibri" pitchFamily="34" charset="-120"/>
              </a:rPr>
              <a:t>everyone sits somewhere on a line from “not depressed” to “severely depressed”. That is factor analysis / IRT.</a:t>
            </a:r>
            <a:pPr indent="0" marL="0">
              <a:lnSpc>
                <a:spcPts val="1800"/>
              </a:lnSpc>
              <a:buNone/>
            </a:pPr>
            <a:endParaRPr lang="en-US" sz="1250" dirty="0"/>
          </a:p>
          <a:p>
            <a:pPr indent="0" marL="0">
              <a:lnSpc>
                <a:spcPts val="1800"/>
              </a:lnSpc>
              <a:buNone/>
            </a:pPr>
            <a:r>
              <a:rPr lang="en-US" sz="1250" b="1" dirty="0">
                <a:solidFill>
                  <a:srgbClr val="D9553C"/>
                </a:solidFill>
                <a:latin typeface="Calibri" pitchFamily="34" charset="0"/>
                <a:ea typeface="Calibri" pitchFamily="34" charset="-122"/>
                <a:cs typeface="Calibri" pitchFamily="34" charset="-120"/>
              </a:rPr>
              <a:t>As categories:  </a:t>
            </a:r>
            <a:endParaRPr lang="en-US" sz="1250" dirty="0"/>
          </a:p>
          <a:p>
            <a:pPr indent="0" marL="0">
              <a:lnSpc>
                <a:spcPts val="1800"/>
              </a:lnSpc>
              <a:buNone/>
            </a:pPr>
            <a:r>
              <a:rPr lang="en-US" sz="1250" dirty="0">
                <a:solidFill>
                  <a:srgbClr val="6B6785"/>
                </a:solidFill>
                <a:latin typeface="Calibri" pitchFamily="34" charset="0"/>
                <a:ea typeface="Calibri" pitchFamily="34" charset="-122"/>
                <a:cs typeface="Calibri" pitchFamily="34" charset="-120"/>
              </a:rPr>
              <a:t>people fall into distinct types — atypical, melancholic, seasonal, comorbid-with-anxiety. That is LCA / LPA, and it is the road we take from here.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CONCEPT 3 OF 3 · LATENT CLASSES</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Sometimes “more or less” is the wrong question</a:t>
            </a:r>
            <a:endParaRPr lang="en-US" sz="2900" dirty="0"/>
          </a:p>
        </p:txBody>
      </p:sp>
      <p:sp>
        <p:nvSpPr>
          <p:cNvPr id="4" name="Text 2"/>
          <p:cNvSpPr/>
          <p:nvPr/>
        </p:nvSpPr>
        <p:spPr>
          <a:xfrm>
            <a:off x="566928" y="1371600"/>
            <a:ext cx="11055096" cy="365760"/>
          </a:xfrm>
          <a:prstGeom prst="rect">
            <a:avLst/>
          </a:prstGeom>
          <a:noFill/>
          <a:ln/>
        </p:spPr>
        <p:txBody>
          <a:bodyPr wrap="square" lIns="0" tIns="0" rIns="0" bIns="0" rtlCol="0" anchor="t"/>
          <a:lstStyle/>
          <a:p>
            <a:pPr algn="l" indent="0" marL="0">
              <a:lnSpc>
                <a:spcPts val="1900"/>
              </a:lnSpc>
              <a:buNone/>
            </a:pPr>
            <a:r>
              <a:rPr lang="en-US" sz="1350" dirty="0">
                <a:solidFill>
                  <a:srgbClr val="6B6785"/>
                </a:solidFill>
                <a:latin typeface="Calibri" pitchFamily="34" charset="0"/>
                <a:ea typeface="Calibri" pitchFamily="34" charset="-122"/>
                <a:cs typeface="Calibri" pitchFamily="34" charset="-120"/>
              </a:rPr>
              <a:t>A latent variable does not have to be continuous. Sometimes people are better described by which type they are than by how much of something they have.</a:t>
            </a:r>
            <a:endParaRPr lang="en-US" sz="1350" dirty="0"/>
          </a:p>
        </p:txBody>
      </p:sp>
      <p:sp>
        <p:nvSpPr>
          <p:cNvPr id="5" name="Shape 3"/>
          <p:cNvSpPr/>
          <p:nvPr/>
        </p:nvSpPr>
        <p:spPr>
          <a:xfrm>
            <a:off x="566928" y="1965960"/>
            <a:ext cx="5486400" cy="2148840"/>
          </a:xfrm>
          <a:prstGeom prst="roundRect">
            <a:avLst>
              <a:gd name="adj" fmla="val 4255"/>
            </a:avLst>
          </a:prstGeom>
          <a:solidFill>
            <a:srgbClr val="F5F4FA"/>
          </a:solidFill>
          <a:ln w="12700">
            <a:solidFill>
              <a:srgbClr val="DBD8E8"/>
            </a:solidFill>
            <a:prstDash val="solid"/>
          </a:ln>
        </p:spPr>
      </p:sp>
      <p:sp>
        <p:nvSpPr>
          <p:cNvPr id="6" name="Text 4"/>
          <p:cNvSpPr/>
          <p:nvPr/>
        </p:nvSpPr>
        <p:spPr>
          <a:xfrm>
            <a:off x="841248" y="2139696"/>
            <a:ext cx="4937760" cy="256032"/>
          </a:xfrm>
          <a:prstGeom prst="rect">
            <a:avLst/>
          </a:prstGeom>
          <a:noFill/>
          <a:ln/>
        </p:spPr>
        <p:txBody>
          <a:bodyPr wrap="square" lIns="0" tIns="0" rIns="0" bIns="0" rtlCol="0" anchor="ctr"/>
          <a:lstStyle/>
          <a:p>
            <a:pPr indent="0" marL="0">
              <a:buNone/>
            </a:pPr>
            <a:r>
              <a:rPr lang="en-US" sz="1100" b="1" spc="150" kern="0" dirty="0">
                <a:solidFill>
                  <a:srgbClr val="1F8F82"/>
                </a:solidFill>
                <a:latin typeface="Calibri" pitchFamily="34" charset="0"/>
                <a:ea typeface="Calibri" pitchFamily="34" charset="-122"/>
                <a:cs typeface="Calibri" pitchFamily="34" charset="-120"/>
              </a:rPr>
              <a:t>A DIMENSION — how much?</a:t>
            </a:r>
            <a:endParaRPr lang="en-US" sz="1100" dirty="0"/>
          </a:p>
        </p:txBody>
      </p:sp>
      <p:sp>
        <p:nvSpPr>
          <p:cNvPr id="7" name="Shape 5"/>
          <p:cNvSpPr/>
          <p:nvPr/>
        </p:nvSpPr>
        <p:spPr>
          <a:xfrm>
            <a:off x="1069848" y="3017520"/>
            <a:ext cx="4572000" cy="50292"/>
          </a:xfrm>
          <a:prstGeom prst="rect">
            <a:avLst/>
          </a:prstGeom>
          <a:solidFill>
            <a:srgbClr val="B9B4CE"/>
          </a:solidFill>
          <a:ln w="12700">
            <a:solidFill>
              <a:srgbClr val="B9B4CE"/>
            </a:solidFill>
            <a:prstDash val="solid"/>
          </a:ln>
        </p:spPr>
      </p:sp>
      <p:sp>
        <p:nvSpPr>
          <p:cNvPr id="8" name="Shape 6"/>
          <p:cNvSpPr/>
          <p:nvPr/>
        </p:nvSpPr>
        <p:spPr>
          <a:xfrm>
            <a:off x="3182112" y="3091149"/>
            <a:ext cx="105156" cy="105156"/>
          </a:xfrm>
          <a:prstGeom prst="ellipse">
            <a:avLst/>
          </a:prstGeom>
          <a:solidFill>
            <a:srgbClr val="1F8F82">
              <a:alpha val="75000"/>
            </a:srgbClr>
          </a:solidFill>
          <a:ln w="12700">
            <a:solidFill>
              <a:srgbClr val="1F8F82"/>
            </a:solidFill>
            <a:prstDash val="solid"/>
          </a:ln>
        </p:spPr>
      </p:sp>
      <p:sp>
        <p:nvSpPr>
          <p:cNvPr id="9" name="Shape 7"/>
          <p:cNvSpPr/>
          <p:nvPr/>
        </p:nvSpPr>
        <p:spPr>
          <a:xfrm>
            <a:off x="3639546" y="3152040"/>
            <a:ext cx="105156" cy="105156"/>
          </a:xfrm>
          <a:prstGeom prst="ellipse">
            <a:avLst/>
          </a:prstGeom>
          <a:solidFill>
            <a:srgbClr val="1F8F82">
              <a:alpha val="75000"/>
            </a:srgbClr>
          </a:solidFill>
          <a:ln w="12700">
            <a:solidFill>
              <a:srgbClr val="1F8F82"/>
            </a:solidFill>
            <a:prstDash val="solid"/>
          </a:ln>
        </p:spPr>
      </p:sp>
      <p:sp>
        <p:nvSpPr>
          <p:cNvPr id="10" name="Shape 8"/>
          <p:cNvSpPr/>
          <p:nvPr/>
        </p:nvSpPr>
        <p:spPr>
          <a:xfrm>
            <a:off x="4239044" y="3213272"/>
            <a:ext cx="105156" cy="105156"/>
          </a:xfrm>
          <a:prstGeom prst="ellipse">
            <a:avLst/>
          </a:prstGeom>
          <a:solidFill>
            <a:srgbClr val="1F8F82">
              <a:alpha val="75000"/>
            </a:srgbClr>
          </a:solidFill>
          <a:ln w="12700">
            <a:solidFill>
              <a:srgbClr val="1F8F82"/>
            </a:solidFill>
            <a:prstDash val="solid"/>
          </a:ln>
        </p:spPr>
      </p:sp>
      <p:sp>
        <p:nvSpPr>
          <p:cNvPr id="11" name="Shape 9"/>
          <p:cNvSpPr/>
          <p:nvPr/>
        </p:nvSpPr>
        <p:spPr>
          <a:xfrm>
            <a:off x="2643440" y="3177113"/>
            <a:ext cx="105156" cy="105156"/>
          </a:xfrm>
          <a:prstGeom prst="ellipse">
            <a:avLst/>
          </a:prstGeom>
          <a:solidFill>
            <a:srgbClr val="1F8F82">
              <a:alpha val="75000"/>
            </a:srgbClr>
          </a:solidFill>
          <a:ln w="12700">
            <a:solidFill>
              <a:srgbClr val="1F8F82"/>
            </a:solidFill>
            <a:prstDash val="solid"/>
          </a:ln>
        </p:spPr>
      </p:sp>
      <p:sp>
        <p:nvSpPr>
          <p:cNvPr id="12" name="Shape 10"/>
          <p:cNvSpPr/>
          <p:nvPr/>
        </p:nvSpPr>
        <p:spPr>
          <a:xfrm>
            <a:off x="3553328" y="2982806"/>
            <a:ext cx="105156" cy="105156"/>
          </a:xfrm>
          <a:prstGeom prst="ellipse">
            <a:avLst/>
          </a:prstGeom>
          <a:solidFill>
            <a:srgbClr val="1F8F82">
              <a:alpha val="75000"/>
            </a:srgbClr>
          </a:solidFill>
          <a:ln w="12700">
            <a:solidFill>
              <a:srgbClr val="1F8F82"/>
            </a:solidFill>
            <a:prstDash val="solid"/>
          </a:ln>
        </p:spPr>
      </p:sp>
      <p:sp>
        <p:nvSpPr>
          <p:cNvPr id="13" name="Shape 11"/>
          <p:cNvSpPr/>
          <p:nvPr/>
        </p:nvSpPr>
        <p:spPr>
          <a:xfrm>
            <a:off x="3576721" y="3071254"/>
            <a:ext cx="105156" cy="105156"/>
          </a:xfrm>
          <a:prstGeom prst="ellipse">
            <a:avLst/>
          </a:prstGeom>
          <a:solidFill>
            <a:srgbClr val="1F8F82">
              <a:alpha val="75000"/>
            </a:srgbClr>
          </a:solidFill>
          <a:ln w="12700">
            <a:solidFill>
              <a:srgbClr val="1F8F82"/>
            </a:solidFill>
            <a:prstDash val="solid"/>
          </a:ln>
        </p:spPr>
      </p:sp>
      <p:sp>
        <p:nvSpPr>
          <p:cNvPr id="14" name="Shape 12"/>
          <p:cNvSpPr/>
          <p:nvPr/>
        </p:nvSpPr>
        <p:spPr>
          <a:xfrm>
            <a:off x="3003238" y="2820416"/>
            <a:ext cx="105156" cy="105156"/>
          </a:xfrm>
          <a:prstGeom prst="ellipse">
            <a:avLst/>
          </a:prstGeom>
          <a:solidFill>
            <a:srgbClr val="1F8F82">
              <a:alpha val="75000"/>
            </a:srgbClr>
          </a:solidFill>
          <a:ln w="12700">
            <a:solidFill>
              <a:srgbClr val="1F8F82"/>
            </a:solidFill>
            <a:prstDash val="solid"/>
          </a:ln>
        </p:spPr>
      </p:sp>
      <p:sp>
        <p:nvSpPr>
          <p:cNvPr id="15" name="Shape 13"/>
          <p:cNvSpPr/>
          <p:nvPr/>
        </p:nvSpPr>
        <p:spPr>
          <a:xfrm>
            <a:off x="4865111" y="2927023"/>
            <a:ext cx="105156" cy="105156"/>
          </a:xfrm>
          <a:prstGeom prst="ellipse">
            <a:avLst/>
          </a:prstGeom>
          <a:solidFill>
            <a:srgbClr val="1F8F82">
              <a:alpha val="75000"/>
            </a:srgbClr>
          </a:solidFill>
          <a:ln w="12700">
            <a:solidFill>
              <a:srgbClr val="1F8F82"/>
            </a:solidFill>
            <a:prstDash val="solid"/>
          </a:ln>
        </p:spPr>
      </p:sp>
      <p:sp>
        <p:nvSpPr>
          <p:cNvPr id="16" name="Shape 14"/>
          <p:cNvSpPr/>
          <p:nvPr/>
        </p:nvSpPr>
        <p:spPr>
          <a:xfrm>
            <a:off x="3030919" y="3132714"/>
            <a:ext cx="105156" cy="105156"/>
          </a:xfrm>
          <a:prstGeom prst="ellipse">
            <a:avLst/>
          </a:prstGeom>
          <a:solidFill>
            <a:srgbClr val="1F8F82">
              <a:alpha val="75000"/>
            </a:srgbClr>
          </a:solidFill>
          <a:ln w="12700">
            <a:solidFill>
              <a:srgbClr val="1F8F82"/>
            </a:solidFill>
            <a:prstDash val="solid"/>
          </a:ln>
        </p:spPr>
      </p:sp>
      <p:sp>
        <p:nvSpPr>
          <p:cNvPr id="17" name="Shape 15"/>
          <p:cNvSpPr/>
          <p:nvPr/>
        </p:nvSpPr>
        <p:spPr>
          <a:xfrm>
            <a:off x="2828280" y="3220557"/>
            <a:ext cx="105156" cy="105156"/>
          </a:xfrm>
          <a:prstGeom prst="ellipse">
            <a:avLst/>
          </a:prstGeom>
          <a:solidFill>
            <a:srgbClr val="1F8F82">
              <a:alpha val="75000"/>
            </a:srgbClr>
          </a:solidFill>
          <a:ln w="12700">
            <a:solidFill>
              <a:srgbClr val="1F8F82"/>
            </a:solidFill>
            <a:prstDash val="solid"/>
          </a:ln>
        </p:spPr>
      </p:sp>
      <p:sp>
        <p:nvSpPr>
          <p:cNvPr id="18" name="Shape 16"/>
          <p:cNvSpPr/>
          <p:nvPr/>
        </p:nvSpPr>
        <p:spPr>
          <a:xfrm>
            <a:off x="3297652" y="2895052"/>
            <a:ext cx="105156" cy="105156"/>
          </a:xfrm>
          <a:prstGeom prst="ellipse">
            <a:avLst/>
          </a:prstGeom>
          <a:solidFill>
            <a:srgbClr val="1F8F82">
              <a:alpha val="75000"/>
            </a:srgbClr>
          </a:solidFill>
          <a:ln w="12700">
            <a:solidFill>
              <a:srgbClr val="1F8F82"/>
            </a:solidFill>
            <a:prstDash val="solid"/>
          </a:ln>
        </p:spPr>
      </p:sp>
      <p:sp>
        <p:nvSpPr>
          <p:cNvPr id="19" name="Shape 17"/>
          <p:cNvSpPr/>
          <p:nvPr/>
        </p:nvSpPr>
        <p:spPr>
          <a:xfrm>
            <a:off x="2527532" y="2832821"/>
            <a:ext cx="105156" cy="105156"/>
          </a:xfrm>
          <a:prstGeom prst="ellipse">
            <a:avLst/>
          </a:prstGeom>
          <a:solidFill>
            <a:srgbClr val="1F8F82">
              <a:alpha val="75000"/>
            </a:srgbClr>
          </a:solidFill>
          <a:ln w="12700">
            <a:solidFill>
              <a:srgbClr val="1F8F82"/>
            </a:solidFill>
            <a:prstDash val="solid"/>
          </a:ln>
        </p:spPr>
      </p:sp>
      <p:sp>
        <p:nvSpPr>
          <p:cNvPr id="20" name="Shape 18"/>
          <p:cNvSpPr/>
          <p:nvPr/>
        </p:nvSpPr>
        <p:spPr>
          <a:xfrm>
            <a:off x="3702001" y="2782974"/>
            <a:ext cx="105156" cy="105156"/>
          </a:xfrm>
          <a:prstGeom prst="ellipse">
            <a:avLst/>
          </a:prstGeom>
          <a:solidFill>
            <a:srgbClr val="1F8F82">
              <a:alpha val="75000"/>
            </a:srgbClr>
          </a:solidFill>
          <a:ln w="12700">
            <a:solidFill>
              <a:srgbClr val="1F8F82"/>
            </a:solidFill>
            <a:prstDash val="solid"/>
          </a:ln>
        </p:spPr>
      </p:sp>
      <p:sp>
        <p:nvSpPr>
          <p:cNvPr id="21" name="Shape 19"/>
          <p:cNvSpPr/>
          <p:nvPr/>
        </p:nvSpPr>
        <p:spPr>
          <a:xfrm>
            <a:off x="3969994" y="3139027"/>
            <a:ext cx="105156" cy="105156"/>
          </a:xfrm>
          <a:prstGeom prst="ellipse">
            <a:avLst/>
          </a:prstGeom>
          <a:solidFill>
            <a:srgbClr val="1F8F82">
              <a:alpha val="75000"/>
            </a:srgbClr>
          </a:solidFill>
          <a:ln w="12700">
            <a:solidFill>
              <a:srgbClr val="1F8F82"/>
            </a:solidFill>
            <a:prstDash val="solid"/>
          </a:ln>
        </p:spPr>
      </p:sp>
      <p:sp>
        <p:nvSpPr>
          <p:cNvPr id="22" name="Shape 20"/>
          <p:cNvSpPr/>
          <p:nvPr/>
        </p:nvSpPr>
        <p:spPr>
          <a:xfrm>
            <a:off x="3106972" y="3158736"/>
            <a:ext cx="105156" cy="105156"/>
          </a:xfrm>
          <a:prstGeom prst="ellipse">
            <a:avLst/>
          </a:prstGeom>
          <a:solidFill>
            <a:srgbClr val="1F8F82">
              <a:alpha val="75000"/>
            </a:srgbClr>
          </a:solidFill>
          <a:ln w="12700">
            <a:solidFill>
              <a:srgbClr val="1F8F82"/>
            </a:solidFill>
            <a:prstDash val="solid"/>
          </a:ln>
        </p:spPr>
      </p:sp>
      <p:sp>
        <p:nvSpPr>
          <p:cNvPr id="23" name="Shape 21"/>
          <p:cNvSpPr/>
          <p:nvPr/>
        </p:nvSpPr>
        <p:spPr>
          <a:xfrm>
            <a:off x="2812472" y="2920704"/>
            <a:ext cx="105156" cy="105156"/>
          </a:xfrm>
          <a:prstGeom prst="ellipse">
            <a:avLst/>
          </a:prstGeom>
          <a:solidFill>
            <a:srgbClr val="1F8F82">
              <a:alpha val="75000"/>
            </a:srgbClr>
          </a:solidFill>
          <a:ln w="12700">
            <a:solidFill>
              <a:srgbClr val="1F8F82"/>
            </a:solidFill>
            <a:prstDash val="solid"/>
          </a:ln>
        </p:spPr>
      </p:sp>
      <p:sp>
        <p:nvSpPr>
          <p:cNvPr id="24" name="Shape 22"/>
          <p:cNvSpPr/>
          <p:nvPr/>
        </p:nvSpPr>
        <p:spPr>
          <a:xfrm>
            <a:off x="2767836" y="2924756"/>
            <a:ext cx="105156" cy="105156"/>
          </a:xfrm>
          <a:prstGeom prst="ellipse">
            <a:avLst/>
          </a:prstGeom>
          <a:solidFill>
            <a:srgbClr val="1F8F82">
              <a:alpha val="75000"/>
            </a:srgbClr>
          </a:solidFill>
          <a:ln w="12700">
            <a:solidFill>
              <a:srgbClr val="1F8F82"/>
            </a:solidFill>
            <a:prstDash val="solid"/>
          </a:ln>
        </p:spPr>
      </p:sp>
      <p:sp>
        <p:nvSpPr>
          <p:cNvPr id="25" name="Shape 23"/>
          <p:cNvSpPr/>
          <p:nvPr/>
        </p:nvSpPr>
        <p:spPr>
          <a:xfrm>
            <a:off x="3163752" y="3012228"/>
            <a:ext cx="105156" cy="105156"/>
          </a:xfrm>
          <a:prstGeom prst="ellipse">
            <a:avLst/>
          </a:prstGeom>
          <a:solidFill>
            <a:srgbClr val="1F8F82">
              <a:alpha val="75000"/>
            </a:srgbClr>
          </a:solidFill>
          <a:ln w="12700">
            <a:solidFill>
              <a:srgbClr val="1F8F82"/>
            </a:solidFill>
            <a:prstDash val="solid"/>
          </a:ln>
        </p:spPr>
      </p:sp>
      <p:sp>
        <p:nvSpPr>
          <p:cNvPr id="26" name="Shape 24"/>
          <p:cNvSpPr/>
          <p:nvPr/>
        </p:nvSpPr>
        <p:spPr>
          <a:xfrm>
            <a:off x="2087688" y="3176710"/>
            <a:ext cx="105156" cy="105156"/>
          </a:xfrm>
          <a:prstGeom prst="ellipse">
            <a:avLst/>
          </a:prstGeom>
          <a:solidFill>
            <a:srgbClr val="1F8F82">
              <a:alpha val="75000"/>
            </a:srgbClr>
          </a:solidFill>
          <a:ln w="12700">
            <a:solidFill>
              <a:srgbClr val="1F8F82"/>
            </a:solidFill>
            <a:prstDash val="solid"/>
          </a:ln>
        </p:spPr>
      </p:sp>
      <p:sp>
        <p:nvSpPr>
          <p:cNvPr id="27" name="Shape 25"/>
          <p:cNvSpPr/>
          <p:nvPr/>
        </p:nvSpPr>
        <p:spPr>
          <a:xfrm>
            <a:off x="2569659" y="2835066"/>
            <a:ext cx="105156" cy="105156"/>
          </a:xfrm>
          <a:prstGeom prst="ellipse">
            <a:avLst/>
          </a:prstGeom>
          <a:solidFill>
            <a:srgbClr val="1F8F82">
              <a:alpha val="75000"/>
            </a:srgbClr>
          </a:solidFill>
          <a:ln w="12700">
            <a:solidFill>
              <a:srgbClr val="1F8F82"/>
            </a:solidFill>
            <a:prstDash val="solid"/>
          </a:ln>
        </p:spPr>
      </p:sp>
      <p:sp>
        <p:nvSpPr>
          <p:cNvPr id="28" name="Shape 26"/>
          <p:cNvSpPr/>
          <p:nvPr/>
        </p:nvSpPr>
        <p:spPr>
          <a:xfrm>
            <a:off x="3934569" y="3204325"/>
            <a:ext cx="105156" cy="105156"/>
          </a:xfrm>
          <a:prstGeom prst="ellipse">
            <a:avLst/>
          </a:prstGeom>
          <a:solidFill>
            <a:srgbClr val="1F8F82">
              <a:alpha val="75000"/>
            </a:srgbClr>
          </a:solidFill>
          <a:ln w="12700">
            <a:solidFill>
              <a:srgbClr val="1F8F82"/>
            </a:solidFill>
            <a:prstDash val="solid"/>
          </a:ln>
        </p:spPr>
      </p:sp>
      <p:sp>
        <p:nvSpPr>
          <p:cNvPr id="29" name="Shape 27"/>
          <p:cNvSpPr/>
          <p:nvPr/>
        </p:nvSpPr>
        <p:spPr>
          <a:xfrm>
            <a:off x="3464501" y="3209633"/>
            <a:ext cx="105156" cy="105156"/>
          </a:xfrm>
          <a:prstGeom prst="ellipse">
            <a:avLst/>
          </a:prstGeom>
          <a:solidFill>
            <a:srgbClr val="1F8F82">
              <a:alpha val="75000"/>
            </a:srgbClr>
          </a:solidFill>
          <a:ln w="12700">
            <a:solidFill>
              <a:srgbClr val="1F8F82"/>
            </a:solidFill>
            <a:prstDash val="solid"/>
          </a:ln>
        </p:spPr>
      </p:sp>
      <p:sp>
        <p:nvSpPr>
          <p:cNvPr id="30" name="Shape 28"/>
          <p:cNvSpPr/>
          <p:nvPr/>
        </p:nvSpPr>
        <p:spPr>
          <a:xfrm>
            <a:off x="4070187" y="3156143"/>
            <a:ext cx="105156" cy="105156"/>
          </a:xfrm>
          <a:prstGeom prst="ellipse">
            <a:avLst/>
          </a:prstGeom>
          <a:solidFill>
            <a:srgbClr val="1F8F82">
              <a:alpha val="75000"/>
            </a:srgbClr>
          </a:solidFill>
          <a:ln w="12700">
            <a:solidFill>
              <a:srgbClr val="1F8F82"/>
            </a:solidFill>
            <a:prstDash val="solid"/>
          </a:ln>
        </p:spPr>
      </p:sp>
      <p:sp>
        <p:nvSpPr>
          <p:cNvPr id="31" name="Shape 29"/>
          <p:cNvSpPr/>
          <p:nvPr/>
        </p:nvSpPr>
        <p:spPr>
          <a:xfrm>
            <a:off x="3111392" y="2943325"/>
            <a:ext cx="105156" cy="105156"/>
          </a:xfrm>
          <a:prstGeom prst="ellipse">
            <a:avLst/>
          </a:prstGeom>
          <a:solidFill>
            <a:srgbClr val="1F8F82">
              <a:alpha val="75000"/>
            </a:srgbClr>
          </a:solidFill>
          <a:ln w="12700">
            <a:solidFill>
              <a:srgbClr val="1F8F82"/>
            </a:solidFill>
            <a:prstDash val="solid"/>
          </a:ln>
        </p:spPr>
      </p:sp>
      <p:sp>
        <p:nvSpPr>
          <p:cNvPr id="32" name="Shape 30"/>
          <p:cNvSpPr/>
          <p:nvPr/>
        </p:nvSpPr>
        <p:spPr>
          <a:xfrm>
            <a:off x="3168678" y="2820557"/>
            <a:ext cx="105156" cy="105156"/>
          </a:xfrm>
          <a:prstGeom prst="ellipse">
            <a:avLst/>
          </a:prstGeom>
          <a:solidFill>
            <a:srgbClr val="1F8F82">
              <a:alpha val="75000"/>
            </a:srgbClr>
          </a:solidFill>
          <a:ln w="12700">
            <a:solidFill>
              <a:srgbClr val="1F8F82"/>
            </a:solidFill>
            <a:prstDash val="solid"/>
          </a:ln>
        </p:spPr>
      </p:sp>
      <p:sp>
        <p:nvSpPr>
          <p:cNvPr id="33" name="Shape 31"/>
          <p:cNvSpPr/>
          <p:nvPr/>
        </p:nvSpPr>
        <p:spPr>
          <a:xfrm>
            <a:off x="4067674" y="2832964"/>
            <a:ext cx="105156" cy="105156"/>
          </a:xfrm>
          <a:prstGeom prst="ellipse">
            <a:avLst/>
          </a:prstGeom>
          <a:solidFill>
            <a:srgbClr val="1F8F82">
              <a:alpha val="75000"/>
            </a:srgbClr>
          </a:solidFill>
          <a:ln w="12700">
            <a:solidFill>
              <a:srgbClr val="1F8F82"/>
            </a:solidFill>
            <a:prstDash val="solid"/>
          </a:ln>
        </p:spPr>
      </p:sp>
      <p:sp>
        <p:nvSpPr>
          <p:cNvPr id="34" name="Shape 32"/>
          <p:cNvSpPr/>
          <p:nvPr/>
        </p:nvSpPr>
        <p:spPr>
          <a:xfrm>
            <a:off x="3982885" y="3018086"/>
            <a:ext cx="105156" cy="105156"/>
          </a:xfrm>
          <a:prstGeom prst="ellipse">
            <a:avLst/>
          </a:prstGeom>
          <a:solidFill>
            <a:srgbClr val="1F8F82">
              <a:alpha val="75000"/>
            </a:srgbClr>
          </a:solidFill>
          <a:ln w="12700">
            <a:solidFill>
              <a:srgbClr val="1F8F82"/>
            </a:solidFill>
            <a:prstDash val="solid"/>
          </a:ln>
        </p:spPr>
      </p:sp>
      <p:sp>
        <p:nvSpPr>
          <p:cNvPr id="35" name="Shape 33"/>
          <p:cNvSpPr/>
          <p:nvPr/>
        </p:nvSpPr>
        <p:spPr>
          <a:xfrm>
            <a:off x="2908712" y="3082838"/>
            <a:ext cx="105156" cy="105156"/>
          </a:xfrm>
          <a:prstGeom prst="ellipse">
            <a:avLst/>
          </a:prstGeom>
          <a:solidFill>
            <a:srgbClr val="1F8F82">
              <a:alpha val="75000"/>
            </a:srgbClr>
          </a:solidFill>
          <a:ln w="12700">
            <a:solidFill>
              <a:srgbClr val="1F8F82"/>
            </a:solidFill>
            <a:prstDash val="solid"/>
          </a:ln>
        </p:spPr>
      </p:sp>
      <p:sp>
        <p:nvSpPr>
          <p:cNvPr id="36" name="Shape 34"/>
          <p:cNvSpPr/>
          <p:nvPr/>
        </p:nvSpPr>
        <p:spPr>
          <a:xfrm>
            <a:off x="2904833" y="2907983"/>
            <a:ext cx="105156" cy="105156"/>
          </a:xfrm>
          <a:prstGeom prst="ellipse">
            <a:avLst/>
          </a:prstGeom>
          <a:solidFill>
            <a:srgbClr val="1F8F82">
              <a:alpha val="75000"/>
            </a:srgbClr>
          </a:solidFill>
          <a:ln w="12700">
            <a:solidFill>
              <a:srgbClr val="1F8F82"/>
            </a:solidFill>
            <a:prstDash val="solid"/>
          </a:ln>
        </p:spPr>
      </p:sp>
      <p:sp>
        <p:nvSpPr>
          <p:cNvPr id="37" name="Shape 35"/>
          <p:cNvSpPr/>
          <p:nvPr/>
        </p:nvSpPr>
        <p:spPr>
          <a:xfrm>
            <a:off x="3412164" y="2824721"/>
            <a:ext cx="105156" cy="105156"/>
          </a:xfrm>
          <a:prstGeom prst="ellipse">
            <a:avLst/>
          </a:prstGeom>
          <a:solidFill>
            <a:srgbClr val="1F8F82">
              <a:alpha val="75000"/>
            </a:srgbClr>
          </a:solidFill>
          <a:ln w="12700">
            <a:solidFill>
              <a:srgbClr val="1F8F82"/>
            </a:solidFill>
            <a:prstDash val="solid"/>
          </a:ln>
        </p:spPr>
      </p:sp>
      <p:sp>
        <p:nvSpPr>
          <p:cNvPr id="38" name="Shape 36"/>
          <p:cNvSpPr/>
          <p:nvPr/>
        </p:nvSpPr>
        <p:spPr>
          <a:xfrm>
            <a:off x="3542089" y="3207763"/>
            <a:ext cx="105156" cy="105156"/>
          </a:xfrm>
          <a:prstGeom prst="ellipse">
            <a:avLst/>
          </a:prstGeom>
          <a:solidFill>
            <a:srgbClr val="1F8F82">
              <a:alpha val="75000"/>
            </a:srgbClr>
          </a:solidFill>
          <a:ln w="12700">
            <a:solidFill>
              <a:srgbClr val="1F8F82"/>
            </a:solidFill>
            <a:prstDash val="solid"/>
          </a:ln>
        </p:spPr>
      </p:sp>
      <p:sp>
        <p:nvSpPr>
          <p:cNvPr id="39" name="Shape 37"/>
          <p:cNvSpPr/>
          <p:nvPr/>
        </p:nvSpPr>
        <p:spPr>
          <a:xfrm>
            <a:off x="2941420" y="3212285"/>
            <a:ext cx="105156" cy="105156"/>
          </a:xfrm>
          <a:prstGeom prst="ellipse">
            <a:avLst/>
          </a:prstGeom>
          <a:solidFill>
            <a:srgbClr val="1F8F82">
              <a:alpha val="75000"/>
            </a:srgbClr>
          </a:solidFill>
          <a:ln w="12700">
            <a:solidFill>
              <a:srgbClr val="1F8F82"/>
            </a:solidFill>
            <a:prstDash val="solid"/>
          </a:ln>
        </p:spPr>
      </p:sp>
      <p:sp>
        <p:nvSpPr>
          <p:cNvPr id="40" name="Shape 38"/>
          <p:cNvSpPr/>
          <p:nvPr/>
        </p:nvSpPr>
        <p:spPr>
          <a:xfrm>
            <a:off x="2492501" y="3083272"/>
            <a:ext cx="105156" cy="105156"/>
          </a:xfrm>
          <a:prstGeom prst="ellipse">
            <a:avLst/>
          </a:prstGeom>
          <a:solidFill>
            <a:srgbClr val="1F8F82">
              <a:alpha val="75000"/>
            </a:srgbClr>
          </a:solidFill>
          <a:ln w="12700">
            <a:solidFill>
              <a:srgbClr val="1F8F82"/>
            </a:solidFill>
            <a:prstDash val="solid"/>
          </a:ln>
        </p:spPr>
      </p:sp>
      <p:sp>
        <p:nvSpPr>
          <p:cNvPr id="41" name="Shape 39"/>
          <p:cNvSpPr/>
          <p:nvPr/>
        </p:nvSpPr>
        <p:spPr>
          <a:xfrm>
            <a:off x="4208521" y="2784731"/>
            <a:ext cx="105156" cy="105156"/>
          </a:xfrm>
          <a:prstGeom prst="ellipse">
            <a:avLst/>
          </a:prstGeom>
          <a:solidFill>
            <a:srgbClr val="1F8F82">
              <a:alpha val="75000"/>
            </a:srgbClr>
          </a:solidFill>
          <a:ln w="12700">
            <a:solidFill>
              <a:srgbClr val="1F8F82"/>
            </a:solidFill>
            <a:prstDash val="solid"/>
          </a:ln>
        </p:spPr>
      </p:sp>
      <p:sp>
        <p:nvSpPr>
          <p:cNvPr id="42" name="Shape 40"/>
          <p:cNvSpPr/>
          <p:nvPr/>
        </p:nvSpPr>
        <p:spPr>
          <a:xfrm>
            <a:off x="3428459" y="2780896"/>
            <a:ext cx="105156" cy="105156"/>
          </a:xfrm>
          <a:prstGeom prst="ellipse">
            <a:avLst/>
          </a:prstGeom>
          <a:solidFill>
            <a:srgbClr val="1F8F82">
              <a:alpha val="75000"/>
            </a:srgbClr>
          </a:solidFill>
          <a:ln w="12700">
            <a:solidFill>
              <a:srgbClr val="1F8F82"/>
            </a:solidFill>
            <a:prstDash val="solid"/>
          </a:ln>
        </p:spPr>
      </p:sp>
      <p:sp>
        <p:nvSpPr>
          <p:cNvPr id="43" name="Shape 41"/>
          <p:cNvSpPr/>
          <p:nvPr/>
        </p:nvSpPr>
        <p:spPr>
          <a:xfrm>
            <a:off x="3292840" y="3013184"/>
            <a:ext cx="105156" cy="105156"/>
          </a:xfrm>
          <a:prstGeom prst="ellipse">
            <a:avLst/>
          </a:prstGeom>
          <a:solidFill>
            <a:srgbClr val="1F8F82">
              <a:alpha val="75000"/>
            </a:srgbClr>
          </a:solidFill>
          <a:ln w="12700">
            <a:solidFill>
              <a:srgbClr val="1F8F82"/>
            </a:solidFill>
            <a:prstDash val="solid"/>
          </a:ln>
        </p:spPr>
      </p:sp>
      <p:sp>
        <p:nvSpPr>
          <p:cNvPr id="44" name="Shape 42"/>
          <p:cNvSpPr/>
          <p:nvPr/>
        </p:nvSpPr>
        <p:spPr>
          <a:xfrm>
            <a:off x="2337094" y="3184492"/>
            <a:ext cx="105156" cy="105156"/>
          </a:xfrm>
          <a:prstGeom prst="ellipse">
            <a:avLst/>
          </a:prstGeom>
          <a:solidFill>
            <a:srgbClr val="1F8F82">
              <a:alpha val="75000"/>
            </a:srgbClr>
          </a:solidFill>
          <a:ln w="12700">
            <a:solidFill>
              <a:srgbClr val="1F8F82"/>
            </a:solidFill>
            <a:prstDash val="solid"/>
          </a:ln>
        </p:spPr>
      </p:sp>
      <p:sp>
        <p:nvSpPr>
          <p:cNvPr id="45" name="Shape 43"/>
          <p:cNvSpPr/>
          <p:nvPr/>
        </p:nvSpPr>
        <p:spPr>
          <a:xfrm>
            <a:off x="3195701" y="3161516"/>
            <a:ext cx="105156" cy="105156"/>
          </a:xfrm>
          <a:prstGeom prst="ellipse">
            <a:avLst/>
          </a:prstGeom>
          <a:solidFill>
            <a:srgbClr val="1F8F82">
              <a:alpha val="75000"/>
            </a:srgbClr>
          </a:solidFill>
          <a:ln w="12700">
            <a:solidFill>
              <a:srgbClr val="1F8F82"/>
            </a:solidFill>
            <a:prstDash val="solid"/>
          </a:ln>
        </p:spPr>
      </p:sp>
      <p:sp>
        <p:nvSpPr>
          <p:cNvPr id="46" name="Shape 44"/>
          <p:cNvSpPr/>
          <p:nvPr/>
        </p:nvSpPr>
        <p:spPr>
          <a:xfrm>
            <a:off x="3180399" y="2850441"/>
            <a:ext cx="105156" cy="105156"/>
          </a:xfrm>
          <a:prstGeom prst="ellipse">
            <a:avLst/>
          </a:prstGeom>
          <a:solidFill>
            <a:srgbClr val="1F8F82">
              <a:alpha val="75000"/>
            </a:srgbClr>
          </a:solidFill>
          <a:ln w="12700">
            <a:solidFill>
              <a:srgbClr val="1F8F82"/>
            </a:solidFill>
            <a:prstDash val="solid"/>
          </a:ln>
        </p:spPr>
      </p:sp>
      <p:sp>
        <p:nvSpPr>
          <p:cNvPr id="47" name="Shape 45"/>
          <p:cNvSpPr/>
          <p:nvPr/>
        </p:nvSpPr>
        <p:spPr>
          <a:xfrm>
            <a:off x="2443731" y="2797665"/>
            <a:ext cx="105156" cy="105156"/>
          </a:xfrm>
          <a:prstGeom prst="ellipse">
            <a:avLst/>
          </a:prstGeom>
          <a:solidFill>
            <a:srgbClr val="1F8F82">
              <a:alpha val="75000"/>
            </a:srgbClr>
          </a:solidFill>
          <a:ln w="12700">
            <a:solidFill>
              <a:srgbClr val="1F8F82"/>
            </a:solidFill>
            <a:prstDash val="solid"/>
          </a:ln>
        </p:spPr>
      </p:sp>
      <p:sp>
        <p:nvSpPr>
          <p:cNvPr id="48" name="Shape 46"/>
          <p:cNvSpPr/>
          <p:nvPr/>
        </p:nvSpPr>
        <p:spPr>
          <a:xfrm>
            <a:off x="2974785" y="2959827"/>
            <a:ext cx="105156" cy="105156"/>
          </a:xfrm>
          <a:prstGeom prst="ellipse">
            <a:avLst/>
          </a:prstGeom>
          <a:solidFill>
            <a:srgbClr val="1F8F82">
              <a:alpha val="75000"/>
            </a:srgbClr>
          </a:solidFill>
          <a:ln w="12700">
            <a:solidFill>
              <a:srgbClr val="1F8F82"/>
            </a:solidFill>
            <a:prstDash val="solid"/>
          </a:ln>
        </p:spPr>
      </p:sp>
      <p:sp>
        <p:nvSpPr>
          <p:cNvPr id="49" name="Shape 47"/>
          <p:cNvSpPr/>
          <p:nvPr/>
        </p:nvSpPr>
        <p:spPr>
          <a:xfrm>
            <a:off x="2353860" y="2905522"/>
            <a:ext cx="105156" cy="105156"/>
          </a:xfrm>
          <a:prstGeom prst="ellipse">
            <a:avLst/>
          </a:prstGeom>
          <a:solidFill>
            <a:srgbClr val="1F8F82">
              <a:alpha val="75000"/>
            </a:srgbClr>
          </a:solidFill>
          <a:ln w="12700">
            <a:solidFill>
              <a:srgbClr val="1F8F82"/>
            </a:solidFill>
            <a:prstDash val="solid"/>
          </a:ln>
        </p:spPr>
      </p:sp>
      <p:sp>
        <p:nvSpPr>
          <p:cNvPr id="50" name="Shape 48"/>
          <p:cNvSpPr/>
          <p:nvPr/>
        </p:nvSpPr>
        <p:spPr>
          <a:xfrm>
            <a:off x="4192485" y="2904911"/>
            <a:ext cx="105156" cy="105156"/>
          </a:xfrm>
          <a:prstGeom prst="ellipse">
            <a:avLst/>
          </a:prstGeom>
          <a:solidFill>
            <a:srgbClr val="1F8F82">
              <a:alpha val="75000"/>
            </a:srgbClr>
          </a:solidFill>
          <a:ln w="12700">
            <a:solidFill>
              <a:srgbClr val="1F8F82"/>
            </a:solidFill>
            <a:prstDash val="solid"/>
          </a:ln>
        </p:spPr>
      </p:sp>
      <p:sp>
        <p:nvSpPr>
          <p:cNvPr id="51" name="Shape 49"/>
          <p:cNvSpPr/>
          <p:nvPr/>
        </p:nvSpPr>
        <p:spPr>
          <a:xfrm>
            <a:off x="3591262" y="3042321"/>
            <a:ext cx="105156" cy="105156"/>
          </a:xfrm>
          <a:prstGeom prst="ellipse">
            <a:avLst/>
          </a:prstGeom>
          <a:solidFill>
            <a:srgbClr val="1F8F82">
              <a:alpha val="75000"/>
            </a:srgbClr>
          </a:solidFill>
          <a:ln w="12700">
            <a:solidFill>
              <a:srgbClr val="1F8F82"/>
            </a:solidFill>
            <a:prstDash val="solid"/>
          </a:ln>
        </p:spPr>
      </p:sp>
      <p:sp>
        <p:nvSpPr>
          <p:cNvPr id="52" name="Text 50"/>
          <p:cNvSpPr/>
          <p:nvPr/>
        </p:nvSpPr>
        <p:spPr>
          <a:xfrm>
            <a:off x="950976" y="3163824"/>
            <a:ext cx="1097280" cy="237744"/>
          </a:xfrm>
          <a:prstGeom prst="rect">
            <a:avLst/>
          </a:prstGeom>
          <a:noFill/>
          <a:ln/>
        </p:spPr>
        <p:txBody>
          <a:bodyPr wrap="square" lIns="0" tIns="0" rIns="0" bIns="0" rtlCol="0" anchor="ctr"/>
          <a:lstStyle/>
          <a:p>
            <a:pPr indent="0" marL="0">
              <a:buNone/>
            </a:pPr>
            <a:r>
              <a:rPr lang="en-US" sz="1050" dirty="0">
                <a:solidFill>
                  <a:srgbClr val="9E9AB4"/>
                </a:solidFill>
                <a:latin typeface="Calibri" pitchFamily="34" charset="0"/>
                <a:ea typeface="Calibri" pitchFamily="34" charset="-122"/>
                <a:cs typeface="Calibri" pitchFamily="34" charset="-120"/>
              </a:rPr>
              <a:t>none</a:t>
            </a:r>
            <a:endParaRPr lang="en-US" sz="1050" dirty="0"/>
          </a:p>
        </p:txBody>
      </p:sp>
      <p:sp>
        <p:nvSpPr>
          <p:cNvPr id="53" name="Text 51"/>
          <p:cNvSpPr/>
          <p:nvPr/>
        </p:nvSpPr>
        <p:spPr>
          <a:xfrm>
            <a:off x="4636008" y="3163824"/>
            <a:ext cx="1097280" cy="237744"/>
          </a:xfrm>
          <a:prstGeom prst="rect">
            <a:avLst/>
          </a:prstGeom>
          <a:noFill/>
          <a:ln/>
        </p:spPr>
        <p:txBody>
          <a:bodyPr wrap="square" lIns="0" tIns="0" rIns="0" bIns="0" rtlCol="0" anchor="ctr"/>
          <a:lstStyle/>
          <a:p>
            <a:pPr algn="r" indent="0" marL="0">
              <a:buNone/>
            </a:pPr>
            <a:r>
              <a:rPr lang="en-US" sz="1050" dirty="0">
                <a:solidFill>
                  <a:srgbClr val="9E9AB4"/>
                </a:solidFill>
                <a:latin typeface="Calibri" pitchFamily="34" charset="0"/>
                <a:ea typeface="Calibri" pitchFamily="34" charset="-122"/>
                <a:cs typeface="Calibri" pitchFamily="34" charset="-120"/>
              </a:rPr>
              <a:t>severe</a:t>
            </a:r>
            <a:endParaRPr lang="en-US" sz="1050" dirty="0"/>
          </a:p>
        </p:txBody>
      </p:sp>
      <p:sp>
        <p:nvSpPr>
          <p:cNvPr id="54" name="Text 52"/>
          <p:cNvSpPr/>
          <p:nvPr/>
        </p:nvSpPr>
        <p:spPr>
          <a:xfrm>
            <a:off x="841248" y="3511296"/>
            <a:ext cx="4937760" cy="411480"/>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Differences are of degree. Everyone is on the same line.</a:t>
            </a:r>
            <a:endParaRPr lang="en-US" sz="1200" dirty="0"/>
          </a:p>
        </p:txBody>
      </p:sp>
      <p:sp>
        <p:nvSpPr>
          <p:cNvPr id="55" name="Shape 53"/>
          <p:cNvSpPr/>
          <p:nvPr/>
        </p:nvSpPr>
        <p:spPr>
          <a:xfrm>
            <a:off x="6382512" y="1965960"/>
            <a:ext cx="5239512" cy="2148840"/>
          </a:xfrm>
          <a:prstGeom prst="roundRect">
            <a:avLst>
              <a:gd name="adj" fmla="val 4255"/>
            </a:avLst>
          </a:prstGeom>
          <a:solidFill>
            <a:srgbClr val="FAF3F1"/>
          </a:solidFill>
          <a:ln w="12700">
            <a:solidFill>
              <a:srgbClr val="EBD5CD"/>
            </a:solidFill>
            <a:prstDash val="solid"/>
          </a:ln>
        </p:spPr>
      </p:sp>
      <p:sp>
        <p:nvSpPr>
          <p:cNvPr id="56" name="Text 54"/>
          <p:cNvSpPr/>
          <p:nvPr/>
        </p:nvSpPr>
        <p:spPr>
          <a:xfrm>
            <a:off x="6656832" y="2139696"/>
            <a:ext cx="4663440" cy="256032"/>
          </a:xfrm>
          <a:prstGeom prst="rect">
            <a:avLst/>
          </a:prstGeom>
          <a:noFill/>
          <a:ln/>
        </p:spPr>
        <p:txBody>
          <a:bodyPr wrap="square" lIns="0" tIns="0" rIns="0" bIns="0" rtlCol="0" anchor="ctr"/>
          <a:lstStyle/>
          <a:p>
            <a:pPr indent="0" marL="0">
              <a:buNone/>
            </a:pPr>
            <a:r>
              <a:rPr lang="en-US" sz="1100" b="1" spc="150" kern="0" dirty="0">
                <a:solidFill>
                  <a:srgbClr val="D9553C"/>
                </a:solidFill>
                <a:latin typeface="Calibri" pitchFamily="34" charset="0"/>
                <a:ea typeface="Calibri" pitchFamily="34" charset="-122"/>
                <a:cs typeface="Calibri" pitchFamily="34" charset="-120"/>
              </a:rPr>
              <a:t>CLASSES — which kind?</a:t>
            </a:r>
            <a:endParaRPr lang="en-US" sz="1100" dirty="0"/>
          </a:p>
        </p:txBody>
      </p:sp>
      <p:sp>
        <p:nvSpPr>
          <p:cNvPr id="57" name="Shape 55"/>
          <p:cNvSpPr/>
          <p:nvPr/>
        </p:nvSpPr>
        <p:spPr>
          <a:xfrm>
            <a:off x="7264719" y="2959854"/>
            <a:ext cx="105156" cy="105156"/>
          </a:xfrm>
          <a:prstGeom prst="ellipse">
            <a:avLst/>
          </a:prstGeom>
          <a:solidFill>
            <a:srgbClr val="D9553C">
              <a:alpha val="85000"/>
            </a:srgbClr>
          </a:solidFill>
          <a:ln w="12700">
            <a:solidFill>
              <a:srgbClr val="D9553C"/>
            </a:solidFill>
            <a:prstDash val="solid"/>
          </a:ln>
        </p:spPr>
      </p:sp>
      <p:sp>
        <p:nvSpPr>
          <p:cNvPr id="58" name="Shape 56"/>
          <p:cNvSpPr/>
          <p:nvPr/>
        </p:nvSpPr>
        <p:spPr>
          <a:xfrm>
            <a:off x="6923029" y="2898022"/>
            <a:ext cx="105156" cy="105156"/>
          </a:xfrm>
          <a:prstGeom prst="ellipse">
            <a:avLst/>
          </a:prstGeom>
          <a:solidFill>
            <a:srgbClr val="D9553C">
              <a:alpha val="85000"/>
            </a:srgbClr>
          </a:solidFill>
          <a:ln w="12700">
            <a:solidFill>
              <a:srgbClr val="D9553C"/>
            </a:solidFill>
            <a:prstDash val="solid"/>
          </a:ln>
        </p:spPr>
      </p:sp>
      <p:sp>
        <p:nvSpPr>
          <p:cNvPr id="59" name="Shape 57"/>
          <p:cNvSpPr/>
          <p:nvPr/>
        </p:nvSpPr>
        <p:spPr>
          <a:xfrm>
            <a:off x="7191733" y="3063130"/>
            <a:ext cx="105156" cy="105156"/>
          </a:xfrm>
          <a:prstGeom prst="ellipse">
            <a:avLst/>
          </a:prstGeom>
          <a:solidFill>
            <a:srgbClr val="D9553C">
              <a:alpha val="85000"/>
            </a:srgbClr>
          </a:solidFill>
          <a:ln w="12700">
            <a:solidFill>
              <a:srgbClr val="D9553C"/>
            </a:solidFill>
            <a:prstDash val="solid"/>
          </a:ln>
        </p:spPr>
      </p:sp>
      <p:sp>
        <p:nvSpPr>
          <p:cNvPr id="60" name="Shape 58"/>
          <p:cNvSpPr/>
          <p:nvPr/>
        </p:nvSpPr>
        <p:spPr>
          <a:xfrm>
            <a:off x="6931409" y="2872150"/>
            <a:ext cx="105156" cy="105156"/>
          </a:xfrm>
          <a:prstGeom prst="ellipse">
            <a:avLst/>
          </a:prstGeom>
          <a:solidFill>
            <a:srgbClr val="D9553C">
              <a:alpha val="85000"/>
            </a:srgbClr>
          </a:solidFill>
          <a:ln w="12700">
            <a:solidFill>
              <a:srgbClr val="D9553C"/>
            </a:solidFill>
            <a:prstDash val="solid"/>
          </a:ln>
        </p:spPr>
      </p:sp>
      <p:sp>
        <p:nvSpPr>
          <p:cNvPr id="61" name="Shape 59"/>
          <p:cNvSpPr/>
          <p:nvPr/>
        </p:nvSpPr>
        <p:spPr>
          <a:xfrm>
            <a:off x="7109158" y="2712302"/>
            <a:ext cx="105156" cy="105156"/>
          </a:xfrm>
          <a:prstGeom prst="ellipse">
            <a:avLst/>
          </a:prstGeom>
          <a:solidFill>
            <a:srgbClr val="D9553C">
              <a:alpha val="85000"/>
            </a:srgbClr>
          </a:solidFill>
          <a:ln w="12700">
            <a:solidFill>
              <a:srgbClr val="D9553C"/>
            </a:solidFill>
            <a:prstDash val="solid"/>
          </a:ln>
        </p:spPr>
      </p:sp>
      <p:sp>
        <p:nvSpPr>
          <p:cNvPr id="62" name="Shape 60"/>
          <p:cNvSpPr/>
          <p:nvPr/>
        </p:nvSpPr>
        <p:spPr>
          <a:xfrm>
            <a:off x="7069131" y="3095203"/>
            <a:ext cx="105156" cy="105156"/>
          </a:xfrm>
          <a:prstGeom prst="ellipse">
            <a:avLst/>
          </a:prstGeom>
          <a:solidFill>
            <a:srgbClr val="D9553C">
              <a:alpha val="85000"/>
            </a:srgbClr>
          </a:solidFill>
          <a:ln w="12700">
            <a:solidFill>
              <a:srgbClr val="D9553C"/>
            </a:solidFill>
            <a:prstDash val="solid"/>
          </a:ln>
        </p:spPr>
      </p:sp>
      <p:sp>
        <p:nvSpPr>
          <p:cNvPr id="63" name="Shape 61"/>
          <p:cNvSpPr/>
          <p:nvPr/>
        </p:nvSpPr>
        <p:spPr>
          <a:xfrm>
            <a:off x="6970299" y="2842094"/>
            <a:ext cx="105156" cy="105156"/>
          </a:xfrm>
          <a:prstGeom prst="ellipse">
            <a:avLst/>
          </a:prstGeom>
          <a:solidFill>
            <a:srgbClr val="D9553C">
              <a:alpha val="85000"/>
            </a:srgbClr>
          </a:solidFill>
          <a:ln w="12700">
            <a:solidFill>
              <a:srgbClr val="D9553C"/>
            </a:solidFill>
            <a:prstDash val="solid"/>
          </a:ln>
        </p:spPr>
      </p:sp>
      <p:sp>
        <p:nvSpPr>
          <p:cNvPr id="64" name="Shape 62"/>
          <p:cNvSpPr/>
          <p:nvPr/>
        </p:nvSpPr>
        <p:spPr>
          <a:xfrm>
            <a:off x="7044090" y="3111340"/>
            <a:ext cx="105156" cy="105156"/>
          </a:xfrm>
          <a:prstGeom prst="ellipse">
            <a:avLst/>
          </a:prstGeom>
          <a:solidFill>
            <a:srgbClr val="D9553C">
              <a:alpha val="85000"/>
            </a:srgbClr>
          </a:solidFill>
          <a:ln w="12700">
            <a:solidFill>
              <a:srgbClr val="D9553C"/>
            </a:solidFill>
            <a:prstDash val="solid"/>
          </a:ln>
        </p:spPr>
      </p:sp>
      <p:sp>
        <p:nvSpPr>
          <p:cNvPr id="65" name="Shape 63"/>
          <p:cNvSpPr/>
          <p:nvPr/>
        </p:nvSpPr>
        <p:spPr>
          <a:xfrm>
            <a:off x="6833077" y="3100129"/>
            <a:ext cx="105156" cy="105156"/>
          </a:xfrm>
          <a:prstGeom prst="ellipse">
            <a:avLst/>
          </a:prstGeom>
          <a:solidFill>
            <a:srgbClr val="D9553C">
              <a:alpha val="85000"/>
            </a:srgbClr>
          </a:solidFill>
          <a:ln w="12700">
            <a:solidFill>
              <a:srgbClr val="D9553C"/>
            </a:solidFill>
            <a:prstDash val="solid"/>
          </a:ln>
        </p:spPr>
      </p:sp>
      <p:sp>
        <p:nvSpPr>
          <p:cNvPr id="66" name="Shape 64"/>
          <p:cNvSpPr/>
          <p:nvPr/>
        </p:nvSpPr>
        <p:spPr>
          <a:xfrm>
            <a:off x="7188389" y="2744115"/>
            <a:ext cx="105156" cy="105156"/>
          </a:xfrm>
          <a:prstGeom prst="ellipse">
            <a:avLst/>
          </a:prstGeom>
          <a:solidFill>
            <a:srgbClr val="D9553C">
              <a:alpha val="85000"/>
            </a:srgbClr>
          </a:solidFill>
          <a:ln w="12700">
            <a:solidFill>
              <a:srgbClr val="D9553C"/>
            </a:solidFill>
            <a:prstDash val="solid"/>
          </a:ln>
        </p:spPr>
      </p:sp>
      <p:sp>
        <p:nvSpPr>
          <p:cNvPr id="67" name="Shape 65"/>
          <p:cNvSpPr/>
          <p:nvPr/>
        </p:nvSpPr>
        <p:spPr>
          <a:xfrm>
            <a:off x="6823595" y="2883385"/>
            <a:ext cx="105156" cy="105156"/>
          </a:xfrm>
          <a:prstGeom prst="ellipse">
            <a:avLst/>
          </a:prstGeom>
          <a:solidFill>
            <a:srgbClr val="D9553C">
              <a:alpha val="85000"/>
            </a:srgbClr>
          </a:solidFill>
          <a:ln w="12700">
            <a:solidFill>
              <a:srgbClr val="D9553C"/>
            </a:solidFill>
            <a:prstDash val="solid"/>
          </a:ln>
        </p:spPr>
      </p:sp>
      <p:sp>
        <p:nvSpPr>
          <p:cNvPr id="68" name="Shape 66"/>
          <p:cNvSpPr/>
          <p:nvPr/>
        </p:nvSpPr>
        <p:spPr>
          <a:xfrm>
            <a:off x="6744148" y="2903994"/>
            <a:ext cx="105156" cy="105156"/>
          </a:xfrm>
          <a:prstGeom prst="ellipse">
            <a:avLst/>
          </a:prstGeom>
          <a:solidFill>
            <a:srgbClr val="D9553C">
              <a:alpha val="85000"/>
            </a:srgbClr>
          </a:solidFill>
          <a:ln w="12700">
            <a:solidFill>
              <a:srgbClr val="D9553C"/>
            </a:solidFill>
            <a:prstDash val="solid"/>
          </a:ln>
        </p:spPr>
      </p:sp>
      <p:sp>
        <p:nvSpPr>
          <p:cNvPr id="69" name="Shape 67"/>
          <p:cNvSpPr/>
          <p:nvPr/>
        </p:nvSpPr>
        <p:spPr>
          <a:xfrm>
            <a:off x="6931653" y="2915196"/>
            <a:ext cx="105156" cy="105156"/>
          </a:xfrm>
          <a:prstGeom prst="ellipse">
            <a:avLst/>
          </a:prstGeom>
          <a:solidFill>
            <a:srgbClr val="D9553C">
              <a:alpha val="85000"/>
            </a:srgbClr>
          </a:solidFill>
          <a:ln w="12700">
            <a:solidFill>
              <a:srgbClr val="D9553C"/>
            </a:solidFill>
            <a:prstDash val="solid"/>
          </a:ln>
        </p:spPr>
      </p:sp>
      <p:sp>
        <p:nvSpPr>
          <p:cNvPr id="70" name="Shape 68"/>
          <p:cNvSpPr/>
          <p:nvPr/>
        </p:nvSpPr>
        <p:spPr>
          <a:xfrm>
            <a:off x="6523873" y="3219983"/>
            <a:ext cx="105156" cy="105156"/>
          </a:xfrm>
          <a:prstGeom prst="ellipse">
            <a:avLst/>
          </a:prstGeom>
          <a:solidFill>
            <a:srgbClr val="D9553C">
              <a:alpha val="85000"/>
            </a:srgbClr>
          </a:solidFill>
          <a:ln w="12700">
            <a:solidFill>
              <a:srgbClr val="D9553C"/>
            </a:solidFill>
            <a:prstDash val="solid"/>
          </a:ln>
        </p:spPr>
      </p:sp>
      <p:sp>
        <p:nvSpPr>
          <p:cNvPr id="71" name="Shape 69"/>
          <p:cNvSpPr/>
          <p:nvPr/>
        </p:nvSpPr>
        <p:spPr>
          <a:xfrm>
            <a:off x="6716042" y="3160881"/>
            <a:ext cx="105156" cy="105156"/>
          </a:xfrm>
          <a:prstGeom prst="ellipse">
            <a:avLst/>
          </a:prstGeom>
          <a:solidFill>
            <a:srgbClr val="D9553C">
              <a:alpha val="85000"/>
            </a:srgbClr>
          </a:solidFill>
          <a:ln w="12700">
            <a:solidFill>
              <a:srgbClr val="D9553C"/>
            </a:solidFill>
            <a:prstDash val="solid"/>
          </a:ln>
        </p:spPr>
      </p:sp>
      <p:sp>
        <p:nvSpPr>
          <p:cNvPr id="72" name="Shape 70"/>
          <p:cNvSpPr/>
          <p:nvPr/>
        </p:nvSpPr>
        <p:spPr>
          <a:xfrm>
            <a:off x="8434355" y="3078783"/>
            <a:ext cx="105156" cy="105156"/>
          </a:xfrm>
          <a:prstGeom prst="ellipse">
            <a:avLst/>
          </a:prstGeom>
          <a:solidFill>
            <a:srgbClr val="E09B21">
              <a:alpha val="85000"/>
            </a:srgbClr>
          </a:solidFill>
          <a:ln w="12700">
            <a:solidFill>
              <a:srgbClr val="E09B21"/>
            </a:solidFill>
            <a:prstDash val="solid"/>
          </a:ln>
        </p:spPr>
      </p:sp>
      <p:sp>
        <p:nvSpPr>
          <p:cNvPr id="73" name="Shape 71"/>
          <p:cNvSpPr/>
          <p:nvPr/>
        </p:nvSpPr>
        <p:spPr>
          <a:xfrm>
            <a:off x="8258341" y="2976950"/>
            <a:ext cx="105156" cy="105156"/>
          </a:xfrm>
          <a:prstGeom prst="ellipse">
            <a:avLst/>
          </a:prstGeom>
          <a:solidFill>
            <a:srgbClr val="E09B21">
              <a:alpha val="85000"/>
            </a:srgbClr>
          </a:solidFill>
          <a:ln w="12700">
            <a:solidFill>
              <a:srgbClr val="E09B21"/>
            </a:solidFill>
            <a:prstDash val="solid"/>
          </a:ln>
        </p:spPr>
      </p:sp>
      <p:sp>
        <p:nvSpPr>
          <p:cNvPr id="74" name="Shape 72"/>
          <p:cNvSpPr/>
          <p:nvPr/>
        </p:nvSpPr>
        <p:spPr>
          <a:xfrm>
            <a:off x="8567288" y="3158815"/>
            <a:ext cx="105156" cy="105156"/>
          </a:xfrm>
          <a:prstGeom prst="ellipse">
            <a:avLst/>
          </a:prstGeom>
          <a:solidFill>
            <a:srgbClr val="E09B21">
              <a:alpha val="85000"/>
            </a:srgbClr>
          </a:solidFill>
          <a:ln w="12700">
            <a:solidFill>
              <a:srgbClr val="E09B21"/>
            </a:solidFill>
            <a:prstDash val="solid"/>
          </a:ln>
        </p:spPr>
      </p:sp>
      <p:sp>
        <p:nvSpPr>
          <p:cNvPr id="75" name="Shape 73"/>
          <p:cNvSpPr/>
          <p:nvPr/>
        </p:nvSpPr>
        <p:spPr>
          <a:xfrm>
            <a:off x="8351682" y="2842306"/>
            <a:ext cx="105156" cy="105156"/>
          </a:xfrm>
          <a:prstGeom prst="ellipse">
            <a:avLst/>
          </a:prstGeom>
          <a:solidFill>
            <a:srgbClr val="E09B21">
              <a:alpha val="85000"/>
            </a:srgbClr>
          </a:solidFill>
          <a:ln w="12700">
            <a:solidFill>
              <a:srgbClr val="E09B21"/>
            </a:solidFill>
            <a:prstDash val="solid"/>
          </a:ln>
        </p:spPr>
      </p:sp>
      <p:sp>
        <p:nvSpPr>
          <p:cNvPr id="76" name="Shape 74"/>
          <p:cNvSpPr/>
          <p:nvPr/>
        </p:nvSpPr>
        <p:spPr>
          <a:xfrm>
            <a:off x="8468371" y="3056702"/>
            <a:ext cx="105156" cy="105156"/>
          </a:xfrm>
          <a:prstGeom prst="ellipse">
            <a:avLst/>
          </a:prstGeom>
          <a:solidFill>
            <a:srgbClr val="E09B21">
              <a:alpha val="85000"/>
            </a:srgbClr>
          </a:solidFill>
          <a:ln w="12700">
            <a:solidFill>
              <a:srgbClr val="E09B21"/>
            </a:solidFill>
            <a:prstDash val="solid"/>
          </a:ln>
        </p:spPr>
      </p:sp>
      <p:sp>
        <p:nvSpPr>
          <p:cNvPr id="77" name="Shape 75"/>
          <p:cNvSpPr/>
          <p:nvPr/>
        </p:nvSpPr>
        <p:spPr>
          <a:xfrm>
            <a:off x="8760312" y="2818856"/>
            <a:ext cx="105156" cy="105156"/>
          </a:xfrm>
          <a:prstGeom prst="ellipse">
            <a:avLst/>
          </a:prstGeom>
          <a:solidFill>
            <a:srgbClr val="E09B21">
              <a:alpha val="85000"/>
            </a:srgbClr>
          </a:solidFill>
          <a:ln w="12700">
            <a:solidFill>
              <a:srgbClr val="E09B21"/>
            </a:solidFill>
            <a:prstDash val="solid"/>
          </a:ln>
        </p:spPr>
      </p:sp>
      <p:sp>
        <p:nvSpPr>
          <p:cNvPr id="78" name="Shape 76"/>
          <p:cNvSpPr/>
          <p:nvPr/>
        </p:nvSpPr>
        <p:spPr>
          <a:xfrm>
            <a:off x="8973473" y="3025099"/>
            <a:ext cx="105156" cy="105156"/>
          </a:xfrm>
          <a:prstGeom prst="ellipse">
            <a:avLst/>
          </a:prstGeom>
          <a:solidFill>
            <a:srgbClr val="E09B21">
              <a:alpha val="85000"/>
            </a:srgbClr>
          </a:solidFill>
          <a:ln w="12700">
            <a:solidFill>
              <a:srgbClr val="E09B21"/>
            </a:solidFill>
            <a:prstDash val="solid"/>
          </a:ln>
        </p:spPr>
      </p:sp>
      <p:sp>
        <p:nvSpPr>
          <p:cNvPr id="79" name="Shape 77"/>
          <p:cNvSpPr/>
          <p:nvPr/>
        </p:nvSpPr>
        <p:spPr>
          <a:xfrm>
            <a:off x="8731816" y="3031810"/>
            <a:ext cx="105156" cy="105156"/>
          </a:xfrm>
          <a:prstGeom prst="ellipse">
            <a:avLst/>
          </a:prstGeom>
          <a:solidFill>
            <a:srgbClr val="E09B21">
              <a:alpha val="85000"/>
            </a:srgbClr>
          </a:solidFill>
          <a:ln w="12700">
            <a:solidFill>
              <a:srgbClr val="E09B21"/>
            </a:solidFill>
            <a:prstDash val="solid"/>
          </a:ln>
        </p:spPr>
      </p:sp>
      <p:sp>
        <p:nvSpPr>
          <p:cNvPr id="80" name="Shape 78"/>
          <p:cNvSpPr/>
          <p:nvPr/>
        </p:nvSpPr>
        <p:spPr>
          <a:xfrm>
            <a:off x="8669193" y="2877967"/>
            <a:ext cx="105156" cy="105156"/>
          </a:xfrm>
          <a:prstGeom prst="ellipse">
            <a:avLst/>
          </a:prstGeom>
          <a:solidFill>
            <a:srgbClr val="E09B21">
              <a:alpha val="85000"/>
            </a:srgbClr>
          </a:solidFill>
          <a:ln w="12700">
            <a:solidFill>
              <a:srgbClr val="E09B21"/>
            </a:solidFill>
            <a:prstDash val="solid"/>
          </a:ln>
        </p:spPr>
      </p:sp>
      <p:sp>
        <p:nvSpPr>
          <p:cNvPr id="81" name="Shape 79"/>
          <p:cNvSpPr/>
          <p:nvPr/>
        </p:nvSpPr>
        <p:spPr>
          <a:xfrm>
            <a:off x="8615085" y="2890471"/>
            <a:ext cx="105156" cy="105156"/>
          </a:xfrm>
          <a:prstGeom prst="ellipse">
            <a:avLst/>
          </a:prstGeom>
          <a:solidFill>
            <a:srgbClr val="E09B21">
              <a:alpha val="85000"/>
            </a:srgbClr>
          </a:solidFill>
          <a:ln w="12700">
            <a:solidFill>
              <a:srgbClr val="E09B21"/>
            </a:solidFill>
            <a:prstDash val="solid"/>
          </a:ln>
        </p:spPr>
      </p:sp>
      <p:sp>
        <p:nvSpPr>
          <p:cNvPr id="82" name="Shape 80"/>
          <p:cNvSpPr/>
          <p:nvPr/>
        </p:nvSpPr>
        <p:spPr>
          <a:xfrm>
            <a:off x="8397024" y="2808386"/>
            <a:ext cx="105156" cy="105156"/>
          </a:xfrm>
          <a:prstGeom prst="ellipse">
            <a:avLst/>
          </a:prstGeom>
          <a:solidFill>
            <a:srgbClr val="E09B21">
              <a:alpha val="85000"/>
            </a:srgbClr>
          </a:solidFill>
          <a:ln w="12700">
            <a:solidFill>
              <a:srgbClr val="E09B21"/>
            </a:solidFill>
            <a:prstDash val="solid"/>
          </a:ln>
        </p:spPr>
      </p:sp>
      <p:sp>
        <p:nvSpPr>
          <p:cNvPr id="83" name="Shape 81"/>
          <p:cNvSpPr/>
          <p:nvPr/>
        </p:nvSpPr>
        <p:spPr>
          <a:xfrm>
            <a:off x="8176461" y="2963538"/>
            <a:ext cx="105156" cy="105156"/>
          </a:xfrm>
          <a:prstGeom prst="ellipse">
            <a:avLst/>
          </a:prstGeom>
          <a:solidFill>
            <a:srgbClr val="E09B21">
              <a:alpha val="85000"/>
            </a:srgbClr>
          </a:solidFill>
          <a:ln w="12700">
            <a:solidFill>
              <a:srgbClr val="E09B21"/>
            </a:solidFill>
            <a:prstDash val="solid"/>
          </a:ln>
        </p:spPr>
      </p:sp>
      <p:sp>
        <p:nvSpPr>
          <p:cNvPr id="84" name="Shape 82"/>
          <p:cNvSpPr/>
          <p:nvPr/>
        </p:nvSpPr>
        <p:spPr>
          <a:xfrm>
            <a:off x="8280398" y="2942374"/>
            <a:ext cx="105156" cy="105156"/>
          </a:xfrm>
          <a:prstGeom prst="ellipse">
            <a:avLst/>
          </a:prstGeom>
          <a:solidFill>
            <a:srgbClr val="E09B21">
              <a:alpha val="85000"/>
            </a:srgbClr>
          </a:solidFill>
          <a:ln w="12700">
            <a:solidFill>
              <a:srgbClr val="E09B21"/>
            </a:solidFill>
            <a:prstDash val="solid"/>
          </a:ln>
        </p:spPr>
      </p:sp>
      <p:sp>
        <p:nvSpPr>
          <p:cNvPr id="85" name="Shape 83"/>
          <p:cNvSpPr/>
          <p:nvPr/>
        </p:nvSpPr>
        <p:spPr>
          <a:xfrm>
            <a:off x="8414946" y="2904509"/>
            <a:ext cx="105156" cy="105156"/>
          </a:xfrm>
          <a:prstGeom prst="ellipse">
            <a:avLst/>
          </a:prstGeom>
          <a:solidFill>
            <a:srgbClr val="E09B21">
              <a:alpha val="85000"/>
            </a:srgbClr>
          </a:solidFill>
          <a:ln w="12700">
            <a:solidFill>
              <a:srgbClr val="E09B21"/>
            </a:solidFill>
            <a:prstDash val="solid"/>
          </a:ln>
        </p:spPr>
      </p:sp>
      <p:sp>
        <p:nvSpPr>
          <p:cNvPr id="86" name="Shape 84"/>
          <p:cNvSpPr/>
          <p:nvPr/>
        </p:nvSpPr>
        <p:spPr>
          <a:xfrm>
            <a:off x="8962836" y="2757496"/>
            <a:ext cx="105156" cy="105156"/>
          </a:xfrm>
          <a:prstGeom prst="ellipse">
            <a:avLst/>
          </a:prstGeom>
          <a:solidFill>
            <a:srgbClr val="E09B21">
              <a:alpha val="85000"/>
            </a:srgbClr>
          </a:solidFill>
          <a:ln w="12700">
            <a:solidFill>
              <a:srgbClr val="E09B21"/>
            </a:solidFill>
            <a:prstDash val="solid"/>
          </a:ln>
        </p:spPr>
      </p:sp>
      <p:sp>
        <p:nvSpPr>
          <p:cNvPr id="87" name="Shape 85"/>
          <p:cNvSpPr/>
          <p:nvPr/>
        </p:nvSpPr>
        <p:spPr>
          <a:xfrm>
            <a:off x="10390933" y="3069315"/>
            <a:ext cx="105156" cy="105156"/>
          </a:xfrm>
          <a:prstGeom prst="ellipse">
            <a:avLst/>
          </a:prstGeom>
          <a:solidFill>
            <a:srgbClr val="6F63C9">
              <a:alpha val="85000"/>
            </a:srgbClr>
          </a:solidFill>
          <a:ln w="12700">
            <a:solidFill>
              <a:srgbClr val="6F63C9"/>
            </a:solidFill>
            <a:prstDash val="solid"/>
          </a:ln>
        </p:spPr>
      </p:sp>
      <p:sp>
        <p:nvSpPr>
          <p:cNvPr id="88" name="Shape 86"/>
          <p:cNvSpPr/>
          <p:nvPr/>
        </p:nvSpPr>
        <p:spPr>
          <a:xfrm>
            <a:off x="10419543" y="3088027"/>
            <a:ext cx="105156" cy="105156"/>
          </a:xfrm>
          <a:prstGeom prst="ellipse">
            <a:avLst/>
          </a:prstGeom>
          <a:solidFill>
            <a:srgbClr val="6F63C9">
              <a:alpha val="85000"/>
            </a:srgbClr>
          </a:solidFill>
          <a:ln w="12700">
            <a:solidFill>
              <a:srgbClr val="6F63C9"/>
            </a:solidFill>
            <a:prstDash val="solid"/>
          </a:ln>
        </p:spPr>
      </p:sp>
      <p:sp>
        <p:nvSpPr>
          <p:cNvPr id="89" name="Shape 87"/>
          <p:cNvSpPr/>
          <p:nvPr/>
        </p:nvSpPr>
        <p:spPr>
          <a:xfrm>
            <a:off x="10467361" y="3215000"/>
            <a:ext cx="105156" cy="105156"/>
          </a:xfrm>
          <a:prstGeom prst="ellipse">
            <a:avLst/>
          </a:prstGeom>
          <a:solidFill>
            <a:srgbClr val="6F63C9">
              <a:alpha val="85000"/>
            </a:srgbClr>
          </a:solidFill>
          <a:ln w="12700">
            <a:solidFill>
              <a:srgbClr val="6F63C9"/>
            </a:solidFill>
            <a:prstDash val="solid"/>
          </a:ln>
        </p:spPr>
      </p:sp>
      <p:sp>
        <p:nvSpPr>
          <p:cNvPr id="90" name="Shape 88"/>
          <p:cNvSpPr/>
          <p:nvPr/>
        </p:nvSpPr>
        <p:spPr>
          <a:xfrm>
            <a:off x="10311313" y="2795328"/>
            <a:ext cx="105156" cy="105156"/>
          </a:xfrm>
          <a:prstGeom prst="ellipse">
            <a:avLst/>
          </a:prstGeom>
          <a:solidFill>
            <a:srgbClr val="6F63C9">
              <a:alpha val="85000"/>
            </a:srgbClr>
          </a:solidFill>
          <a:ln w="12700">
            <a:solidFill>
              <a:srgbClr val="6F63C9"/>
            </a:solidFill>
            <a:prstDash val="solid"/>
          </a:ln>
        </p:spPr>
      </p:sp>
      <p:sp>
        <p:nvSpPr>
          <p:cNvPr id="91" name="Shape 89"/>
          <p:cNvSpPr/>
          <p:nvPr/>
        </p:nvSpPr>
        <p:spPr>
          <a:xfrm>
            <a:off x="10125726" y="2834050"/>
            <a:ext cx="105156" cy="105156"/>
          </a:xfrm>
          <a:prstGeom prst="ellipse">
            <a:avLst/>
          </a:prstGeom>
          <a:solidFill>
            <a:srgbClr val="6F63C9">
              <a:alpha val="85000"/>
            </a:srgbClr>
          </a:solidFill>
          <a:ln w="12700">
            <a:solidFill>
              <a:srgbClr val="6F63C9"/>
            </a:solidFill>
            <a:prstDash val="solid"/>
          </a:ln>
        </p:spPr>
      </p:sp>
      <p:sp>
        <p:nvSpPr>
          <p:cNvPr id="92" name="Shape 90"/>
          <p:cNvSpPr/>
          <p:nvPr/>
        </p:nvSpPr>
        <p:spPr>
          <a:xfrm>
            <a:off x="10459312" y="2688390"/>
            <a:ext cx="105156" cy="105156"/>
          </a:xfrm>
          <a:prstGeom prst="ellipse">
            <a:avLst/>
          </a:prstGeom>
          <a:solidFill>
            <a:srgbClr val="6F63C9">
              <a:alpha val="85000"/>
            </a:srgbClr>
          </a:solidFill>
          <a:ln w="12700">
            <a:solidFill>
              <a:srgbClr val="6F63C9"/>
            </a:solidFill>
            <a:prstDash val="solid"/>
          </a:ln>
        </p:spPr>
      </p:sp>
      <p:sp>
        <p:nvSpPr>
          <p:cNvPr id="93" name="Shape 91"/>
          <p:cNvSpPr/>
          <p:nvPr/>
        </p:nvSpPr>
        <p:spPr>
          <a:xfrm>
            <a:off x="10236742" y="2827624"/>
            <a:ext cx="105156" cy="105156"/>
          </a:xfrm>
          <a:prstGeom prst="ellipse">
            <a:avLst/>
          </a:prstGeom>
          <a:solidFill>
            <a:srgbClr val="6F63C9">
              <a:alpha val="85000"/>
            </a:srgbClr>
          </a:solidFill>
          <a:ln w="12700">
            <a:solidFill>
              <a:srgbClr val="6F63C9"/>
            </a:solidFill>
            <a:prstDash val="solid"/>
          </a:ln>
        </p:spPr>
      </p:sp>
      <p:sp>
        <p:nvSpPr>
          <p:cNvPr id="94" name="Shape 92"/>
          <p:cNvSpPr/>
          <p:nvPr/>
        </p:nvSpPr>
        <p:spPr>
          <a:xfrm>
            <a:off x="10626399" y="2879351"/>
            <a:ext cx="105156" cy="105156"/>
          </a:xfrm>
          <a:prstGeom prst="ellipse">
            <a:avLst/>
          </a:prstGeom>
          <a:solidFill>
            <a:srgbClr val="6F63C9">
              <a:alpha val="85000"/>
            </a:srgbClr>
          </a:solidFill>
          <a:ln w="12700">
            <a:solidFill>
              <a:srgbClr val="6F63C9"/>
            </a:solidFill>
            <a:prstDash val="solid"/>
          </a:ln>
        </p:spPr>
      </p:sp>
      <p:sp>
        <p:nvSpPr>
          <p:cNvPr id="95" name="Shape 93"/>
          <p:cNvSpPr/>
          <p:nvPr/>
        </p:nvSpPr>
        <p:spPr>
          <a:xfrm>
            <a:off x="10422716" y="3262425"/>
            <a:ext cx="105156" cy="105156"/>
          </a:xfrm>
          <a:prstGeom prst="ellipse">
            <a:avLst/>
          </a:prstGeom>
          <a:solidFill>
            <a:srgbClr val="6F63C9">
              <a:alpha val="85000"/>
            </a:srgbClr>
          </a:solidFill>
          <a:ln w="12700">
            <a:solidFill>
              <a:srgbClr val="6F63C9"/>
            </a:solidFill>
            <a:prstDash val="solid"/>
          </a:ln>
        </p:spPr>
      </p:sp>
      <p:sp>
        <p:nvSpPr>
          <p:cNvPr id="96" name="Shape 94"/>
          <p:cNvSpPr/>
          <p:nvPr/>
        </p:nvSpPr>
        <p:spPr>
          <a:xfrm>
            <a:off x="10254563" y="2992401"/>
            <a:ext cx="105156" cy="105156"/>
          </a:xfrm>
          <a:prstGeom prst="ellipse">
            <a:avLst/>
          </a:prstGeom>
          <a:solidFill>
            <a:srgbClr val="6F63C9">
              <a:alpha val="85000"/>
            </a:srgbClr>
          </a:solidFill>
          <a:ln w="12700">
            <a:solidFill>
              <a:srgbClr val="6F63C9"/>
            </a:solidFill>
            <a:prstDash val="solid"/>
          </a:ln>
        </p:spPr>
      </p:sp>
      <p:sp>
        <p:nvSpPr>
          <p:cNvPr id="97" name="Shape 95"/>
          <p:cNvSpPr/>
          <p:nvPr/>
        </p:nvSpPr>
        <p:spPr>
          <a:xfrm>
            <a:off x="10624809" y="3100717"/>
            <a:ext cx="105156" cy="105156"/>
          </a:xfrm>
          <a:prstGeom prst="ellipse">
            <a:avLst/>
          </a:prstGeom>
          <a:solidFill>
            <a:srgbClr val="6F63C9">
              <a:alpha val="85000"/>
            </a:srgbClr>
          </a:solidFill>
          <a:ln w="12700">
            <a:solidFill>
              <a:srgbClr val="6F63C9"/>
            </a:solidFill>
            <a:prstDash val="solid"/>
          </a:ln>
        </p:spPr>
      </p:sp>
      <p:sp>
        <p:nvSpPr>
          <p:cNvPr id="98" name="Shape 96"/>
          <p:cNvSpPr/>
          <p:nvPr/>
        </p:nvSpPr>
        <p:spPr>
          <a:xfrm>
            <a:off x="10076366" y="3040054"/>
            <a:ext cx="105156" cy="105156"/>
          </a:xfrm>
          <a:prstGeom prst="ellipse">
            <a:avLst/>
          </a:prstGeom>
          <a:solidFill>
            <a:srgbClr val="6F63C9">
              <a:alpha val="85000"/>
            </a:srgbClr>
          </a:solidFill>
          <a:ln w="12700">
            <a:solidFill>
              <a:srgbClr val="6F63C9"/>
            </a:solidFill>
            <a:prstDash val="solid"/>
          </a:ln>
        </p:spPr>
      </p:sp>
      <p:sp>
        <p:nvSpPr>
          <p:cNvPr id="99" name="Shape 97"/>
          <p:cNvSpPr/>
          <p:nvPr/>
        </p:nvSpPr>
        <p:spPr>
          <a:xfrm>
            <a:off x="10145212" y="2830652"/>
            <a:ext cx="105156" cy="105156"/>
          </a:xfrm>
          <a:prstGeom prst="ellipse">
            <a:avLst/>
          </a:prstGeom>
          <a:solidFill>
            <a:srgbClr val="6F63C9">
              <a:alpha val="85000"/>
            </a:srgbClr>
          </a:solidFill>
          <a:ln w="12700">
            <a:solidFill>
              <a:srgbClr val="6F63C9"/>
            </a:solidFill>
            <a:prstDash val="solid"/>
          </a:ln>
        </p:spPr>
      </p:sp>
      <p:sp>
        <p:nvSpPr>
          <p:cNvPr id="100" name="Shape 98"/>
          <p:cNvSpPr/>
          <p:nvPr/>
        </p:nvSpPr>
        <p:spPr>
          <a:xfrm>
            <a:off x="10375582" y="3013555"/>
            <a:ext cx="105156" cy="105156"/>
          </a:xfrm>
          <a:prstGeom prst="ellipse">
            <a:avLst/>
          </a:prstGeom>
          <a:solidFill>
            <a:srgbClr val="6F63C9">
              <a:alpha val="85000"/>
            </a:srgbClr>
          </a:solidFill>
          <a:ln w="12700">
            <a:solidFill>
              <a:srgbClr val="6F63C9"/>
            </a:solidFill>
            <a:prstDash val="solid"/>
          </a:ln>
        </p:spPr>
      </p:sp>
      <p:sp>
        <p:nvSpPr>
          <p:cNvPr id="101" name="Shape 99"/>
          <p:cNvSpPr/>
          <p:nvPr/>
        </p:nvSpPr>
        <p:spPr>
          <a:xfrm>
            <a:off x="10125496" y="2905135"/>
            <a:ext cx="105156" cy="105156"/>
          </a:xfrm>
          <a:prstGeom prst="ellipse">
            <a:avLst/>
          </a:prstGeom>
          <a:solidFill>
            <a:srgbClr val="6F63C9">
              <a:alpha val="85000"/>
            </a:srgbClr>
          </a:solidFill>
          <a:ln w="12700">
            <a:solidFill>
              <a:srgbClr val="6F63C9"/>
            </a:solidFill>
            <a:prstDash val="solid"/>
          </a:ln>
        </p:spPr>
      </p:sp>
      <p:sp>
        <p:nvSpPr>
          <p:cNvPr id="102" name="Text 100"/>
          <p:cNvSpPr/>
          <p:nvPr/>
        </p:nvSpPr>
        <p:spPr>
          <a:xfrm>
            <a:off x="6656832" y="3511296"/>
            <a:ext cx="4663440" cy="411480"/>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Differences are of kind. Membership is separate and meaningful.</a:t>
            </a:r>
            <a:endParaRPr lang="en-US" sz="1200" dirty="0"/>
          </a:p>
        </p:txBody>
      </p:sp>
      <p:sp>
        <p:nvSpPr>
          <p:cNvPr id="103" name="Text 101"/>
          <p:cNvSpPr/>
          <p:nvPr/>
        </p:nvSpPr>
        <p:spPr>
          <a:xfrm>
            <a:off x="566928" y="4315968"/>
            <a:ext cx="11055096"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An everyday example — personality type from survey answers</a:t>
            </a:r>
            <a:endParaRPr lang="en-US" sz="1250" dirty="0"/>
          </a:p>
        </p:txBody>
      </p:sp>
      <p:sp>
        <p:nvSpPr>
          <p:cNvPr id="104" name="Shape 102"/>
          <p:cNvSpPr/>
          <p:nvPr/>
        </p:nvSpPr>
        <p:spPr>
          <a:xfrm>
            <a:off x="566928" y="4681728"/>
            <a:ext cx="3514344" cy="1298448"/>
          </a:xfrm>
          <a:prstGeom prst="roundRect">
            <a:avLst>
              <a:gd name="adj" fmla="val 7042"/>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05" name="Shape 103"/>
          <p:cNvSpPr/>
          <p:nvPr/>
        </p:nvSpPr>
        <p:spPr>
          <a:xfrm>
            <a:off x="804672" y="4901184"/>
            <a:ext cx="274320" cy="274320"/>
          </a:xfrm>
          <a:prstGeom prst="ellipse">
            <a:avLst/>
          </a:prstGeom>
          <a:solidFill>
            <a:srgbClr val="D9553C"/>
          </a:solidFill>
          <a:ln w="12700">
            <a:solidFill>
              <a:srgbClr val="D9553C"/>
            </a:solidFill>
            <a:prstDash val="solid"/>
          </a:ln>
        </p:spPr>
      </p:sp>
      <p:sp>
        <p:nvSpPr>
          <p:cNvPr id="106" name="Text 104"/>
          <p:cNvSpPr/>
          <p:nvPr/>
        </p:nvSpPr>
        <p:spPr>
          <a:xfrm>
            <a:off x="1170432" y="4919472"/>
            <a:ext cx="2737104" cy="256032"/>
          </a:xfrm>
          <a:prstGeom prst="rect">
            <a:avLst/>
          </a:prstGeom>
          <a:noFill/>
          <a:ln/>
        </p:spPr>
        <p:txBody>
          <a:bodyPr wrap="square" lIns="0" tIns="0" rIns="0" bIns="0" rtlCol="0" anchor="ctr"/>
          <a:lstStyle/>
          <a:p>
            <a:pPr indent="0" marL="0">
              <a:buNone/>
            </a:pPr>
            <a:r>
              <a:rPr lang="en-US" sz="1400" b="1" dirty="0">
                <a:solidFill>
                  <a:srgbClr val="1A1633"/>
                </a:solidFill>
                <a:latin typeface="Calibri" pitchFamily="34" charset="0"/>
                <a:ea typeface="Calibri" pitchFamily="34" charset="-122"/>
                <a:cs typeface="Calibri" pitchFamily="34" charset="-120"/>
              </a:rPr>
              <a:t>Introvert</a:t>
            </a:r>
            <a:endParaRPr lang="en-US" sz="1400" dirty="0"/>
          </a:p>
        </p:txBody>
      </p:sp>
      <p:sp>
        <p:nvSpPr>
          <p:cNvPr id="107" name="Text 105"/>
          <p:cNvSpPr/>
          <p:nvPr/>
        </p:nvSpPr>
        <p:spPr>
          <a:xfrm>
            <a:off x="804672" y="5285232"/>
            <a:ext cx="3038856" cy="566928"/>
          </a:xfrm>
          <a:prstGeom prst="rect">
            <a:avLst/>
          </a:prstGeom>
          <a:noFill/>
          <a:ln/>
        </p:spPr>
        <p:txBody>
          <a:bodyPr wrap="square" lIns="0" tIns="0" rIns="0" bIns="0" rtlCol="0" anchor="t"/>
          <a:lstStyle/>
          <a:p>
            <a:pPr indent="0" marL="0">
              <a:lnSpc>
                <a:spcPts val="1500"/>
              </a:lnSpc>
              <a:buNone/>
            </a:pPr>
            <a:r>
              <a:rPr lang="en-US" sz="1150" dirty="0">
                <a:solidFill>
                  <a:srgbClr val="6B6785"/>
                </a:solidFill>
                <a:latin typeface="Calibri" pitchFamily="34" charset="0"/>
                <a:ea typeface="Calibri" pitchFamily="34" charset="-122"/>
                <a:cs typeface="Calibri" pitchFamily="34" charset="-120"/>
              </a:rPr>
              <a:t>Low social activity · low energy in groups · prefers time alone</a:t>
            </a:r>
            <a:endParaRPr lang="en-US" sz="1150" dirty="0"/>
          </a:p>
        </p:txBody>
      </p:sp>
      <p:sp>
        <p:nvSpPr>
          <p:cNvPr id="108" name="Shape 106"/>
          <p:cNvSpPr/>
          <p:nvPr/>
        </p:nvSpPr>
        <p:spPr>
          <a:xfrm>
            <a:off x="4337304" y="4681728"/>
            <a:ext cx="3514344" cy="1298448"/>
          </a:xfrm>
          <a:prstGeom prst="roundRect">
            <a:avLst>
              <a:gd name="adj" fmla="val 7042"/>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09" name="Shape 107"/>
          <p:cNvSpPr/>
          <p:nvPr/>
        </p:nvSpPr>
        <p:spPr>
          <a:xfrm>
            <a:off x="4575048" y="4901184"/>
            <a:ext cx="274320" cy="274320"/>
          </a:xfrm>
          <a:prstGeom prst="ellipse">
            <a:avLst/>
          </a:prstGeom>
          <a:solidFill>
            <a:srgbClr val="E09B21"/>
          </a:solidFill>
          <a:ln w="12700">
            <a:solidFill>
              <a:srgbClr val="E09B21"/>
            </a:solidFill>
            <a:prstDash val="solid"/>
          </a:ln>
        </p:spPr>
      </p:sp>
      <p:sp>
        <p:nvSpPr>
          <p:cNvPr id="110" name="Text 108"/>
          <p:cNvSpPr/>
          <p:nvPr/>
        </p:nvSpPr>
        <p:spPr>
          <a:xfrm>
            <a:off x="4940808" y="4919472"/>
            <a:ext cx="2737104" cy="256032"/>
          </a:xfrm>
          <a:prstGeom prst="rect">
            <a:avLst/>
          </a:prstGeom>
          <a:noFill/>
          <a:ln/>
        </p:spPr>
        <p:txBody>
          <a:bodyPr wrap="square" lIns="0" tIns="0" rIns="0" bIns="0" rtlCol="0" anchor="ctr"/>
          <a:lstStyle/>
          <a:p>
            <a:pPr indent="0" marL="0">
              <a:buNone/>
            </a:pPr>
            <a:r>
              <a:rPr lang="en-US" sz="1400" b="1" dirty="0">
                <a:solidFill>
                  <a:srgbClr val="1A1633"/>
                </a:solidFill>
                <a:latin typeface="Calibri" pitchFamily="34" charset="0"/>
                <a:ea typeface="Calibri" pitchFamily="34" charset="-122"/>
                <a:cs typeface="Calibri" pitchFamily="34" charset="-120"/>
              </a:rPr>
              <a:t>Ambivert</a:t>
            </a:r>
            <a:endParaRPr lang="en-US" sz="1400" dirty="0"/>
          </a:p>
        </p:txBody>
      </p:sp>
      <p:sp>
        <p:nvSpPr>
          <p:cNvPr id="111" name="Text 109"/>
          <p:cNvSpPr/>
          <p:nvPr/>
        </p:nvSpPr>
        <p:spPr>
          <a:xfrm>
            <a:off x="4575048" y="5285232"/>
            <a:ext cx="3038856" cy="566928"/>
          </a:xfrm>
          <a:prstGeom prst="rect">
            <a:avLst/>
          </a:prstGeom>
          <a:noFill/>
          <a:ln/>
        </p:spPr>
        <p:txBody>
          <a:bodyPr wrap="square" lIns="0" tIns="0" rIns="0" bIns="0" rtlCol="0" anchor="t"/>
          <a:lstStyle/>
          <a:p>
            <a:pPr indent="0" marL="0">
              <a:lnSpc>
                <a:spcPts val="1500"/>
              </a:lnSpc>
              <a:buNone/>
            </a:pPr>
            <a:r>
              <a:rPr lang="en-US" sz="1150" dirty="0">
                <a:solidFill>
                  <a:srgbClr val="6B6785"/>
                </a:solidFill>
                <a:latin typeface="Calibri" pitchFamily="34" charset="0"/>
                <a:ea typeface="Calibri" pitchFamily="34" charset="-122"/>
                <a:cs typeface="Calibri" pitchFamily="34" charset="-120"/>
              </a:rPr>
              <a:t>Moderate on everything · shifts with the situation</a:t>
            </a:r>
            <a:endParaRPr lang="en-US" sz="1150" dirty="0"/>
          </a:p>
        </p:txBody>
      </p:sp>
      <p:sp>
        <p:nvSpPr>
          <p:cNvPr id="112" name="Shape 110"/>
          <p:cNvSpPr/>
          <p:nvPr/>
        </p:nvSpPr>
        <p:spPr>
          <a:xfrm>
            <a:off x="8107680" y="4681728"/>
            <a:ext cx="3514344" cy="1298448"/>
          </a:xfrm>
          <a:prstGeom prst="roundRect">
            <a:avLst>
              <a:gd name="adj" fmla="val 7042"/>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13" name="Shape 111"/>
          <p:cNvSpPr/>
          <p:nvPr/>
        </p:nvSpPr>
        <p:spPr>
          <a:xfrm>
            <a:off x="8345424" y="4901184"/>
            <a:ext cx="274320" cy="274320"/>
          </a:xfrm>
          <a:prstGeom prst="ellipse">
            <a:avLst/>
          </a:prstGeom>
          <a:solidFill>
            <a:srgbClr val="6F63C9"/>
          </a:solidFill>
          <a:ln w="12700">
            <a:solidFill>
              <a:srgbClr val="6F63C9"/>
            </a:solidFill>
            <a:prstDash val="solid"/>
          </a:ln>
        </p:spPr>
      </p:sp>
      <p:sp>
        <p:nvSpPr>
          <p:cNvPr id="114" name="Text 112"/>
          <p:cNvSpPr/>
          <p:nvPr/>
        </p:nvSpPr>
        <p:spPr>
          <a:xfrm>
            <a:off x="8711184" y="4919472"/>
            <a:ext cx="2737104" cy="256032"/>
          </a:xfrm>
          <a:prstGeom prst="rect">
            <a:avLst/>
          </a:prstGeom>
          <a:noFill/>
          <a:ln/>
        </p:spPr>
        <p:txBody>
          <a:bodyPr wrap="square" lIns="0" tIns="0" rIns="0" bIns="0" rtlCol="0" anchor="ctr"/>
          <a:lstStyle/>
          <a:p>
            <a:pPr indent="0" marL="0">
              <a:buNone/>
            </a:pPr>
            <a:r>
              <a:rPr lang="en-US" sz="1400" b="1" dirty="0">
                <a:solidFill>
                  <a:srgbClr val="1A1633"/>
                </a:solidFill>
                <a:latin typeface="Calibri" pitchFamily="34" charset="0"/>
                <a:ea typeface="Calibri" pitchFamily="34" charset="-122"/>
                <a:cs typeface="Calibri" pitchFamily="34" charset="-120"/>
              </a:rPr>
              <a:t>Extravert</a:t>
            </a:r>
            <a:endParaRPr lang="en-US" sz="1400" dirty="0"/>
          </a:p>
        </p:txBody>
      </p:sp>
      <p:sp>
        <p:nvSpPr>
          <p:cNvPr id="115" name="Text 113"/>
          <p:cNvSpPr/>
          <p:nvPr/>
        </p:nvSpPr>
        <p:spPr>
          <a:xfrm>
            <a:off x="8345424" y="5285232"/>
            <a:ext cx="3038856" cy="566928"/>
          </a:xfrm>
          <a:prstGeom prst="rect">
            <a:avLst/>
          </a:prstGeom>
          <a:noFill/>
          <a:ln/>
        </p:spPr>
        <p:txBody>
          <a:bodyPr wrap="square" lIns="0" tIns="0" rIns="0" bIns="0" rtlCol="0" anchor="t"/>
          <a:lstStyle/>
          <a:p>
            <a:pPr indent="0" marL="0">
              <a:lnSpc>
                <a:spcPts val="1500"/>
              </a:lnSpc>
              <a:buNone/>
            </a:pPr>
            <a:r>
              <a:rPr lang="en-US" sz="1150" dirty="0">
                <a:solidFill>
                  <a:srgbClr val="6B6785"/>
                </a:solidFill>
                <a:latin typeface="Calibri" pitchFamily="34" charset="0"/>
                <a:ea typeface="Calibri" pitchFamily="34" charset="-122"/>
                <a:cs typeface="Calibri" pitchFamily="34" charset="-120"/>
              </a:rPr>
              <a:t>High social activity · high group energy · prefers large gatherings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2356"/>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E09B21"/>
                </a:solidFill>
                <a:latin typeface="Calibri" pitchFamily="34" charset="0"/>
                <a:ea typeface="Calibri" pitchFamily="34" charset="-122"/>
                <a:cs typeface="Calibri" pitchFamily="34" charset="-120"/>
              </a:rPr>
              <a:t>PUTTING IT TOGETHER</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So — what is latent class analysis?</a:t>
            </a:r>
            <a:endParaRPr lang="en-US" sz="2900" dirty="0"/>
          </a:p>
        </p:txBody>
      </p:sp>
      <p:sp>
        <p:nvSpPr>
          <p:cNvPr id="4" name="Shape 2"/>
          <p:cNvSpPr/>
          <p:nvPr/>
        </p:nvSpPr>
        <p:spPr>
          <a:xfrm>
            <a:off x="566928" y="1417320"/>
            <a:ext cx="11055096" cy="1207008"/>
          </a:xfrm>
          <a:prstGeom prst="roundRect">
            <a:avLst>
              <a:gd name="adj" fmla="val 7576"/>
            </a:avLst>
          </a:prstGeom>
          <a:solidFill>
            <a:srgbClr val="393177"/>
          </a:solidFill>
          <a:ln w="9525">
            <a:solidFill>
              <a:srgbClr val="393177"/>
            </a:solidFill>
            <a:prstDash val="solid"/>
          </a:ln>
        </p:spPr>
      </p:sp>
      <p:sp>
        <p:nvSpPr>
          <p:cNvPr id="5" name="Text 3"/>
          <p:cNvSpPr/>
          <p:nvPr/>
        </p:nvSpPr>
        <p:spPr>
          <a:xfrm>
            <a:off x="978408" y="1417320"/>
            <a:ext cx="10232136" cy="1207008"/>
          </a:xfrm>
          <a:prstGeom prst="rect">
            <a:avLst/>
          </a:prstGeom>
          <a:noFill/>
          <a:ln/>
        </p:spPr>
        <p:txBody>
          <a:bodyPr wrap="square" lIns="0" tIns="0" rIns="0" bIns="0" rtlCol="0" anchor="ctr"/>
          <a:lstStyle/>
          <a:p>
            <a:pPr indent="0" marL="0">
              <a:lnSpc>
                <a:spcPts val="2700"/>
              </a:lnSpc>
              <a:buNone/>
            </a:pPr>
            <a:r>
              <a:rPr lang="en-US" sz="1900" b="1" dirty="0">
                <a:solidFill>
                  <a:srgbClr val="FFFFFF"/>
                </a:solidFill>
                <a:latin typeface="Cambria" pitchFamily="34" charset="0"/>
                <a:ea typeface="Cambria" pitchFamily="34" charset="-122"/>
                <a:cs typeface="Cambria" pitchFamily="34" charset="-120"/>
              </a:rPr>
              <a:t>A statistical method that uses patterns in observed answers to identify hidden subgroups of people — subgroups that share a characteristic profile, and that no variable in your dataset labels.</a:t>
            </a:r>
            <a:endParaRPr lang="en-US" sz="1900" dirty="0"/>
          </a:p>
        </p:txBody>
      </p:sp>
      <p:sp>
        <p:nvSpPr>
          <p:cNvPr id="6" name="Shape 4"/>
          <p:cNvSpPr/>
          <p:nvPr/>
        </p:nvSpPr>
        <p:spPr>
          <a:xfrm>
            <a:off x="566928" y="2880360"/>
            <a:ext cx="2585466" cy="2651760"/>
          </a:xfrm>
          <a:prstGeom prst="roundRect">
            <a:avLst>
              <a:gd name="adj" fmla="val 3537"/>
            </a:avLst>
          </a:prstGeom>
          <a:solidFill>
            <a:srgbClr val="393177"/>
          </a:solidFill>
          <a:ln w="9525">
            <a:solidFill>
              <a:srgbClr val="393177"/>
            </a:solidFill>
            <a:prstDash val="solid"/>
          </a:ln>
        </p:spPr>
      </p:sp>
      <p:sp>
        <p:nvSpPr>
          <p:cNvPr id="7" name="Shape 5"/>
          <p:cNvSpPr/>
          <p:nvPr/>
        </p:nvSpPr>
        <p:spPr>
          <a:xfrm>
            <a:off x="804672" y="3127248"/>
            <a:ext cx="274320" cy="274320"/>
          </a:xfrm>
          <a:prstGeom prst="ellipse">
            <a:avLst/>
          </a:prstGeom>
          <a:solidFill>
            <a:srgbClr val="E09B21"/>
          </a:solidFill>
          <a:ln w="12700">
            <a:solidFill>
              <a:srgbClr val="E09B21"/>
            </a:solidFill>
            <a:prstDash val="solid"/>
          </a:ln>
        </p:spPr>
      </p:sp>
      <p:sp>
        <p:nvSpPr>
          <p:cNvPr id="8" name="Text 6"/>
          <p:cNvSpPr/>
          <p:nvPr/>
        </p:nvSpPr>
        <p:spPr>
          <a:xfrm>
            <a:off x="804672" y="3529584"/>
            <a:ext cx="2109978"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It is model-based</a:t>
            </a:r>
            <a:endParaRPr lang="en-US" sz="1400" dirty="0"/>
          </a:p>
        </p:txBody>
      </p:sp>
      <p:sp>
        <p:nvSpPr>
          <p:cNvPr id="9" name="Text 7"/>
          <p:cNvSpPr/>
          <p:nvPr/>
        </p:nvSpPr>
        <p:spPr>
          <a:xfrm>
            <a:off x="804672" y="4114800"/>
            <a:ext cx="2109978" cy="1298448"/>
          </a:xfrm>
          <a:prstGeom prst="rect">
            <a:avLst/>
          </a:prstGeom>
          <a:noFill/>
          <a:ln/>
        </p:spPr>
        <p:txBody>
          <a:bodyPr wrap="square" lIns="0" tIns="0" rIns="0" bIns="0" rtlCol="0" anchor="t"/>
          <a:lstStyle/>
          <a:p>
            <a:pPr indent="0" marL="0">
              <a:lnSpc>
                <a:spcPts val="1600"/>
              </a:lnSpc>
              <a:buNone/>
            </a:pPr>
            <a:r>
              <a:rPr lang="en-US" sz="1150" dirty="0">
                <a:solidFill>
                  <a:srgbClr val="C4BFE0"/>
                </a:solidFill>
                <a:latin typeface="Calibri" pitchFamily="34" charset="0"/>
                <a:ea typeface="Calibri" pitchFamily="34" charset="-122"/>
                <a:cs typeface="Calibri" pitchFamily="34" charset="-120"/>
              </a:rPr>
              <a:t>There is an actual probability model behind it — so you get fit statistics, standard errors, and principled ways to compare solutions.</a:t>
            </a:r>
            <a:endParaRPr lang="en-US" sz="1150" dirty="0"/>
          </a:p>
        </p:txBody>
      </p:sp>
      <p:sp>
        <p:nvSpPr>
          <p:cNvPr id="10" name="Shape 8"/>
          <p:cNvSpPr/>
          <p:nvPr/>
        </p:nvSpPr>
        <p:spPr>
          <a:xfrm>
            <a:off x="3390138" y="2880360"/>
            <a:ext cx="2585466" cy="2651760"/>
          </a:xfrm>
          <a:prstGeom prst="roundRect">
            <a:avLst>
              <a:gd name="adj" fmla="val 3537"/>
            </a:avLst>
          </a:prstGeom>
          <a:solidFill>
            <a:srgbClr val="393177"/>
          </a:solidFill>
          <a:ln w="9525">
            <a:solidFill>
              <a:srgbClr val="393177"/>
            </a:solidFill>
            <a:prstDash val="solid"/>
          </a:ln>
        </p:spPr>
      </p:sp>
      <p:sp>
        <p:nvSpPr>
          <p:cNvPr id="11" name="Shape 9"/>
          <p:cNvSpPr/>
          <p:nvPr/>
        </p:nvSpPr>
        <p:spPr>
          <a:xfrm>
            <a:off x="3627882" y="3127248"/>
            <a:ext cx="274320" cy="274320"/>
          </a:xfrm>
          <a:prstGeom prst="ellipse">
            <a:avLst/>
          </a:prstGeom>
          <a:solidFill>
            <a:srgbClr val="1F8F82"/>
          </a:solidFill>
          <a:ln w="12700">
            <a:solidFill>
              <a:srgbClr val="1F8F82"/>
            </a:solidFill>
            <a:prstDash val="solid"/>
          </a:ln>
        </p:spPr>
      </p:sp>
      <p:sp>
        <p:nvSpPr>
          <p:cNvPr id="12" name="Text 10"/>
          <p:cNvSpPr/>
          <p:nvPr/>
        </p:nvSpPr>
        <p:spPr>
          <a:xfrm>
            <a:off x="3627882" y="3529584"/>
            <a:ext cx="2109978"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Membership is probabilistic</a:t>
            </a:r>
            <a:endParaRPr lang="en-US" sz="1400" dirty="0"/>
          </a:p>
        </p:txBody>
      </p:sp>
      <p:sp>
        <p:nvSpPr>
          <p:cNvPr id="13" name="Text 11"/>
          <p:cNvSpPr/>
          <p:nvPr/>
        </p:nvSpPr>
        <p:spPr>
          <a:xfrm>
            <a:off x="3627882" y="4114800"/>
            <a:ext cx="2109978" cy="1298448"/>
          </a:xfrm>
          <a:prstGeom prst="rect">
            <a:avLst/>
          </a:prstGeom>
          <a:noFill/>
          <a:ln/>
        </p:spPr>
        <p:txBody>
          <a:bodyPr wrap="square" lIns="0" tIns="0" rIns="0" bIns="0" rtlCol="0" anchor="t"/>
          <a:lstStyle/>
          <a:p>
            <a:pPr indent="0" marL="0">
              <a:lnSpc>
                <a:spcPts val="1600"/>
              </a:lnSpc>
              <a:buNone/>
            </a:pPr>
            <a:r>
              <a:rPr lang="en-US" sz="1150" dirty="0">
                <a:solidFill>
                  <a:srgbClr val="C4BFE0"/>
                </a:solidFill>
                <a:latin typeface="Calibri" pitchFamily="34" charset="0"/>
                <a:ea typeface="Calibri" pitchFamily="34" charset="-122"/>
                <a:cs typeface="Calibri" pitchFamily="34" charset="-120"/>
              </a:rPr>
              <a:t>Nobody is simply “in class 2”. Each person gets a posterior probability of belonging to each class — 0.91 / 0.07 / 0.02.</a:t>
            </a:r>
            <a:endParaRPr lang="en-US" sz="1150" dirty="0"/>
          </a:p>
        </p:txBody>
      </p:sp>
      <p:sp>
        <p:nvSpPr>
          <p:cNvPr id="14" name="Shape 12"/>
          <p:cNvSpPr/>
          <p:nvPr/>
        </p:nvSpPr>
        <p:spPr>
          <a:xfrm>
            <a:off x="6213348" y="2880360"/>
            <a:ext cx="2585466" cy="2651760"/>
          </a:xfrm>
          <a:prstGeom prst="roundRect">
            <a:avLst>
              <a:gd name="adj" fmla="val 3537"/>
            </a:avLst>
          </a:prstGeom>
          <a:solidFill>
            <a:srgbClr val="393177"/>
          </a:solidFill>
          <a:ln w="9525">
            <a:solidFill>
              <a:srgbClr val="393177"/>
            </a:solidFill>
            <a:prstDash val="solid"/>
          </a:ln>
        </p:spPr>
      </p:sp>
      <p:sp>
        <p:nvSpPr>
          <p:cNvPr id="15" name="Shape 13"/>
          <p:cNvSpPr/>
          <p:nvPr/>
        </p:nvSpPr>
        <p:spPr>
          <a:xfrm>
            <a:off x="6451092" y="3127248"/>
            <a:ext cx="274320" cy="274320"/>
          </a:xfrm>
          <a:prstGeom prst="ellipse">
            <a:avLst/>
          </a:prstGeom>
          <a:solidFill>
            <a:srgbClr val="D9553C"/>
          </a:solidFill>
          <a:ln w="12700">
            <a:solidFill>
              <a:srgbClr val="D9553C"/>
            </a:solidFill>
            <a:prstDash val="solid"/>
          </a:ln>
        </p:spPr>
      </p:sp>
      <p:sp>
        <p:nvSpPr>
          <p:cNvPr id="16" name="Text 14"/>
          <p:cNvSpPr/>
          <p:nvPr/>
        </p:nvSpPr>
        <p:spPr>
          <a:xfrm>
            <a:off x="6451092" y="3529584"/>
            <a:ext cx="2109978"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Classes are qualitative</a:t>
            </a:r>
            <a:endParaRPr lang="en-US" sz="1400" dirty="0"/>
          </a:p>
        </p:txBody>
      </p:sp>
      <p:sp>
        <p:nvSpPr>
          <p:cNvPr id="17" name="Text 15"/>
          <p:cNvSpPr/>
          <p:nvPr/>
        </p:nvSpPr>
        <p:spPr>
          <a:xfrm>
            <a:off x="6451092" y="4114800"/>
            <a:ext cx="2109978" cy="1298448"/>
          </a:xfrm>
          <a:prstGeom prst="rect">
            <a:avLst/>
          </a:prstGeom>
          <a:noFill/>
          <a:ln/>
        </p:spPr>
        <p:txBody>
          <a:bodyPr wrap="square" lIns="0" tIns="0" rIns="0" bIns="0" rtlCol="0" anchor="t"/>
          <a:lstStyle/>
          <a:p>
            <a:pPr indent="0" marL="0">
              <a:lnSpc>
                <a:spcPts val="1600"/>
              </a:lnSpc>
              <a:buNone/>
            </a:pPr>
            <a:r>
              <a:rPr lang="en-US" sz="1150" dirty="0">
                <a:solidFill>
                  <a:srgbClr val="C4BFE0"/>
                </a:solidFill>
                <a:latin typeface="Calibri" pitchFamily="34" charset="0"/>
                <a:ea typeface="Calibri" pitchFamily="34" charset="-122"/>
                <a:cs typeface="Calibri" pitchFamily="34" charset="-120"/>
              </a:rPr>
              <a:t>They differ in pattern, not just in level. Class 3 is not “more” than class 2; it is a different shape.</a:t>
            </a:r>
            <a:endParaRPr lang="en-US" sz="1150" dirty="0"/>
          </a:p>
        </p:txBody>
      </p:sp>
      <p:sp>
        <p:nvSpPr>
          <p:cNvPr id="18" name="Shape 16"/>
          <p:cNvSpPr/>
          <p:nvPr/>
        </p:nvSpPr>
        <p:spPr>
          <a:xfrm>
            <a:off x="9036558" y="2880360"/>
            <a:ext cx="2585466" cy="2651760"/>
          </a:xfrm>
          <a:prstGeom prst="roundRect">
            <a:avLst>
              <a:gd name="adj" fmla="val 3537"/>
            </a:avLst>
          </a:prstGeom>
          <a:solidFill>
            <a:srgbClr val="393177"/>
          </a:solidFill>
          <a:ln w="9525">
            <a:solidFill>
              <a:srgbClr val="393177"/>
            </a:solidFill>
            <a:prstDash val="solid"/>
          </a:ln>
        </p:spPr>
      </p:sp>
      <p:sp>
        <p:nvSpPr>
          <p:cNvPr id="19" name="Shape 17"/>
          <p:cNvSpPr/>
          <p:nvPr/>
        </p:nvSpPr>
        <p:spPr>
          <a:xfrm>
            <a:off x="9274302" y="3127248"/>
            <a:ext cx="274320" cy="274320"/>
          </a:xfrm>
          <a:prstGeom prst="ellipse">
            <a:avLst/>
          </a:prstGeom>
          <a:solidFill>
            <a:srgbClr val="6F63C9"/>
          </a:solidFill>
          <a:ln w="12700">
            <a:solidFill>
              <a:srgbClr val="6F63C9"/>
            </a:solidFill>
            <a:prstDash val="solid"/>
          </a:ln>
        </p:spPr>
      </p:sp>
      <p:sp>
        <p:nvSpPr>
          <p:cNvPr id="20" name="Text 18"/>
          <p:cNvSpPr/>
          <p:nvPr/>
        </p:nvSpPr>
        <p:spPr>
          <a:xfrm>
            <a:off x="9274302" y="3529584"/>
            <a:ext cx="2109978"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You choose the number</a:t>
            </a:r>
            <a:endParaRPr lang="en-US" sz="1400" dirty="0"/>
          </a:p>
        </p:txBody>
      </p:sp>
      <p:sp>
        <p:nvSpPr>
          <p:cNvPr id="21" name="Text 19"/>
          <p:cNvSpPr/>
          <p:nvPr/>
        </p:nvSpPr>
        <p:spPr>
          <a:xfrm>
            <a:off x="9274302" y="4114800"/>
            <a:ext cx="2109978" cy="1298448"/>
          </a:xfrm>
          <a:prstGeom prst="rect">
            <a:avLst/>
          </a:prstGeom>
          <a:noFill/>
          <a:ln/>
        </p:spPr>
        <p:txBody>
          <a:bodyPr wrap="square" lIns="0" tIns="0" rIns="0" bIns="0" rtlCol="0" anchor="t"/>
          <a:lstStyle/>
          <a:p>
            <a:pPr indent="0" marL="0">
              <a:lnSpc>
                <a:spcPts val="1600"/>
              </a:lnSpc>
              <a:buNone/>
            </a:pPr>
            <a:r>
              <a:rPr lang="en-US" sz="1150" dirty="0">
                <a:solidFill>
                  <a:srgbClr val="C4BFE0"/>
                </a:solidFill>
                <a:latin typeface="Calibri" pitchFamily="34" charset="0"/>
                <a:ea typeface="Calibri" pitchFamily="34" charset="-122"/>
                <a:cs typeface="Calibri" pitchFamily="34" charset="-120"/>
              </a:rPr>
              <a:t>The model will not tell you there are four classes. It tells you how well four fits, and you argue the case.</a:t>
            </a:r>
            <a:endParaRPr lang="en-US" sz="1150" dirty="0"/>
          </a:p>
        </p:txBody>
      </p:sp>
      <p:sp>
        <p:nvSpPr>
          <p:cNvPr id="22" name="Text 20"/>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8F89B8"/>
                </a:solidFill>
                <a:latin typeface="Calibri" pitchFamily="34" charset="0"/>
                <a:ea typeface="Calibri" pitchFamily="34" charset="-122"/>
                <a:cs typeface="Calibri" pitchFamily="34" charset="-120"/>
              </a:rPr>
              <a:t>Technically: LCA is a finite mixture model. “Mixture” because your sample is treated as a mixture of several unobserved populations, blended together in unknown proportions.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2356"/>
        </a:solidFill>
      </p:bgPr>
    </p:bg>
    <p:spTree>
      <p:nvGrpSpPr>
        <p:cNvPr id="1" name=""/>
        <p:cNvGrpSpPr/>
        <p:nvPr/>
      </p:nvGrpSpPr>
      <p:grpSpPr>
        <a:xfrm>
          <a:off x="0" y="0"/>
          <a:ext cx="0" cy="0"/>
          <a:chOff x="0" y="0"/>
          <a:chExt cx="0" cy="0"/>
        </a:xfrm>
      </p:grpSpPr>
      <p:sp>
        <p:nvSpPr>
          <p:cNvPr id="2" name="Shape 0"/>
          <p:cNvSpPr/>
          <p:nvPr/>
        </p:nvSpPr>
        <p:spPr>
          <a:xfrm>
            <a:off x="10550639" y="3808563"/>
            <a:ext cx="116509" cy="116509"/>
          </a:xfrm>
          <a:prstGeom prst="ellipse">
            <a:avLst/>
          </a:prstGeom>
          <a:solidFill>
            <a:srgbClr val="D9553C">
              <a:alpha val="55000"/>
            </a:srgbClr>
          </a:solidFill>
          <a:ln w="12700">
            <a:solidFill>
              <a:srgbClr val="D9553C"/>
            </a:solidFill>
            <a:prstDash val="solid"/>
          </a:ln>
        </p:spPr>
      </p:sp>
      <p:sp>
        <p:nvSpPr>
          <p:cNvPr id="3" name="Shape 1"/>
          <p:cNvSpPr/>
          <p:nvPr/>
        </p:nvSpPr>
        <p:spPr>
          <a:xfrm>
            <a:off x="9118906" y="1880464"/>
            <a:ext cx="189867" cy="189867"/>
          </a:xfrm>
          <a:prstGeom prst="ellipse">
            <a:avLst/>
          </a:prstGeom>
          <a:solidFill>
            <a:srgbClr val="1F8F82">
              <a:alpha val="55000"/>
            </a:srgbClr>
          </a:solidFill>
          <a:ln w="12700">
            <a:solidFill>
              <a:srgbClr val="1F8F82"/>
            </a:solidFill>
            <a:prstDash val="solid"/>
          </a:ln>
        </p:spPr>
      </p:sp>
      <p:sp>
        <p:nvSpPr>
          <p:cNvPr id="4" name="Shape 2"/>
          <p:cNvSpPr/>
          <p:nvPr/>
        </p:nvSpPr>
        <p:spPr>
          <a:xfrm>
            <a:off x="8443475" y="5488860"/>
            <a:ext cx="199900" cy="199900"/>
          </a:xfrm>
          <a:prstGeom prst="ellipse">
            <a:avLst/>
          </a:prstGeom>
          <a:solidFill>
            <a:srgbClr val="E09B21">
              <a:alpha val="55000"/>
            </a:srgbClr>
          </a:solidFill>
          <a:ln w="12700">
            <a:solidFill>
              <a:srgbClr val="E09B21"/>
            </a:solidFill>
            <a:prstDash val="solid"/>
          </a:ln>
        </p:spPr>
      </p:sp>
      <p:sp>
        <p:nvSpPr>
          <p:cNvPr id="5" name="Shape 3"/>
          <p:cNvSpPr/>
          <p:nvPr/>
        </p:nvSpPr>
        <p:spPr>
          <a:xfrm>
            <a:off x="9207502" y="1160424"/>
            <a:ext cx="120721" cy="120721"/>
          </a:xfrm>
          <a:prstGeom prst="ellipse">
            <a:avLst/>
          </a:prstGeom>
          <a:solidFill>
            <a:srgbClr val="6F63C9">
              <a:alpha val="55000"/>
            </a:srgbClr>
          </a:solidFill>
          <a:ln w="12700">
            <a:solidFill>
              <a:srgbClr val="6F63C9"/>
            </a:solidFill>
            <a:prstDash val="solid"/>
          </a:ln>
        </p:spPr>
      </p:sp>
      <p:sp>
        <p:nvSpPr>
          <p:cNvPr id="6" name="Shape 4"/>
          <p:cNvSpPr/>
          <p:nvPr/>
        </p:nvSpPr>
        <p:spPr>
          <a:xfrm>
            <a:off x="8285251" y="4030013"/>
            <a:ext cx="189762" cy="189762"/>
          </a:xfrm>
          <a:prstGeom prst="ellipse">
            <a:avLst/>
          </a:prstGeom>
          <a:solidFill>
            <a:srgbClr val="B23A6B">
              <a:alpha val="55000"/>
            </a:srgbClr>
          </a:solidFill>
          <a:ln w="12700">
            <a:solidFill>
              <a:srgbClr val="B23A6B"/>
            </a:solidFill>
            <a:prstDash val="solid"/>
          </a:ln>
        </p:spPr>
      </p:sp>
      <p:sp>
        <p:nvSpPr>
          <p:cNvPr id="7" name="Shape 5"/>
          <p:cNvSpPr/>
          <p:nvPr/>
        </p:nvSpPr>
        <p:spPr>
          <a:xfrm>
            <a:off x="8308396" y="5588353"/>
            <a:ext cx="177680" cy="177680"/>
          </a:xfrm>
          <a:prstGeom prst="ellipse">
            <a:avLst/>
          </a:prstGeom>
          <a:solidFill>
            <a:srgbClr val="D9553C">
              <a:alpha val="55000"/>
            </a:srgbClr>
          </a:solidFill>
          <a:ln w="12700">
            <a:solidFill>
              <a:srgbClr val="D9553C"/>
            </a:solidFill>
            <a:prstDash val="solid"/>
          </a:ln>
        </p:spPr>
      </p:sp>
      <p:sp>
        <p:nvSpPr>
          <p:cNvPr id="8" name="Shape 6"/>
          <p:cNvSpPr/>
          <p:nvPr/>
        </p:nvSpPr>
        <p:spPr>
          <a:xfrm>
            <a:off x="9297109" y="4433691"/>
            <a:ext cx="210251" cy="210251"/>
          </a:xfrm>
          <a:prstGeom prst="ellipse">
            <a:avLst/>
          </a:prstGeom>
          <a:solidFill>
            <a:srgbClr val="1F8F82">
              <a:alpha val="55000"/>
            </a:srgbClr>
          </a:solidFill>
          <a:ln w="12700">
            <a:solidFill>
              <a:srgbClr val="1F8F82"/>
            </a:solidFill>
            <a:prstDash val="solid"/>
          </a:ln>
        </p:spPr>
      </p:sp>
      <p:sp>
        <p:nvSpPr>
          <p:cNvPr id="9" name="Shape 7"/>
          <p:cNvSpPr/>
          <p:nvPr/>
        </p:nvSpPr>
        <p:spPr>
          <a:xfrm>
            <a:off x="8151181" y="1677630"/>
            <a:ext cx="146529" cy="146529"/>
          </a:xfrm>
          <a:prstGeom prst="ellipse">
            <a:avLst/>
          </a:prstGeom>
          <a:solidFill>
            <a:srgbClr val="E09B21">
              <a:alpha val="55000"/>
            </a:srgbClr>
          </a:solidFill>
          <a:ln w="12700">
            <a:solidFill>
              <a:srgbClr val="E09B21"/>
            </a:solidFill>
            <a:prstDash val="solid"/>
          </a:ln>
        </p:spPr>
      </p:sp>
      <p:sp>
        <p:nvSpPr>
          <p:cNvPr id="10" name="Shape 8"/>
          <p:cNvSpPr/>
          <p:nvPr/>
        </p:nvSpPr>
        <p:spPr>
          <a:xfrm>
            <a:off x="11512475" y="5855641"/>
            <a:ext cx="202547" cy="202547"/>
          </a:xfrm>
          <a:prstGeom prst="ellipse">
            <a:avLst/>
          </a:prstGeom>
          <a:solidFill>
            <a:srgbClr val="6F63C9">
              <a:alpha val="55000"/>
            </a:srgbClr>
          </a:solidFill>
          <a:ln w="12700">
            <a:solidFill>
              <a:srgbClr val="6F63C9"/>
            </a:solidFill>
            <a:prstDash val="solid"/>
          </a:ln>
        </p:spPr>
      </p:sp>
      <p:sp>
        <p:nvSpPr>
          <p:cNvPr id="11" name="Shape 9"/>
          <p:cNvSpPr/>
          <p:nvPr/>
        </p:nvSpPr>
        <p:spPr>
          <a:xfrm>
            <a:off x="9776368" y="4164029"/>
            <a:ext cx="127659" cy="127659"/>
          </a:xfrm>
          <a:prstGeom prst="ellipse">
            <a:avLst/>
          </a:prstGeom>
          <a:solidFill>
            <a:srgbClr val="B23A6B">
              <a:alpha val="55000"/>
            </a:srgbClr>
          </a:solidFill>
          <a:ln w="12700">
            <a:solidFill>
              <a:srgbClr val="B23A6B"/>
            </a:solidFill>
            <a:prstDash val="solid"/>
          </a:ln>
        </p:spPr>
      </p:sp>
      <p:sp>
        <p:nvSpPr>
          <p:cNvPr id="12" name="Shape 10"/>
          <p:cNvSpPr/>
          <p:nvPr/>
        </p:nvSpPr>
        <p:spPr>
          <a:xfrm>
            <a:off x="10243873" y="1128994"/>
            <a:ext cx="174847" cy="174847"/>
          </a:xfrm>
          <a:prstGeom prst="ellipse">
            <a:avLst/>
          </a:prstGeom>
          <a:solidFill>
            <a:srgbClr val="D9553C">
              <a:alpha val="55000"/>
            </a:srgbClr>
          </a:solidFill>
          <a:ln w="12700">
            <a:solidFill>
              <a:srgbClr val="D9553C"/>
            </a:solidFill>
            <a:prstDash val="solid"/>
          </a:ln>
        </p:spPr>
      </p:sp>
      <p:sp>
        <p:nvSpPr>
          <p:cNvPr id="13" name="Shape 11"/>
          <p:cNvSpPr/>
          <p:nvPr/>
        </p:nvSpPr>
        <p:spPr>
          <a:xfrm>
            <a:off x="11514108" y="5358489"/>
            <a:ext cx="156513" cy="156513"/>
          </a:xfrm>
          <a:prstGeom prst="ellipse">
            <a:avLst/>
          </a:prstGeom>
          <a:solidFill>
            <a:srgbClr val="1F8F82">
              <a:alpha val="55000"/>
            </a:srgbClr>
          </a:solidFill>
          <a:ln w="12700">
            <a:solidFill>
              <a:srgbClr val="1F8F82"/>
            </a:solidFill>
            <a:prstDash val="solid"/>
          </a:ln>
        </p:spPr>
      </p:sp>
      <p:sp>
        <p:nvSpPr>
          <p:cNvPr id="14" name="Shape 12"/>
          <p:cNvSpPr/>
          <p:nvPr/>
        </p:nvSpPr>
        <p:spPr>
          <a:xfrm>
            <a:off x="9130082" y="1000853"/>
            <a:ext cx="194865" cy="194865"/>
          </a:xfrm>
          <a:prstGeom prst="ellipse">
            <a:avLst/>
          </a:prstGeom>
          <a:solidFill>
            <a:srgbClr val="E09B21">
              <a:alpha val="55000"/>
            </a:srgbClr>
          </a:solidFill>
          <a:ln w="12700">
            <a:solidFill>
              <a:srgbClr val="E09B21"/>
            </a:solidFill>
            <a:prstDash val="solid"/>
          </a:ln>
        </p:spPr>
      </p:sp>
      <p:sp>
        <p:nvSpPr>
          <p:cNvPr id="15" name="Shape 13"/>
          <p:cNvSpPr/>
          <p:nvPr/>
        </p:nvSpPr>
        <p:spPr>
          <a:xfrm>
            <a:off x="10369747" y="788925"/>
            <a:ext cx="181628" cy="181628"/>
          </a:xfrm>
          <a:prstGeom prst="ellipse">
            <a:avLst/>
          </a:prstGeom>
          <a:solidFill>
            <a:srgbClr val="6F63C9">
              <a:alpha val="55000"/>
            </a:srgbClr>
          </a:solidFill>
          <a:ln w="12700">
            <a:solidFill>
              <a:srgbClr val="6F63C9"/>
            </a:solidFill>
            <a:prstDash val="solid"/>
          </a:ln>
        </p:spPr>
      </p:sp>
      <p:sp>
        <p:nvSpPr>
          <p:cNvPr id="16" name="Shape 14"/>
          <p:cNvSpPr/>
          <p:nvPr/>
        </p:nvSpPr>
        <p:spPr>
          <a:xfrm>
            <a:off x="9230141" y="5745176"/>
            <a:ext cx="109474" cy="109474"/>
          </a:xfrm>
          <a:prstGeom prst="ellipse">
            <a:avLst/>
          </a:prstGeom>
          <a:solidFill>
            <a:srgbClr val="B23A6B">
              <a:alpha val="55000"/>
            </a:srgbClr>
          </a:solidFill>
          <a:ln w="12700">
            <a:solidFill>
              <a:srgbClr val="B23A6B"/>
            </a:solidFill>
            <a:prstDash val="solid"/>
          </a:ln>
        </p:spPr>
      </p:sp>
      <p:sp>
        <p:nvSpPr>
          <p:cNvPr id="17" name="Shape 15"/>
          <p:cNvSpPr/>
          <p:nvPr/>
        </p:nvSpPr>
        <p:spPr>
          <a:xfrm>
            <a:off x="7988306" y="4804041"/>
            <a:ext cx="186442" cy="186442"/>
          </a:xfrm>
          <a:prstGeom prst="ellipse">
            <a:avLst/>
          </a:prstGeom>
          <a:solidFill>
            <a:srgbClr val="D9553C">
              <a:alpha val="55000"/>
            </a:srgbClr>
          </a:solidFill>
          <a:ln w="12700">
            <a:solidFill>
              <a:srgbClr val="D9553C"/>
            </a:solidFill>
            <a:prstDash val="solid"/>
          </a:ln>
        </p:spPr>
      </p:sp>
      <p:sp>
        <p:nvSpPr>
          <p:cNvPr id="18" name="Shape 16"/>
          <p:cNvSpPr/>
          <p:nvPr/>
        </p:nvSpPr>
        <p:spPr>
          <a:xfrm>
            <a:off x="11443185" y="542908"/>
            <a:ext cx="186185" cy="186185"/>
          </a:xfrm>
          <a:prstGeom prst="ellipse">
            <a:avLst/>
          </a:prstGeom>
          <a:solidFill>
            <a:srgbClr val="1F8F82">
              <a:alpha val="55000"/>
            </a:srgbClr>
          </a:solidFill>
          <a:ln w="12700">
            <a:solidFill>
              <a:srgbClr val="1F8F82"/>
            </a:solidFill>
            <a:prstDash val="solid"/>
          </a:ln>
        </p:spPr>
      </p:sp>
      <p:sp>
        <p:nvSpPr>
          <p:cNvPr id="19" name="Shape 17"/>
          <p:cNvSpPr/>
          <p:nvPr/>
        </p:nvSpPr>
        <p:spPr>
          <a:xfrm>
            <a:off x="10759289" y="3647584"/>
            <a:ext cx="197131" cy="197131"/>
          </a:xfrm>
          <a:prstGeom prst="ellipse">
            <a:avLst/>
          </a:prstGeom>
          <a:solidFill>
            <a:srgbClr val="E09B21">
              <a:alpha val="55000"/>
            </a:srgbClr>
          </a:solidFill>
          <a:ln w="12700">
            <a:solidFill>
              <a:srgbClr val="E09B21"/>
            </a:solidFill>
            <a:prstDash val="solid"/>
          </a:ln>
        </p:spPr>
      </p:sp>
      <p:sp>
        <p:nvSpPr>
          <p:cNvPr id="20" name="Shape 18"/>
          <p:cNvSpPr/>
          <p:nvPr/>
        </p:nvSpPr>
        <p:spPr>
          <a:xfrm>
            <a:off x="9550455" y="6115096"/>
            <a:ext cx="129497" cy="129497"/>
          </a:xfrm>
          <a:prstGeom prst="ellipse">
            <a:avLst/>
          </a:prstGeom>
          <a:solidFill>
            <a:srgbClr val="6F63C9">
              <a:alpha val="55000"/>
            </a:srgbClr>
          </a:solidFill>
          <a:ln w="12700">
            <a:solidFill>
              <a:srgbClr val="6F63C9"/>
            </a:solidFill>
            <a:prstDash val="solid"/>
          </a:ln>
        </p:spPr>
      </p:sp>
      <p:sp>
        <p:nvSpPr>
          <p:cNvPr id="21" name="Shape 19"/>
          <p:cNvSpPr/>
          <p:nvPr/>
        </p:nvSpPr>
        <p:spPr>
          <a:xfrm>
            <a:off x="8649994" y="6169585"/>
            <a:ext cx="108296" cy="108296"/>
          </a:xfrm>
          <a:prstGeom prst="ellipse">
            <a:avLst/>
          </a:prstGeom>
          <a:solidFill>
            <a:srgbClr val="B23A6B">
              <a:alpha val="55000"/>
            </a:srgbClr>
          </a:solidFill>
          <a:ln w="12700">
            <a:solidFill>
              <a:srgbClr val="B23A6B"/>
            </a:solidFill>
            <a:prstDash val="solid"/>
          </a:ln>
        </p:spPr>
      </p:sp>
      <p:sp>
        <p:nvSpPr>
          <p:cNvPr id="22" name="Shape 20"/>
          <p:cNvSpPr/>
          <p:nvPr/>
        </p:nvSpPr>
        <p:spPr>
          <a:xfrm>
            <a:off x="10355714" y="1764434"/>
            <a:ext cx="155873" cy="155873"/>
          </a:xfrm>
          <a:prstGeom prst="ellipse">
            <a:avLst/>
          </a:prstGeom>
          <a:solidFill>
            <a:srgbClr val="D9553C">
              <a:alpha val="55000"/>
            </a:srgbClr>
          </a:solidFill>
          <a:ln w="12700">
            <a:solidFill>
              <a:srgbClr val="D9553C"/>
            </a:solidFill>
            <a:prstDash val="solid"/>
          </a:ln>
        </p:spPr>
      </p:sp>
      <p:sp>
        <p:nvSpPr>
          <p:cNvPr id="23" name="Shape 21"/>
          <p:cNvSpPr/>
          <p:nvPr/>
        </p:nvSpPr>
        <p:spPr>
          <a:xfrm>
            <a:off x="8579897" y="5999484"/>
            <a:ext cx="155524" cy="155524"/>
          </a:xfrm>
          <a:prstGeom prst="ellipse">
            <a:avLst/>
          </a:prstGeom>
          <a:solidFill>
            <a:srgbClr val="1F8F82">
              <a:alpha val="55000"/>
            </a:srgbClr>
          </a:solidFill>
          <a:ln w="12700">
            <a:solidFill>
              <a:srgbClr val="1F8F82"/>
            </a:solidFill>
            <a:prstDash val="solid"/>
          </a:ln>
        </p:spPr>
      </p:sp>
      <p:sp>
        <p:nvSpPr>
          <p:cNvPr id="24" name="Shape 22"/>
          <p:cNvSpPr/>
          <p:nvPr/>
        </p:nvSpPr>
        <p:spPr>
          <a:xfrm>
            <a:off x="9552848" y="3589135"/>
            <a:ext cx="167894" cy="167894"/>
          </a:xfrm>
          <a:prstGeom prst="ellipse">
            <a:avLst/>
          </a:prstGeom>
          <a:solidFill>
            <a:srgbClr val="E09B21">
              <a:alpha val="55000"/>
            </a:srgbClr>
          </a:solidFill>
          <a:ln w="12700">
            <a:solidFill>
              <a:srgbClr val="E09B21"/>
            </a:solidFill>
            <a:prstDash val="solid"/>
          </a:ln>
        </p:spPr>
      </p:sp>
      <p:sp>
        <p:nvSpPr>
          <p:cNvPr id="25" name="Shape 23"/>
          <p:cNvSpPr/>
          <p:nvPr/>
        </p:nvSpPr>
        <p:spPr>
          <a:xfrm>
            <a:off x="10862813" y="2219610"/>
            <a:ext cx="165564" cy="165564"/>
          </a:xfrm>
          <a:prstGeom prst="ellipse">
            <a:avLst/>
          </a:prstGeom>
          <a:solidFill>
            <a:srgbClr val="6F63C9">
              <a:alpha val="55000"/>
            </a:srgbClr>
          </a:solidFill>
          <a:ln w="12700">
            <a:solidFill>
              <a:srgbClr val="6F63C9"/>
            </a:solidFill>
            <a:prstDash val="solid"/>
          </a:ln>
        </p:spPr>
      </p:sp>
      <p:sp>
        <p:nvSpPr>
          <p:cNvPr id="26" name="Shape 24"/>
          <p:cNvSpPr/>
          <p:nvPr/>
        </p:nvSpPr>
        <p:spPr>
          <a:xfrm>
            <a:off x="11240596" y="2649213"/>
            <a:ext cx="140500" cy="140500"/>
          </a:xfrm>
          <a:prstGeom prst="ellipse">
            <a:avLst/>
          </a:prstGeom>
          <a:solidFill>
            <a:srgbClr val="B23A6B">
              <a:alpha val="55000"/>
            </a:srgbClr>
          </a:solidFill>
          <a:ln w="12700">
            <a:solidFill>
              <a:srgbClr val="B23A6B"/>
            </a:solidFill>
            <a:prstDash val="solid"/>
          </a:ln>
        </p:spPr>
      </p:sp>
      <p:sp>
        <p:nvSpPr>
          <p:cNvPr id="27" name="Shape 25"/>
          <p:cNvSpPr/>
          <p:nvPr/>
        </p:nvSpPr>
        <p:spPr>
          <a:xfrm>
            <a:off x="11349502" y="2403409"/>
            <a:ext cx="118966" cy="118966"/>
          </a:xfrm>
          <a:prstGeom prst="ellipse">
            <a:avLst/>
          </a:prstGeom>
          <a:solidFill>
            <a:srgbClr val="D9553C">
              <a:alpha val="55000"/>
            </a:srgbClr>
          </a:solidFill>
          <a:ln w="12700">
            <a:solidFill>
              <a:srgbClr val="D9553C"/>
            </a:solidFill>
            <a:prstDash val="solid"/>
          </a:ln>
        </p:spPr>
      </p:sp>
      <p:sp>
        <p:nvSpPr>
          <p:cNvPr id="28" name="Shape 26"/>
          <p:cNvSpPr/>
          <p:nvPr/>
        </p:nvSpPr>
        <p:spPr>
          <a:xfrm>
            <a:off x="9852666" y="2127764"/>
            <a:ext cx="152621" cy="152621"/>
          </a:xfrm>
          <a:prstGeom prst="ellipse">
            <a:avLst/>
          </a:prstGeom>
          <a:solidFill>
            <a:srgbClr val="1F8F82">
              <a:alpha val="55000"/>
            </a:srgbClr>
          </a:solidFill>
          <a:ln w="12700">
            <a:solidFill>
              <a:srgbClr val="1F8F82"/>
            </a:solidFill>
            <a:prstDash val="solid"/>
          </a:ln>
        </p:spPr>
      </p:sp>
      <p:sp>
        <p:nvSpPr>
          <p:cNvPr id="29" name="Shape 27"/>
          <p:cNvSpPr/>
          <p:nvPr/>
        </p:nvSpPr>
        <p:spPr>
          <a:xfrm>
            <a:off x="9151334" y="638069"/>
            <a:ext cx="137006" cy="137006"/>
          </a:xfrm>
          <a:prstGeom prst="ellipse">
            <a:avLst/>
          </a:prstGeom>
          <a:solidFill>
            <a:srgbClr val="E09B21">
              <a:alpha val="55000"/>
            </a:srgbClr>
          </a:solidFill>
          <a:ln w="12700">
            <a:solidFill>
              <a:srgbClr val="E09B21"/>
            </a:solidFill>
            <a:prstDash val="solid"/>
          </a:ln>
        </p:spPr>
      </p:sp>
      <p:sp>
        <p:nvSpPr>
          <p:cNvPr id="30" name="Shape 28"/>
          <p:cNvSpPr/>
          <p:nvPr/>
        </p:nvSpPr>
        <p:spPr>
          <a:xfrm>
            <a:off x="8041993" y="5790859"/>
            <a:ext cx="105331" cy="105331"/>
          </a:xfrm>
          <a:prstGeom prst="ellipse">
            <a:avLst/>
          </a:prstGeom>
          <a:solidFill>
            <a:srgbClr val="6F63C9">
              <a:alpha val="55000"/>
            </a:srgbClr>
          </a:solidFill>
          <a:ln w="12700">
            <a:solidFill>
              <a:srgbClr val="6F63C9"/>
            </a:solidFill>
            <a:prstDash val="solid"/>
          </a:ln>
        </p:spPr>
      </p:sp>
      <p:sp>
        <p:nvSpPr>
          <p:cNvPr id="31" name="Shape 29"/>
          <p:cNvSpPr/>
          <p:nvPr/>
        </p:nvSpPr>
        <p:spPr>
          <a:xfrm>
            <a:off x="9612003" y="5392889"/>
            <a:ext cx="100451" cy="100451"/>
          </a:xfrm>
          <a:prstGeom prst="ellipse">
            <a:avLst/>
          </a:prstGeom>
          <a:solidFill>
            <a:srgbClr val="B23A6B">
              <a:alpha val="55000"/>
            </a:srgbClr>
          </a:solidFill>
          <a:ln w="12700">
            <a:solidFill>
              <a:srgbClr val="B23A6B"/>
            </a:solidFill>
            <a:prstDash val="solid"/>
          </a:ln>
        </p:spPr>
      </p:sp>
      <p:sp>
        <p:nvSpPr>
          <p:cNvPr id="32" name="Shape 30"/>
          <p:cNvSpPr/>
          <p:nvPr/>
        </p:nvSpPr>
        <p:spPr>
          <a:xfrm>
            <a:off x="9677592" y="4404834"/>
            <a:ext cx="138695" cy="138695"/>
          </a:xfrm>
          <a:prstGeom prst="ellipse">
            <a:avLst/>
          </a:prstGeom>
          <a:solidFill>
            <a:srgbClr val="D9553C">
              <a:alpha val="55000"/>
            </a:srgbClr>
          </a:solidFill>
          <a:ln w="12700">
            <a:solidFill>
              <a:srgbClr val="D9553C"/>
            </a:solidFill>
            <a:prstDash val="solid"/>
          </a:ln>
        </p:spPr>
      </p:sp>
      <p:sp>
        <p:nvSpPr>
          <p:cNvPr id="33" name="Shape 31"/>
          <p:cNvSpPr/>
          <p:nvPr/>
        </p:nvSpPr>
        <p:spPr>
          <a:xfrm>
            <a:off x="10860796" y="5030057"/>
            <a:ext cx="185121" cy="185121"/>
          </a:xfrm>
          <a:prstGeom prst="ellipse">
            <a:avLst/>
          </a:prstGeom>
          <a:solidFill>
            <a:srgbClr val="1F8F82">
              <a:alpha val="55000"/>
            </a:srgbClr>
          </a:solidFill>
          <a:ln w="12700">
            <a:solidFill>
              <a:srgbClr val="1F8F82"/>
            </a:solidFill>
            <a:prstDash val="solid"/>
          </a:ln>
        </p:spPr>
      </p:sp>
      <p:sp>
        <p:nvSpPr>
          <p:cNvPr id="34" name="Shape 32"/>
          <p:cNvSpPr/>
          <p:nvPr/>
        </p:nvSpPr>
        <p:spPr>
          <a:xfrm>
            <a:off x="10757902" y="5229311"/>
            <a:ext cx="95917" cy="95917"/>
          </a:xfrm>
          <a:prstGeom prst="ellipse">
            <a:avLst/>
          </a:prstGeom>
          <a:solidFill>
            <a:srgbClr val="E09B21">
              <a:alpha val="55000"/>
            </a:srgbClr>
          </a:solidFill>
          <a:ln w="12700">
            <a:solidFill>
              <a:srgbClr val="E09B21"/>
            </a:solidFill>
            <a:prstDash val="solid"/>
          </a:ln>
        </p:spPr>
      </p:sp>
      <p:sp>
        <p:nvSpPr>
          <p:cNvPr id="35" name="Shape 33"/>
          <p:cNvSpPr/>
          <p:nvPr/>
        </p:nvSpPr>
        <p:spPr>
          <a:xfrm>
            <a:off x="11657094" y="1105890"/>
            <a:ext cx="110318" cy="110318"/>
          </a:xfrm>
          <a:prstGeom prst="ellipse">
            <a:avLst/>
          </a:prstGeom>
          <a:solidFill>
            <a:srgbClr val="6F63C9">
              <a:alpha val="55000"/>
            </a:srgbClr>
          </a:solidFill>
          <a:ln w="12700">
            <a:solidFill>
              <a:srgbClr val="6F63C9"/>
            </a:solidFill>
            <a:prstDash val="solid"/>
          </a:ln>
        </p:spPr>
      </p:sp>
      <p:sp>
        <p:nvSpPr>
          <p:cNvPr id="36" name="Shape 34"/>
          <p:cNvSpPr/>
          <p:nvPr/>
        </p:nvSpPr>
        <p:spPr>
          <a:xfrm>
            <a:off x="10914223" y="835552"/>
            <a:ext cx="92778" cy="92778"/>
          </a:xfrm>
          <a:prstGeom prst="ellipse">
            <a:avLst/>
          </a:prstGeom>
          <a:solidFill>
            <a:srgbClr val="B23A6B">
              <a:alpha val="55000"/>
            </a:srgbClr>
          </a:solidFill>
          <a:ln w="12700">
            <a:solidFill>
              <a:srgbClr val="B23A6B"/>
            </a:solidFill>
            <a:prstDash val="solid"/>
          </a:ln>
        </p:spPr>
      </p:sp>
      <p:sp>
        <p:nvSpPr>
          <p:cNvPr id="37" name="Shape 35"/>
          <p:cNvSpPr/>
          <p:nvPr/>
        </p:nvSpPr>
        <p:spPr>
          <a:xfrm>
            <a:off x="10582134" y="1401580"/>
            <a:ext cx="118424" cy="118424"/>
          </a:xfrm>
          <a:prstGeom prst="ellipse">
            <a:avLst/>
          </a:prstGeom>
          <a:solidFill>
            <a:srgbClr val="D9553C">
              <a:alpha val="55000"/>
            </a:srgbClr>
          </a:solidFill>
          <a:ln w="12700">
            <a:solidFill>
              <a:srgbClr val="D9553C"/>
            </a:solidFill>
            <a:prstDash val="solid"/>
          </a:ln>
        </p:spPr>
      </p:sp>
      <p:sp>
        <p:nvSpPr>
          <p:cNvPr id="38" name="Shape 36"/>
          <p:cNvSpPr/>
          <p:nvPr/>
        </p:nvSpPr>
        <p:spPr>
          <a:xfrm>
            <a:off x="8199082" y="2128448"/>
            <a:ext cx="171243" cy="171243"/>
          </a:xfrm>
          <a:prstGeom prst="ellipse">
            <a:avLst/>
          </a:prstGeom>
          <a:solidFill>
            <a:srgbClr val="1F8F82">
              <a:alpha val="55000"/>
            </a:srgbClr>
          </a:solidFill>
          <a:ln w="12700">
            <a:solidFill>
              <a:srgbClr val="1F8F82"/>
            </a:solidFill>
            <a:prstDash val="solid"/>
          </a:ln>
        </p:spPr>
      </p:sp>
      <p:sp>
        <p:nvSpPr>
          <p:cNvPr id="39" name="Shape 37"/>
          <p:cNvSpPr/>
          <p:nvPr/>
        </p:nvSpPr>
        <p:spPr>
          <a:xfrm>
            <a:off x="10860938" y="710208"/>
            <a:ext cx="161887" cy="161887"/>
          </a:xfrm>
          <a:prstGeom prst="ellipse">
            <a:avLst/>
          </a:prstGeom>
          <a:solidFill>
            <a:srgbClr val="E09B21">
              <a:alpha val="55000"/>
            </a:srgbClr>
          </a:solidFill>
          <a:ln w="12700">
            <a:solidFill>
              <a:srgbClr val="E09B21"/>
            </a:solidFill>
            <a:prstDash val="solid"/>
          </a:ln>
        </p:spPr>
      </p:sp>
      <p:sp>
        <p:nvSpPr>
          <p:cNvPr id="40" name="Shape 38"/>
          <p:cNvSpPr/>
          <p:nvPr/>
        </p:nvSpPr>
        <p:spPr>
          <a:xfrm>
            <a:off x="8480288" y="6201817"/>
            <a:ext cx="145914" cy="145914"/>
          </a:xfrm>
          <a:prstGeom prst="ellipse">
            <a:avLst/>
          </a:prstGeom>
          <a:solidFill>
            <a:srgbClr val="6F63C9">
              <a:alpha val="55000"/>
            </a:srgbClr>
          </a:solidFill>
          <a:ln w="12700">
            <a:solidFill>
              <a:srgbClr val="6F63C9"/>
            </a:solidFill>
            <a:prstDash val="solid"/>
          </a:ln>
        </p:spPr>
      </p:sp>
      <p:sp>
        <p:nvSpPr>
          <p:cNvPr id="41" name="Shape 39"/>
          <p:cNvSpPr/>
          <p:nvPr/>
        </p:nvSpPr>
        <p:spPr>
          <a:xfrm>
            <a:off x="11050820" y="1033212"/>
            <a:ext cx="205115" cy="205115"/>
          </a:xfrm>
          <a:prstGeom prst="ellipse">
            <a:avLst/>
          </a:prstGeom>
          <a:solidFill>
            <a:srgbClr val="B23A6B">
              <a:alpha val="55000"/>
            </a:srgbClr>
          </a:solidFill>
          <a:ln w="12700">
            <a:solidFill>
              <a:srgbClr val="B23A6B"/>
            </a:solidFill>
            <a:prstDash val="solid"/>
          </a:ln>
        </p:spPr>
      </p:sp>
      <p:sp>
        <p:nvSpPr>
          <p:cNvPr id="42" name="Shape 40"/>
          <p:cNvSpPr/>
          <p:nvPr/>
        </p:nvSpPr>
        <p:spPr>
          <a:xfrm>
            <a:off x="11525810" y="4459076"/>
            <a:ext cx="167185" cy="167185"/>
          </a:xfrm>
          <a:prstGeom prst="ellipse">
            <a:avLst/>
          </a:prstGeom>
          <a:solidFill>
            <a:srgbClr val="D9553C">
              <a:alpha val="55000"/>
            </a:srgbClr>
          </a:solidFill>
          <a:ln w="12700">
            <a:solidFill>
              <a:srgbClr val="D9553C"/>
            </a:solidFill>
            <a:prstDash val="solid"/>
          </a:ln>
        </p:spPr>
      </p:sp>
      <p:sp>
        <p:nvSpPr>
          <p:cNvPr id="43" name="Shape 41"/>
          <p:cNvSpPr/>
          <p:nvPr/>
        </p:nvSpPr>
        <p:spPr>
          <a:xfrm>
            <a:off x="9578782" y="2732059"/>
            <a:ext cx="111119" cy="111119"/>
          </a:xfrm>
          <a:prstGeom prst="ellipse">
            <a:avLst/>
          </a:prstGeom>
          <a:solidFill>
            <a:srgbClr val="1F8F82">
              <a:alpha val="55000"/>
            </a:srgbClr>
          </a:solidFill>
          <a:ln w="12700">
            <a:solidFill>
              <a:srgbClr val="1F8F82"/>
            </a:solidFill>
            <a:prstDash val="solid"/>
          </a:ln>
        </p:spPr>
      </p:sp>
      <p:sp>
        <p:nvSpPr>
          <p:cNvPr id="44" name="Shape 42"/>
          <p:cNvSpPr/>
          <p:nvPr/>
        </p:nvSpPr>
        <p:spPr>
          <a:xfrm>
            <a:off x="9238215" y="1197919"/>
            <a:ext cx="207807" cy="207807"/>
          </a:xfrm>
          <a:prstGeom prst="ellipse">
            <a:avLst/>
          </a:prstGeom>
          <a:solidFill>
            <a:srgbClr val="E09B21">
              <a:alpha val="55000"/>
            </a:srgbClr>
          </a:solidFill>
          <a:ln w="12700">
            <a:solidFill>
              <a:srgbClr val="E09B21"/>
            </a:solidFill>
            <a:prstDash val="solid"/>
          </a:ln>
        </p:spPr>
      </p:sp>
      <p:sp>
        <p:nvSpPr>
          <p:cNvPr id="45" name="Shape 43"/>
          <p:cNvSpPr/>
          <p:nvPr/>
        </p:nvSpPr>
        <p:spPr>
          <a:xfrm>
            <a:off x="8191379" y="851324"/>
            <a:ext cx="164234" cy="164234"/>
          </a:xfrm>
          <a:prstGeom prst="ellipse">
            <a:avLst/>
          </a:prstGeom>
          <a:solidFill>
            <a:srgbClr val="6F63C9">
              <a:alpha val="55000"/>
            </a:srgbClr>
          </a:solidFill>
          <a:ln w="12700">
            <a:solidFill>
              <a:srgbClr val="6F63C9"/>
            </a:solidFill>
            <a:prstDash val="solid"/>
          </a:ln>
        </p:spPr>
      </p:sp>
      <p:sp>
        <p:nvSpPr>
          <p:cNvPr id="46" name="Shape 44"/>
          <p:cNvSpPr/>
          <p:nvPr/>
        </p:nvSpPr>
        <p:spPr>
          <a:xfrm>
            <a:off x="10675038" y="5667693"/>
            <a:ext cx="187861" cy="187861"/>
          </a:xfrm>
          <a:prstGeom prst="ellipse">
            <a:avLst/>
          </a:prstGeom>
          <a:solidFill>
            <a:srgbClr val="B23A6B">
              <a:alpha val="55000"/>
            </a:srgbClr>
          </a:solidFill>
          <a:ln w="12700">
            <a:solidFill>
              <a:srgbClr val="B23A6B"/>
            </a:solidFill>
            <a:prstDash val="solid"/>
          </a:ln>
        </p:spPr>
      </p:sp>
      <p:sp>
        <p:nvSpPr>
          <p:cNvPr id="47" name="Shape 45"/>
          <p:cNvSpPr/>
          <p:nvPr/>
        </p:nvSpPr>
        <p:spPr>
          <a:xfrm>
            <a:off x="10800283" y="1198407"/>
            <a:ext cx="141940" cy="141940"/>
          </a:xfrm>
          <a:prstGeom prst="ellipse">
            <a:avLst/>
          </a:prstGeom>
          <a:solidFill>
            <a:srgbClr val="D9553C">
              <a:alpha val="55000"/>
            </a:srgbClr>
          </a:solidFill>
          <a:ln w="12700">
            <a:solidFill>
              <a:srgbClr val="D9553C"/>
            </a:solidFill>
            <a:prstDash val="solid"/>
          </a:ln>
        </p:spPr>
      </p:sp>
      <p:sp>
        <p:nvSpPr>
          <p:cNvPr id="48" name="Shape 46"/>
          <p:cNvSpPr/>
          <p:nvPr/>
        </p:nvSpPr>
        <p:spPr>
          <a:xfrm>
            <a:off x="566928" y="2011680"/>
            <a:ext cx="786384" cy="786384"/>
          </a:xfrm>
          <a:prstGeom prst="ellipse">
            <a:avLst/>
          </a:prstGeom>
          <a:solidFill>
            <a:srgbClr val="E09B21"/>
          </a:solidFill>
          <a:ln w="12700">
            <a:solidFill>
              <a:srgbClr val="E09B21"/>
            </a:solidFill>
            <a:prstDash val="solid"/>
          </a:ln>
        </p:spPr>
      </p:sp>
      <p:sp>
        <p:nvSpPr>
          <p:cNvPr id="49" name="Text 47"/>
          <p:cNvSpPr/>
          <p:nvPr/>
        </p:nvSpPr>
        <p:spPr>
          <a:xfrm>
            <a:off x="566928" y="2011680"/>
            <a:ext cx="786384" cy="786384"/>
          </a:xfrm>
          <a:prstGeom prst="rect">
            <a:avLst/>
          </a:prstGeom>
          <a:noFill/>
          <a:ln/>
        </p:spPr>
        <p:txBody>
          <a:bodyPr wrap="square" lIns="0" tIns="0" rIns="0" bIns="0" rtlCol="0" anchor="ctr"/>
          <a:lstStyle/>
          <a:p>
            <a:pPr algn="ctr" indent="0" marL="0">
              <a:buNone/>
            </a:pPr>
            <a:r>
              <a:rPr lang="en-US" sz="3000" b="1" dirty="0">
                <a:solidFill>
                  <a:srgbClr val="2A2356"/>
                </a:solidFill>
                <a:latin typeface="Calibri" pitchFamily="34" charset="0"/>
                <a:ea typeface="Calibri" pitchFamily="34" charset="-122"/>
                <a:cs typeface="Calibri" pitchFamily="34" charset="-120"/>
              </a:rPr>
              <a:t>2</a:t>
            </a:r>
            <a:endParaRPr lang="en-US" sz="3000" dirty="0"/>
          </a:p>
        </p:txBody>
      </p:sp>
      <p:sp>
        <p:nvSpPr>
          <p:cNvPr id="50" name="Text 48"/>
          <p:cNvSpPr/>
          <p:nvPr/>
        </p:nvSpPr>
        <p:spPr>
          <a:xfrm>
            <a:off x="566928" y="2999232"/>
            <a:ext cx="6766560" cy="9601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LCA vs LPA</a:t>
            </a:r>
            <a:endParaRPr lang="en-US" sz="4000" dirty="0"/>
          </a:p>
        </p:txBody>
      </p:sp>
      <p:sp>
        <p:nvSpPr>
          <p:cNvPr id="51" name="Text 49"/>
          <p:cNvSpPr/>
          <p:nvPr/>
        </p:nvSpPr>
        <p:spPr>
          <a:xfrm>
            <a:off x="566928" y="4041648"/>
            <a:ext cx="6400800" cy="731520"/>
          </a:xfrm>
          <a:prstGeom prst="rect">
            <a:avLst/>
          </a:prstGeom>
          <a:noFill/>
          <a:ln/>
        </p:spPr>
        <p:txBody>
          <a:bodyPr wrap="square" lIns="0" tIns="0" rIns="0" bIns="0" rtlCol="0" anchor="t"/>
          <a:lstStyle/>
          <a:p>
            <a:pPr indent="0" marL="0">
              <a:buNone/>
            </a:pPr>
            <a:r>
              <a:rPr lang="en-US" sz="1600" dirty="0">
                <a:solidFill>
                  <a:srgbClr val="C9C4E6"/>
                </a:solidFill>
                <a:latin typeface="Calibri" pitchFamily="34" charset="0"/>
                <a:ea typeface="Calibri" pitchFamily="34" charset="-122"/>
                <a:cs typeface="Calibri" pitchFamily="34" charset="-120"/>
              </a:rPr>
              <a:t>The part everyone gets stuck on — and it has a one-sentence answer.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THE DISTINCTION</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There is only one question you have to answer</a:t>
            </a:r>
            <a:endParaRPr lang="en-US" sz="2900" dirty="0"/>
          </a:p>
        </p:txBody>
      </p:sp>
      <p:sp>
        <p:nvSpPr>
          <p:cNvPr id="4" name="Shape 2"/>
          <p:cNvSpPr/>
          <p:nvPr/>
        </p:nvSpPr>
        <p:spPr>
          <a:xfrm>
            <a:off x="566928" y="1371600"/>
            <a:ext cx="11055096" cy="1325880"/>
          </a:xfrm>
          <a:prstGeom prst="roundRect">
            <a:avLst>
              <a:gd name="adj" fmla="val 6897"/>
            </a:avLst>
          </a:prstGeom>
          <a:solidFill>
            <a:srgbClr val="2A2356"/>
          </a:solidFill>
          <a:ln w="9525">
            <a:solidFill>
              <a:srgbClr val="2A2356"/>
            </a:solidFill>
            <a:prstDash val="solid"/>
          </a:ln>
        </p:spPr>
      </p:sp>
      <p:sp>
        <p:nvSpPr>
          <p:cNvPr id="5" name="Text 3"/>
          <p:cNvSpPr/>
          <p:nvPr/>
        </p:nvSpPr>
        <p:spPr>
          <a:xfrm>
            <a:off x="978408" y="1371600"/>
            <a:ext cx="10232136" cy="13258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kind of variables are you feeding into the model?</a:t>
            </a:r>
            <a:endParaRPr lang="en-US" sz="2800" dirty="0"/>
          </a:p>
        </p:txBody>
      </p:sp>
      <p:sp>
        <p:nvSpPr>
          <p:cNvPr id="6" name="Shape 4"/>
          <p:cNvSpPr/>
          <p:nvPr/>
        </p:nvSpPr>
        <p:spPr>
          <a:xfrm>
            <a:off x="566928" y="2944368"/>
            <a:ext cx="5486400" cy="2212848"/>
          </a:xfrm>
          <a:prstGeom prst="roundRect">
            <a:avLst>
              <a:gd name="adj" fmla="val 4132"/>
            </a:avLst>
          </a:prstGeom>
          <a:solidFill>
            <a:srgbClr val="FAF3F1"/>
          </a:solidFill>
          <a:ln w="12700">
            <a:solidFill>
              <a:srgbClr val="EBD5CD"/>
            </a:solidFill>
            <a:prstDash val="solid"/>
          </a:ln>
          <a:effectLst>
            <a:outerShdw sx="100000" sy="100000" kx="0" ky="0" algn="bl" rotWithShape="0" blurRad="177800" dist="762" dir="5400000">
              <a:srgbClr val="1A1633">
                <a:alpha val="12000"/>
              </a:srgbClr>
            </a:outerShdw>
          </a:effectLst>
        </p:spPr>
      </p:sp>
      <p:sp>
        <p:nvSpPr>
          <p:cNvPr id="7" name="Text 5"/>
          <p:cNvSpPr/>
          <p:nvPr/>
        </p:nvSpPr>
        <p:spPr>
          <a:xfrm>
            <a:off x="886968" y="3145536"/>
            <a:ext cx="4846320" cy="274320"/>
          </a:xfrm>
          <a:prstGeom prst="rect">
            <a:avLst/>
          </a:prstGeom>
          <a:noFill/>
          <a:ln/>
        </p:spPr>
        <p:txBody>
          <a:bodyPr wrap="square" lIns="0" tIns="0" rIns="0" bIns="0" rtlCol="0" anchor="ctr"/>
          <a:lstStyle/>
          <a:p>
            <a:pPr indent="0" marL="0">
              <a:buNone/>
            </a:pPr>
            <a:r>
              <a:rPr lang="en-US" sz="1150" b="1" spc="150" kern="0" dirty="0">
                <a:solidFill>
                  <a:srgbClr val="D9553C"/>
                </a:solidFill>
                <a:latin typeface="Calibri" pitchFamily="34" charset="0"/>
                <a:ea typeface="Calibri" pitchFamily="34" charset="-122"/>
                <a:cs typeface="Calibri" pitchFamily="34" charset="-120"/>
              </a:rPr>
              <a:t>CATEGORICAL</a:t>
            </a:r>
            <a:endParaRPr lang="en-US" sz="1150" dirty="0"/>
          </a:p>
        </p:txBody>
      </p:sp>
      <p:sp>
        <p:nvSpPr>
          <p:cNvPr id="8" name="Text 6"/>
          <p:cNvSpPr/>
          <p:nvPr/>
        </p:nvSpPr>
        <p:spPr>
          <a:xfrm>
            <a:off x="886968" y="3438144"/>
            <a:ext cx="4846320" cy="292608"/>
          </a:xfrm>
          <a:prstGeom prst="rect">
            <a:avLst/>
          </a:prstGeom>
          <a:noFill/>
          <a:ln/>
        </p:spPr>
        <p:txBody>
          <a:bodyPr wrap="square" lIns="0" tIns="0" rIns="0" bIns="0" rtlCol="0" anchor="ctr"/>
          <a:lstStyle/>
          <a:p>
            <a:pPr indent="0" marL="0">
              <a:buNone/>
            </a:pPr>
            <a:r>
              <a:rPr lang="en-US" sz="1300" dirty="0">
                <a:solidFill>
                  <a:srgbClr val="6B6785"/>
                </a:solidFill>
                <a:latin typeface="Calibri" pitchFamily="34" charset="0"/>
                <a:ea typeface="Calibri" pitchFamily="34" charset="-122"/>
                <a:cs typeface="Calibri" pitchFamily="34" charset="-120"/>
              </a:rPr>
              <a:t>Yes / No  ·  Never / Sometimes / Often  ·  Agree / Disagree</a:t>
            </a:r>
            <a:endParaRPr lang="en-US" sz="1300" dirty="0"/>
          </a:p>
        </p:txBody>
      </p:sp>
      <p:sp>
        <p:nvSpPr>
          <p:cNvPr id="9" name="Text 7"/>
          <p:cNvSpPr/>
          <p:nvPr/>
        </p:nvSpPr>
        <p:spPr>
          <a:xfrm>
            <a:off x="886968" y="3840480"/>
            <a:ext cx="4846320" cy="457200"/>
          </a:xfrm>
          <a:prstGeom prst="rect">
            <a:avLst/>
          </a:prstGeom>
          <a:noFill/>
          <a:ln/>
        </p:spPr>
        <p:txBody>
          <a:bodyPr wrap="square" lIns="0" tIns="0" rIns="0" bIns="0" rtlCol="0" anchor="t"/>
          <a:lstStyle/>
          <a:p>
            <a:pPr indent="0" marL="0">
              <a:buNone/>
            </a:pPr>
            <a:r>
              <a:rPr lang="en-US" sz="2500" b="1" dirty="0">
                <a:solidFill>
                  <a:srgbClr val="D9553C"/>
                </a:solidFill>
                <a:latin typeface="Cambria" pitchFamily="34" charset="0"/>
                <a:ea typeface="Cambria" pitchFamily="34" charset="-122"/>
                <a:cs typeface="Cambria" pitchFamily="34" charset="-120"/>
              </a:rPr>
              <a:t>→  Latent Class Analysis</a:t>
            </a:r>
            <a:endParaRPr lang="en-US" sz="2500" dirty="0"/>
          </a:p>
        </p:txBody>
      </p:sp>
      <p:sp>
        <p:nvSpPr>
          <p:cNvPr id="10" name="Text 8"/>
          <p:cNvSpPr/>
          <p:nvPr/>
        </p:nvSpPr>
        <p:spPr>
          <a:xfrm>
            <a:off x="886968" y="4425696"/>
            <a:ext cx="4846320" cy="566928"/>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Classes are described by the probability of endorsing each item.</a:t>
            </a:r>
            <a:endParaRPr lang="en-US" sz="1200" dirty="0"/>
          </a:p>
        </p:txBody>
      </p:sp>
      <p:sp>
        <p:nvSpPr>
          <p:cNvPr id="11" name="Shape 9"/>
          <p:cNvSpPr/>
          <p:nvPr/>
        </p:nvSpPr>
        <p:spPr>
          <a:xfrm>
            <a:off x="6382512" y="2944368"/>
            <a:ext cx="5239512" cy="2212848"/>
          </a:xfrm>
          <a:prstGeom prst="roundRect">
            <a:avLst>
              <a:gd name="adj" fmla="val 4132"/>
            </a:avLst>
          </a:prstGeom>
          <a:solidFill>
            <a:srgbClr val="EDF6F4"/>
          </a:solidFill>
          <a:ln w="12700">
            <a:solidFill>
              <a:srgbClr val="C7E3DE"/>
            </a:solidFill>
            <a:prstDash val="solid"/>
          </a:ln>
          <a:effectLst>
            <a:outerShdw sx="100000" sy="100000" kx="0" ky="0" algn="bl" rotWithShape="0" blurRad="177800" dist="762" dir="5400000">
              <a:srgbClr val="1A1633">
                <a:alpha val="12000"/>
              </a:srgbClr>
            </a:outerShdw>
          </a:effectLst>
        </p:spPr>
      </p:sp>
      <p:sp>
        <p:nvSpPr>
          <p:cNvPr id="12" name="Text 10"/>
          <p:cNvSpPr/>
          <p:nvPr/>
        </p:nvSpPr>
        <p:spPr>
          <a:xfrm>
            <a:off x="6702552" y="3145536"/>
            <a:ext cx="4663440" cy="274320"/>
          </a:xfrm>
          <a:prstGeom prst="rect">
            <a:avLst/>
          </a:prstGeom>
          <a:noFill/>
          <a:ln/>
        </p:spPr>
        <p:txBody>
          <a:bodyPr wrap="square" lIns="0" tIns="0" rIns="0" bIns="0" rtlCol="0" anchor="ctr"/>
          <a:lstStyle/>
          <a:p>
            <a:pPr indent="0" marL="0">
              <a:buNone/>
            </a:pPr>
            <a:r>
              <a:rPr lang="en-US" sz="1150" b="1" spc="150" kern="0" dirty="0">
                <a:solidFill>
                  <a:srgbClr val="1F8F82"/>
                </a:solidFill>
                <a:latin typeface="Calibri" pitchFamily="34" charset="0"/>
                <a:ea typeface="Calibri" pitchFamily="34" charset="-122"/>
                <a:cs typeface="Calibri" pitchFamily="34" charset="-120"/>
              </a:rPr>
              <a:t>CONTINUOUS</a:t>
            </a:r>
            <a:endParaRPr lang="en-US" sz="1150" dirty="0"/>
          </a:p>
        </p:txBody>
      </p:sp>
      <p:sp>
        <p:nvSpPr>
          <p:cNvPr id="13" name="Text 11"/>
          <p:cNvSpPr/>
          <p:nvPr/>
        </p:nvSpPr>
        <p:spPr>
          <a:xfrm>
            <a:off x="6702552" y="3438144"/>
            <a:ext cx="4663440" cy="292608"/>
          </a:xfrm>
          <a:prstGeom prst="rect">
            <a:avLst/>
          </a:prstGeom>
          <a:noFill/>
          <a:ln/>
        </p:spPr>
        <p:txBody>
          <a:bodyPr wrap="square" lIns="0" tIns="0" rIns="0" bIns="0" rtlCol="0" anchor="ctr"/>
          <a:lstStyle/>
          <a:p>
            <a:pPr indent="0" marL="0">
              <a:buNone/>
            </a:pPr>
            <a:r>
              <a:rPr lang="en-US" sz="1300" dirty="0">
                <a:solidFill>
                  <a:srgbClr val="6B6785"/>
                </a:solidFill>
                <a:latin typeface="Calibri" pitchFamily="34" charset="0"/>
                <a:ea typeface="Calibri" pitchFamily="34" charset="-122"/>
                <a:cs typeface="Calibri" pitchFamily="34" charset="-120"/>
              </a:rPr>
              <a:t>PHQ-9 total  ·  wellbeing score  ·  BMI  ·  hours of sleep</a:t>
            </a:r>
            <a:endParaRPr lang="en-US" sz="1300" dirty="0"/>
          </a:p>
        </p:txBody>
      </p:sp>
      <p:sp>
        <p:nvSpPr>
          <p:cNvPr id="14" name="Text 12"/>
          <p:cNvSpPr/>
          <p:nvPr/>
        </p:nvSpPr>
        <p:spPr>
          <a:xfrm>
            <a:off x="6702552" y="3840480"/>
            <a:ext cx="4663440" cy="457200"/>
          </a:xfrm>
          <a:prstGeom prst="rect">
            <a:avLst/>
          </a:prstGeom>
          <a:noFill/>
          <a:ln/>
        </p:spPr>
        <p:txBody>
          <a:bodyPr wrap="square" lIns="0" tIns="0" rIns="0" bIns="0" rtlCol="0" anchor="t"/>
          <a:lstStyle/>
          <a:p>
            <a:pPr indent="0" marL="0">
              <a:buNone/>
            </a:pPr>
            <a:r>
              <a:rPr lang="en-US" sz="2500" b="1" dirty="0">
                <a:solidFill>
                  <a:srgbClr val="1F8F82"/>
                </a:solidFill>
                <a:latin typeface="Cambria" pitchFamily="34" charset="0"/>
                <a:ea typeface="Cambria" pitchFamily="34" charset="-122"/>
                <a:cs typeface="Cambria" pitchFamily="34" charset="-120"/>
              </a:rPr>
              <a:t>→  Latent Profile Analysis</a:t>
            </a:r>
            <a:endParaRPr lang="en-US" sz="2500" dirty="0"/>
          </a:p>
        </p:txBody>
      </p:sp>
      <p:sp>
        <p:nvSpPr>
          <p:cNvPr id="15" name="Text 13"/>
          <p:cNvSpPr/>
          <p:nvPr/>
        </p:nvSpPr>
        <p:spPr>
          <a:xfrm>
            <a:off x="6702552" y="4425696"/>
            <a:ext cx="4663440" cy="566928"/>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Profiles are described by the mean (and variance) on each indicator.</a:t>
            </a:r>
            <a:endParaRPr lang="en-US" sz="1200" dirty="0"/>
          </a:p>
        </p:txBody>
      </p:sp>
      <p:sp>
        <p:nvSpPr>
          <p:cNvPr id="16" name="Shape 14"/>
          <p:cNvSpPr/>
          <p:nvPr/>
        </p:nvSpPr>
        <p:spPr>
          <a:xfrm>
            <a:off x="566928" y="5413248"/>
            <a:ext cx="11055096" cy="786384"/>
          </a:xfrm>
          <a:prstGeom prst="roundRect">
            <a:avLst>
              <a:gd name="adj" fmla="val 11628"/>
            </a:avLst>
          </a:prstGeom>
          <a:solidFill>
            <a:srgbClr val="EBE9F5"/>
          </a:solidFill>
          <a:ln w="12700">
            <a:solidFill>
              <a:srgbClr val="DBD8E8"/>
            </a:solidFill>
            <a:prstDash val="solid"/>
          </a:ln>
        </p:spPr>
      </p:sp>
      <p:sp>
        <p:nvSpPr>
          <p:cNvPr id="17" name="Text 15"/>
          <p:cNvSpPr/>
          <p:nvPr/>
        </p:nvSpPr>
        <p:spPr>
          <a:xfrm>
            <a:off x="886968" y="5413248"/>
            <a:ext cx="10415016" cy="786384"/>
          </a:xfrm>
          <a:prstGeom prst="rect">
            <a:avLst/>
          </a:prstGeom>
          <a:noFill/>
          <a:ln/>
        </p:spPr>
        <p:txBody>
          <a:bodyPr wrap="square" lIns="0" tIns="0" rIns="0" bIns="0" rtlCol="0" anchor="ctr"/>
          <a:lstStyle/>
          <a:p>
            <a:pPr indent="0" marL="0">
              <a:lnSpc>
                <a:spcPts val="1900"/>
              </a:lnSpc>
              <a:buNone/>
            </a:pPr>
            <a:r>
              <a:rPr lang="en-US" sz="1350" b="1" dirty="0">
                <a:solidFill>
                  <a:srgbClr val="1A1633"/>
                </a:solidFill>
                <a:latin typeface="Calibri" pitchFamily="34" charset="0"/>
                <a:ea typeface="Calibri" pitchFamily="34" charset="-122"/>
                <a:cs typeface="Calibri" pitchFamily="34" charset="-120"/>
              </a:rPr>
              <a:t>That is the whole difference. </a:t>
            </a:r>
            <a:pPr indent="0" marL="0">
              <a:lnSpc>
                <a:spcPts val="1900"/>
              </a:lnSpc>
              <a:buNone/>
            </a:pPr>
            <a:r>
              <a:rPr lang="en-US" sz="1350" dirty="0">
                <a:solidFill>
                  <a:srgbClr val="6B6785"/>
                </a:solidFill>
                <a:latin typeface="Calibri" pitchFamily="34" charset="0"/>
                <a:ea typeface="Calibri" pitchFamily="34" charset="-122"/>
                <a:cs typeface="Calibri" pitchFamily="34" charset="-120"/>
              </a:rPr>
              <a:t>Same model, same logic, same output structure, same fit statistics, same five steps — only the measurement level of your indicators changes.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THE DISTINCTION · IN DETAIL</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Side by side</a:t>
            </a:r>
            <a:endParaRPr lang="en-US" sz="2900" dirty="0"/>
          </a:p>
        </p:txBody>
      </p:sp>
      <p:sp>
        <p:nvSpPr>
          <p:cNvPr id="4" name="Shape 2"/>
          <p:cNvSpPr/>
          <p:nvPr/>
        </p:nvSpPr>
        <p:spPr>
          <a:xfrm>
            <a:off x="566928" y="1298448"/>
            <a:ext cx="11055096" cy="420624"/>
          </a:xfrm>
          <a:prstGeom prst="rect">
            <a:avLst/>
          </a:prstGeom>
          <a:solidFill>
            <a:srgbClr val="2A2356"/>
          </a:solidFill>
          <a:ln w="12700">
            <a:solidFill>
              <a:srgbClr val="2A2356"/>
            </a:solidFill>
            <a:prstDash val="solid"/>
          </a:ln>
        </p:spPr>
      </p:sp>
      <p:sp>
        <p:nvSpPr>
          <p:cNvPr id="5" name="Text 3"/>
          <p:cNvSpPr/>
          <p:nvPr/>
        </p:nvSpPr>
        <p:spPr>
          <a:xfrm>
            <a:off x="694944" y="1298448"/>
            <a:ext cx="2919645" cy="420624"/>
          </a:xfrm>
          <a:prstGeom prst="rect">
            <a:avLst/>
          </a:prstGeom>
          <a:noFill/>
          <a:ln/>
        </p:spPr>
        <p:txBody>
          <a:bodyPr wrap="square" lIns="0" tIns="0" rIns="0" bIns="0" rtlCol="0" anchor="ctr"/>
          <a:lstStyle/>
          <a:p>
            <a:pPr algn="l" indent="0" marL="0">
              <a:buNone/>
            </a:pPr>
            <a:endParaRPr lang="en-US" sz="1100" dirty="0"/>
          </a:p>
        </p:txBody>
      </p:sp>
      <p:sp>
        <p:nvSpPr>
          <p:cNvPr id="6" name="Text 4"/>
          <p:cNvSpPr/>
          <p:nvPr/>
        </p:nvSpPr>
        <p:spPr>
          <a:xfrm>
            <a:off x="3834045" y="1298448"/>
            <a:ext cx="3738541" cy="42062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LATENT CLASS ANALYSIS  (LCA)</a:t>
            </a:r>
            <a:endParaRPr lang="en-US" sz="1100" dirty="0"/>
          </a:p>
        </p:txBody>
      </p:sp>
      <p:sp>
        <p:nvSpPr>
          <p:cNvPr id="7" name="Text 5"/>
          <p:cNvSpPr/>
          <p:nvPr/>
        </p:nvSpPr>
        <p:spPr>
          <a:xfrm>
            <a:off x="7792043" y="1298448"/>
            <a:ext cx="3738541" cy="42062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LATENT PROFILE ANALYSIS  (LPA)</a:t>
            </a:r>
            <a:endParaRPr lang="en-US" sz="1100" dirty="0"/>
          </a:p>
        </p:txBody>
      </p:sp>
      <p:sp>
        <p:nvSpPr>
          <p:cNvPr id="8" name="Shape 6"/>
          <p:cNvSpPr/>
          <p:nvPr/>
        </p:nvSpPr>
        <p:spPr>
          <a:xfrm>
            <a:off x="566928" y="1719072"/>
            <a:ext cx="11055096" cy="397764"/>
          </a:xfrm>
          <a:prstGeom prst="rect">
            <a:avLst/>
          </a:prstGeom>
          <a:solidFill>
            <a:srgbClr val="FFFFFF"/>
          </a:solidFill>
          <a:ln w="7620">
            <a:solidFill>
              <a:srgbClr val="DBD8E8"/>
            </a:solidFill>
            <a:prstDash val="solid"/>
          </a:ln>
        </p:spPr>
      </p:sp>
      <p:sp>
        <p:nvSpPr>
          <p:cNvPr id="9" name="Text 7"/>
          <p:cNvSpPr/>
          <p:nvPr/>
        </p:nvSpPr>
        <p:spPr>
          <a:xfrm>
            <a:off x="694944" y="1719072"/>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Observed indicators</a:t>
            </a:r>
            <a:endParaRPr lang="en-US" sz="1150" dirty="0"/>
          </a:p>
        </p:txBody>
      </p:sp>
      <p:sp>
        <p:nvSpPr>
          <p:cNvPr id="10" name="Text 8"/>
          <p:cNvSpPr/>
          <p:nvPr/>
        </p:nvSpPr>
        <p:spPr>
          <a:xfrm>
            <a:off x="3834045" y="1719072"/>
            <a:ext cx="3738541" cy="397764"/>
          </a:xfrm>
          <a:prstGeom prst="rect">
            <a:avLst/>
          </a:prstGeom>
          <a:noFill/>
          <a:ln/>
        </p:spPr>
        <p:txBody>
          <a:bodyPr wrap="square" lIns="0" tIns="0" rIns="0" bIns="0" rtlCol="0" anchor="ctr"/>
          <a:lstStyle/>
          <a:p>
            <a:pPr algn="l" indent="0" marL="0">
              <a:buNone/>
            </a:pPr>
            <a:r>
              <a:rPr lang="en-US" sz="1150" b="1" dirty="0">
                <a:solidFill>
                  <a:srgbClr val="D9553C"/>
                </a:solidFill>
                <a:latin typeface="Calibri" pitchFamily="34" charset="0"/>
                <a:ea typeface="Calibri" pitchFamily="34" charset="-122"/>
                <a:cs typeface="Calibri" pitchFamily="34" charset="-120"/>
              </a:rPr>
              <a:t>Categorical — binary, ordinal, nominal</a:t>
            </a:r>
            <a:endParaRPr lang="en-US" sz="1150" dirty="0"/>
          </a:p>
        </p:txBody>
      </p:sp>
      <p:sp>
        <p:nvSpPr>
          <p:cNvPr id="11" name="Text 9"/>
          <p:cNvSpPr/>
          <p:nvPr/>
        </p:nvSpPr>
        <p:spPr>
          <a:xfrm>
            <a:off x="7792043" y="1719072"/>
            <a:ext cx="3738541" cy="397764"/>
          </a:xfrm>
          <a:prstGeom prst="rect">
            <a:avLst/>
          </a:prstGeom>
          <a:noFill/>
          <a:ln/>
        </p:spPr>
        <p:txBody>
          <a:bodyPr wrap="square" lIns="0" tIns="0" rIns="0" bIns="0" rtlCol="0" anchor="ctr"/>
          <a:lstStyle/>
          <a:p>
            <a:pPr algn="l" indent="0" marL="0">
              <a:buNone/>
            </a:pPr>
            <a:r>
              <a:rPr lang="en-US" sz="1150" b="1" dirty="0">
                <a:solidFill>
                  <a:srgbClr val="1F8F82"/>
                </a:solidFill>
                <a:latin typeface="Calibri" pitchFamily="34" charset="0"/>
                <a:ea typeface="Calibri" pitchFamily="34" charset="-122"/>
                <a:cs typeface="Calibri" pitchFamily="34" charset="-120"/>
              </a:rPr>
              <a:t>Continuous — scale scores, totals, means</a:t>
            </a:r>
            <a:endParaRPr lang="en-US" sz="1150" dirty="0"/>
          </a:p>
        </p:txBody>
      </p:sp>
      <p:sp>
        <p:nvSpPr>
          <p:cNvPr id="12" name="Shape 10"/>
          <p:cNvSpPr/>
          <p:nvPr/>
        </p:nvSpPr>
        <p:spPr>
          <a:xfrm>
            <a:off x="566928" y="2116836"/>
            <a:ext cx="11055096" cy="397764"/>
          </a:xfrm>
          <a:prstGeom prst="rect">
            <a:avLst/>
          </a:prstGeom>
          <a:solidFill>
            <a:srgbClr val="F5F4FA"/>
          </a:solidFill>
          <a:ln w="7620">
            <a:solidFill>
              <a:srgbClr val="DBD8E8"/>
            </a:solidFill>
            <a:prstDash val="solid"/>
          </a:ln>
        </p:spPr>
      </p:sp>
      <p:sp>
        <p:nvSpPr>
          <p:cNvPr id="13" name="Text 11"/>
          <p:cNvSpPr/>
          <p:nvPr/>
        </p:nvSpPr>
        <p:spPr>
          <a:xfrm>
            <a:off x="694944" y="2116836"/>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Latent variable</a:t>
            </a:r>
            <a:endParaRPr lang="en-US" sz="1150" dirty="0"/>
          </a:p>
        </p:txBody>
      </p:sp>
      <p:sp>
        <p:nvSpPr>
          <p:cNvPr id="14" name="Text 12"/>
          <p:cNvSpPr/>
          <p:nvPr/>
        </p:nvSpPr>
        <p:spPr>
          <a:xfrm>
            <a:off x="3834045" y="2116836"/>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Categorical (classes)</a:t>
            </a:r>
            <a:endParaRPr lang="en-US" sz="1150" dirty="0"/>
          </a:p>
        </p:txBody>
      </p:sp>
      <p:sp>
        <p:nvSpPr>
          <p:cNvPr id="15" name="Text 13"/>
          <p:cNvSpPr/>
          <p:nvPr/>
        </p:nvSpPr>
        <p:spPr>
          <a:xfrm>
            <a:off x="7792043" y="2116836"/>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Categorical (profiles)</a:t>
            </a:r>
            <a:endParaRPr lang="en-US" sz="1150" dirty="0"/>
          </a:p>
        </p:txBody>
      </p:sp>
      <p:sp>
        <p:nvSpPr>
          <p:cNvPr id="16" name="Shape 14"/>
          <p:cNvSpPr/>
          <p:nvPr/>
        </p:nvSpPr>
        <p:spPr>
          <a:xfrm>
            <a:off x="566928" y="2514600"/>
            <a:ext cx="11055096" cy="397764"/>
          </a:xfrm>
          <a:prstGeom prst="rect">
            <a:avLst/>
          </a:prstGeom>
          <a:solidFill>
            <a:srgbClr val="FFFFFF"/>
          </a:solidFill>
          <a:ln w="7620">
            <a:solidFill>
              <a:srgbClr val="DBD8E8"/>
            </a:solidFill>
            <a:prstDash val="solid"/>
          </a:ln>
        </p:spPr>
      </p:sp>
      <p:sp>
        <p:nvSpPr>
          <p:cNvPr id="17" name="Text 15"/>
          <p:cNvSpPr/>
          <p:nvPr/>
        </p:nvSpPr>
        <p:spPr>
          <a:xfrm>
            <a:off x="694944" y="2514600"/>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Model family</a:t>
            </a:r>
            <a:endParaRPr lang="en-US" sz="1150" dirty="0"/>
          </a:p>
        </p:txBody>
      </p:sp>
      <p:sp>
        <p:nvSpPr>
          <p:cNvPr id="18" name="Text 16"/>
          <p:cNvSpPr/>
          <p:nvPr/>
        </p:nvSpPr>
        <p:spPr>
          <a:xfrm>
            <a:off x="3834045" y="2514600"/>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Finite mixture model</a:t>
            </a:r>
            <a:endParaRPr lang="en-US" sz="1150" dirty="0"/>
          </a:p>
        </p:txBody>
      </p:sp>
      <p:sp>
        <p:nvSpPr>
          <p:cNvPr id="19" name="Text 17"/>
          <p:cNvSpPr/>
          <p:nvPr/>
        </p:nvSpPr>
        <p:spPr>
          <a:xfrm>
            <a:off x="7792043" y="2514600"/>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Finite mixture model — identical family</a:t>
            </a:r>
            <a:endParaRPr lang="en-US" sz="1150" dirty="0"/>
          </a:p>
        </p:txBody>
      </p:sp>
      <p:sp>
        <p:nvSpPr>
          <p:cNvPr id="20" name="Shape 18"/>
          <p:cNvSpPr/>
          <p:nvPr/>
        </p:nvSpPr>
        <p:spPr>
          <a:xfrm>
            <a:off x="566928" y="2912364"/>
            <a:ext cx="11055096" cy="397764"/>
          </a:xfrm>
          <a:prstGeom prst="rect">
            <a:avLst/>
          </a:prstGeom>
          <a:solidFill>
            <a:srgbClr val="F5F4FA"/>
          </a:solidFill>
          <a:ln w="7620">
            <a:solidFill>
              <a:srgbClr val="DBD8E8"/>
            </a:solidFill>
            <a:prstDash val="solid"/>
          </a:ln>
        </p:spPr>
      </p:sp>
      <p:sp>
        <p:nvSpPr>
          <p:cNvPr id="21" name="Text 19"/>
          <p:cNvSpPr/>
          <p:nvPr/>
        </p:nvSpPr>
        <p:spPr>
          <a:xfrm>
            <a:off x="694944" y="2912364"/>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Distribution assumed within class</a:t>
            </a:r>
            <a:endParaRPr lang="en-US" sz="1150" dirty="0"/>
          </a:p>
        </p:txBody>
      </p:sp>
      <p:sp>
        <p:nvSpPr>
          <p:cNvPr id="22" name="Text 20"/>
          <p:cNvSpPr/>
          <p:nvPr/>
        </p:nvSpPr>
        <p:spPr>
          <a:xfrm>
            <a:off x="3834045" y="2912364"/>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Bernoulli / multinomial per item</a:t>
            </a:r>
            <a:endParaRPr lang="en-US" sz="1150" dirty="0"/>
          </a:p>
        </p:txBody>
      </p:sp>
      <p:sp>
        <p:nvSpPr>
          <p:cNvPr id="23" name="Text 21"/>
          <p:cNvSpPr/>
          <p:nvPr/>
        </p:nvSpPr>
        <p:spPr>
          <a:xfrm>
            <a:off x="7792043" y="2912364"/>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Gaussian per indicator (mean + variance)</a:t>
            </a:r>
            <a:endParaRPr lang="en-US" sz="1150" dirty="0"/>
          </a:p>
        </p:txBody>
      </p:sp>
      <p:sp>
        <p:nvSpPr>
          <p:cNvPr id="24" name="Shape 22"/>
          <p:cNvSpPr/>
          <p:nvPr/>
        </p:nvSpPr>
        <p:spPr>
          <a:xfrm>
            <a:off x="566928" y="3310128"/>
            <a:ext cx="11055096" cy="397764"/>
          </a:xfrm>
          <a:prstGeom prst="rect">
            <a:avLst/>
          </a:prstGeom>
          <a:solidFill>
            <a:srgbClr val="FFFFFF"/>
          </a:solidFill>
          <a:ln w="7620">
            <a:solidFill>
              <a:srgbClr val="DBD8E8"/>
            </a:solidFill>
            <a:prstDash val="solid"/>
          </a:ln>
        </p:spPr>
      </p:sp>
      <p:sp>
        <p:nvSpPr>
          <p:cNvPr id="25" name="Text 23"/>
          <p:cNvSpPr/>
          <p:nvPr/>
        </p:nvSpPr>
        <p:spPr>
          <a:xfrm>
            <a:off x="694944" y="3310128"/>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What defines a group</a:t>
            </a:r>
            <a:endParaRPr lang="en-US" sz="1150" dirty="0"/>
          </a:p>
        </p:txBody>
      </p:sp>
      <p:sp>
        <p:nvSpPr>
          <p:cNvPr id="26" name="Text 24"/>
          <p:cNvSpPr/>
          <p:nvPr/>
        </p:nvSpPr>
        <p:spPr>
          <a:xfrm>
            <a:off x="3834045" y="3310128"/>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Item-response probabilities: P(endorse item | class)</a:t>
            </a:r>
            <a:endParaRPr lang="en-US" sz="1150" dirty="0"/>
          </a:p>
        </p:txBody>
      </p:sp>
      <p:sp>
        <p:nvSpPr>
          <p:cNvPr id="27" name="Text 25"/>
          <p:cNvSpPr/>
          <p:nvPr/>
        </p:nvSpPr>
        <p:spPr>
          <a:xfrm>
            <a:off x="7792043" y="3310128"/>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Profile means, and optionally variances/covariances</a:t>
            </a:r>
            <a:endParaRPr lang="en-US" sz="1150" dirty="0"/>
          </a:p>
        </p:txBody>
      </p:sp>
      <p:sp>
        <p:nvSpPr>
          <p:cNvPr id="28" name="Shape 26"/>
          <p:cNvSpPr/>
          <p:nvPr/>
        </p:nvSpPr>
        <p:spPr>
          <a:xfrm>
            <a:off x="566928" y="3707892"/>
            <a:ext cx="11055096" cy="397764"/>
          </a:xfrm>
          <a:prstGeom prst="rect">
            <a:avLst/>
          </a:prstGeom>
          <a:solidFill>
            <a:srgbClr val="F5F4FA"/>
          </a:solidFill>
          <a:ln w="7620">
            <a:solidFill>
              <a:srgbClr val="DBD8E8"/>
            </a:solidFill>
            <a:prstDash val="solid"/>
          </a:ln>
        </p:spPr>
      </p:sp>
      <p:sp>
        <p:nvSpPr>
          <p:cNvPr id="29" name="Text 27"/>
          <p:cNvSpPr/>
          <p:nvPr/>
        </p:nvSpPr>
        <p:spPr>
          <a:xfrm>
            <a:off x="694944" y="3707892"/>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Typical plot</a:t>
            </a:r>
            <a:endParaRPr lang="en-US" sz="1150" dirty="0"/>
          </a:p>
        </p:txBody>
      </p:sp>
      <p:sp>
        <p:nvSpPr>
          <p:cNvPr id="30" name="Text 28"/>
          <p:cNvSpPr/>
          <p:nvPr/>
        </p:nvSpPr>
        <p:spPr>
          <a:xfrm>
            <a:off x="3834045" y="3707892"/>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Probability profile plot, y-axis 0 to 1</a:t>
            </a:r>
            <a:endParaRPr lang="en-US" sz="1150" dirty="0"/>
          </a:p>
        </p:txBody>
      </p:sp>
      <p:sp>
        <p:nvSpPr>
          <p:cNvPr id="31" name="Text 29"/>
          <p:cNvSpPr/>
          <p:nvPr/>
        </p:nvSpPr>
        <p:spPr>
          <a:xfrm>
            <a:off x="7792043" y="3707892"/>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Mean profile plot, usually on a z-score axis</a:t>
            </a:r>
            <a:endParaRPr lang="en-US" sz="1150" dirty="0"/>
          </a:p>
        </p:txBody>
      </p:sp>
      <p:sp>
        <p:nvSpPr>
          <p:cNvPr id="32" name="Shape 30"/>
          <p:cNvSpPr/>
          <p:nvPr/>
        </p:nvSpPr>
        <p:spPr>
          <a:xfrm>
            <a:off x="566928" y="4105656"/>
            <a:ext cx="11055096" cy="397764"/>
          </a:xfrm>
          <a:prstGeom prst="rect">
            <a:avLst/>
          </a:prstGeom>
          <a:solidFill>
            <a:srgbClr val="FFFFFF"/>
          </a:solidFill>
          <a:ln w="7620">
            <a:solidFill>
              <a:srgbClr val="DBD8E8"/>
            </a:solidFill>
            <a:prstDash val="solid"/>
          </a:ln>
        </p:spPr>
      </p:sp>
      <p:sp>
        <p:nvSpPr>
          <p:cNvPr id="33" name="Text 31"/>
          <p:cNvSpPr/>
          <p:nvPr/>
        </p:nvSpPr>
        <p:spPr>
          <a:xfrm>
            <a:off x="694944" y="4105656"/>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Extra decisions you must make</a:t>
            </a:r>
            <a:endParaRPr lang="en-US" sz="1150" dirty="0"/>
          </a:p>
        </p:txBody>
      </p:sp>
      <p:sp>
        <p:nvSpPr>
          <p:cNvPr id="34" name="Text 32"/>
          <p:cNvSpPr/>
          <p:nvPr/>
        </p:nvSpPr>
        <p:spPr>
          <a:xfrm>
            <a:off x="3834045" y="4105656"/>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Usually none beyond number of classes</a:t>
            </a:r>
            <a:endParaRPr lang="en-US" sz="1150" dirty="0"/>
          </a:p>
        </p:txBody>
      </p:sp>
      <p:sp>
        <p:nvSpPr>
          <p:cNvPr id="35" name="Text 33"/>
          <p:cNvSpPr/>
          <p:nvPr/>
        </p:nvSpPr>
        <p:spPr>
          <a:xfrm>
            <a:off x="7792043" y="4105656"/>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Also: are variances equal across profiles? covariances free?</a:t>
            </a:r>
            <a:endParaRPr lang="en-US" sz="1150" dirty="0"/>
          </a:p>
        </p:txBody>
      </p:sp>
      <p:sp>
        <p:nvSpPr>
          <p:cNvPr id="36" name="Shape 34"/>
          <p:cNvSpPr/>
          <p:nvPr/>
        </p:nvSpPr>
        <p:spPr>
          <a:xfrm>
            <a:off x="566928" y="4503420"/>
            <a:ext cx="11055096" cy="397764"/>
          </a:xfrm>
          <a:prstGeom prst="rect">
            <a:avLst/>
          </a:prstGeom>
          <a:solidFill>
            <a:srgbClr val="F5F4FA"/>
          </a:solidFill>
          <a:ln w="7620">
            <a:solidFill>
              <a:srgbClr val="DBD8E8"/>
            </a:solidFill>
            <a:prstDash val="solid"/>
          </a:ln>
        </p:spPr>
      </p:sp>
      <p:sp>
        <p:nvSpPr>
          <p:cNvPr id="37" name="Text 35"/>
          <p:cNvSpPr/>
          <p:nvPr/>
        </p:nvSpPr>
        <p:spPr>
          <a:xfrm>
            <a:off x="694944" y="4503420"/>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Core assumption</a:t>
            </a:r>
            <a:endParaRPr lang="en-US" sz="1150" dirty="0"/>
          </a:p>
        </p:txBody>
      </p:sp>
      <p:sp>
        <p:nvSpPr>
          <p:cNvPr id="38" name="Text 36"/>
          <p:cNvSpPr/>
          <p:nvPr/>
        </p:nvSpPr>
        <p:spPr>
          <a:xfrm>
            <a:off x="3834045" y="4503420"/>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Local independence — items uncorrelated within a class</a:t>
            </a:r>
            <a:endParaRPr lang="en-US" sz="1150" dirty="0"/>
          </a:p>
        </p:txBody>
      </p:sp>
      <p:sp>
        <p:nvSpPr>
          <p:cNvPr id="39" name="Text 37"/>
          <p:cNvSpPr/>
          <p:nvPr/>
        </p:nvSpPr>
        <p:spPr>
          <a:xfrm>
            <a:off x="7792043" y="4503420"/>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Local independence — indicators uncorrelated within a profile</a:t>
            </a:r>
            <a:endParaRPr lang="en-US" sz="1150" dirty="0"/>
          </a:p>
        </p:txBody>
      </p:sp>
      <p:sp>
        <p:nvSpPr>
          <p:cNvPr id="40" name="Shape 38"/>
          <p:cNvSpPr/>
          <p:nvPr/>
        </p:nvSpPr>
        <p:spPr>
          <a:xfrm>
            <a:off x="566928" y="4901184"/>
            <a:ext cx="11055096" cy="397764"/>
          </a:xfrm>
          <a:prstGeom prst="rect">
            <a:avLst/>
          </a:prstGeom>
          <a:solidFill>
            <a:srgbClr val="FFFFFF"/>
          </a:solidFill>
          <a:ln w="7620">
            <a:solidFill>
              <a:srgbClr val="DBD8E8"/>
            </a:solidFill>
            <a:prstDash val="solid"/>
          </a:ln>
        </p:spPr>
      </p:sp>
      <p:sp>
        <p:nvSpPr>
          <p:cNvPr id="41" name="Text 39"/>
          <p:cNvSpPr/>
          <p:nvPr/>
        </p:nvSpPr>
        <p:spPr>
          <a:xfrm>
            <a:off x="694944" y="4901184"/>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R packages</a:t>
            </a:r>
            <a:endParaRPr lang="en-US" sz="1150" dirty="0"/>
          </a:p>
        </p:txBody>
      </p:sp>
      <p:sp>
        <p:nvSpPr>
          <p:cNvPr id="42" name="Text 40"/>
          <p:cNvSpPr/>
          <p:nvPr/>
        </p:nvSpPr>
        <p:spPr>
          <a:xfrm>
            <a:off x="3834045" y="4901184"/>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poLCA, depmixS4, randomLCA</a:t>
            </a:r>
            <a:endParaRPr lang="en-US" sz="1150" dirty="0"/>
          </a:p>
        </p:txBody>
      </p:sp>
      <p:sp>
        <p:nvSpPr>
          <p:cNvPr id="43" name="Text 41"/>
          <p:cNvSpPr/>
          <p:nvPr/>
        </p:nvSpPr>
        <p:spPr>
          <a:xfrm>
            <a:off x="7792043" y="4901184"/>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tidyLPA, mclust</a:t>
            </a:r>
            <a:endParaRPr lang="en-US" sz="1150" dirty="0"/>
          </a:p>
        </p:txBody>
      </p:sp>
      <p:sp>
        <p:nvSpPr>
          <p:cNvPr id="44" name="Shape 42"/>
          <p:cNvSpPr/>
          <p:nvPr/>
        </p:nvSpPr>
        <p:spPr>
          <a:xfrm>
            <a:off x="566928" y="5298948"/>
            <a:ext cx="11055096" cy="397764"/>
          </a:xfrm>
          <a:prstGeom prst="rect">
            <a:avLst/>
          </a:prstGeom>
          <a:solidFill>
            <a:srgbClr val="F5F4FA"/>
          </a:solidFill>
          <a:ln w="7620">
            <a:solidFill>
              <a:srgbClr val="DBD8E8"/>
            </a:solidFill>
            <a:prstDash val="solid"/>
          </a:ln>
        </p:spPr>
      </p:sp>
      <p:sp>
        <p:nvSpPr>
          <p:cNvPr id="45" name="Text 43"/>
          <p:cNvSpPr/>
          <p:nvPr/>
        </p:nvSpPr>
        <p:spPr>
          <a:xfrm>
            <a:off x="694944" y="5298948"/>
            <a:ext cx="2919645" cy="397764"/>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Mplus syntax</a:t>
            </a:r>
            <a:endParaRPr lang="en-US" sz="1150" dirty="0"/>
          </a:p>
        </p:txBody>
      </p:sp>
      <p:sp>
        <p:nvSpPr>
          <p:cNvPr id="46" name="Text 44"/>
          <p:cNvSpPr/>
          <p:nvPr/>
        </p:nvSpPr>
        <p:spPr>
          <a:xfrm>
            <a:off x="3834045" y="5298948"/>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TYPE = MIXTURE;  with CATEGORICAL =</a:t>
            </a:r>
            <a:endParaRPr lang="en-US" sz="1150" dirty="0"/>
          </a:p>
        </p:txBody>
      </p:sp>
      <p:sp>
        <p:nvSpPr>
          <p:cNvPr id="47" name="Text 45"/>
          <p:cNvSpPr/>
          <p:nvPr/>
        </p:nvSpPr>
        <p:spPr>
          <a:xfrm>
            <a:off x="7792043" y="5298948"/>
            <a:ext cx="3738541" cy="397764"/>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TYPE = MIXTURE;  indicators left continuous</a:t>
            </a:r>
            <a:endParaRPr lang="en-US" sz="1150" dirty="0"/>
          </a:p>
        </p:txBody>
      </p:sp>
      <p:sp>
        <p:nvSpPr>
          <p:cNvPr id="48" name="Text 46"/>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9E9AB4"/>
                </a:solidFill>
                <a:latin typeface="Calibri" pitchFamily="34" charset="0"/>
                <a:ea typeface="Calibri" pitchFamily="34" charset="-122"/>
                <a:cs typeface="Calibri" pitchFamily="34" charset="-120"/>
              </a:rPr>
              <a:t>Mixed indicators — some binary, some continuous — are handled by the same machinery, using a different conditional distribution per item.</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THE MAP</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Where these methods sit relative to each other</a:t>
            </a:r>
            <a:endParaRPr lang="en-US" sz="2900" dirty="0"/>
          </a:p>
        </p:txBody>
      </p:sp>
      <p:sp>
        <p:nvSpPr>
          <p:cNvPr id="4" name="Text 2"/>
          <p:cNvSpPr/>
          <p:nvPr/>
        </p:nvSpPr>
        <p:spPr>
          <a:xfrm>
            <a:off x="566928" y="1298448"/>
            <a:ext cx="11055096" cy="384048"/>
          </a:xfrm>
          <a:prstGeom prst="rect">
            <a:avLst/>
          </a:prstGeom>
          <a:noFill/>
          <a:ln/>
        </p:spPr>
        <p:txBody>
          <a:bodyPr wrap="square" lIns="0" tIns="0" rIns="0" bIns="0" rtlCol="0" anchor="t"/>
          <a:lstStyle/>
          <a:p>
            <a:pPr algn="l" indent="0" marL="0">
              <a:lnSpc>
                <a:spcPts val="1900"/>
              </a:lnSpc>
              <a:buNone/>
            </a:pPr>
            <a:r>
              <a:rPr lang="en-US" sz="1350" dirty="0">
                <a:solidFill>
                  <a:srgbClr val="6B6785"/>
                </a:solidFill>
                <a:latin typeface="Calibri" pitchFamily="34" charset="0"/>
                <a:ea typeface="Calibri" pitchFamily="34" charset="-122"/>
                <a:cs typeface="Calibri" pitchFamily="34" charset="-120"/>
              </a:rPr>
              <a:t>Every latent variable method is one cell of a 2×2: what type is the thing you observe, and what type is the thing you infer? Answer both and the method names itself.</a:t>
            </a:r>
            <a:endParaRPr lang="en-US" sz="1350" dirty="0"/>
          </a:p>
        </p:txBody>
      </p:sp>
      <p:sp>
        <p:nvSpPr>
          <p:cNvPr id="5" name="Text 3"/>
          <p:cNvSpPr/>
          <p:nvPr/>
        </p:nvSpPr>
        <p:spPr>
          <a:xfrm>
            <a:off x="2971800" y="1810512"/>
            <a:ext cx="8503920" cy="274320"/>
          </a:xfrm>
          <a:prstGeom prst="rect">
            <a:avLst/>
          </a:prstGeom>
          <a:noFill/>
          <a:ln/>
        </p:spPr>
        <p:txBody>
          <a:bodyPr wrap="square" lIns="0" tIns="0" rIns="0" bIns="0" rtlCol="0" anchor="ctr"/>
          <a:lstStyle/>
          <a:p>
            <a:pPr algn="ctr" indent="0" marL="0">
              <a:buNone/>
            </a:pPr>
            <a:r>
              <a:rPr lang="en-US" sz="1100" b="1" spc="150" kern="0" dirty="0">
                <a:solidFill>
                  <a:srgbClr val="6B6785"/>
                </a:solidFill>
                <a:latin typeface="Calibri" pitchFamily="34" charset="0"/>
                <a:ea typeface="Calibri" pitchFamily="34" charset="-122"/>
                <a:cs typeface="Calibri" pitchFamily="34" charset="-120"/>
              </a:rPr>
              <a:t>OBSERVED  INDICATORS</a:t>
            </a:r>
            <a:endParaRPr lang="en-US" sz="1100" dirty="0"/>
          </a:p>
        </p:txBody>
      </p:sp>
      <p:sp>
        <p:nvSpPr>
          <p:cNvPr id="6" name="Text 4"/>
          <p:cNvSpPr/>
          <p:nvPr/>
        </p:nvSpPr>
        <p:spPr>
          <a:xfrm>
            <a:off x="2971800" y="2048256"/>
            <a:ext cx="4160520" cy="256032"/>
          </a:xfrm>
          <a:prstGeom prst="rect">
            <a:avLst/>
          </a:prstGeom>
          <a:noFill/>
          <a:ln/>
        </p:spPr>
        <p:txBody>
          <a:bodyPr wrap="square" lIns="0" tIns="0" rIns="0" bIns="0" rtlCol="0" anchor="ctr"/>
          <a:lstStyle/>
          <a:p>
            <a:pPr algn="ctr" indent="0" marL="0">
              <a:buNone/>
            </a:pPr>
            <a:r>
              <a:rPr lang="en-US" sz="1250" b="1" dirty="0">
                <a:solidFill>
                  <a:srgbClr val="1A1633"/>
                </a:solidFill>
                <a:latin typeface="Calibri" pitchFamily="34" charset="0"/>
                <a:ea typeface="Calibri" pitchFamily="34" charset="-122"/>
                <a:cs typeface="Calibri" pitchFamily="34" charset="-120"/>
              </a:rPr>
              <a:t>Continuous</a:t>
            </a:r>
            <a:endParaRPr lang="en-US" sz="1250" dirty="0"/>
          </a:p>
        </p:txBody>
      </p:sp>
      <p:sp>
        <p:nvSpPr>
          <p:cNvPr id="7" name="Text 5"/>
          <p:cNvSpPr/>
          <p:nvPr/>
        </p:nvSpPr>
        <p:spPr>
          <a:xfrm>
            <a:off x="7315200" y="2048256"/>
            <a:ext cx="4160520" cy="256032"/>
          </a:xfrm>
          <a:prstGeom prst="rect">
            <a:avLst/>
          </a:prstGeom>
          <a:noFill/>
          <a:ln/>
        </p:spPr>
        <p:txBody>
          <a:bodyPr wrap="square" lIns="0" tIns="0" rIns="0" bIns="0" rtlCol="0" anchor="ctr"/>
          <a:lstStyle/>
          <a:p>
            <a:pPr algn="ctr" indent="0" marL="0">
              <a:buNone/>
            </a:pPr>
            <a:r>
              <a:rPr lang="en-US" sz="1250" b="1" dirty="0">
                <a:solidFill>
                  <a:srgbClr val="1A1633"/>
                </a:solidFill>
                <a:latin typeface="Calibri" pitchFamily="34" charset="0"/>
                <a:ea typeface="Calibri" pitchFamily="34" charset="-122"/>
                <a:cs typeface="Calibri" pitchFamily="34" charset="-120"/>
              </a:rPr>
              <a:t>Categorical</a:t>
            </a:r>
            <a:endParaRPr lang="en-US" sz="1250" dirty="0"/>
          </a:p>
        </p:txBody>
      </p:sp>
      <p:sp>
        <p:nvSpPr>
          <p:cNvPr id="8" name="Text 6"/>
          <p:cNvSpPr/>
          <p:nvPr/>
        </p:nvSpPr>
        <p:spPr>
          <a:xfrm rot="16200000">
            <a:off x="274320" y="3429000"/>
            <a:ext cx="2194560" cy="274320"/>
          </a:xfrm>
          <a:prstGeom prst="rect">
            <a:avLst/>
          </a:prstGeom>
          <a:noFill/>
          <a:ln/>
        </p:spPr>
        <p:txBody>
          <a:bodyPr wrap="square" lIns="0" tIns="0" rIns="0" bIns="0" rtlCol="0" anchor="ctr"/>
          <a:lstStyle/>
          <a:p>
            <a:pPr algn="ctr" indent="0" marL="0">
              <a:buNone/>
            </a:pPr>
            <a:r>
              <a:rPr lang="en-US" sz="1100" b="1" spc="150" kern="0" dirty="0">
                <a:solidFill>
                  <a:srgbClr val="6B6785"/>
                </a:solidFill>
                <a:latin typeface="Calibri" pitchFamily="34" charset="0"/>
                <a:ea typeface="Calibri" pitchFamily="34" charset="-122"/>
                <a:cs typeface="Calibri" pitchFamily="34" charset="-120"/>
              </a:rPr>
              <a:t>LATENT  VARIABLE</a:t>
            </a:r>
            <a:endParaRPr lang="en-US" sz="1100" dirty="0"/>
          </a:p>
        </p:txBody>
      </p:sp>
      <p:sp>
        <p:nvSpPr>
          <p:cNvPr id="9" name="Text 7"/>
          <p:cNvSpPr/>
          <p:nvPr/>
        </p:nvSpPr>
        <p:spPr>
          <a:xfrm>
            <a:off x="1005840" y="2889504"/>
            <a:ext cx="1828800" cy="274320"/>
          </a:xfrm>
          <a:prstGeom prst="rect">
            <a:avLst/>
          </a:prstGeom>
          <a:noFill/>
          <a:ln/>
        </p:spPr>
        <p:txBody>
          <a:bodyPr wrap="square" lIns="0" tIns="0" rIns="0" bIns="0" rtlCol="0" anchor="ctr"/>
          <a:lstStyle/>
          <a:p>
            <a:pPr algn="r" indent="0" marL="0">
              <a:buNone/>
            </a:pPr>
            <a:r>
              <a:rPr lang="en-US" sz="1250" b="1" dirty="0">
                <a:solidFill>
                  <a:srgbClr val="1A1633"/>
                </a:solidFill>
                <a:latin typeface="Calibri" pitchFamily="34" charset="0"/>
                <a:ea typeface="Calibri" pitchFamily="34" charset="-122"/>
                <a:cs typeface="Calibri" pitchFamily="34" charset="-120"/>
              </a:rPr>
              <a:t>Continuous</a:t>
            </a:r>
            <a:endParaRPr lang="en-US" sz="1250" dirty="0"/>
          </a:p>
        </p:txBody>
      </p:sp>
      <p:sp>
        <p:nvSpPr>
          <p:cNvPr id="10" name="Text 8"/>
          <p:cNvSpPr/>
          <p:nvPr/>
        </p:nvSpPr>
        <p:spPr>
          <a:xfrm>
            <a:off x="1005840" y="4608576"/>
            <a:ext cx="1828800" cy="274320"/>
          </a:xfrm>
          <a:prstGeom prst="rect">
            <a:avLst/>
          </a:prstGeom>
          <a:noFill/>
          <a:ln/>
        </p:spPr>
        <p:txBody>
          <a:bodyPr wrap="square" lIns="0" tIns="0" rIns="0" bIns="0" rtlCol="0" anchor="ctr"/>
          <a:lstStyle/>
          <a:p>
            <a:pPr algn="r" indent="0" marL="0">
              <a:buNone/>
            </a:pPr>
            <a:r>
              <a:rPr lang="en-US" sz="1250" b="1" dirty="0">
                <a:solidFill>
                  <a:srgbClr val="1A1633"/>
                </a:solidFill>
                <a:latin typeface="Calibri" pitchFamily="34" charset="0"/>
                <a:ea typeface="Calibri" pitchFamily="34" charset="-122"/>
                <a:cs typeface="Calibri" pitchFamily="34" charset="-120"/>
              </a:rPr>
              <a:t>Categorical</a:t>
            </a:r>
            <a:endParaRPr lang="en-US" sz="1250" dirty="0"/>
          </a:p>
        </p:txBody>
      </p:sp>
      <p:sp>
        <p:nvSpPr>
          <p:cNvPr id="11" name="Shape 9"/>
          <p:cNvSpPr/>
          <p:nvPr/>
        </p:nvSpPr>
        <p:spPr>
          <a:xfrm>
            <a:off x="2971800" y="2231136"/>
            <a:ext cx="4160520" cy="1536192"/>
          </a:xfrm>
          <a:prstGeom prst="roundRect">
            <a:avLst>
              <a:gd name="adj" fmla="val 5952"/>
            </a:avLst>
          </a:prstGeom>
          <a:solidFill>
            <a:srgbClr val="F5F4FA"/>
          </a:solidFill>
          <a:ln w="12700">
            <a:solidFill>
              <a:srgbClr val="DBD8E8"/>
            </a:solidFill>
            <a:prstDash val="solid"/>
          </a:ln>
        </p:spPr>
      </p:sp>
      <p:sp>
        <p:nvSpPr>
          <p:cNvPr id="12" name="Text 10"/>
          <p:cNvSpPr/>
          <p:nvPr/>
        </p:nvSpPr>
        <p:spPr>
          <a:xfrm>
            <a:off x="3246120" y="2487168"/>
            <a:ext cx="3611880" cy="384048"/>
          </a:xfrm>
          <a:prstGeom prst="rect">
            <a:avLst/>
          </a:prstGeom>
          <a:noFill/>
          <a:ln/>
        </p:spPr>
        <p:txBody>
          <a:bodyPr wrap="square" lIns="0" tIns="0" rIns="0" bIns="0" rtlCol="0" anchor="t"/>
          <a:lstStyle/>
          <a:p>
            <a:pPr indent="0" marL="0">
              <a:buNone/>
            </a:pPr>
            <a:r>
              <a:rPr lang="en-US" sz="1800" b="1" dirty="0">
                <a:solidFill>
                  <a:srgbClr val="1A1633"/>
                </a:solidFill>
                <a:latin typeface="Cambria" pitchFamily="34" charset="0"/>
                <a:ea typeface="Cambria" pitchFamily="34" charset="-122"/>
                <a:cs typeface="Cambria" pitchFamily="34" charset="-120"/>
              </a:rPr>
              <a:t>Factor Analysis</a:t>
            </a:r>
            <a:endParaRPr lang="en-US" sz="1800" dirty="0"/>
          </a:p>
        </p:txBody>
      </p:sp>
      <p:sp>
        <p:nvSpPr>
          <p:cNvPr id="13" name="Text 11"/>
          <p:cNvSpPr/>
          <p:nvPr/>
        </p:nvSpPr>
        <p:spPr>
          <a:xfrm>
            <a:off x="3246120" y="2980944"/>
            <a:ext cx="3611880" cy="685800"/>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Latent trait, continuous items — e.g. extracting a wellbeing factor from Likert scale scores</a:t>
            </a:r>
            <a:endParaRPr lang="en-US" sz="1200" dirty="0"/>
          </a:p>
        </p:txBody>
      </p:sp>
      <p:sp>
        <p:nvSpPr>
          <p:cNvPr id="14" name="Shape 12"/>
          <p:cNvSpPr/>
          <p:nvPr/>
        </p:nvSpPr>
        <p:spPr>
          <a:xfrm>
            <a:off x="7315200" y="2231136"/>
            <a:ext cx="4160520" cy="1536192"/>
          </a:xfrm>
          <a:prstGeom prst="roundRect">
            <a:avLst>
              <a:gd name="adj" fmla="val 5952"/>
            </a:avLst>
          </a:prstGeom>
          <a:solidFill>
            <a:srgbClr val="F5F4FA"/>
          </a:solidFill>
          <a:ln w="12700">
            <a:solidFill>
              <a:srgbClr val="DBD8E8"/>
            </a:solidFill>
            <a:prstDash val="solid"/>
          </a:ln>
        </p:spPr>
      </p:sp>
      <p:sp>
        <p:nvSpPr>
          <p:cNvPr id="15" name="Text 13"/>
          <p:cNvSpPr/>
          <p:nvPr/>
        </p:nvSpPr>
        <p:spPr>
          <a:xfrm>
            <a:off x="7589520" y="2487168"/>
            <a:ext cx="3611880" cy="384048"/>
          </a:xfrm>
          <a:prstGeom prst="rect">
            <a:avLst/>
          </a:prstGeom>
          <a:noFill/>
          <a:ln/>
        </p:spPr>
        <p:txBody>
          <a:bodyPr wrap="square" lIns="0" tIns="0" rIns="0" bIns="0" rtlCol="0" anchor="t"/>
          <a:lstStyle/>
          <a:p>
            <a:pPr indent="0" marL="0">
              <a:buNone/>
            </a:pPr>
            <a:r>
              <a:rPr lang="en-US" sz="1800" b="1" dirty="0">
                <a:solidFill>
                  <a:srgbClr val="1A1633"/>
                </a:solidFill>
                <a:latin typeface="Cambria" pitchFamily="34" charset="0"/>
                <a:ea typeface="Cambria" pitchFamily="34" charset="-122"/>
                <a:cs typeface="Cambria" pitchFamily="34" charset="-120"/>
              </a:rPr>
              <a:t>Item Response Theory</a:t>
            </a:r>
            <a:endParaRPr lang="en-US" sz="1800" dirty="0"/>
          </a:p>
        </p:txBody>
      </p:sp>
      <p:sp>
        <p:nvSpPr>
          <p:cNvPr id="16" name="Text 14"/>
          <p:cNvSpPr/>
          <p:nvPr/>
        </p:nvSpPr>
        <p:spPr>
          <a:xfrm>
            <a:off x="7589520" y="2980944"/>
            <a:ext cx="3611880" cy="685800"/>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Latent trait, categorical items — e.g. ability estimated from right/wrong test answers</a:t>
            </a:r>
            <a:endParaRPr lang="en-US" sz="1200" dirty="0"/>
          </a:p>
        </p:txBody>
      </p:sp>
      <p:sp>
        <p:nvSpPr>
          <p:cNvPr id="17" name="Shape 15"/>
          <p:cNvSpPr/>
          <p:nvPr/>
        </p:nvSpPr>
        <p:spPr>
          <a:xfrm>
            <a:off x="2971800" y="3950208"/>
            <a:ext cx="4160520" cy="1536192"/>
          </a:xfrm>
          <a:prstGeom prst="roundRect">
            <a:avLst>
              <a:gd name="adj" fmla="val 5952"/>
            </a:avLst>
          </a:prstGeom>
          <a:solidFill>
            <a:srgbClr val="EDF6F4"/>
          </a:solidFill>
          <a:ln w="12700">
            <a:solidFill>
              <a:srgbClr val="1F8F82"/>
            </a:solidFill>
            <a:prstDash val="solid"/>
          </a:ln>
          <a:effectLst>
            <a:outerShdw sx="100000" sy="100000" kx="0" ky="0" algn="bl" rotWithShape="0" blurRad="177800" dist="762" dir="5400000">
              <a:srgbClr val="1A1633">
                <a:alpha val="12000"/>
              </a:srgbClr>
            </a:outerShdw>
          </a:effectLst>
        </p:spPr>
      </p:sp>
      <p:sp>
        <p:nvSpPr>
          <p:cNvPr id="18" name="Text 16"/>
          <p:cNvSpPr/>
          <p:nvPr/>
        </p:nvSpPr>
        <p:spPr>
          <a:xfrm>
            <a:off x="3246120" y="4206240"/>
            <a:ext cx="3611880" cy="384048"/>
          </a:xfrm>
          <a:prstGeom prst="rect">
            <a:avLst/>
          </a:prstGeom>
          <a:noFill/>
          <a:ln/>
        </p:spPr>
        <p:txBody>
          <a:bodyPr wrap="square" lIns="0" tIns="0" rIns="0" bIns="0" rtlCol="0" anchor="t"/>
          <a:lstStyle/>
          <a:p>
            <a:pPr indent="0" marL="0">
              <a:buNone/>
            </a:pPr>
            <a:r>
              <a:rPr lang="en-US" sz="2100" b="1" dirty="0">
                <a:solidFill>
                  <a:srgbClr val="1F8F82"/>
                </a:solidFill>
                <a:latin typeface="Cambria" pitchFamily="34" charset="0"/>
                <a:ea typeface="Cambria" pitchFamily="34" charset="-122"/>
                <a:cs typeface="Cambria" pitchFamily="34" charset="-120"/>
              </a:rPr>
              <a:t>Latent Profile Analysis</a:t>
            </a:r>
            <a:endParaRPr lang="en-US" sz="2100" dirty="0"/>
          </a:p>
        </p:txBody>
      </p:sp>
      <p:sp>
        <p:nvSpPr>
          <p:cNvPr id="19" name="Text 17"/>
          <p:cNvSpPr/>
          <p:nvPr/>
        </p:nvSpPr>
        <p:spPr>
          <a:xfrm>
            <a:off x="3246120" y="4700016"/>
            <a:ext cx="3611880" cy="685800"/>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Latent categories, continuous indicators</a:t>
            </a:r>
            <a:endParaRPr lang="en-US" sz="1200" dirty="0"/>
          </a:p>
        </p:txBody>
      </p:sp>
      <p:sp>
        <p:nvSpPr>
          <p:cNvPr id="20" name="Shape 18"/>
          <p:cNvSpPr/>
          <p:nvPr/>
        </p:nvSpPr>
        <p:spPr>
          <a:xfrm>
            <a:off x="7315200" y="3950208"/>
            <a:ext cx="4160520" cy="1536192"/>
          </a:xfrm>
          <a:prstGeom prst="roundRect">
            <a:avLst>
              <a:gd name="adj" fmla="val 5952"/>
            </a:avLst>
          </a:prstGeom>
          <a:solidFill>
            <a:srgbClr val="FAF3F1"/>
          </a:solidFill>
          <a:ln w="12700">
            <a:solidFill>
              <a:srgbClr val="D9553C"/>
            </a:solidFill>
            <a:prstDash val="solid"/>
          </a:ln>
          <a:effectLst>
            <a:outerShdw sx="100000" sy="100000" kx="0" ky="0" algn="bl" rotWithShape="0" blurRad="177800" dist="762" dir="5400000">
              <a:srgbClr val="1A1633">
                <a:alpha val="12000"/>
              </a:srgbClr>
            </a:outerShdw>
          </a:effectLst>
        </p:spPr>
      </p:sp>
      <p:sp>
        <p:nvSpPr>
          <p:cNvPr id="21" name="Text 19"/>
          <p:cNvSpPr/>
          <p:nvPr/>
        </p:nvSpPr>
        <p:spPr>
          <a:xfrm>
            <a:off x="7589520" y="4206240"/>
            <a:ext cx="3611880" cy="384048"/>
          </a:xfrm>
          <a:prstGeom prst="rect">
            <a:avLst/>
          </a:prstGeom>
          <a:noFill/>
          <a:ln/>
        </p:spPr>
        <p:txBody>
          <a:bodyPr wrap="square" lIns="0" tIns="0" rIns="0" bIns="0" rtlCol="0" anchor="t"/>
          <a:lstStyle/>
          <a:p>
            <a:pPr indent="0" marL="0">
              <a:buNone/>
            </a:pPr>
            <a:r>
              <a:rPr lang="en-US" sz="2100" b="1" dirty="0">
                <a:solidFill>
                  <a:srgbClr val="D9553C"/>
                </a:solidFill>
                <a:latin typeface="Cambria" pitchFamily="34" charset="0"/>
                <a:ea typeface="Cambria" pitchFamily="34" charset="-122"/>
                <a:cs typeface="Cambria" pitchFamily="34" charset="-120"/>
              </a:rPr>
              <a:t>Latent Class Analysis</a:t>
            </a:r>
            <a:endParaRPr lang="en-US" sz="2100" dirty="0"/>
          </a:p>
        </p:txBody>
      </p:sp>
      <p:sp>
        <p:nvSpPr>
          <p:cNvPr id="22" name="Text 20"/>
          <p:cNvSpPr/>
          <p:nvPr/>
        </p:nvSpPr>
        <p:spPr>
          <a:xfrm>
            <a:off x="7589520" y="4700016"/>
            <a:ext cx="3611880" cy="685800"/>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Latent categories, categorical indicators</a:t>
            </a:r>
            <a:endParaRPr lang="en-US" sz="1200" dirty="0"/>
          </a:p>
        </p:txBody>
      </p:sp>
      <p:sp>
        <p:nvSpPr>
          <p:cNvPr id="23" name="Shape 21"/>
          <p:cNvSpPr/>
          <p:nvPr/>
        </p:nvSpPr>
        <p:spPr>
          <a:xfrm>
            <a:off x="566928" y="5687568"/>
            <a:ext cx="11055096" cy="713232"/>
          </a:xfrm>
          <a:prstGeom prst="roundRect">
            <a:avLst>
              <a:gd name="adj" fmla="val 12821"/>
            </a:avLst>
          </a:prstGeom>
          <a:solidFill>
            <a:srgbClr val="EBE9F5"/>
          </a:solidFill>
          <a:ln w="12700">
            <a:solidFill>
              <a:srgbClr val="DBD8E8"/>
            </a:solidFill>
            <a:prstDash val="solid"/>
          </a:ln>
        </p:spPr>
      </p:sp>
      <p:sp>
        <p:nvSpPr>
          <p:cNvPr id="24" name="Text 22"/>
          <p:cNvSpPr/>
          <p:nvPr/>
        </p:nvSpPr>
        <p:spPr>
          <a:xfrm>
            <a:off x="886968" y="5687568"/>
            <a:ext cx="10415016" cy="713232"/>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Read the bottom row: </a:t>
            </a:r>
            <a:pPr indent="0" marL="0">
              <a:buNone/>
            </a:pPr>
            <a:r>
              <a:rPr lang="en-US" sz="1300" dirty="0">
                <a:solidFill>
                  <a:srgbClr val="6B6785"/>
                </a:solidFill>
                <a:latin typeface="Calibri" pitchFamily="34" charset="0"/>
                <a:ea typeface="Calibri" pitchFamily="34" charset="-122"/>
                <a:cs typeface="Calibri" pitchFamily="34" charset="-120"/>
              </a:rPr>
              <a:t>LPA and LCA are neighbours in the same row. They share a categorical latent variable and differ only by column.</a:t>
            </a:r>
            <a:endParaRPr lang="en-US" sz="1300" dirty="0"/>
          </a:p>
        </p:txBody>
      </p:sp>
      <p:sp>
        <p:nvSpPr>
          <p:cNvPr id="25" name="Text 23"/>
          <p:cNvSpPr/>
          <p:nvPr/>
        </p:nvSpPr>
        <p:spPr>
          <a:xfrm>
            <a:off x="566928" y="6254496"/>
            <a:ext cx="11055096" cy="457200"/>
          </a:xfrm>
          <a:prstGeom prst="rect">
            <a:avLst/>
          </a:prstGeom>
          <a:noFill/>
          <a:ln/>
        </p:spPr>
        <p:txBody>
          <a:bodyPr wrap="square" lIns="0" tIns="0" rIns="0" bIns="0" rtlCol="0" anchor="t"/>
          <a:lstStyle/>
          <a:p>
            <a:pPr indent="0" marL="0">
              <a:buNone/>
            </a:pP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WORKED CONTRAST</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Same construct — two different methods</a:t>
            </a:r>
            <a:endParaRPr lang="en-US" sz="2900" dirty="0"/>
          </a:p>
        </p:txBody>
      </p:sp>
      <p:sp>
        <p:nvSpPr>
          <p:cNvPr id="4" name="Text 2"/>
          <p:cNvSpPr/>
          <p:nvPr/>
        </p:nvSpPr>
        <p:spPr>
          <a:xfrm>
            <a:off x="566928" y="1298448"/>
            <a:ext cx="11055096" cy="365760"/>
          </a:xfrm>
          <a:prstGeom prst="rect">
            <a:avLst/>
          </a:prstGeom>
          <a:noFill/>
          <a:ln/>
        </p:spPr>
        <p:txBody>
          <a:bodyPr wrap="square" lIns="0" tIns="0" rIns="0" bIns="0" rtlCol="0" anchor="t"/>
          <a:lstStyle/>
          <a:p>
            <a:pPr algn="l" indent="0" marL="0">
              <a:lnSpc>
                <a:spcPts val="1900"/>
              </a:lnSpc>
              <a:buNone/>
            </a:pPr>
            <a:r>
              <a:rPr lang="en-US" sz="1350" dirty="0">
                <a:solidFill>
                  <a:srgbClr val="6B6785"/>
                </a:solidFill>
                <a:latin typeface="Calibri" pitchFamily="34" charset="0"/>
                <a:ea typeface="Calibri" pitchFamily="34" charset="-122"/>
                <a:cs typeface="Calibri" pitchFamily="34" charset="-120"/>
              </a:rPr>
              <a:t>Suppose you want to find subgroups of students by mental health. Whether you run LCA or LPA is decided entirely by how the questionnaire recorded the answers.</a:t>
            </a:r>
            <a:endParaRPr lang="en-US" sz="1350" dirty="0"/>
          </a:p>
        </p:txBody>
      </p:sp>
      <p:sp>
        <p:nvSpPr>
          <p:cNvPr id="5" name="Shape 3"/>
          <p:cNvSpPr/>
          <p:nvPr/>
        </p:nvSpPr>
        <p:spPr>
          <a:xfrm>
            <a:off x="566928" y="1828800"/>
            <a:ext cx="5486400" cy="4160520"/>
          </a:xfrm>
          <a:prstGeom prst="roundRect">
            <a:avLst>
              <a:gd name="adj" fmla="val 2198"/>
            </a:avLst>
          </a:prstGeom>
          <a:solidFill>
            <a:srgbClr val="FFFFFF"/>
          </a:solidFill>
          <a:ln w="12700">
            <a:solidFill>
              <a:srgbClr val="EBD5CD"/>
            </a:solidFill>
            <a:prstDash val="solid"/>
          </a:ln>
          <a:effectLst>
            <a:outerShdw sx="100000" sy="100000" kx="0" ky="0" algn="bl" rotWithShape="0" blurRad="177800" dist="762" dir="5400000">
              <a:srgbClr val="1A1633">
                <a:alpha val="12000"/>
              </a:srgbClr>
            </a:outerShdw>
          </a:effectLst>
        </p:spPr>
      </p:sp>
      <p:sp>
        <p:nvSpPr>
          <p:cNvPr id="6" name="Text 4"/>
          <p:cNvSpPr/>
          <p:nvPr/>
        </p:nvSpPr>
        <p:spPr>
          <a:xfrm>
            <a:off x="859536" y="2011680"/>
            <a:ext cx="4846320" cy="256032"/>
          </a:xfrm>
          <a:prstGeom prst="rect">
            <a:avLst/>
          </a:prstGeom>
          <a:noFill/>
          <a:ln/>
        </p:spPr>
        <p:txBody>
          <a:bodyPr wrap="square" lIns="0" tIns="0" rIns="0" bIns="0" rtlCol="0" anchor="ctr"/>
          <a:lstStyle/>
          <a:p>
            <a:pPr indent="0" marL="0">
              <a:buNone/>
            </a:pPr>
            <a:r>
              <a:rPr lang="en-US" sz="1050" b="1" spc="150" kern="0" dirty="0">
                <a:solidFill>
                  <a:srgbClr val="D9553C"/>
                </a:solidFill>
                <a:latin typeface="Calibri" pitchFamily="34" charset="0"/>
                <a:ea typeface="Calibri" pitchFamily="34" charset="-122"/>
                <a:cs typeface="Calibri" pitchFamily="34" charset="-120"/>
              </a:rPr>
              <a:t>IF YOUR DATA LOOK LIKE THIS</a:t>
            </a:r>
            <a:endParaRPr lang="en-US" sz="1050" dirty="0"/>
          </a:p>
        </p:txBody>
      </p:sp>
      <p:sp>
        <p:nvSpPr>
          <p:cNvPr id="7" name="Shape 5"/>
          <p:cNvSpPr/>
          <p:nvPr/>
        </p:nvSpPr>
        <p:spPr>
          <a:xfrm>
            <a:off x="859536" y="2322576"/>
            <a:ext cx="4901184" cy="1700784"/>
          </a:xfrm>
          <a:prstGeom prst="roundRect">
            <a:avLst>
              <a:gd name="adj" fmla="val 5376"/>
            </a:avLst>
          </a:prstGeom>
          <a:solidFill>
            <a:srgbClr val="221D48"/>
          </a:solidFill>
          <a:ln w="9525">
            <a:solidFill>
              <a:srgbClr val="221D48"/>
            </a:solidFill>
            <a:prstDash val="solid"/>
          </a:ln>
        </p:spPr>
      </p:sp>
      <p:sp>
        <p:nvSpPr>
          <p:cNvPr id="8" name="Text 6"/>
          <p:cNvSpPr/>
          <p:nvPr/>
        </p:nvSpPr>
        <p:spPr>
          <a:xfrm>
            <a:off x="1078992" y="2487168"/>
            <a:ext cx="4462272" cy="1371600"/>
          </a:xfrm>
          <a:prstGeom prst="rect">
            <a:avLst/>
          </a:prstGeom>
          <a:noFill/>
          <a:ln/>
        </p:spPr>
        <p:txBody>
          <a:bodyPr wrap="square" lIns="0" tIns="0" rIns="0" bIns="0" rtlCol="0" anchor="t"/>
          <a:lstStyle/>
          <a:p>
            <a:pPr indent="0" marL="0">
              <a:lnSpc>
                <a:spcPts val="1650"/>
              </a:lnSpc>
              <a:buNone/>
            </a:pPr>
            <a:r>
              <a:rPr lang="en-US" sz="1100" dirty="0">
                <a:solidFill>
                  <a:srgbClr val="8B86AD"/>
                </a:solidFill>
                <a:latin typeface="Courier New" pitchFamily="34" charset="0"/>
                <a:ea typeface="Courier New" pitchFamily="34" charset="-122"/>
                <a:cs typeface="Courier New" pitchFamily="34" charset="-120"/>
              </a:rPr>
              <a:t>  id  lowmood  sleep  fatigue  appetite</a:t>
            </a:r>
            <a:endParaRPr lang="en-US" sz="1100" dirty="0"/>
          </a:p>
          <a:p>
            <a:pPr indent="0" marL="0">
              <a:lnSpc>
                <a:spcPts val="1650"/>
              </a:lnSpc>
              <a:buNone/>
            </a:pPr>
            <a:r>
              <a:rPr lang="en-US" sz="1100" dirty="0">
                <a:solidFill>
                  <a:srgbClr val="E8E6F5"/>
                </a:solidFill>
                <a:latin typeface="Courier New" pitchFamily="34" charset="0"/>
                <a:ea typeface="Courier New" pitchFamily="34" charset="-122"/>
                <a:cs typeface="Courier New" pitchFamily="34" charset="-120"/>
              </a:rPr>
              <a:t>   1        1      1        1         0</a:t>
            </a:r>
            <a:endParaRPr lang="en-US" sz="1100" dirty="0"/>
          </a:p>
          <a:p>
            <a:pPr indent="0" marL="0">
              <a:lnSpc>
                <a:spcPts val="1650"/>
              </a:lnSpc>
              <a:buNone/>
            </a:pPr>
            <a:r>
              <a:rPr lang="en-US" sz="1100" dirty="0">
                <a:solidFill>
                  <a:srgbClr val="E8E6F5"/>
                </a:solidFill>
                <a:latin typeface="Courier New" pitchFamily="34" charset="0"/>
                <a:ea typeface="Courier New" pitchFamily="34" charset="-122"/>
                <a:cs typeface="Courier New" pitchFamily="34" charset="-120"/>
              </a:rPr>
              <a:t>   2        0      0        0         0</a:t>
            </a:r>
            <a:endParaRPr lang="en-US" sz="1100" dirty="0"/>
          </a:p>
          <a:p>
            <a:pPr indent="0" marL="0">
              <a:lnSpc>
                <a:spcPts val="1650"/>
              </a:lnSpc>
              <a:buNone/>
            </a:pPr>
            <a:r>
              <a:rPr lang="en-US" sz="1100" dirty="0">
                <a:solidFill>
                  <a:srgbClr val="E8E6F5"/>
                </a:solidFill>
                <a:latin typeface="Courier New" pitchFamily="34" charset="0"/>
                <a:ea typeface="Courier New" pitchFamily="34" charset="-122"/>
                <a:cs typeface="Courier New" pitchFamily="34" charset="-120"/>
              </a:rPr>
              <a:t>   3        1      0        1         1</a:t>
            </a:r>
            <a:endParaRPr lang="en-US" sz="1100" dirty="0"/>
          </a:p>
          <a:p>
            <a:pPr indent="0" marL="0">
              <a:lnSpc>
                <a:spcPts val="1650"/>
              </a:lnSpc>
              <a:buNone/>
            </a:pPr>
            <a:r>
              <a:rPr lang="en-US" sz="1100" dirty="0">
                <a:solidFill>
                  <a:srgbClr val="E8E6F5"/>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8B86AD"/>
                </a:solidFill>
                <a:latin typeface="Courier New" pitchFamily="34" charset="0"/>
                <a:ea typeface="Courier New" pitchFamily="34" charset="-122"/>
                <a:cs typeface="Courier New" pitchFamily="34" charset="-120"/>
              </a:rPr>
              <a:t>  # 1 = yes, 0 = no</a:t>
            </a:r>
            <a:endParaRPr lang="en-US" sz="1100" dirty="0"/>
          </a:p>
        </p:txBody>
      </p:sp>
      <p:sp>
        <p:nvSpPr>
          <p:cNvPr id="9" name="Text 7"/>
          <p:cNvSpPr/>
          <p:nvPr/>
        </p:nvSpPr>
        <p:spPr>
          <a:xfrm>
            <a:off x="859536" y="4151376"/>
            <a:ext cx="4846320" cy="329184"/>
          </a:xfrm>
          <a:prstGeom prst="rect">
            <a:avLst/>
          </a:prstGeom>
          <a:noFill/>
          <a:ln/>
        </p:spPr>
        <p:txBody>
          <a:bodyPr wrap="square" lIns="0" tIns="0" rIns="0" bIns="0" rtlCol="0" anchor="ctr"/>
          <a:lstStyle/>
          <a:p>
            <a:pPr indent="0" marL="0">
              <a:buNone/>
            </a:pPr>
            <a:r>
              <a:rPr lang="en-US" sz="1900" b="1" dirty="0">
                <a:solidFill>
                  <a:srgbClr val="D9553C"/>
                </a:solidFill>
                <a:latin typeface="Cambria" pitchFamily="34" charset="0"/>
                <a:ea typeface="Cambria" pitchFamily="34" charset="-122"/>
                <a:cs typeface="Cambria" pitchFamily="34" charset="-120"/>
              </a:rPr>
              <a:t>You run LCA.</a:t>
            </a:r>
            <a:endParaRPr lang="en-US" sz="1900" dirty="0"/>
          </a:p>
        </p:txBody>
      </p:sp>
      <p:sp>
        <p:nvSpPr>
          <p:cNvPr id="10" name="Text 8"/>
          <p:cNvSpPr/>
          <p:nvPr/>
        </p:nvSpPr>
        <p:spPr>
          <a:xfrm>
            <a:off x="859536" y="4535424"/>
            <a:ext cx="4846320" cy="256032"/>
          </a:xfrm>
          <a:prstGeom prst="rect">
            <a:avLst/>
          </a:prstGeom>
          <a:noFill/>
          <a:ln/>
        </p:spPr>
        <p:txBody>
          <a:bodyPr wrap="square" lIns="0" tIns="0" rIns="0" bIns="0" rtlCol="0" anchor="ctr"/>
          <a:lstStyle/>
          <a:p>
            <a:pPr indent="0" marL="0">
              <a:buNone/>
            </a:pPr>
            <a:r>
              <a:rPr lang="en-US" sz="1200" dirty="0">
                <a:solidFill>
                  <a:srgbClr val="6B6785"/>
                </a:solidFill>
                <a:latin typeface="Calibri" pitchFamily="34" charset="0"/>
                <a:ea typeface="Calibri" pitchFamily="34" charset="-122"/>
                <a:cs typeface="Calibri" pitchFamily="34" charset="-120"/>
              </a:rPr>
              <a:t>And a class is reported like this:</a:t>
            </a:r>
            <a:endParaRPr lang="en-US" sz="1200" dirty="0"/>
          </a:p>
        </p:txBody>
      </p:sp>
      <p:sp>
        <p:nvSpPr>
          <p:cNvPr id="11" name="Text 9"/>
          <p:cNvSpPr/>
          <p:nvPr/>
        </p:nvSpPr>
        <p:spPr>
          <a:xfrm>
            <a:off x="859536" y="4828032"/>
            <a:ext cx="4846320" cy="1051560"/>
          </a:xfrm>
          <a:prstGeom prst="rect">
            <a:avLst/>
          </a:prstGeom>
          <a:noFill/>
          <a:ln/>
        </p:spPr>
        <p:txBody>
          <a:bodyPr wrap="square" lIns="0" tIns="0" rIns="0" bIns="0" rtlCol="0" anchor="t"/>
          <a:lstStyle/>
          <a:p>
            <a:pPr indent="0" marL="0">
              <a:lnSpc>
                <a:spcPts val="1800"/>
              </a:lnSpc>
              <a:buNone/>
            </a:pPr>
            <a:r>
              <a:rPr lang="en-US" sz="1250" i="1" dirty="0">
                <a:solidFill>
                  <a:srgbClr val="1A1633"/>
                </a:solidFill>
                <a:latin typeface="Calibri" pitchFamily="34" charset="0"/>
                <a:ea typeface="Calibri" pitchFamily="34" charset="-122"/>
                <a:cs typeface="Calibri" pitchFamily="34" charset="-120"/>
              </a:rPr>
              <a:t>“Class 2 (24% of the sample). Members have a 0.81 probability of reporting sleep problems and 0.76 of reporting fatigue, but only 0.12 of reporting low mood.”</a:t>
            </a:r>
            <a:endParaRPr lang="en-US" sz="1250" dirty="0"/>
          </a:p>
        </p:txBody>
      </p:sp>
      <p:sp>
        <p:nvSpPr>
          <p:cNvPr id="12" name="Shape 10"/>
          <p:cNvSpPr/>
          <p:nvPr/>
        </p:nvSpPr>
        <p:spPr>
          <a:xfrm>
            <a:off x="6382512" y="1828800"/>
            <a:ext cx="5239512" cy="4160520"/>
          </a:xfrm>
          <a:prstGeom prst="roundRect">
            <a:avLst>
              <a:gd name="adj" fmla="val 2198"/>
            </a:avLst>
          </a:prstGeom>
          <a:solidFill>
            <a:srgbClr val="FFFFFF"/>
          </a:solidFill>
          <a:ln w="12700">
            <a:solidFill>
              <a:srgbClr val="C7E3DE"/>
            </a:solidFill>
            <a:prstDash val="solid"/>
          </a:ln>
          <a:effectLst>
            <a:outerShdw sx="100000" sy="100000" kx="0" ky="0" algn="bl" rotWithShape="0" blurRad="177800" dist="762" dir="5400000">
              <a:srgbClr val="1A1633">
                <a:alpha val="12000"/>
              </a:srgbClr>
            </a:outerShdw>
          </a:effectLst>
        </p:spPr>
      </p:sp>
      <p:sp>
        <p:nvSpPr>
          <p:cNvPr id="13" name="Text 11"/>
          <p:cNvSpPr/>
          <p:nvPr/>
        </p:nvSpPr>
        <p:spPr>
          <a:xfrm>
            <a:off x="6675120" y="2011680"/>
            <a:ext cx="4663440" cy="256032"/>
          </a:xfrm>
          <a:prstGeom prst="rect">
            <a:avLst/>
          </a:prstGeom>
          <a:noFill/>
          <a:ln/>
        </p:spPr>
        <p:txBody>
          <a:bodyPr wrap="square" lIns="0" tIns="0" rIns="0" bIns="0" rtlCol="0" anchor="ctr"/>
          <a:lstStyle/>
          <a:p>
            <a:pPr indent="0" marL="0">
              <a:buNone/>
            </a:pPr>
            <a:r>
              <a:rPr lang="en-US" sz="1050" b="1" spc="150" kern="0" dirty="0">
                <a:solidFill>
                  <a:srgbClr val="1F8F82"/>
                </a:solidFill>
                <a:latin typeface="Calibri" pitchFamily="34" charset="0"/>
                <a:ea typeface="Calibri" pitchFamily="34" charset="-122"/>
                <a:cs typeface="Calibri" pitchFamily="34" charset="-120"/>
              </a:rPr>
              <a:t>IF YOUR DATA LOOK LIKE THIS</a:t>
            </a:r>
            <a:endParaRPr lang="en-US" sz="1050" dirty="0"/>
          </a:p>
        </p:txBody>
      </p:sp>
      <p:sp>
        <p:nvSpPr>
          <p:cNvPr id="14" name="Shape 12"/>
          <p:cNvSpPr/>
          <p:nvPr/>
        </p:nvSpPr>
        <p:spPr>
          <a:xfrm>
            <a:off x="6675120" y="2322576"/>
            <a:ext cx="4654296" cy="1700784"/>
          </a:xfrm>
          <a:prstGeom prst="roundRect">
            <a:avLst>
              <a:gd name="adj" fmla="val 5376"/>
            </a:avLst>
          </a:prstGeom>
          <a:solidFill>
            <a:srgbClr val="221D48"/>
          </a:solidFill>
          <a:ln w="9525">
            <a:solidFill>
              <a:srgbClr val="221D48"/>
            </a:solidFill>
            <a:prstDash val="solid"/>
          </a:ln>
        </p:spPr>
      </p:sp>
      <p:sp>
        <p:nvSpPr>
          <p:cNvPr id="15" name="Text 13"/>
          <p:cNvSpPr/>
          <p:nvPr/>
        </p:nvSpPr>
        <p:spPr>
          <a:xfrm>
            <a:off x="6894576" y="2487168"/>
            <a:ext cx="4215384" cy="1371600"/>
          </a:xfrm>
          <a:prstGeom prst="rect">
            <a:avLst/>
          </a:prstGeom>
          <a:noFill/>
          <a:ln/>
        </p:spPr>
        <p:txBody>
          <a:bodyPr wrap="square" lIns="0" tIns="0" rIns="0" bIns="0" rtlCol="0" anchor="t"/>
          <a:lstStyle/>
          <a:p>
            <a:pPr indent="0" marL="0">
              <a:lnSpc>
                <a:spcPts val="1650"/>
              </a:lnSpc>
              <a:buNone/>
            </a:pPr>
            <a:r>
              <a:rPr lang="en-US" sz="1100" dirty="0">
                <a:solidFill>
                  <a:srgbClr val="8B86AD"/>
                </a:solidFill>
                <a:latin typeface="Courier New" pitchFamily="34" charset="0"/>
                <a:ea typeface="Courier New" pitchFamily="34" charset="-122"/>
                <a:cs typeface="Courier New" pitchFamily="34" charset="-120"/>
              </a:rPr>
              <a:t>  id   phq9   gad7  sleepq  stress</a:t>
            </a:r>
            <a:endParaRPr lang="en-US" sz="1100" dirty="0"/>
          </a:p>
          <a:p>
            <a:pPr indent="0" marL="0">
              <a:lnSpc>
                <a:spcPts val="1650"/>
              </a:lnSpc>
              <a:buNone/>
            </a:pPr>
            <a:r>
              <a:rPr lang="en-US" sz="1100" dirty="0">
                <a:solidFill>
                  <a:srgbClr val="E8E6F5"/>
                </a:solidFill>
                <a:latin typeface="Courier New" pitchFamily="34" charset="0"/>
                <a:ea typeface="Courier New" pitchFamily="34" charset="-122"/>
                <a:cs typeface="Courier New" pitchFamily="34" charset="-120"/>
              </a:rPr>
              <a:t>   1   17.0   14.0     4.2    22.5</a:t>
            </a:r>
            <a:endParaRPr lang="en-US" sz="1100" dirty="0"/>
          </a:p>
          <a:p>
            <a:pPr indent="0" marL="0">
              <a:lnSpc>
                <a:spcPts val="1650"/>
              </a:lnSpc>
              <a:buNone/>
            </a:pPr>
            <a:r>
              <a:rPr lang="en-US" sz="1100" dirty="0">
                <a:solidFill>
                  <a:srgbClr val="E8E6F5"/>
                </a:solidFill>
                <a:latin typeface="Courier New" pitchFamily="34" charset="0"/>
                <a:ea typeface="Courier New" pitchFamily="34" charset="-122"/>
                <a:cs typeface="Courier New" pitchFamily="34" charset="-120"/>
              </a:rPr>
              <a:t>   2    3.0    2.0    12.8     9.1</a:t>
            </a:r>
            <a:endParaRPr lang="en-US" sz="1100" dirty="0"/>
          </a:p>
          <a:p>
            <a:pPr indent="0" marL="0">
              <a:lnSpc>
                <a:spcPts val="1650"/>
              </a:lnSpc>
              <a:buNone/>
            </a:pPr>
            <a:r>
              <a:rPr lang="en-US" sz="1100" dirty="0">
                <a:solidFill>
                  <a:srgbClr val="E8E6F5"/>
                </a:solidFill>
                <a:latin typeface="Courier New" pitchFamily="34" charset="0"/>
                <a:ea typeface="Courier New" pitchFamily="34" charset="-122"/>
                <a:cs typeface="Courier New" pitchFamily="34" charset="-120"/>
              </a:rPr>
              <a:t>   3   11.5    6.0     7.4    18.3</a:t>
            </a:r>
            <a:endParaRPr lang="en-US" sz="1100" dirty="0"/>
          </a:p>
          <a:p>
            <a:pPr indent="0" marL="0">
              <a:lnSpc>
                <a:spcPts val="1650"/>
              </a:lnSpc>
              <a:buNone/>
            </a:pPr>
            <a:r>
              <a:rPr lang="en-US" sz="1100" dirty="0">
                <a:solidFill>
                  <a:srgbClr val="E8E6F5"/>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8B86AD"/>
                </a:solidFill>
                <a:latin typeface="Courier New" pitchFamily="34" charset="0"/>
                <a:ea typeface="Courier New" pitchFamily="34" charset="-122"/>
                <a:cs typeface="Courier New" pitchFamily="34" charset="-120"/>
              </a:rPr>
              <a:t>  # totals and scale scores</a:t>
            </a:r>
            <a:endParaRPr lang="en-US" sz="1100" dirty="0"/>
          </a:p>
        </p:txBody>
      </p:sp>
      <p:sp>
        <p:nvSpPr>
          <p:cNvPr id="16" name="Text 14"/>
          <p:cNvSpPr/>
          <p:nvPr/>
        </p:nvSpPr>
        <p:spPr>
          <a:xfrm>
            <a:off x="6675120" y="4151376"/>
            <a:ext cx="4663440" cy="329184"/>
          </a:xfrm>
          <a:prstGeom prst="rect">
            <a:avLst/>
          </a:prstGeom>
          <a:noFill/>
          <a:ln/>
        </p:spPr>
        <p:txBody>
          <a:bodyPr wrap="square" lIns="0" tIns="0" rIns="0" bIns="0" rtlCol="0" anchor="ctr"/>
          <a:lstStyle/>
          <a:p>
            <a:pPr indent="0" marL="0">
              <a:buNone/>
            </a:pPr>
            <a:r>
              <a:rPr lang="en-US" sz="1900" b="1" dirty="0">
                <a:solidFill>
                  <a:srgbClr val="1F8F82"/>
                </a:solidFill>
                <a:latin typeface="Cambria" pitchFamily="34" charset="0"/>
                <a:ea typeface="Cambria" pitchFamily="34" charset="-122"/>
                <a:cs typeface="Cambria" pitchFamily="34" charset="-120"/>
              </a:rPr>
              <a:t>You run LPA.</a:t>
            </a:r>
            <a:endParaRPr lang="en-US" sz="1900" dirty="0"/>
          </a:p>
        </p:txBody>
      </p:sp>
      <p:sp>
        <p:nvSpPr>
          <p:cNvPr id="17" name="Text 15"/>
          <p:cNvSpPr/>
          <p:nvPr/>
        </p:nvSpPr>
        <p:spPr>
          <a:xfrm>
            <a:off x="6675120" y="4535424"/>
            <a:ext cx="4663440" cy="256032"/>
          </a:xfrm>
          <a:prstGeom prst="rect">
            <a:avLst/>
          </a:prstGeom>
          <a:noFill/>
          <a:ln/>
        </p:spPr>
        <p:txBody>
          <a:bodyPr wrap="square" lIns="0" tIns="0" rIns="0" bIns="0" rtlCol="0" anchor="ctr"/>
          <a:lstStyle/>
          <a:p>
            <a:pPr indent="0" marL="0">
              <a:buNone/>
            </a:pPr>
            <a:r>
              <a:rPr lang="en-US" sz="1200" dirty="0">
                <a:solidFill>
                  <a:srgbClr val="6B6785"/>
                </a:solidFill>
                <a:latin typeface="Calibri" pitchFamily="34" charset="0"/>
                <a:ea typeface="Calibri" pitchFamily="34" charset="-122"/>
                <a:cs typeface="Calibri" pitchFamily="34" charset="-120"/>
              </a:rPr>
              <a:t>And a profile is reported like this:</a:t>
            </a:r>
            <a:endParaRPr lang="en-US" sz="1200" dirty="0"/>
          </a:p>
        </p:txBody>
      </p:sp>
      <p:sp>
        <p:nvSpPr>
          <p:cNvPr id="18" name="Text 16"/>
          <p:cNvSpPr/>
          <p:nvPr/>
        </p:nvSpPr>
        <p:spPr>
          <a:xfrm>
            <a:off x="6675120" y="4828032"/>
            <a:ext cx="4663440" cy="1051560"/>
          </a:xfrm>
          <a:prstGeom prst="rect">
            <a:avLst/>
          </a:prstGeom>
          <a:noFill/>
          <a:ln/>
        </p:spPr>
        <p:txBody>
          <a:bodyPr wrap="square" lIns="0" tIns="0" rIns="0" bIns="0" rtlCol="0" anchor="t"/>
          <a:lstStyle/>
          <a:p>
            <a:pPr indent="0" marL="0">
              <a:lnSpc>
                <a:spcPts val="1800"/>
              </a:lnSpc>
              <a:buNone/>
            </a:pPr>
            <a:r>
              <a:rPr lang="en-US" sz="1250" i="1" dirty="0">
                <a:solidFill>
                  <a:srgbClr val="1A1633"/>
                </a:solidFill>
                <a:latin typeface="Calibri" pitchFamily="34" charset="0"/>
                <a:ea typeface="Calibri" pitchFamily="34" charset="-122"/>
                <a:cs typeface="Calibri" pitchFamily="34" charset="-120"/>
              </a:rPr>
              <a:t>“Profile 2 (24% of the sample). Members average 1.1 SD above the mean on sleep problems and fatigue, but sit at the sample average on depressed mood.”</a:t>
            </a:r>
            <a:endParaRPr lang="en-US" sz="1250" dirty="0"/>
          </a:p>
        </p:txBody>
      </p:sp>
      <p:sp>
        <p:nvSpPr>
          <p:cNvPr id="19" name="Text 17"/>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9E9AB4"/>
                </a:solidFill>
                <a:latin typeface="Calibri" pitchFamily="34" charset="0"/>
                <a:ea typeface="Calibri" pitchFamily="34" charset="-122"/>
                <a:cs typeface="Calibri" pitchFamily="34" charset="-120"/>
              </a:rPr>
              <a:t>Notice the two interpretations say the same substantive thing: a somatic subgroup, roughly a quarter of the sample. Probabilities and means are two grammars for one finding.</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A2356"/>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E09B21"/>
                </a:solidFill>
                <a:latin typeface="Calibri" pitchFamily="34" charset="0"/>
                <a:ea typeface="Calibri" pitchFamily="34" charset="-122"/>
                <a:cs typeface="Calibri" pitchFamily="34" charset="-120"/>
              </a:rPr>
              <a:t>CLEARING THE GROUND</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Six things people get wrong</a:t>
            </a:r>
            <a:endParaRPr lang="en-US" sz="2900" dirty="0"/>
          </a:p>
        </p:txBody>
      </p:sp>
      <p:sp>
        <p:nvSpPr>
          <p:cNvPr id="4" name="Shape 2"/>
          <p:cNvSpPr/>
          <p:nvPr/>
        </p:nvSpPr>
        <p:spPr>
          <a:xfrm>
            <a:off x="566928" y="1417320"/>
            <a:ext cx="5408676" cy="1481328"/>
          </a:xfrm>
          <a:prstGeom prst="roundRect">
            <a:avLst>
              <a:gd name="adj" fmla="val 6173"/>
            </a:avLst>
          </a:prstGeom>
          <a:solidFill>
            <a:srgbClr val="393177"/>
          </a:solidFill>
          <a:ln w="9525">
            <a:solidFill>
              <a:srgbClr val="393177"/>
            </a:solidFill>
            <a:prstDash val="solid"/>
          </a:ln>
        </p:spPr>
      </p:sp>
      <p:sp>
        <p:nvSpPr>
          <p:cNvPr id="5" name="Text 3"/>
          <p:cNvSpPr/>
          <p:nvPr/>
        </p:nvSpPr>
        <p:spPr>
          <a:xfrm>
            <a:off x="768096" y="1581912"/>
            <a:ext cx="310896" cy="274320"/>
          </a:xfrm>
          <a:prstGeom prst="rect">
            <a:avLst/>
          </a:prstGeom>
          <a:noFill/>
          <a:ln/>
        </p:spPr>
        <p:txBody>
          <a:bodyPr wrap="square" lIns="0" tIns="0" rIns="0" bIns="0" rtlCol="0" anchor="ctr"/>
          <a:lstStyle/>
          <a:p>
            <a:pPr algn="ctr" indent="0" marL="0">
              <a:buNone/>
            </a:pPr>
            <a:r>
              <a:rPr lang="en-US" sz="1400" b="1" dirty="0">
                <a:solidFill>
                  <a:srgbClr val="D9553C"/>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133856" y="1563624"/>
            <a:ext cx="4604004" cy="310896"/>
          </a:xfrm>
          <a:prstGeom prst="rect">
            <a:avLst/>
          </a:prstGeom>
          <a:noFill/>
          <a:ln/>
        </p:spPr>
        <p:txBody>
          <a:bodyPr wrap="square" lIns="0" tIns="0" rIns="0" bIns="0" rtlCol="0" anchor="ctr"/>
          <a:lstStyle/>
          <a:p>
            <a:pPr indent="0" marL="0">
              <a:buNone/>
            </a:pPr>
            <a:r>
              <a:rPr lang="en-US" sz="1350" b="1" dirty="0">
                <a:solidFill>
                  <a:srgbClr val="E09B21"/>
                </a:solidFill>
                <a:latin typeface="Calibri" pitchFamily="34" charset="0"/>
                <a:ea typeface="Calibri" pitchFamily="34" charset="-122"/>
                <a:cs typeface="Calibri" pitchFamily="34" charset="-120"/>
              </a:rPr>
              <a:t>“LCA is just k-means with extra steps.”</a:t>
            </a:r>
            <a:endParaRPr lang="en-US" sz="1350" dirty="0"/>
          </a:p>
        </p:txBody>
      </p:sp>
      <p:sp>
        <p:nvSpPr>
          <p:cNvPr id="7" name="Text 5"/>
          <p:cNvSpPr/>
          <p:nvPr/>
        </p:nvSpPr>
        <p:spPr>
          <a:xfrm>
            <a:off x="1133856" y="1920240"/>
            <a:ext cx="4604004" cy="896112"/>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No. k-means hard-assigns using distance and has no model, so no fit statistics, no standard errors, no principled way to compare 3 vs 4 groups. LCA is probabilistic and model-based, and handles missing data properly.</a:t>
            </a:r>
            <a:endParaRPr lang="en-US" sz="1150" dirty="0"/>
          </a:p>
        </p:txBody>
      </p:sp>
      <p:sp>
        <p:nvSpPr>
          <p:cNvPr id="8" name="Shape 6"/>
          <p:cNvSpPr/>
          <p:nvPr/>
        </p:nvSpPr>
        <p:spPr>
          <a:xfrm>
            <a:off x="6213348" y="1417320"/>
            <a:ext cx="5408676" cy="1481328"/>
          </a:xfrm>
          <a:prstGeom prst="roundRect">
            <a:avLst>
              <a:gd name="adj" fmla="val 6173"/>
            </a:avLst>
          </a:prstGeom>
          <a:solidFill>
            <a:srgbClr val="393177"/>
          </a:solidFill>
          <a:ln w="9525">
            <a:solidFill>
              <a:srgbClr val="393177"/>
            </a:solidFill>
            <a:prstDash val="solid"/>
          </a:ln>
        </p:spPr>
      </p:sp>
      <p:sp>
        <p:nvSpPr>
          <p:cNvPr id="9" name="Text 7"/>
          <p:cNvSpPr/>
          <p:nvPr/>
        </p:nvSpPr>
        <p:spPr>
          <a:xfrm>
            <a:off x="6414516" y="1581912"/>
            <a:ext cx="310896" cy="274320"/>
          </a:xfrm>
          <a:prstGeom prst="rect">
            <a:avLst/>
          </a:prstGeom>
          <a:noFill/>
          <a:ln/>
        </p:spPr>
        <p:txBody>
          <a:bodyPr wrap="square" lIns="0" tIns="0" rIns="0" bIns="0" rtlCol="0" anchor="ctr"/>
          <a:lstStyle/>
          <a:p>
            <a:pPr algn="ctr" indent="0" marL="0">
              <a:buNone/>
            </a:pPr>
            <a:r>
              <a:rPr lang="en-US" sz="1400" b="1" dirty="0">
                <a:solidFill>
                  <a:srgbClr val="D9553C"/>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6780276" y="1563624"/>
            <a:ext cx="4604004" cy="310896"/>
          </a:xfrm>
          <a:prstGeom prst="rect">
            <a:avLst/>
          </a:prstGeom>
          <a:noFill/>
          <a:ln/>
        </p:spPr>
        <p:txBody>
          <a:bodyPr wrap="square" lIns="0" tIns="0" rIns="0" bIns="0" rtlCol="0" anchor="ctr"/>
          <a:lstStyle/>
          <a:p>
            <a:pPr indent="0" marL="0">
              <a:buNone/>
            </a:pPr>
            <a:r>
              <a:rPr lang="en-US" sz="1350" b="1" dirty="0">
                <a:solidFill>
                  <a:srgbClr val="E09B21"/>
                </a:solidFill>
                <a:latin typeface="Calibri" pitchFamily="34" charset="0"/>
                <a:ea typeface="Calibri" pitchFamily="34" charset="-122"/>
                <a:cs typeface="Calibri" pitchFamily="34" charset="-120"/>
              </a:rPr>
              <a:t>“Entropy tells me how many classes to keep.”</a:t>
            </a:r>
            <a:endParaRPr lang="en-US" sz="1350" dirty="0"/>
          </a:p>
        </p:txBody>
      </p:sp>
      <p:sp>
        <p:nvSpPr>
          <p:cNvPr id="11" name="Text 9"/>
          <p:cNvSpPr/>
          <p:nvPr/>
        </p:nvSpPr>
        <p:spPr>
          <a:xfrm>
            <a:off x="6780276" y="1920240"/>
            <a:ext cx="4604004" cy="896112"/>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No. Entropy measures how cleanly people are classified once you have chosen a solution. It is not a fit index. A 2-class model almost always has lovely entropy — that does not make it right.</a:t>
            </a:r>
            <a:endParaRPr lang="en-US" sz="1150" dirty="0"/>
          </a:p>
        </p:txBody>
      </p:sp>
      <p:sp>
        <p:nvSpPr>
          <p:cNvPr id="12" name="Shape 10"/>
          <p:cNvSpPr/>
          <p:nvPr/>
        </p:nvSpPr>
        <p:spPr>
          <a:xfrm>
            <a:off x="566928" y="3118104"/>
            <a:ext cx="5408676" cy="1481328"/>
          </a:xfrm>
          <a:prstGeom prst="roundRect">
            <a:avLst>
              <a:gd name="adj" fmla="val 6173"/>
            </a:avLst>
          </a:prstGeom>
          <a:solidFill>
            <a:srgbClr val="393177"/>
          </a:solidFill>
          <a:ln w="9525">
            <a:solidFill>
              <a:srgbClr val="393177"/>
            </a:solidFill>
            <a:prstDash val="solid"/>
          </a:ln>
        </p:spPr>
      </p:sp>
      <p:sp>
        <p:nvSpPr>
          <p:cNvPr id="13" name="Text 11"/>
          <p:cNvSpPr/>
          <p:nvPr/>
        </p:nvSpPr>
        <p:spPr>
          <a:xfrm>
            <a:off x="768096" y="3282696"/>
            <a:ext cx="310896" cy="274320"/>
          </a:xfrm>
          <a:prstGeom prst="rect">
            <a:avLst/>
          </a:prstGeom>
          <a:noFill/>
          <a:ln/>
        </p:spPr>
        <p:txBody>
          <a:bodyPr wrap="square" lIns="0" tIns="0" rIns="0" bIns="0" rtlCol="0" anchor="ctr"/>
          <a:lstStyle/>
          <a:p>
            <a:pPr algn="ctr" indent="0" marL="0">
              <a:buNone/>
            </a:pPr>
            <a:r>
              <a:rPr lang="en-US" sz="1400" b="1" dirty="0">
                <a:solidFill>
                  <a:srgbClr val="D9553C"/>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133856" y="3264408"/>
            <a:ext cx="4604004" cy="310896"/>
          </a:xfrm>
          <a:prstGeom prst="rect">
            <a:avLst/>
          </a:prstGeom>
          <a:noFill/>
          <a:ln/>
        </p:spPr>
        <p:txBody>
          <a:bodyPr wrap="square" lIns="0" tIns="0" rIns="0" bIns="0" rtlCol="0" anchor="ctr"/>
          <a:lstStyle/>
          <a:p>
            <a:pPr indent="0" marL="0">
              <a:buNone/>
            </a:pPr>
            <a:r>
              <a:rPr lang="en-US" sz="1350" b="1" dirty="0">
                <a:solidFill>
                  <a:srgbClr val="E09B21"/>
                </a:solidFill>
                <a:latin typeface="Calibri" pitchFamily="34" charset="0"/>
                <a:ea typeface="Calibri" pitchFamily="34" charset="-122"/>
                <a:cs typeface="Calibri" pitchFamily="34" charset="-120"/>
              </a:rPr>
              <a:t>“The classes are real types of people.”</a:t>
            </a:r>
            <a:endParaRPr lang="en-US" sz="1350" dirty="0"/>
          </a:p>
        </p:txBody>
      </p:sp>
      <p:sp>
        <p:nvSpPr>
          <p:cNvPr id="15" name="Text 13"/>
          <p:cNvSpPr/>
          <p:nvPr/>
        </p:nvSpPr>
        <p:spPr>
          <a:xfrm>
            <a:off x="1133856" y="3621024"/>
            <a:ext cx="4604004" cy="896112"/>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Careful. Classes are a useful simplification of a messy joint distribution. They may map onto something real; they may just be a convenient summary. Say which you are claiming.</a:t>
            </a:r>
            <a:endParaRPr lang="en-US" sz="1150" dirty="0"/>
          </a:p>
        </p:txBody>
      </p:sp>
      <p:sp>
        <p:nvSpPr>
          <p:cNvPr id="16" name="Shape 14"/>
          <p:cNvSpPr/>
          <p:nvPr/>
        </p:nvSpPr>
        <p:spPr>
          <a:xfrm>
            <a:off x="6213348" y="3118104"/>
            <a:ext cx="5408676" cy="1481328"/>
          </a:xfrm>
          <a:prstGeom prst="roundRect">
            <a:avLst>
              <a:gd name="adj" fmla="val 6173"/>
            </a:avLst>
          </a:prstGeom>
          <a:solidFill>
            <a:srgbClr val="393177"/>
          </a:solidFill>
          <a:ln w="9525">
            <a:solidFill>
              <a:srgbClr val="393177"/>
            </a:solidFill>
            <a:prstDash val="solid"/>
          </a:ln>
        </p:spPr>
      </p:sp>
      <p:sp>
        <p:nvSpPr>
          <p:cNvPr id="17" name="Text 15"/>
          <p:cNvSpPr/>
          <p:nvPr/>
        </p:nvSpPr>
        <p:spPr>
          <a:xfrm>
            <a:off x="6414516" y="3282696"/>
            <a:ext cx="310896" cy="274320"/>
          </a:xfrm>
          <a:prstGeom prst="rect">
            <a:avLst/>
          </a:prstGeom>
          <a:noFill/>
          <a:ln/>
        </p:spPr>
        <p:txBody>
          <a:bodyPr wrap="square" lIns="0" tIns="0" rIns="0" bIns="0" rtlCol="0" anchor="ctr"/>
          <a:lstStyle/>
          <a:p>
            <a:pPr algn="ctr" indent="0" marL="0">
              <a:buNone/>
            </a:pPr>
            <a:r>
              <a:rPr lang="en-US" sz="1400" b="1" dirty="0">
                <a:solidFill>
                  <a:srgbClr val="D9553C"/>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6780276" y="3264408"/>
            <a:ext cx="4604004" cy="310896"/>
          </a:xfrm>
          <a:prstGeom prst="rect">
            <a:avLst/>
          </a:prstGeom>
          <a:noFill/>
          <a:ln/>
        </p:spPr>
        <p:txBody>
          <a:bodyPr wrap="square" lIns="0" tIns="0" rIns="0" bIns="0" rtlCol="0" anchor="ctr"/>
          <a:lstStyle/>
          <a:p>
            <a:pPr indent="0" marL="0">
              <a:buNone/>
            </a:pPr>
            <a:r>
              <a:rPr lang="en-US" sz="1350" b="1" dirty="0">
                <a:solidFill>
                  <a:srgbClr val="E09B21"/>
                </a:solidFill>
                <a:latin typeface="Calibri" pitchFamily="34" charset="0"/>
                <a:ea typeface="Calibri" pitchFamily="34" charset="-122"/>
                <a:cs typeface="Calibri" pitchFamily="34" charset="-120"/>
              </a:rPr>
              <a:t>“More classes fit better, so take the most.”</a:t>
            </a:r>
            <a:endParaRPr lang="en-US" sz="1350" dirty="0"/>
          </a:p>
        </p:txBody>
      </p:sp>
      <p:sp>
        <p:nvSpPr>
          <p:cNvPr id="19" name="Text 17"/>
          <p:cNvSpPr/>
          <p:nvPr/>
        </p:nvSpPr>
        <p:spPr>
          <a:xfrm>
            <a:off x="6780276" y="3621024"/>
            <a:ext cx="4604004" cy="896112"/>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Fit does keep improving, which is exactly why you need penalised criteria, an elbow, theory, and a look at class sizes. A 9-class solution with a 1.2% class is not a finding.</a:t>
            </a:r>
            <a:endParaRPr lang="en-US" sz="1150" dirty="0"/>
          </a:p>
        </p:txBody>
      </p:sp>
      <p:sp>
        <p:nvSpPr>
          <p:cNvPr id="20" name="Shape 18"/>
          <p:cNvSpPr/>
          <p:nvPr/>
        </p:nvSpPr>
        <p:spPr>
          <a:xfrm>
            <a:off x="566928" y="4818888"/>
            <a:ext cx="5408676" cy="1481328"/>
          </a:xfrm>
          <a:prstGeom prst="roundRect">
            <a:avLst>
              <a:gd name="adj" fmla="val 6173"/>
            </a:avLst>
          </a:prstGeom>
          <a:solidFill>
            <a:srgbClr val="393177"/>
          </a:solidFill>
          <a:ln w="9525">
            <a:solidFill>
              <a:srgbClr val="393177"/>
            </a:solidFill>
            <a:prstDash val="solid"/>
          </a:ln>
        </p:spPr>
      </p:sp>
      <p:sp>
        <p:nvSpPr>
          <p:cNvPr id="21" name="Text 19"/>
          <p:cNvSpPr/>
          <p:nvPr/>
        </p:nvSpPr>
        <p:spPr>
          <a:xfrm>
            <a:off x="768096" y="4983480"/>
            <a:ext cx="310896" cy="274320"/>
          </a:xfrm>
          <a:prstGeom prst="rect">
            <a:avLst/>
          </a:prstGeom>
          <a:noFill/>
          <a:ln/>
        </p:spPr>
        <p:txBody>
          <a:bodyPr wrap="square" lIns="0" tIns="0" rIns="0" bIns="0" rtlCol="0" anchor="ctr"/>
          <a:lstStyle/>
          <a:p>
            <a:pPr algn="ctr" indent="0" marL="0">
              <a:buNone/>
            </a:pPr>
            <a:r>
              <a:rPr lang="en-US" sz="1400" b="1" dirty="0">
                <a:solidFill>
                  <a:srgbClr val="D9553C"/>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133856" y="4965192"/>
            <a:ext cx="4604004" cy="310896"/>
          </a:xfrm>
          <a:prstGeom prst="rect">
            <a:avLst/>
          </a:prstGeom>
          <a:noFill/>
          <a:ln/>
        </p:spPr>
        <p:txBody>
          <a:bodyPr wrap="square" lIns="0" tIns="0" rIns="0" bIns="0" rtlCol="0" anchor="ctr"/>
          <a:lstStyle/>
          <a:p>
            <a:pPr indent="0" marL="0">
              <a:buNone/>
            </a:pPr>
            <a:r>
              <a:rPr lang="en-US" sz="1350" b="1" dirty="0">
                <a:solidFill>
                  <a:srgbClr val="E09B21"/>
                </a:solidFill>
                <a:latin typeface="Calibri" pitchFamily="34" charset="0"/>
                <a:ea typeface="Calibri" pitchFamily="34" charset="-122"/>
                <a:cs typeface="Calibri" pitchFamily="34" charset="-120"/>
              </a:rPr>
              <a:t>“LPA is a completely different technique.”</a:t>
            </a:r>
            <a:endParaRPr lang="en-US" sz="1350" dirty="0"/>
          </a:p>
        </p:txBody>
      </p:sp>
      <p:sp>
        <p:nvSpPr>
          <p:cNvPr id="23" name="Text 21"/>
          <p:cNvSpPr/>
          <p:nvPr/>
        </p:nvSpPr>
        <p:spPr>
          <a:xfrm>
            <a:off x="1133856" y="5321808"/>
            <a:ext cx="4604004" cy="896112"/>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No. Same family, same logic, same workflow. Change your indicators from binary to continuous and you have changed method name without changing anything conceptual.</a:t>
            </a:r>
            <a:endParaRPr lang="en-US" sz="1150" dirty="0"/>
          </a:p>
        </p:txBody>
      </p:sp>
      <p:sp>
        <p:nvSpPr>
          <p:cNvPr id="24" name="Shape 22"/>
          <p:cNvSpPr/>
          <p:nvPr/>
        </p:nvSpPr>
        <p:spPr>
          <a:xfrm>
            <a:off x="6213348" y="4818888"/>
            <a:ext cx="5408676" cy="1481328"/>
          </a:xfrm>
          <a:prstGeom prst="roundRect">
            <a:avLst>
              <a:gd name="adj" fmla="val 6173"/>
            </a:avLst>
          </a:prstGeom>
          <a:solidFill>
            <a:srgbClr val="393177"/>
          </a:solidFill>
          <a:ln w="9525">
            <a:solidFill>
              <a:srgbClr val="393177"/>
            </a:solidFill>
            <a:prstDash val="solid"/>
          </a:ln>
        </p:spPr>
      </p:sp>
      <p:sp>
        <p:nvSpPr>
          <p:cNvPr id="25" name="Text 23"/>
          <p:cNvSpPr/>
          <p:nvPr/>
        </p:nvSpPr>
        <p:spPr>
          <a:xfrm>
            <a:off x="6414516" y="4983480"/>
            <a:ext cx="310896" cy="274320"/>
          </a:xfrm>
          <a:prstGeom prst="rect">
            <a:avLst/>
          </a:prstGeom>
          <a:noFill/>
          <a:ln/>
        </p:spPr>
        <p:txBody>
          <a:bodyPr wrap="square" lIns="0" tIns="0" rIns="0" bIns="0" rtlCol="0" anchor="ctr"/>
          <a:lstStyle/>
          <a:p>
            <a:pPr algn="ctr" indent="0" marL="0">
              <a:buNone/>
            </a:pPr>
            <a:r>
              <a:rPr lang="en-US" sz="1400" b="1" dirty="0">
                <a:solidFill>
                  <a:srgbClr val="D9553C"/>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6780276" y="4965192"/>
            <a:ext cx="4604004" cy="310896"/>
          </a:xfrm>
          <a:prstGeom prst="rect">
            <a:avLst/>
          </a:prstGeom>
          <a:noFill/>
          <a:ln/>
        </p:spPr>
        <p:txBody>
          <a:bodyPr wrap="square" lIns="0" tIns="0" rIns="0" bIns="0" rtlCol="0" anchor="ctr"/>
          <a:lstStyle/>
          <a:p>
            <a:pPr indent="0" marL="0">
              <a:buNone/>
            </a:pPr>
            <a:r>
              <a:rPr lang="en-US" sz="1350" b="1" dirty="0">
                <a:solidFill>
                  <a:srgbClr val="E09B21"/>
                </a:solidFill>
                <a:latin typeface="Calibri" pitchFamily="34" charset="0"/>
                <a:ea typeface="Calibri" pitchFamily="34" charset="-122"/>
                <a:cs typeface="Calibri" pitchFamily="34" charset="-120"/>
              </a:rPr>
              <a:t>“I'll throw everything in and see what happens.”</a:t>
            </a:r>
            <a:endParaRPr lang="en-US" sz="1350" dirty="0"/>
          </a:p>
        </p:txBody>
      </p:sp>
      <p:sp>
        <p:nvSpPr>
          <p:cNvPr id="27" name="Text 25"/>
          <p:cNvSpPr/>
          <p:nvPr/>
        </p:nvSpPr>
        <p:spPr>
          <a:xfrm>
            <a:off x="6780276" y="5321808"/>
            <a:ext cx="4604004" cy="896112"/>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This is how you get an uninterpretable model. Indicators define the construct. Covariates and outcomes belong in a separate step (3-step / BCH), not in the measurement model.</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A2356"/>
        </a:solidFill>
      </p:bgPr>
    </p:bg>
    <p:spTree>
      <p:nvGrpSpPr>
        <p:cNvPr id="1" name=""/>
        <p:cNvGrpSpPr/>
        <p:nvPr/>
      </p:nvGrpSpPr>
      <p:grpSpPr>
        <a:xfrm>
          <a:off x="0" y="0"/>
          <a:ext cx="0" cy="0"/>
          <a:chOff x="0" y="0"/>
          <a:chExt cx="0" cy="0"/>
        </a:xfrm>
      </p:grpSpPr>
      <p:sp>
        <p:nvSpPr>
          <p:cNvPr id="2" name="Shape 0"/>
          <p:cNvSpPr/>
          <p:nvPr/>
        </p:nvSpPr>
        <p:spPr>
          <a:xfrm>
            <a:off x="9198919" y="5721699"/>
            <a:ext cx="173903" cy="173903"/>
          </a:xfrm>
          <a:prstGeom prst="ellipse">
            <a:avLst/>
          </a:prstGeom>
          <a:solidFill>
            <a:srgbClr val="D9553C">
              <a:alpha val="55000"/>
            </a:srgbClr>
          </a:solidFill>
          <a:ln w="12700">
            <a:solidFill>
              <a:srgbClr val="D9553C"/>
            </a:solidFill>
            <a:prstDash val="solid"/>
          </a:ln>
        </p:spPr>
      </p:sp>
      <p:sp>
        <p:nvSpPr>
          <p:cNvPr id="3" name="Shape 1"/>
          <p:cNvSpPr/>
          <p:nvPr/>
        </p:nvSpPr>
        <p:spPr>
          <a:xfrm>
            <a:off x="10470868" y="4067189"/>
            <a:ext cx="204651" cy="204651"/>
          </a:xfrm>
          <a:prstGeom prst="ellipse">
            <a:avLst/>
          </a:prstGeom>
          <a:solidFill>
            <a:srgbClr val="1F8F82">
              <a:alpha val="55000"/>
            </a:srgbClr>
          </a:solidFill>
          <a:ln w="12700">
            <a:solidFill>
              <a:srgbClr val="1F8F82"/>
            </a:solidFill>
            <a:prstDash val="solid"/>
          </a:ln>
        </p:spPr>
      </p:sp>
      <p:sp>
        <p:nvSpPr>
          <p:cNvPr id="4" name="Shape 2"/>
          <p:cNvSpPr/>
          <p:nvPr/>
        </p:nvSpPr>
        <p:spPr>
          <a:xfrm>
            <a:off x="10701791" y="2677487"/>
            <a:ext cx="206367" cy="206367"/>
          </a:xfrm>
          <a:prstGeom prst="ellipse">
            <a:avLst/>
          </a:prstGeom>
          <a:solidFill>
            <a:srgbClr val="E09B21">
              <a:alpha val="55000"/>
            </a:srgbClr>
          </a:solidFill>
          <a:ln w="12700">
            <a:solidFill>
              <a:srgbClr val="E09B21"/>
            </a:solidFill>
            <a:prstDash val="solid"/>
          </a:ln>
        </p:spPr>
      </p:sp>
      <p:sp>
        <p:nvSpPr>
          <p:cNvPr id="5" name="Shape 3"/>
          <p:cNvSpPr/>
          <p:nvPr/>
        </p:nvSpPr>
        <p:spPr>
          <a:xfrm>
            <a:off x="10607998" y="5581640"/>
            <a:ext cx="153302" cy="153302"/>
          </a:xfrm>
          <a:prstGeom prst="ellipse">
            <a:avLst/>
          </a:prstGeom>
          <a:solidFill>
            <a:srgbClr val="6F63C9">
              <a:alpha val="55000"/>
            </a:srgbClr>
          </a:solidFill>
          <a:ln w="12700">
            <a:solidFill>
              <a:srgbClr val="6F63C9"/>
            </a:solidFill>
            <a:prstDash val="solid"/>
          </a:ln>
        </p:spPr>
      </p:sp>
      <p:sp>
        <p:nvSpPr>
          <p:cNvPr id="6" name="Shape 4"/>
          <p:cNvSpPr/>
          <p:nvPr/>
        </p:nvSpPr>
        <p:spPr>
          <a:xfrm>
            <a:off x="9775385" y="1919035"/>
            <a:ext cx="133044" cy="133044"/>
          </a:xfrm>
          <a:prstGeom prst="ellipse">
            <a:avLst/>
          </a:prstGeom>
          <a:solidFill>
            <a:srgbClr val="B23A6B">
              <a:alpha val="55000"/>
            </a:srgbClr>
          </a:solidFill>
          <a:ln w="12700">
            <a:solidFill>
              <a:srgbClr val="B23A6B"/>
            </a:solidFill>
            <a:prstDash val="solid"/>
          </a:ln>
        </p:spPr>
      </p:sp>
      <p:sp>
        <p:nvSpPr>
          <p:cNvPr id="7" name="Shape 5"/>
          <p:cNvSpPr/>
          <p:nvPr/>
        </p:nvSpPr>
        <p:spPr>
          <a:xfrm>
            <a:off x="10210657" y="726736"/>
            <a:ext cx="201402" cy="201402"/>
          </a:xfrm>
          <a:prstGeom prst="ellipse">
            <a:avLst/>
          </a:prstGeom>
          <a:solidFill>
            <a:srgbClr val="D9553C">
              <a:alpha val="55000"/>
            </a:srgbClr>
          </a:solidFill>
          <a:ln w="12700">
            <a:solidFill>
              <a:srgbClr val="D9553C"/>
            </a:solidFill>
            <a:prstDash val="solid"/>
          </a:ln>
        </p:spPr>
      </p:sp>
      <p:sp>
        <p:nvSpPr>
          <p:cNvPr id="8" name="Shape 6"/>
          <p:cNvSpPr/>
          <p:nvPr/>
        </p:nvSpPr>
        <p:spPr>
          <a:xfrm>
            <a:off x="10119257" y="3783897"/>
            <a:ext cx="154597" cy="154597"/>
          </a:xfrm>
          <a:prstGeom prst="ellipse">
            <a:avLst/>
          </a:prstGeom>
          <a:solidFill>
            <a:srgbClr val="1F8F82">
              <a:alpha val="55000"/>
            </a:srgbClr>
          </a:solidFill>
          <a:ln w="12700">
            <a:solidFill>
              <a:srgbClr val="1F8F82"/>
            </a:solidFill>
            <a:prstDash val="solid"/>
          </a:ln>
        </p:spPr>
      </p:sp>
      <p:sp>
        <p:nvSpPr>
          <p:cNvPr id="9" name="Shape 7"/>
          <p:cNvSpPr/>
          <p:nvPr/>
        </p:nvSpPr>
        <p:spPr>
          <a:xfrm>
            <a:off x="8159634" y="5199528"/>
            <a:ext cx="142467" cy="142467"/>
          </a:xfrm>
          <a:prstGeom prst="ellipse">
            <a:avLst/>
          </a:prstGeom>
          <a:solidFill>
            <a:srgbClr val="E09B21">
              <a:alpha val="55000"/>
            </a:srgbClr>
          </a:solidFill>
          <a:ln w="12700">
            <a:solidFill>
              <a:srgbClr val="E09B21"/>
            </a:solidFill>
            <a:prstDash val="solid"/>
          </a:ln>
        </p:spPr>
      </p:sp>
      <p:sp>
        <p:nvSpPr>
          <p:cNvPr id="10" name="Shape 8"/>
          <p:cNvSpPr/>
          <p:nvPr/>
        </p:nvSpPr>
        <p:spPr>
          <a:xfrm>
            <a:off x="10908415" y="2065215"/>
            <a:ext cx="103735" cy="103735"/>
          </a:xfrm>
          <a:prstGeom prst="ellipse">
            <a:avLst/>
          </a:prstGeom>
          <a:solidFill>
            <a:srgbClr val="6F63C9">
              <a:alpha val="55000"/>
            </a:srgbClr>
          </a:solidFill>
          <a:ln w="12700">
            <a:solidFill>
              <a:srgbClr val="6F63C9"/>
            </a:solidFill>
            <a:prstDash val="solid"/>
          </a:ln>
        </p:spPr>
      </p:sp>
      <p:sp>
        <p:nvSpPr>
          <p:cNvPr id="11" name="Shape 9"/>
          <p:cNvSpPr/>
          <p:nvPr/>
        </p:nvSpPr>
        <p:spPr>
          <a:xfrm>
            <a:off x="11570316" y="3941238"/>
            <a:ext cx="134237" cy="134237"/>
          </a:xfrm>
          <a:prstGeom prst="ellipse">
            <a:avLst/>
          </a:prstGeom>
          <a:solidFill>
            <a:srgbClr val="B23A6B">
              <a:alpha val="55000"/>
            </a:srgbClr>
          </a:solidFill>
          <a:ln w="12700">
            <a:solidFill>
              <a:srgbClr val="B23A6B"/>
            </a:solidFill>
            <a:prstDash val="solid"/>
          </a:ln>
        </p:spPr>
      </p:sp>
      <p:sp>
        <p:nvSpPr>
          <p:cNvPr id="12" name="Shape 10"/>
          <p:cNvSpPr/>
          <p:nvPr/>
        </p:nvSpPr>
        <p:spPr>
          <a:xfrm>
            <a:off x="10870960" y="6268897"/>
            <a:ext cx="91930" cy="91930"/>
          </a:xfrm>
          <a:prstGeom prst="ellipse">
            <a:avLst/>
          </a:prstGeom>
          <a:solidFill>
            <a:srgbClr val="D9553C">
              <a:alpha val="55000"/>
            </a:srgbClr>
          </a:solidFill>
          <a:ln w="12700">
            <a:solidFill>
              <a:srgbClr val="D9553C"/>
            </a:solidFill>
            <a:prstDash val="solid"/>
          </a:ln>
        </p:spPr>
      </p:sp>
      <p:sp>
        <p:nvSpPr>
          <p:cNvPr id="13" name="Shape 11"/>
          <p:cNvSpPr/>
          <p:nvPr/>
        </p:nvSpPr>
        <p:spPr>
          <a:xfrm>
            <a:off x="9038709" y="1882464"/>
            <a:ext cx="194067" cy="194067"/>
          </a:xfrm>
          <a:prstGeom prst="ellipse">
            <a:avLst/>
          </a:prstGeom>
          <a:solidFill>
            <a:srgbClr val="1F8F82">
              <a:alpha val="55000"/>
            </a:srgbClr>
          </a:solidFill>
          <a:ln w="12700">
            <a:solidFill>
              <a:srgbClr val="1F8F82"/>
            </a:solidFill>
            <a:prstDash val="solid"/>
          </a:ln>
        </p:spPr>
      </p:sp>
      <p:sp>
        <p:nvSpPr>
          <p:cNvPr id="14" name="Shape 12"/>
          <p:cNvSpPr/>
          <p:nvPr/>
        </p:nvSpPr>
        <p:spPr>
          <a:xfrm>
            <a:off x="8027344" y="6148236"/>
            <a:ext cx="107690" cy="107690"/>
          </a:xfrm>
          <a:prstGeom prst="ellipse">
            <a:avLst/>
          </a:prstGeom>
          <a:solidFill>
            <a:srgbClr val="E09B21">
              <a:alpha val="55000"/>
            </a:srgbClr>
          </a:solidFill>
          <a:ln w="12700">
            <a:solidFill>
              <a:srgbClr val="E09B21"/>
            </a:solidFill>
            <a:prstDash val="solid"/>
          </a:ln>
        </p:spPr>
      </p:sp>
      <p:sp>
        <p:nvSpPr>
          <p:cNvPr id="15" name="Shape 13"/>
          <p:cNvSpPr/>
          <p:nvPr/>
        </p:nvSpPr>
        <p:spPr>
          <a:xfrm>
            <a:off x="8316816" y="5773107"/>
            <a:ext cx="101579" cy="101579"/>
          </a:xfrm>
          <a:prstGeom prst="ellipse">
            <a:avLst/>
          </a:prstGeom>
          <a:solidFill>
            <a:srgbClr val="6F63C9">
              <a:alpha val="55000"/>
            </a:srgbClr>
          </a:solidFill>
          <a:ln w="12700">
            <a:solidFill>
              <a:srgbClr val="6F63C9"/>
            </a:solidFill>
            <a:prstDash val="solid"/>
          </a:ln>
        </p:spPr>
      </p:sp>
      <p:sp>
        <p:nvSpPr>
          <p:cNvPr id="16" name="Shape 14"/>
          <p:cNvSpPr/>
          <p:nvPr/>
        </p:nvSpPr>
        <p:spPr>
          <a:xfrm>
            <a:off x="8384540" y="6201920"/>
            <a:ext cx="209063" cy="209063"/>
          </a:xfrm>
          <a:prstGeom prst="ellipse">
            <a:avLst/>
          </a:prstGeom>
          <a:solidFill>
            <a:srgbClr val="B23A6B">
              <a:alpha val="55000"/>
            </a:srgbClr>
          </a:solidFill>
          <a:ln w="12700">
            <a:solidFill>
              <a:srgbClr val="B23A6B"/>
            </a:solidFill>
            <a:prstDash val="solid"/>
          </a:ln>
        </p:spPr>
      </p:sp>
      <p:sp>
        <p:nvSpPr>
          <p:cNvPr id="17" name="Shape 15"/>
          <p:cNvSpPr/>
          <p:nvPr/>
        </p:nvSpPr>
        <p:spPr>
          <a:xfrm>
            <a:off x="7895608" y="4807003"/>
            <a:ext cx="191443" cy="191443"/>
          </a:xfrm>
          <a:prstGeom prst="ellipse">
            <a:avLst/>
          </a:prstGeom>
          <a:solidFill>
            <a:srgbClr val="D9553C">
              <a:alpha val="55000"/>
            </a:srgbClr>
          </a:solidFill>
          <a:ln w="12700">
            <a:solidFill>
              <a:srgbClr val="D9553C"/>
            </a:solidFill>
            <a:prstDash val="solid"/>
          </a:ln>
        </p:spPr>
      </p:sp>
      <p:sp>
        <p:nvSpPr>
          <p:cNvPr id="18" name="Shape 16"/>
          <p:cNvSpPr/>
          <p:nvPr/>
        </p:nvSpPr>
        <p:spPr>
          <a:xfrm>
            <a:off x="9128128" y="2031178"/>
            <a:ext cx="186591" cy="186591"/>
          </a:xfrm>
          <a:prstGeom prst="ellipse">
            <a:avLst/>
          </a:prstGeom>
          <a:solidFill>
            <a:srgbClr val="1F8F82">
              <a:alpha val="55000"/>
            </a:srgbClr>
          </a:solidFill>
          <a:ln w="12700">
            <a:solidFill>
              <a:srgbClr val="1F8F82"/>
            </a:solidFill>
            <a:prstDash val="solid"/>
          </a:ln>
        </p:spPr>
      </p:sp>
      <p:sp>
        <p:nvSpPr>
          <p:cNvPr id="19" name="Shape 17"/>
          <p:cNvSpPr/>
          <p:nvPr/>
        </p:nvSpPr>
        <p:spPr>
          <a:xfrm>
            <a:off x="8767134" y="6175043"/>
            <a:ext cx="175279" cy="175279"/>
          </a:xfrm>
          <a:prstGeom prst="ellipse">
            <a:avLst/>
          </a:prstGeom>
          <a:solidFill>
            <a:srgbClr val="E09B21">
              <a:alpha val="55000"/>
            </a:srgbClr>
          </a:solidFill>
          <a:ln w="12700">
            <a:solidFill>
              <a:srgbClr val="E09B21"/>
            </a:solidFill>
            <a:prstDash val="solid"/>
          </a:ln>
        </p:spPr>
      </p:sp>
      <p:sp>
        <p:nvSpPr>
          <p:cNvPr id="20" name="Shape 18"/>
          <p:cNvSpPr/>
          <p:nvPr/>
        </p:nvSpPr>
        <p:spPr>
          <a:xfrm>
            <a:off x="9118978" y="1268776"/>
            <a:ext cx="104638" cy="104638"/>
          </a:xfrm>
          <a:prstGeom prst="ellipse">
            <a:avLst/>
          </a:prstGeom>
          <a:solidFill>
            <a:srgbClr val="6F63C9">
              <a:alpha val="55000"/>
            </a:srgbClr>
          </a:solidFill>
          <a:ln w="12700">
            <a:solidFill>
              <a:srgbClr val="6F63C9"/>
            </a:solidFill>
            <a:prstDash val="solid"/>
          </a:ln>
        </p:spPr>
      </p:sp>
      <p:sp>
        <p:nvSpPr>
          <p:cNvPr id="21" name="Shape 19"/>
          <p:cNvSpPr/>
          <p:nvPr/>
        </p:nvSpPr>
        <p:spPr>
          <a:xfrm>
            <a:off x="9514133" y="5646141"/>
            <a:ext cx="203256" cy="203256"/>
          </a:xfrm>
          <a:prstGeom prst="ellipse">
            <a:avLst/>
          </a:prstGeom>
          <a:solidFill>
            <a:srgbClr val="B23A6B">
              <a:alpha val="55000"/>
            </a:srgbClr>
          </a:solidFill>
          <a:ln w="12700">
            <a:solidFill>
              <a:srgbClr val="B23A6B"/>
            </a:solidFill>
            <a:prstDash val="solid"/>
          </a:ln>
        </p:spPr>
      </p:sp>
      <p:sp>
        <p:nvSpPr>
          <p:cNvPr id="22" name="Shape 20"/>
          <p:cNvSpPr/>
          <p:nvPr/>
        </p:nvSpPr>
        <p:spPr>
          <a:xfrm>
            <a:off x="9812721" y="4789575"/>
            <a:ext cx="110652" cy="110652"/>
          </a:xfrm>
          <a:prstGeom prst="ellipse">
            <a:avLst/>
          </a:prstGeom>
          <a:solidFill>
            <a:srgbClr val="D9553C">
              <a:alpha val="55000"/>
            </a:srgbClr>
          </a:solidFill>
          <a:ln w="12700">
            <a:solidFill>
              <a:srgbClr val="D9553C"/>
            </a:solidFill>
            <a:prstDash val="solid"/>
          </a:ln>
        </p:spPr>
      </p:sp>
      <p:sp>
        <p:nvSpPr>
          <p:cNvPr id="23" name="Shape 21"/>
          <p:cNvSpPr/>
          <p:nvPr/>
        </p:nvSpPr>
        <p:spPr>
          <a:xfrm>
            <a:off x="11192403" y="6236870"/>
            <a:ext cx="153819" cy="153819"/>
          </a:xfrm>
          <a:prstGeom prst="ellipse">
            <a:avLst/>
          </a:prstGeom>
          <a:solidFill>
            <a:srgbClr val="1F8F82">
              <a:alpha val="55000"/>
            </a:srgbClr>
          </a:solidFill>
          <a:ln w="12700">
            <a:solidFill>
              <a:srgbClr val="1F8F82"/>
            </a:solidFill>
            <a:prstDash val="solid"/>
          </a:ln>
        </p:spPr>
      </p:sp>
      <p:sp>
        <p:nvSpPr>
          <p:cNvPr id="24" name="Shape 22"/>
          <p:cNvSpPr/>
          <p:nvPr/>
        </p:nvSpPr>
        <p:spPr>
          <a:xfrm>
            <a:off x="10909552" y="3753683"/>
            <a:ext cx="101000" cy="101000"/>
          </a:xfrm>
          <a:prstGeom prst="ellipse">
            <a:avLst/>
          </a:prstGeom>
          <a:solidFill>
            <a:srgbClr val="E09B21">
              <a:alpha val="55000"/>
            </a:srgbClr>
          </a:solidFill>
          <a:ln w="12700">
            <a:solidFill>
              <a:srgbClr val="E09B21"/>
            </a:solidFill>
            <a:prstDash val="solid"/>
          </a:ln>
        </p:spPr>
      </p:sp>
      <p:sp>
        <p:nvSpPr>
          <p:cNvPr id="25" name="Shape 23"/>
          <p:cNvSpPr/>
          <p:nvPr/>
        </p:nvSpPr>
        <p:spPr>
          <a:xfrm>
            <a:off x="8197104" y="3753110"/>
            <a:ext cx="150513" cy="150513"/>
          </a:xfrm>
          <a:prstGeom prst="ellipse">
            <a:avLst/>
          </a:prstGeom>
          <a:solidFill>
            <a:srgbClr val="6F63C9">
              <a:alpha val="55000"/>
            </a:srgbClr>
          </a:solidFill>
          <a:ln w="12700">
            <a:solidFill>
              <a:srgbClr val="6F63C9"/>
            </a:solidFill>
            <a:prstDash val="solid"/>
          </a:ln>
        </p:spPr>
      </p:sp>
      <p:sp>
        <p:nvSpPr>
          <p:cNvPr id="26" name="Shape 24"/>
          <p:cNvSpPr/>
          <p:nvPr/>
        </p:nvSpPr>
        <p:spPr>
          <a:xfrm>
            <a:off x="8802825" y="5361907"/>
            <a:ext cx="182648" cy="182648"/>
          </a:xfrm>
          <a:prstGeom prst="ellipse">
            <a:avLst/>
          </a:prstGeom>
          <a:solidFill>
            <a:srgbClr val="B23A6B">
              <a:alpha val="55000"/>
            </a:srgbClr>
          </a:solidFill>
          <a:ln w="12700">
            <a:solidFill>
              <a:srgbClr val="B23A6B"/>
            </a:solidFill>
            <a:prstDash val="solid"/>
          </a:ln>
        </p:spPr>
      </p:sp>
      <p:sp>
        <p:nvSpPr>
          <p:cNvPr id="27" name="Shape 25"/>
          <p:cNvSpPr/>
          <p:nvPr/>
        </p:nvSpPr>
        <p:spPr>
          <a:xfrm>
            <a:off x="10578350" y="5165332"/>
            <a:ext cx="180846" cy="180846"/>
          </a:xfrm>
          <a:prstGeom prst="ellipse">
            <a:avLst/>
          </a:prstGeom>
          <a:solidFill>
            <a:srgbClr val="D9553C">
              <a:alpha val="55000"/>
            </a:srgbClr>
          </a:solidFill>
          <a:ln w="12700">
            <a:solidFill>
              <a:srgbClr val="D9553C"/>
            </a:solidFill>
            <a:prstDash val="solid"/>
          </a:ln>
        </p:spPr>
      </p:sp>
      <p:sp>
        <p:nvSpPr>
          <p:cNvPr id="28" name="Shape 26"/>
          <p:cNvSpPr/>
          <p:nvPr/>
        </p:nvSpPr>
        <p:spPr>
          <a:xfrm>
            <a:off x="9197972" y="3714485"/>
            <a:ext cx="199217" cy="199217"/>
          </a:xfrm>
          <a:prstGeom prst="ellipse">
            <a:avLst/>
          </a:prstGeom>
          <a:solidFill>
            <a:srgbClr val="1F8F82">
              <a:alpha val="55000"/>
            </a:srgbClr>
          </a:solidFill>
          <a:ln w="12700">
            <a:solidFill>
              <a:srgbClr val="1F8F82"/>
            </a:solidFill>
            <a:prstDash val="solid"/>
          </a:ln>
        </p:spPr>
      </p:sp>
      <p:sp>
        <p:nvSpPr>
          <p:cNvPr id="29" name="Shape 27"/>
          <p:cNvSpPr/>
          <p:nvPr/>
        </p:nvSpPr>
        <p:spPr>
          <a:xfrm>
            <a:off x="8710792" y="4626168"/>
            <a:ext cx="137143" cy="137143"/>
          </a:xfrm>
          <a:prstGeom prst="ellipse">
            <a:avLst/>
          </a:prstGeom>
          <a:solidFill>
            <a:srgbClr val="E09B21">
              <a:alpha val="55000"/>
            </a:srgbClr>
          </a:solidFill>
          <a:ln w="12700">
            <a:solidFill>
              <a:srgbClr val="E09B21"/>
            </a:solidFill>
            <a:prstDash val="solid"/>
          </a:ln>
        </p:spPr>
      </p:sp>
      <p:sp>
        <p:nvSpPr>
          <p:cNvPr id="30" name="Shape 28"/>
          <p:cNvSpPr/>
          <p:nvPr/>
        </p:nvSpPr>
        <p:spPr>
          <a:xfrm>
            <a:off x="11564811" y="1631118"/>
            <a:ext cx="192993" cy="192993"/>
          </a:xfrm>
          <a:prstGeom prst="ellipse">
            <a:avLst/>
          </a:prstGeom>
          <a:solidFill>
            <a:srgbClr val="6F63C9">
              <a:alpha val="55000"/>
            </a:srgbClr>
          </a:solidFill>
          <a:ln w="12700">
            <a:solidFill>
              <a:srgbClr val="6F63C9"/>
            </a:solidFill>
            <a:prstDash val="solid"/>
          </a:ln>
        </p:spPr>
      </p:sp>
      <p:sp>
        <p:nvSpPr>
          <p:cNvPr id="31" name="Shape 29"/>
          <p:cNvSpPr/>
          <p:nvPr/>
        </p:nvSpPr>
        <p:spPr>
          <a:xfrm>
            <a:off x="9190313" y="2170665"/>
            <a:ext cx="111043" cy="111043"/>
          </a:xfrm>
          <a:prstGeom prst="ellipse">
            <a:avLst/>
          </a:prstGeom>
          <a:solidFill>
            <a:srgbClr val="B23A6B">
              <a:alpha val="55000"/>
            </a:srgbClr>
          </a:solidFill>
          <a:ln w="12700">
            <a:solidFill>
              <a:srgbClr val="B23A6B"/>
            </a:solidFill>
            <a:prstDash val="solid"/>
          </a:ln>
        </p:spPr>
      </p:sp>
      <p:sp>
        <p:nvSpPr>
          <p:cNvPr id="32" name="Shape 30"/>
          <p:cNvSpPr/>
          <p:nvPr/>
        </p:nvSpPr>
        <p:spPr>
          <a:xfrm>
            <a:off x="11642178" y="3399762"/>
            <a:ext cx="137997" cy="137997"/>
          </a:xfrm>
          <a:prstGeom prst="ellipse">
            <a:avLst/>
          </a:prstGeom>
          <a:solidFill>
            <a:srgbClr val="D9553C">
              <a:alpha val="55000"/>
            </a:srgbClr>
          </a:solidFill>
          <a:ln w="12700">
            <a:solidFill>
              <a:srgbClr val="D9553C"/>
            </a:solidFill>
            <a:prstDash val="solid"/>
          </a:ln>
        </p:spPr>
      </p:sp>
      <p:sp>
        <p:nvSpPr>
          <p:cNvPr id="33" name="Shape 31"/>
          <p:cNvSpPr/>
          <p:nvPr/>
        </p:nvSpPr>
        <p:spPr>
          <a:xfrm>
            <a:off x="8359267" y="2638158"/>
            <a:ext cx="152833" cy="152833"/>
          </a:xfrm>
          <a:prstGeom prst="ellipse">
            <a:avLst/>
          </a:prstGeom>
          <a:solidFill>
            <a:srgbClr val="1F8F82">
              <a:alpha val="55000"/>
            </a:srgbClr>
          </a:solidFill>
          <a:ln w="12700">
            <a:solidFill>
              <a:srgbClr val="1F8F82"/>
            </a:solidFill>
            <a:prstDash val="solid"/>
          </a:ln>
        </p:spPr>
      </p:sp>
      <p:sp>
        <p:nvSpPr>
          <p:cNvPr id="34" name="Shape 32"/>
          <p:cNvSpPr/>
          <p:nvPr/>
        </p:nvSpPr>
        <p:spPr>
          <a:xfrm>
            <a:off x="11688324" y="1126474"/>
            <a:ext cx="151274" cy="151274"/>
          </a:xfrm>
          <a:prstGeom prst="ellipse">
            <a:avLst/>
          </a:prstGeom>
          <a:solidFill>
            <a:srgbClr val="E09B21">
              <a:alpha val="55000"/>
            </a:srgbClr>
          </a:solidFill>
          <a:ln w="12700">
            <a:solidFill>
              <a:srgbClr val="E09B21"/>
            </a:solidFill>
            <a:prstDash val="solid"/>
          </a:ln>
        </p:spPr>
      </p:sp>
      <p:sp>
        <p:nvSpPr>
          <p:cNvPr id="35" name="Shape 33"/>
          <p:cNvSpPr/>
          <p:nvPr/>
        </p:nvSpPr>
        <p:spPr>
          <a:xfrm>
            <a:off x="10288347" y="4557096"/>
            <a:ext cx="99833" cy="99833"/>
          </a:xfrm>
          <a:prstGeom prst="ellipse">
            <a:avLst/>
          </a:prstGeom>
          <a:solidFill>
            <a:srgbClr val="6F63C9">
              <a:alpha val="55000"/>
            </a:srgbClr>
          </a:solidFill>
          <a:ln w="12700">
            <a:solidFill>
              <a:srgbClr val="6F63C9"/>
            </a:solidFill>
            <a:prstDash val="solid"/>
          </a:ln>
        </p:spPr>
      </p:sp>
      <p:sp>
        <p:nvSpPr>
          <p:cNvPr id="36" name="Shape 34"/>
          <p:cNvSpPr/>
          <p:nvPr/>
        </p:nvSpPr>
        <p:spPr>
          <a:xfrm>
            <a:off x="10587218" y="3767479"/>
            <a:ext cx="196612" cy="196612"/>
          </a:xfrm>
          <a:prstGeom prst="ellipse">
            <a:avLst/>
          </a:prstGeom>
          <a:solidFill>
            <a:srgbClr val="B23A6B">
              <a:alpha val="55000"/>
            </a:srgbClr>
          </a:solidFill>
          <a:ln w="12700">
            <a:solidFill>
              <a:srgbClr val="B23A6B"/>
            </a:solidFill>
            <a:prstDash val="solid"/>
          </a:ln>
        </p:spPr>
      </p:sp>
      <p:sp>
        <p:nvSpPr>
          <p:cNvPr id="37" name="Shape 35"/>
          <p:cNvSpPr/>
          <p:nvPr/>
        </p:nvSpPr>
        <p:spPr>
          <a:xfrm>
            <a:off x="11024038" y="3113004"/>
            <a:ext cx="150759" cy="150759"/>
          </a:xfrm>
          <a:prstGeom prst="ellipse">
            <a:avLst/>
          </a:prstGeom>
          <a:solidFill>
            <a:srgbClr val="D9553C">
              <a:alpha val="55000"/>
            </a:srgbClr>
          </a:solidFill>
          <a:ln w="12700">
            <a:solidFill>
              <a:srgbClr val="D9553C"/>
            </a:solidFill>
            <a:prstDash val="solid"/>
          </a:ln>
        </p:spPr>
      </p:sp>
      <p:sp>
        <p:nvSpPr>
          <p:cNvPr id="38" name="Shape 36"/>
          <p:cNvSpPr/>
          <p:nvPr/>
        </p:nvSpPr>
        <p:spPr>
          <a:xfrm>
            <a:off x="8815132" y="1987045"/>
            <a:ext cx="207047" cy="207047"/>
          </a:xfrm>
          <a:prstGeom prst="ellipse">
            <a:avLst/>
          </a:prstGeom>
          <a:solidFill>
            <a:srgbClr val="1F8F82">
              <a:alpha val="55000"/>
            </a:srgbClr>
          </a:solidFill>
          <a:ln w="12700">
            <a:solidFill>
              <a:srgbClr val="1F8F82"/>
            </a:solidFill>
            <a:prstDash val="solid"/>
          </a:ln>
        </p:spPr>
      </p:sp>
      <p:sp>
        <p:nvSpPr>
          <p:cNvPr id="39" name="Shape 37"/>
          <p:cNvSpPr/>
          <p:nvPr/>
        </p:nvSpPr>
        <p:spPr>
          <a:xfrm>
            <a:off x="9669613" y="1216802"/>
            <a:ext cx="154456" cy="154456"/>
          </a:xfrm>
          <a:prstGeom prst="ellipse">
            <a:avLst/>
          </a:prstGeom>
          <a:solidFill>
            <a:srgbClr val="E09B21">
              <a:alpha val="55000"/>
            </a:srgbClr>
          </a:solidFill>
          <a:ln w="12700">
            <a:solidFill>
              <a:srgbClr val="E09B21"/>
            </a:solidFill>
            <a:prstDash val="solid"/>
          </a:ln>
        </p:spPr>
      </p:sp>
      <p:sp>
        <p:nvSpPr>
          <p:cNvPr id="40" name="Shape 38"/>
          <p:cNvSpPr/>
          <p:nvPr/>
        </p:nvSpPr>
        <p:spPr>
          <a:xfrm>
            <a:off x="11099993" y="5886386"/>
            <a:ext cx="131481" cy="131481"/>
          </a:xfrm>
          <a:prstGeom prst="ellipse">
            <a:avLst/>
          </a:prstGeom>
          <a:solidFill>
            <a:srgbClr val="6F63C9">
              <a:alpha val="55000"/>
            </a:srgbClr>
          </a:solidFill>
          <a:ln w="12700">
            <a:solidFill>
              <a:srgbClr val="6F63C9"/>
            </a:solidFill>
            <a:prstDash val="solid"/>
          </a:ln>
        </p:spPr>
      </p:sp>
      <p:sp>
        <p:nvSpPr>
          <p:cNvPr id="41" name="Shape 39"/>
          <p:cNvSpPr/>
          <p:nvPr/>
        </p:nvSpPr>
        <p:spPr>
          <a:xfrm>
            <a:off x="8789985" y="3401527"/>
            <a:ext cx="151646" cy="151646"/>
          </a:xfrm>
          <a:prstGeom prst="ellipse">
            <a:avLst/>
          </a:prstGeom>
          <a:solidFill>
            <a:srgbClr val="B23A6B">
              <a:alpha val="55000"/>
            </a:srgbClr>
          </a:solidFill>
          <a:ln w="12700">
            <a:solidFill>
              <a:srgbClr val="B23A6B"/>
            </a:solidFill>
            <a:prstDash val="solid"/>
          </a:ln>
        </p:spPr>
      </p:sp>
      <p:sp>
        <p:nvSpPr>
          <p:cNvPr id="42" name="Shape 40"/>
          <p:cNvSpPr/>
          <p:nvPr/>
        </p:nvSpPr>
        <p:spPr>
          <a:xfrm>
            <a:off x="11586393" y="1987675"/>
            <a:ext cx="189079" cy="189079"/>
          </a:xfrm>
          <a:prstGeom prst="ellipse">
            <a:avLst/>
          </a:prstGeom>
          <a:solidFill>
            <a:srgbClr val="D9553C">
              <a:alpha val="55000"/>
            </a:srgbClr>
          </a:solidFill>
          <a:ln w="12700">
            <a:solidFill>
              <a:srgbClr val="D9553C"/>
            </a:solidFill>
            <a:prstDash val="solid"/>
          </a:ln>
        </p:spPr>
      </p:sp>
      <p:sp>
        <p:nvSpPr>
          <p:cNvPr id="43" name="Shape 41"/>
          <p:cNvSpPr/>
          <p:nvPr/>
        </p:nvSpPr>
        <p:spPr>
          <a:xfrm>
            <a:off x="8133918" y="2797976"/>
            <a:ext cx="161264" cy="161264"/>
          </a:xfrm>
          <a:prstGeom prst="ellipse">
            <a:avLst/>
          </a:prstGeom>
          <a:solidFill>
            <a:srgbClr val="1F8F82">
              <a:alpha val="55000"/>
            </a:srgbClr>
          </a:solidFill>
          <a:ln w="12700">
            <a:solidFill>
              <a:srgbClr val="1F8F82"/>
            </a:solidFill>
            <a:prstDash val="solid"/>
          </a:ln>
        </p:spPr>
      </p:sp>
      <p:sp>
        <p:nvSpPr>
          <p:cNvPr id="44" name="Shape 42"/>
          <p:cNvSpPr/>
          <p:nvPr/>
        </p:nvSpPr>
        <p:spPr>
          <a:xfrm>
            <a:off x="10939129" y="3358115"/>
            <a:ext cx="203945" cy="203945"/>
          </a:xfrm>
          <a:prstGeom prst="ellipse">
            <a:avLst/>
          </a:prstGeom>
          <a:solidFill>
            <a:srgbClr val="E09B21">
              <a:alpha val="55000"/>
            </a:srgbClr>
          </a:solidFill>
          <a:ln w="12700">
            <a:solidFill>
              <a:srgbClr val="E09B21"/>
            </a:solidFill>
            <a:prstDash val="solid"/>
          </a:ln>
        </p:spPr>
      </p:sp>
      <p:sp>
        <p:nvSpPr>
          <p:cNvPr id="45" name="Shape 43"/>
          <p:cNvSpPr/>
          <p:nvPr/>
        </p:nvSpPr>
        <p:spPr>
          <a:xfrm>
            <a:off x="11617185" y="3419817"/>
            <a:ext cx="208172" cy="208172"/>
          </a:xfrm>
          <a:prstGeom prst="ellipse">
            <a:avLst/>
          </a:prstGeom>
          <a:solidFill>
            <a:srgbClr val="6F63C9">
              <a:alpha val="55000"/>
            </a:srgbClr>
          </a:solidFill>
          <a:ln w="12700">
            <a:solidFill>
              <a:srgbClr val="6F63C9"/>
            </a:solidFill>
            <a:prstDash val="solid"/>
          </a:ln>
        </p:spPr>
      </p:sp>
      <p:sp>
        <p:nvSpPr>
          <p:cNvPr id="46" name="Shape 44"/>
          <p:cNvSpPr/>
          <p:nvPr/>
        </p:nvSpPr>
        <p:spPr>
          <a:xfrm>
            <a:off x="8994724" y="6139096"/>
            <a:ext cx="119582" cy="119582"/>
          </a:xfrm>
          <a:prstGeom prst="ellipse">
            <a:avLst/>
          </a:prstGeom>
          <a:solidFill>
            <a:srgbClr val="B23A6B">
              <a:alpha val="55000"/>
            </a:srgbClr>
          </a:solidFill>
          <a:ln w="12700">
            <a:solidFill>
              <a:srgbClr val="B23A6B"/>
            </a:solidFill>
            <a:prstDash val="solid"/>
          </a:ln>
        </p:spPr>
      </p:sp>
      <p:sp>
        <p:nvSpPr>
          <p:cNvPr id="47" name="Shape 45"/>
          <p:cNvSpPr/>
          <p:nvPr/>
        </p:nvSpPr>
        <p:spPr>
          <a:xfrm>
            <a:off x="10198192" y="474405"/>
            <a:ext cx="196488" cy="196488"/>
          </a:xfrm>
          <a:prstGeom prst="ellipse">
            <a:avLst/>
          </a:prstGeom>
          <a:solidFill>
            <a:srgbClr val="D9553C">
              <a:alpha val="55000"/>
            </a:srgbClr>
          </a:solidFill>
          <a:ln w="12700">
            <a:solidFill>
              <a:srgbClr val="D9553C"/>
            </a:solidFill>
            <a:prstDash val="solid"/>
          </a:ln>
        </p:spPr>
      </p:sp>
      <p:sp>
        <p:nvSpPr>
          <p:cNvPr id="48" name="Shape 46"/>
          <p:cNvSpPr/>
          <p:nvPr/>
        </p:nvSpPr>
        <p:spPr>
          <a:xfrm>
            <a:off x="566928" y="2011680"/>
            <a:ext cx="786384" cy="786384"/>
          </a:xfrm>
          <a:prstGeom prst="ellipse">
            <a:avLst/>
          </a:prstGeom>
          <a:solidFill>
            <a:srgbClr val="E09B21"/>
          </a:solidFill>
          <a:ln w="12700">
            <a:solidFill>
              <a:srgbClr val="E09B21"/>
            </a:solidFill>
            <a:prstDash val="solid"/>
          </a:ln>
        </p:spPr>
      </p:sp>
      <p:sp>
        <p:nvSpPr>
          <p:cNvPr id="49" name="Text 47"/>
          <p:cNvSpPr/>
          <p:nvPr/>
        </p:nvSpPr>
        <p:spPr>
          <a:xfrm>
            <a:off x="566928" y="2011680"/>
            <a:ext cx="786384" cy="786384"/>
          </a:xfrm>
          <a:prstGeom prst="rect">
            <a:avLst/>
          </a:prstGeom>
          <a:noFill/>
          <a:ln/>
        </p:spPr>
        <p:txBody>
          <a:bodyPr wrap="square" lIns="0" tIns="0" rIns="0" bIns="0" rtlCol="0" anchor="ctr"/>
          <a:lstStyle/>
          <a:p>
            <a:pPr algn="ctr" indent="0" marL="0">
              <a:buNone/>
            </a:pPr>
            <a:r>
              <a:rPr lang="en-US" sz="3000" b="1" dirty="0">
                <a:solidFill>
                  <a:srgbClr val="2A2356"/>
                </a:solidFill>
                <a:latin typeface="Calibri" pitchFamily="34" charset="0"/>
                <a:ea typeface="Calibri" pitchFamily="34" charset="-122"/>
                <a:cs typeface="Calibri" pitchFamily="34" charset="-120"/>
              </a:rPr>
              <a:t>3</a:t>
            </a:r>
            <a:endParaRPr lang="en-US" sz="3000" dirty="0"/>
          </a:p>
        </p:txBody>
      </p:sp>
      <p:sp>
        <p:nvSpPr>
          <p:cNvPr id="50" name="Text 48"/>
          <p:cNvSpPr/>
          <p:nvPr/>
        </p:nvSpPr>
        <p:spPr>
          <a:xfrm>
            <a:off x="566928" y="2999232"/>
            <a:ext cx="6766560" cy="9601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Three real studies</a:t>
            </a:r>
            <a:endParaRPr lang="en-US" sz="4000" dirty="0"/>
          </a:p>
        </p:txBody>
      </p:sp>
      <p:sp>
        <p:nvSpPr>
          <p:cNvPr id="51" name="Text 49"/>
          <p:cNvSpPr/>
          <p:nvPr/>
        </p:nvSpPr>
        <p:spPr>
          <a:xfrm>
            <a:off x="566928" y="4041648"/>
            <a:ext cx="6400800" cy="731520"/>
          </a:xfrm>
          <a:prstGeom prst="rect">
            <a:avLst/>
          </a:prstGeom>
          <a:noFill/>
          <a:ln/>
        </p:spPr>
        <p:txBody>
          <a:bodyPr wrap="square" lIns="0" tIns="0" rIns="0" bIns="0" rtlCol="0" anchor="t"/>
          <a:lstStyle/>
          <a:p>
            <a:pPr indent="0" marL="0">
              <a:buNone/>
            </a:pPr>
            <a:r>
              <a:rPr lang="en-US" sz="1600" dirty="0">
                <a:solidFill>
                  <a:srgbClr val="C9C4E6"/>
                </a:solidFill>
                <a:latin typeface="Calibri" pitchFamily="34" charset="0"/>
                <a:ea typeface="Calibri" pitchFamily="34" charset="-122"/>
                <a:cs typeface="Calibri" pitchFamily="34" charset="-120"/>
              </a:rPr>
              <a:t>What the method looks like when it has been used on actual data, and what it bought the authors.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EXAMPLE 1 · LCA ON SYMPTOM ITEMS</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Comorbidity in adolescent mental health</a:t>
            </a:r>
            <a:endParaRPr lang="en-US" sz="2900" dirty="0"/>
          </a:p>
        </p:txBody>
      </p:sp>
      <p:sp>
        <p:nvSpPr>
          <p:cNvPr id="4" name="Shape 2"/>
          <p:cNvSpPr/>
          <p:nvPr/>
        </p:nvSpPr>
        <p:spPr>
          <a:xfrm>
            <a:off x="566928" y="1298448"/>
            <a:ext cx="2612898" cy="841248"/>
          </a:xfrm>
          <a:prstGeom prst="roundRect">
            <a:avLst>
              <a:gd name="adj" fmla="val 10870"/>
            </a:avLst>
          </a:prstGeom>
          <a:solidFill>
            <a:srgbClr val="F5F4FA"/>
          </a:solidFill>
          <a:ln w="12700">
            <a:solidFill>
              <a:srgbClr val="DBD8E8"/>
            </a:solidFill>
            <a:prstDash val="solid"/>
          </a:ln>
        </p:spPr>
      </p:sp>
      <p:sp>
        <p:nvSpPr>
          <p:cNvPr id="5" name="Text 3"/>
          <p:cNvSpPr/>
          <p:nvPr/>
        </p:nvSpPr>
        <p:spPr>
          <a:xfrm>
            <a:off x="768096" y="1417320"/>
            <a:ext cx="2210562" cy="237744"/>
          </a:xfrm>
          <a:prstGeom prst="rect">
            <a:avLst/>
          </a:prstGeom>
          <a:noFill/>
          <a:ln/>
        </p:spPr>
        <p:txBody>
          <a:bodyPr wrap="square" lIns="0" tIns="0" rIns="0" bIns="0" rtlCol="0" anchor="ctr"/>
          <a:lstStyle/>
          <a:p>
            <a:pPr indent="0" marL="0">
              <a:buNone/>
            </a:pPr>
            <a:r>
              <a:rPr lang="en-US" sz="950" b="1" spc="100" kern="0" dirty="0">
                <a:solidFill>
                  <a:srgbClr val="9E9AB4"/>
                </a:solidFill>
                <a:latin typeface="Calibri" pitchFamily="34" charset="0"/>
                <a:ea typeface="Calibri" pitchFamily="34" charset="-122"/>
                <a:cs typeface="Calibri" pitchFamily="34" charset="-120"/>
              </a:rPr>
              <a:t>LATENT CONSTRUCT</a:t>
            </a:r>
            <a:endParaRPr lang="en-US" sz="950" dirty="0"/>
          </a:p>
        </p:txBody>
      </p:sp>
      <p:sp>
        <p:nvSpPr>
          <p:cNvPr id="6" name="Text 4"/>
          <p:cNvSpPr/>
          <p:nvPr/>
        </p:nvSpPr>
        <p:spPr>
          <a:xfrm>
            <a:off x="768096" y="1664208"/>
            <a:ext cx="2210562" cy="402336"/>
          </a:xfrm>
          <a:prstGeom prst="rect">
            <a:avLst/>
          </a:prstGeom>
          <a:noFill/>
          <a:ln/>
        </p:spPr>
        <p:txBody>
          <a:bodyPr wrap="square" lIns="0" tIns="0" rIns="0" bIns="0" rtlCol="0" anchor="t"/>
          <a:lstStyle/>
          <a:p>
            <a:pPr indent="0" marL="0">
              <a:lnSpc>
                <a:spcPts val="1500"/>
              </a:lnSpc>
              <a:buNone/>
            </a:pPr>
            <a:r>
              <a:rPr lang="en-US" sz="1250" b="1" dirty="0">
                <a:solidFill>
                  <a:srgbClr val="1A1633"/>
                </a:solidFill>
                <a:latin typeface="Calibri" pitchFamily="34" charset="0"/>
                <a:ea typeface="Calibri" pitchFamily="34" charset="-122"/>
                <a:cs typeface="Calibri" pitchFamily="34" charset="-120"/>
              </a:rPr>
              <a:t>Co-occurring mental health symptoms</a:t>
            </a:r>
            <a:endParaRPr lang="en-US" sz="1250" dirty="0"/>
          </a:p>
        </p:txBody>
      </p:sp>
      <p:sp>
        <p:nvSpPr>
          <p:cNvPr id="7" name="Shape 5"/>
          <p:cNvSpPr/>
          <p:nvPr/>
        </p:nvSpPr>
        <p:spPr>
          <a:xfrm>
            <a:off x="3380994" y="1298448"/>
            <a:ext cx="2612898" cy="841248"/>
          </a:xfrm>
          <a:prstGeom prst="roundRect">
            <a:avLst>
              <a:gd name="adj" fmla="val 10870"/>
            </a:avLst>
          </a:prstGeom>
          <a:solidFill>
            <a:srgbClr val="F5F4FA"/>
          </a:solidFill>
          <a:ln w="12700">
            <a:solidFill>
              <a:srgbClr val="DBD8E8"/>
            </a:solidFill>
            <a:prstDash val="solid"/>
          </a:ln>
        </p:spPr>
      </p:sp>
      <p:sp>
        <p:nvSpPr>
          <p:cNvPr id="8" name="Text 6"/>
          <p:cNvSpPr/>
          <p:nvPr/>
        </p:nvSpPr>
        <p:spPr>
          <a:xfrm>
            <a:off x="3582162" y="1417320"/>
            <a:ext cx="2210562" cy="237744"/>
          </a:xfrm>
          <a:prstGeom prst="rect">
            <a:avLst/>
          </a:prstGeom>
          <a:noFill/>
          <a:ln/>
        </p:spPr>
        <p:txBody>
          <a:bodyPr wrap="square" lIns="0" tIns="0" rIns="0" bIns="0" rtlCol="0" anchor="ctr"/>
          <a:lstStyle/>
          <a:p>
            <a:pPr indent="0" marL="0">
              <a:buNone/>
            </a:pPr>
            <a:r>
              <a:rPr lang="en-US" sz="950" b="1" spc="100" kern="0" dirty="0">
                <a:solidFill>
                  <a:srgbClr val="9E9AB4"/>
                </a:solidFill>
                <a:latin typeface="Calibri" pitchFamily="34" charset="0"/>
                <a:ea typeface="Calibri" pitchFamily="34" charset="-122"/>
                <a:cs typeface="Calibri" pitchFamily="34" charset="-120"/>
              </a:rPr>
              <a:t>SAMPLE</a:t>
            </a:r>
            <a:endParaRPr lang="en-US" sz="950" dirty="0"/>
          </a:p>
        </p:txBody>
      </p:sp>
      <p:sp>
        <p:nvSpPr>
          <p:cNvPr id="9" name="Text 7"/>
          <p:cNvSpPr/>
          <p:nvPr/>
        </p:nvSpPr>
        <p:spPr>
          <a:xfrm>
            <a:off x="3582162" y="1664208"/>
            <a:ext cx="2210562" cy="402336"/>
          </a:xfrm>
          <a:prstGeom prst="rect">
            <a:avLst/>
          </a:prstGeom>
          <a:noFill/>
          <a:ln/>
        </p:spPr>
        <p:txBody>
          <a:bodyPr wrap="square" lIns="0" tIns="0" rIns="0" bIns="0" rtlCol="0" anchor="t"/>
          <a:lstStyle/>
          <a:p>
            <a:pPr indent="0" marL="0">
              <a:lnSpc>
                <a:spcPts val="1500"/>
              </a:lnSpc>
              <a:buNone/>
            </a:pPr>
            <a:r>
              <a:rPr lang="en-US" sz="1250" b="1" dirty="0">
                <a:solidFill>
                  <a:srgbClr val="1A1633"/>
                </a:solidFill>
                <a:latin typeface="Calibri" pitchFamily="34" charset="0"/>
                <a:ea typeface="Calibri" pitchFamily="34" charset="-122"/>
                <a:cs typeface="Calibri" pitchFamily="34" charset="-120"/>
              </a:rPr>
              <a:t>≈10,000 US adolescents aged 13–18</a:t>
            </a:r>
            <a:endParaRPr lang="en-US" sz="1250" dirty="0"/>
          </a:p>
        </p:txBody>
      </p:sp>
      <p:sp>
        <p:nvSpPr>
          <p:cNvPr id="10" name="Shape 8"/>
          <p:cNvSpPr/>
          <p:nvPr/>
        </p:nvSpPr>
        <p:spPr>
          <a:xfrm>
            <a:off x="6195060" y="1298448"/>
            <a:ext cx="2612898" cy="841248"/>
          </a:xfrm>
          <a:prstGeom prst="roundRect">
            <a:avLst>
              <a:gd name="adj" fmla="val 10870"/>
            </a:avLst>
          </a:prstGeom>
          <a:solidFill>
            <a:srgbClr val="F5F4FA"/>
          </a:solidFill>
          <a:ln w="12700">
            <a:solidFill>
              <a:srgbClr val="DBD8E8"/>
            </a:solidFill>
            <a:prstDash val="solid"/>
          </a:ln>
        </p:spPr>
      </p:sp>
      <p:sp>
        <p:nvSpPr>
          <p:cNvPr id="11" name="Text 9"/>
          <p:cNvSpPr/>
          <p:nvPr/>
        </p:nvSpPr>
        <p:spPr>
          <a:xfrm>
            <a:off x="6396228" y="1417320"/>
            <a:ext cx="2210562" cy="237744"/>
          </a:xfrm>
          <a:prstGeom prst="rect">
            <a:avLst/>
          </a:prstGeom>
          <a:noFill/>
          <a:ln/>
        </p:spPr>
        <p:txBody>
          <a:bodyPr wrap="square" lIns="0" tIns="0" rIns="0" bIns="0" rtlCol="0" anchor="ctr"/>
          <a:lstStyle/>
          <a:p>
            <a:pPr indent="0" marL="0">
              <a:buNone/>
            </a:pPr>
            <a:r>
              <a:rPr lang="en-US" sz="950" b="1" spc="100" kern="0" dirty="0">
                <a:solidFill>
                  <a:srgbClr val="9E9AB4"/>
                </a:solidFill>
                <a:latin typeface="Calibri" pitchFamily="34" charset="0"/>
                <a:ea typeface="Calibri" pitchFamily="34" charset="-122"/>
                <a:cs typeface="Calibri" pitchFamily="34" charset="-120"/>
              </a:rPr>
              <a:t>INDICATORS</a:t>
            </a:r>
            <a:endParaRPr lang="en-US" sz="950" dirty="0"/>
          </a:p>
        </p:txBody>
      </p:sp>
      <p:sp>
        <p:nvSpPr>
          <p:cNvPr id="12" name="Text 10"/>
          <p:cNvSpPr/>
          <p:nvPr/>
        </p:nvSpPr>
        <p:spPr>
          <a:xfrm>
            <a:off x="6396228" y="1664208"/>
            <a:ext cx="2210562" cy="402336"/>
          </a:xfrm>
          <a:prstGeom prst="rect">
            <a:avLst/>
          </a:prstGeom>
          <a:noFill/>
          <a:ln/>
        </p:spPr>
        <p:txBody>
          <a:bodyPr wrap="square" lIns="0" tIns="0" rIns="0" bIns="0" rtlCol="0" anchor="t"/>
          <a:lstStyle/>
          <a:p>
            <a:pPr indent="0" marL="0">
              <a:lnSpc>
                <a:spcPts val="1500"/>
              </a:lnSpc>
              <a:buNone/>
            </a:pPr>
            <a:r>
              <a:rPr lang="en-US" sz="1250" b="1" dirty="0">
                <a:solidFill>
                  <a:srgbClr val="1A1633"/>
                </a:solidFill>
                <a:latin typeface="Calibri" pitchFamily="34" charset="0"/>
                <a:ea typeface="Calibri" pitchFamily="34" charset="-122"/>
                <a:cs typeface="Calibri" pitchFamily="34" charset="-120"/>
              </a:rPr>
              <a:t>Presence / absence of disorder symptoms</a:t>
            </a:r>
            <a:endParaRPr lang="en-US" sz="1250" dirty="0"/>
          </a:p>
        </p:txBody>
      </p:sp>
      <p:sp>
        <p:nvSpPr>
          <p:cNvPr id="13" name="Shape 11"/>
          <p:cNvSpPr/>
          <p:nvPr/>
        </p:nvSpPr>
        <p:spPr>
          <a:xfrm>
            <a:off x="9009126" y="1298448"/>
            <a:ext cx="2612898" cy="841248"/>
          </a:xfrm>
          <a:prstGeom prst="roundRect">
            <a:avLst>
              <a:gd name="adj" fmla="val 10870"/>
            </a:avLst>
          </a:prstGeom>
          <a:solidFill>
            <a:srgbClr val="F5F4FA"/>
          </a:solidFill>
          <a:ln w="12700">
            <a:solidFill>
              <a:srgbClr val="DBD8E8"/>
            </a:solidFill>
            <a:prstDash val="solid"/>
          </a:ln>
        </p:spPr>
      </p:sp>
      <p:sp>
        <p:nvSpPr>
          <p:cNvPr id="14" name="Text 12"/>
          <p:cNvSpPr/>
          <p:nvPr/>
        </p:nvSpPr>
        <p:spPr>
          <a:xfrm>
            <a:off x="9210294" y="1417320"/>
            <a:ext cx="2210562" cy="237744"/>
          </a:xfrm>
          <a:prstGeom prst="rect">
            <a:avLst/>
          </a:prstGeom>
          <a:noFill/>
          <a:ln/>
        </p:spPr>
        <p:txBody>
          <a:bodyPr wrap="square" lIns="0" tIns="0" rIns="0" bIns="0" rtlCol="0" anchor="ctr"/>
          <a:lstStyle/>
          <a:p>
            <a:pPr indent="0" marL="0">
              <a:buNone/>
            </a:pPr>
            <a:r>
              <a:rPr lang="en-US" sz="950" b="1" spc="100" kern="0" dirty="0">
                <a:solidFill>
                  <a:srgbClr val="9E9AB4"/>
                </a:solidFill>
                <a:latin typeface="Calibri" pitchFamily="34" charset="0"/>
                <a:ea typeface="Calibri" pitchFamily="34" charset="-122"/>
                <a:cs typeface="Calibri" pitchFamily="34" charset="-120"/>
              </a:rPr>
              <a:t>SOLUTION CHOSEN</a:t>
            </a:r>
            <a:endParaRPr lang="en-US" sz="950" dirty="0"/>
          </a:p>
        </p:txBody>
      </p:sp>
      <p:sp>
        <p:nvSpPr>
          <p:cNvPr id="15" name="Text 13"/>
          <p:cNvSpPr/>
          <p:nvPr/>
        </p:nvSpPr>
        <p:spPr>
          <a:xfrm>
            <a:off x="9210294" y="1664208"/>
            <a:ext cx="2210562" cy="402336"/>
          </a:xfrm>
          <a:prstGeom prst="rect">
            <a:avLst/>
          </a:prstGeom>
          <a:noFill/>
          <a:ln/>
        </p:spPr>
        <p:txBody>
          <a:bodyPr wrap="square" lIns="0" tIns="0" rIns="0" bIns="0" rtlCol="0" anchor="t"/>
          <a:lstStyle/>
          <a:p>
            <a:pPr indent="0" marL="0">
              <a:lnSpc>
                <a:spcPts val="1500"/>
              </a:lnSpc>
              <a:buNone/>
            </a:pPr>
            <a:r>
              <a:rPr lang="en-US" sz="1250" b="1" dirty="0">
                <a:solidFill>
                  <a:srgbClr val="1A1633"/>
                </a:solidFill>
                <a:latin typeface="Calibri" pitchFamily="34" charset="0"/>
                <a:ea typeface="Calibri" pitchFamily="34" charset="-122"/>
                <a:cs typeface="Calibri" pitchFamily="34" charset="-120"/>
              </a:rPr>
              <a:t>3 classes</a:t>
            </a:r>
            <a:endParaRPr lang="en-US" sz="1250" dirty="0"/>
          </a:p>
        </p:txBody>
      </p:sp>
      <p:sp>
        <p:nvSpPr>
          <p:cNvPr id="16" name="Shape 14"/>
          <p:cNvSpPr/>
          <p:nvPr/>
        </p:nvSpPr>
        <p:spPr>
          <a:xfrm>
            <a:off x="566928" y="2377440"/>
            <a:ext cx="3526536" cy="2359152"/>
          </a:xfrm>
          <a:prstGeom prst="roundRect">
            <a:avLst>
              <a:gd name="adj" fmla="val 3876"/>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7" name="Shape 15"/>
          <p:cNvSpPr/>
          <p:nvPr/>
        </p:nvSpPr>
        <p:spPr>
          <a:xfrm>
            <a:off x="822960" y="2615184"/>
            <a:ext cx="310896" cy="310896"/>
          </a:xfrm>
          <a:prstGeom prst="ellipse">
            <a:avLst/>
          </a:prstGeom>
          <a:solidFill>
            <a:srgbClr val="D9553C"/>
          </a:solidFill>
          <a:ln w="12700">
            <a:solidFill>
              <a:srgbClr val="D9553C"/>
            </a:solidFill>
            <a:prstDash val="solid"/>
          </a:ln>
        </p:spPr>
      </p:sp>
      <p:sp>
        <p:nvSpPr>
          <p:cNvPr id="18" name="Text 16"/>
          <p:cNvSpPr/>
          <p:nvPr/>
        </p:nvSpPr>
        <p:spPr>
          <a:xfrm>
            <a:off x="822960" y="3035808"/>
            <a:ext cx="3014472" cy="566928"/>
          </a:xfrm>
          <a:prstGeom prst="rect">
            <a:avLst/>
          </a:prstGeom>
          <a:noFill/>
          <a:ln/>
        </p:spPr>
        <p:txBody>
          <a:bodyPr wrap="square" lIns="0" tIns="0" rIns="0" bIns="0" rtlCol="0" anchor="t"/>
          <a:lstStyle/>
          <a:p>
            <a:pPr indent="0" marL="0">
              <a:buNone/>
            </a:pPr>
            <a:r>
              <a:rPr lang="en-US" sz="1600" b="1" dirty="0">
                <a:solidFill>
                  <a:srgbClr val="1A1633"/>
                </a:solidFill>
                <a:latin typeface="Cambria" pitchFamily="34" charset="0"/>
                <a:ea typeface="Cambria" pitchFamily="34" charset="-122"/>
                <a:cs typeface="Cambria" pitchFamily="34" charset="-120"/>
              </a:rPr>
              <a:t>Emotional disorder class</a:t>
            </a:r>
            <a:endParaRPr lang="en-US" sz="1600" dirty="0"/>
          </a:p>
        </p:txBody>
      </p:sp>
      <p:sp>
        <p:nvSpPr>
          <p:cNvPr id="19" name="Text 17"/>
          <p:cNvSpPr/>
          <p:nvPr/>
        </p:nvSpPr>
        <p:spPr>
          <a:xfrm>
            <a:off x="822960" y="3639312"/>
            <a:ext cx="3014472" cy="658368"/>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High probability of anxiety and depressive symptoms.</a:t>
            </a:r>
            <a:endParaRPr lang="en-US" sz="1200" dirty="0"/>
          </a:p>
        </p:txBody>
      </p:sp>
      <p:sp>
        <p:nvSpPr>
          <p:cNvPr id="20" name="Text 18"/>
          <p:cNvSpPr/>
          <p:nvPr/>
        </p:nvSpPr>
        <p:spPr>
          <a:xfrm>
            <a:off x="822960" y="4261104"/>
            <a:ext cx="3014472" cy="438912"/>
          </a:xfrm>
          <a:prstGeom prst="rect">
            <a:avLst/>
          </a:prstGeom>
          <a:noFill/>
          <a:ln/>
        </p:spPr>
        <p:txBody>
          <a:bodyPr wrap="square" lIns="0" tIns="0" rIns="0" bIns="0" rtlCol="0" anchor="t"/>
          <a:lstStyle/>
          <a:p>
            <a:pPr indent="0" marL="0">
              <a:lnSpc>
                <a:spcPts val="1450"/>
              </a:lnSpc>
              <a:buNone/>
            </a:pPr>
            <a:r>
              <a:rPr lang="en-US" sz="1100" i="1" dirty="0">
                <a:solidFill>
                  <a:srgbClr val="D9553C"/>
                </a:solidFill>
                <a:latin typeface="Calibri" pitchFamily="34" charset="0"/>
                <a:ea typeface="Calibri" pitchFamily="34" charset="-122"/>
                <a:cs typeface="Calibri" pitchFamily="34" charset="-120"/>
              </a:rPr>
              <a:t>More likely: girls · family instability · low parental education</a:t>
            </a:r>
            <a:endParaRPr lang="en-US" sz="1100" dirty="0"/>
          </a:p>
        </p:txBody>
      </p:sp>
      <p:sp>
        <p:nvSpPr>
          <p:cNvPr id="21" name="Shape 19"/>
          <p:cNvSpPr/>
          <p:nvPr/>
        </p:nvSpPr>
        <p:spPr>
          <a:xfrm>
            <a:off x="4331208" y="2377440"/>
            <a:ext cx="3526536" cy="2359152"/>
          </a:xfrm>
          <a:prstGeom prst="roundRect">
            <a:avLst>
              <a:gd name="adj" fmla="val 3876"/>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22" name="Shape 20"/>
          <p:cNvSpPr/>
          <p:nvPr/>
        </p:nvSpPr>
        <p:spPr>
          <a:xfrm>
            <a:off x="4587240" y="2615184"/>
            <a:ext cx="310896" cy="310896"/>
          </a:xfrm>
          <a:prstGeom prst="ellipse">
            <a:avLst/>
          </a:prstGeom>
          <a:solidFill>
            <a:srgbClr val="6F63C9"/>
          </a:solidFill>
          <a:ln w="12700">
            <a:solidFill>
              <a:srgbClr val="6F63C9"/>
            </a:solidFill>
            <a:prstDash val="solid"/>
          </a:ln>
        </p:spPr>
      </p:sp>
      <p:sp>
        <p:nvSpPr>
          <p:cNvPr id="23" name="Text 21"/>
          <p:cNvSpPr/>
          <p:nvPr/>
        </p:nvSpPr>
        <p:spPr>
          <a:xfrm>
            <a:off x="4587240" y="3035808"/>
            <a:ext cx="3014472" cy="566928"/>
          </a:xfrm>
          <a:prstGeom prst="rect">
            <a:avLst/>
          </a:prstGeom>
          <a:noFill/>
          <a:ln/>
        </p:spPr>
        <p:txBody>
          <a:bodyPr wrap="square" lIns="0" tIns="0" rIns="0" bIns="0" rtlCol="0" anchor="t"/>
          <a:lstStyle/>
          <a:p>
            <a:pPr indent="0" marL="0">
              <a:buNone/>
            </a:pPr>
            <a:r>
              <a:rPr lang="en-US" sz="1600" b="1" dirty="0">
                <a:solidFill>
                  <a:srgbClr val="1A1633"/>
                </a:solidFill>
                <a:latin typeface="Cambria" pitchFamily="34" charset="0"/>
                <a:ea typeface="Cambria" pitchFamily="34" charset="-122"/>
                <a:cs typeface="Cambria" pitchFamily="34" charset="-120"/>
              </a:rPr>
              <a:t>Behavioural disorder class</a:t>
            </a:r>
            <a:endParaRPr lang="en-US" sz="1600" dirty="0"/>
          </a:p>
        </p:txBody>
      </p:sp>
      <p:sp>
        <p:nvSpPr>
          <p:cNvPr id="24" name="Text 22"/>
          <p:cNvSpPr/>
          <p:nvPr/>
        </p:nvSpPr>
        <p:spPr>
          <a:xfrm>
            <a:off x="4587240" y="3639312"/>
            <a:ext cx="3014472" cy="658368"/>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High probability of substance misuse, depression and conduct problems.</a:t>
            </a:r>
            <a:endParaRPr lang="en-US" sz="1200" dirty="0"/>
          </a:p>
        </p:txBody>
      </p:sp>
      <p:sp>
        <p:nvSpPr>
          <p:cNvPr id="25" name="Text 23"/>
          <p:cNvSpPr/>
          <p:nvPr/>
        </p:nvSpPr>
        <p:spPr>
          <a:xfrm>
            <a:off x="4587240" y="4261104"/>
            <a:ext cx="3014472" cy="438912"/>
          </a:xfrm>
          <a:prstGeom prst="rect">
            <a:avLst/>
          </a:prstGeom>
          <a:noFill/>
          <a:ln/>
        </p:spPr>
        <p:txBody>
          <a:bodyPr wrap="square" lIns="0" tIns="0" rIns="0" bIns="0" rtlCol="0" anchor="t"/>
          <a:lstStyle/>
          <a:p>
            <a:pPr indent="0" marL="0">
              <a:lnSpc>
                <a:spcPts val="1450"/>
              </a:lnSpc>
              <a:buNone/>
            </a:pPr>
            <a:r>
              <a:rPr lang="en-US" sz="1100" i="1" dirty="0">
                <a:solidFill>
                  <a:srgbClr val="6F63C9"/>
                </a:solidFill>
                <a:latin typeface="Calibri" pitchFamily="34" charset="0"/>
                <a:ea typeface="Calibri" pitchFamily="34" charset="-122"/>
                <a:cs typeface="Calibri" pitchFamily="34" charset="-120"/>
              </a:rPr>
              <a:t>More likely: boys · urban residence · social disadvantage</a:t>
            </a:r>
            <a:endParaRPr lang="en-US" sz="1100" dirty="0"/>
          </a:p>
        </p:txBody>
      </p:sp>
      <p:sp>
        <p:nvSpPr>
          <p:cNvPr id="26" name="Shape 24"/>
          <p:cNvSpPr/>
          <p:nvPr/>
        </p:nvSpPr>
        <p:spPr>
          <a:xfrm>
            <a:off x="8095488" y="2377440"/>
            <a:ext cx="3526536" cy="2359152"/>
          </a:xfrm>
          <a:prstGeom prst="roundRect">
            <a:avLst>
              <a:gd name="adj" fmla="val 3876"/>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27" name="Shape 25"/>
          <p:cNvSpPr/>
          <p:nvPr/>
        </p:nvSpPr>
        <p:spPr>
          <a:xfrm>
            <a:off x="8351520" y="2615184"/>
            <a:ext cx="310896" cy="310896"/>
          </a:xfrm>
          <a:prstGeom prst="ellipse">
            <a:avLst/>
          </a:prstGeom>
          <a:solidFill>
            <a:srgbClr val="1F8F82"/>
          </a:solidFill>
          <a:ln w="12700">
            <a:solidFill>
              <a:srgbClr val="1F8F82"/>
            </a:solidFill>
            <a:prstDash val="solid"/>
          </a:ln>
        </p:spPr>
      </p:sp>
      <p:sp>
        <p:nvSpPr>
          <p:cNvPr id="28" name="Text 26"/>
          <p:cNvSpPr/>
          <p:nvPr/>
        </p:nvSpPr>
        <p:spPr>
          <a:xfrm>
            <a:off x="8351520" y="3035808"/>
            <a:ext cx="3014472" cy="566928"/>
          </a:xfrm>
          <a:prstGeom prst="rect">
            <a:avLst/>
          </a:prstGeom>
          <a:noFill/>
          <a:ln/>
        </p:spPr>
        <p:txBody>
          <a:bodyPr wrap="square" lIns="0" tIns="0" rIns="0" bIns="0" rtlCol="0" anchor="t"/>
          <a:lstStyle/>
          <a:p>
            <a:pPr indent="0" marL="0">
              <a:buNone/>
            </a:pPr>
            <a:r>
              <a:rPr lang="en-US" sz="1600" b="1" dirty="0">
                <a:solidFill>
                  <a:srgbClr val="1A1633"/>
                </a:solidFill>
                <a:latin typeface="Cambria" pitchFamily="34" charset="0"/>
                <a:ea typeface="Cambria" pitchFamily="34" charset="-122"/>
                <a:cs typeface="Cambria" pitchFamily="34" charset="-120"/>
              </a:rPr>
              <a:t>Normative class</a:t>
            </a:r>
            <a:endParaRPr lang="en-US" sz="1600" dirty="0"/>
          </a:p>
        </p:txBody>
      </p:sp>
      <p:sp>
        <p:nvSpPr>
          <p:cNvPr id="29" name="Text 27"/>
          <p:cNvSpPr/>
          <p:nvPr/>
        </p:nvSpPr>
        <p:spPr>
          <a:xfrm>
            <a:off x="8351520" y="3639312"/>
            <a:ext cx="3014472" cy="658368"/>
          </a:xfrm>
          <a:prstGeom prst="rect">
            <a:avLst/>
          </a:prstGeom>
          <a:noFill/>
          <a:ln/>
        </p:spPr>
        <p:txBody>
          <a:bodyPr wrap="square" lIns="0" tIns="0" rIns="0" bIns="0" rtlCol="0" anchor="t"/>
          <a:lstStyle/>
          <a:p>
            <a:pPr indent="0" marL="0">
              <a:lnSpc>
                <a:spcPts val="1600"/>
              </a:lnSpc>
              <a:buNone/>
            </a:pPr>
            <a:r>
              <a:rPr lang="en-US" sz="1200" dirty="0">
                <a:solidFill>
                  <a:srgbClr val="6B6785"/>
                </a:solidFill>
                <a:latin typeface="Calibri" pitchFamily="34" charset="0"/>
                <a:ea typeface="Calibri" pitchFamily="34" charset="-122"/>
                <a:cs typeface="Calibri" pitchFamily="34" charset="-120"/>
              </a:rPr>
              <a:t>Low probability of any mental health problem — the largest group.</a:t>
            </a:r>
            <a:endParaRPr lang="en-US" sz="1200" dirty="0"/>
          </a:p>
        </p:txBody>
      </p:sp>
      <p:sp>
        <p:nvSpPr>
          <p:cNvPr id="30" name="Text 28"/>
          <p:cNvSpPr/>
          <p:nvPr/>
        </p:nvSpPr>
        <p:spPr>
          <a:xfrm>
            <a:off x="8351520" y="4261104"/>
            <a:ext cx="3014472" cy="438912"/>
          </a:xfrm>
          <a:prstGeom prst="rect">
            <a:avLst/>
          </a:prstGeom>
          <a:noFill/>
          <a:ln/>
        </p:spPr>
        <p:txBody>
          <a:bodyPr wrap="square" lIns="0" tIns="0" rIns="0" bIns="0" rtlCol="0" anchor="t"/>
          <a:lstStyle/>
          <a:p>
            <a:pPr indent="0" marL="0">
              <a:lnSpc>
                <a:spcPts val="1450"/>
              </a:lnSpc>
              <a:buNone/>
            </a:pPr>
            <a:r>
              <a:rPr lang="en-US" sz="1100" i="1" dirty="0">
                <a:solidFill>
                  <a:srgbClr val="1F8F82"/>
                </a:solidFill>
                <a:latin typeface="Calibri" pitchFamily="34" charset="0"/>
                <a:ea typeface="Calibri" pitchFamily="34" charset="-122"/>
                <a:cs typeface="Calibri" pitchFamily="34" charset="-120"/>
              </a:rPr>
              <a:t>The comparison group against which the others are read</a:t>
            </a:r>
            <a:endParaRPr lang="en-US" sz="1100" dirty="0"/>
          </a:p>
        </p:txBody>
      </p:sp>
      <p:sp>
        <p:nvSpPr>
          <p:cNvPr id="31" name="Shape 29"/>
          <p:cNvSpPr/>
          <p:nvPr/>
        </p:nvSpPr>
        <p:spPr>
          <a:xfrm>
            <a:off x="566928" y="4956048"/>
            <a:ext cx="11055096" cy="1005840"/>
          </a:xfrm>
          <a:prstGeom prst="roundRect">
            <a:avLst>
              <a:gd name="adj" fmla="val 9091"/>
            </a:avLst>
          </a:prstGeom>
          <a:solidFill>
            <a:srgbClr val="2A2356"/>
          </a:solidFill>
          <a:ln w="9525">
            <a:solidFill>
              <a:srgbClr val="2A2356"/>
            </a:solidFill>
            <a:prstDash val="solid"/>
          </a:ln>
        </p:spPr>
      </p:sp>
      <p:sp>
        <p:nvSpPr>
          <p:cNvPr id="32" name="Text 30"/>
          <p:cNvSpPr/>
          <p:nvPr/>
        </p:nvSpPr>
        <p:spPr>
          <a:xfrm>
            <a:off x="932688" y="4956048"/>
            <a:ext cx="10323576" cy="1005840"/>
          </a:xfrm>
          <a:prstGeom prst="rect">
            <a:avLst/>
          </a:prstGeom>
          <a:noFill/>
          <a:ln/>
        </p:spPr>
        <p:txBody>
          <a:bodyPr wrap="square" lIns="0" tIns="0" rIns="0" bIns="0" rtlCol="0" anchor="ctr"/>
          <a:lstStyle/>
          <a:p>
            <a:pPr indent="0" marL="0">
              <a:lnSpc>
                <a:spcPts val="1900"/>
              </a:lnSpc>
              <a:buNone/>
            </a:pPr>
            <a:r>
              <a:rPr lang="en-US" sz="1300" b="1" dirty="0">
                <a:solidFill>
                  <a:srgbClr val="E09B21"/>
                </a:solidFill>
                <a:latin typeface="Calibri" pitchFamily="34" charset="0"/>
                <a:ea typeface="Calibri" pitchFamily="34" charset="-122"/>
                <a:cs typeface="Calibri" pitchFamily="34" charset="-120"/>
              </a:rPr>
              <a:t>Why it mattered.  </a:t>
            </a:r>
            <a:pPr indent="0" marL="0">
              <a:lnSpc>
                <a:spcPts val="1900"/>
              </a:lnSpc>
              <a:buNone/>
            </a:pPr>
            <a:r>
              <a:rPr lang="en-US" sz="1300" dirty="0">
                <a:solidFill>
                  <a:srgbClr val="FFFFFF"/>
                </a:solidFill>
                <a:latin typeface="Calibri" pitchFamily="34" charset="0"/>
                <a:ea typeface="Calibri" pitchFamily="34" charset="-122"/>
                <a:cs typeface="Calibri" pitchFamily="34" charset="-120"/>
              </a:rPr>
              <a:t>The classes were not just descriptive — each had a different demographic and risk profile. The authors argued this supports data-driven screening in schools and child health services: identify the pattern early, rather than waiting for a single diagnosis to declare itself.</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EXAMPLES 2 AND 3</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Two more, briefly</a:t>
            </a:r>
            <a:endParaRPr lang="en-US" sz="2900" dirty="0"/>
          </a:p>
        </p:txBody>
      </p:sp>
      <p:sp>
        <p:nvSpPr>
          <p:cNvPr id="4" name="Shape 2"/>
          <p:cNvSpPr/>
          <p:nvPr/>
        </p:nvSpPr>
        <p:spPr>
          <a:xfrm>
            <a:off x="566928" y="1298448"/>
            <a:ext cx="5486400" cy="4754880"/>
          </a:xfrm>
          <a:prstGeom prst="roundRect">
            <a:avLst>
              <a:gd name="adj" fmla="val 1923"/>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5" name="Text 3"/>
          <p:cNvSpPr/>
          <p:nvPr/>
        </p:nvSpPr>
        <p:spPr>
          <a:xfrm>
            <a:off x="877824" y="1481328"/>
            <a:ext cx="4846320" cy="256032"/>
          </a:xfrm>
          <a:prstGeom prst="rect">
            <a:avLst/>
          </a:prstGeom>
          <a:noFill/>
          <a:ln/>
        </p:spPr>
        <p:txBody>
          <a:bodyPr wrap="square" lIns="0" tIns="0" rIns="0" bIns="0" rtlCol="0" anchor="ctr"/>
          <a:lstStyle/>
          <a:p>
            <a:pPr indent="0" marL="0">
              <a:buNone/>
            </a:pPr>
            <a:r>
              <a:rPr lang="en-US" sz="1050" b="1" spc="150" kern="0" dirty="0">
                <a:solidFill>
                  <a:srgbClr val="6F63C9"/>
                </a:solidFill>
                <a:latin typeface="Calibri" pitchFamily="34" charset="0"/>
                <a:ea typeface="Calibri" pitchFamily="34" charset="-122"/>
                <a:cs typeface="Calibri" pitchFamily="34" charset="-120"/>
              </a:rPr>
              <a:t>EXAMPLE 2 · SUBSTANCE USE</a:t>
            </a:r>
            <a:endParaRPr lang="en-US" sz="1050" dirty="0"/>
          </a:p>
        </p:txBody>
      </p:sp>
      <p:sp>
        <p:nvSpPr>
          <p:cNvPr id="6" name="Text 4"/>
          <p:cNvSpPr/>
          <p:nvPr/>
        </p:nvSpPr>
        <p:spPr>
          <a:xfrm>
            <a:off x="877824" y="1755648"/>
            <a:ext cx="4846320" cy="731520"/>
          </a:xfrm>
          <a:prstGeom prst="rect">
            <a:avLst/>
          </a:prstGeom>
          <a:noFill/>
          <a:ln/>
        </p:spPr>
        <p:txBody>
          <a:bodyPr wrap="square" lIns="0" tIns="0" rIns="0" bIns="0" rtlCol="0" anchor="t"/>
          <a:lstStyle/>
          <a:p>
            <a:pPr indent="0" marL="0">
              <a:lnSpc>
                <a:spcPts val="2400"/>
              </a:lnSpc>
              <a:buNone/>
            </a:pPr>
            <a:r>
              <a:rPr lang="en-US" sz="1900" b="1" dirty="0">
                <a:solidFill>
                  <a:srgbClr val="1A1633"/>
                </a:solidFill>
                <a:latin typeface="Cambria" pitchFamily="34" charset="0"/>
                <a:ea typeface="Cambria" pitchFamily="34" charset="-122"/>
                <a:cs typeface="Cambria" pitchFamily="34" charset="-120"/>
              </a:rPr>
              <a:t>Patterns of drug use and addiction</a:t>
            </a:r>
            <a:endParaRPr lang="en-US" sz="1900" dirty="0"/>
          </a:p>
        </p:txBody>
      </p:sp>
      <p:sp>
        <p:nvSpPr>
          <p:cNvPr id="7" name="Text 5"/>
          <p:cNvSpPr/>
          <p:nvPr/>
        </p:nvSpPr>
        <p:spPr>
          <a:xfrm>
            <a:off x="877824" y="2560320"/>
            <a:ext cx="4846320" cy="1371600"/>
          </a:xfrm>
          <a:prstGeom prst="rect">
            <a:avLst/>
          </a:prstGeom>
          <a:noFill/>
          <a:ln/>
        </p:spPr>
        <p:txBody>
          <a:bodyPr wrap="square" lIns="0" tIns="0" rIns="0" bIns="0" rtlCol="0" anchor="t"/>
          <a:lstStyle/>
          <a:p>
            <a:pPr marL="203200" indent="-203200">
              <a:lnSpc>
                <a:spcPts val="2000"/>
              </a:lnSpc>
              <a:spcAft>
                <a:spcPts val="500"/>
              </a:spcAft>
              <a:buSzPct val="100000"/>
              <a:buChar char="•"/>
            </a:pPr>
            <a:r>
              <a:rPr lang="en-US" sz="1200" dirty="0">
                <a:solidFill>
                  <a:srgbClr val="6B6785"/>
                </a:solidFill>
                <a:latin typeface="Calibri" pitchFamily="34" charset="0"/>
                <a:ea typeface="Calibri" pitchFamily="34" charset="-122"/>
                <a:cs typeface="Calibri" pitchFamily="34" charset="-120"/>
              </a:rPr>
              <a:t>≈40,000 adults, National Epidemiologic Survey on Alcohol and Related Conditions</a:t>
            </a:r>
            <a:endParaRPr lang="en-US" sz="1200" dirty="0"/>
          </a:p>
          <a:p>
            <a:pPr marL="203200" indent="-203200">
              <a:lnSpc>
                <a:spcPts val="2000"/>
              </a:lnSpc>
              <a:spcAft>
                <a:spcPts val="500"/>
              </a:spcAft>
              <a:buSzPct val="100000"/>
              <a:buChar char="•"/>
            </a:pPr>
            <a:r>
              <a:rPr lang="en-US" sz="1200" dirty="0">
                <a:solidFill>
                  <a:srgbClr val="6B6785"/>
                </a:solidFill>
                <a:latin typeface="Calibri" pitchFamily="34" charset="0"/>
                <a:ea typeface="Calibri" pitchFamily="34" charset="-122"/>
                <a:cs typeface="Calibri" pitchFamily="34" charset="-120"/>
              </a:rPr>
              <a:t>Indicators: self-reported use across drug categories</a:t>
            </a:r>
            <a:endParaRPr lang="en-US" sz="1200" dirty="0"/>
          </a:p>
          <a:p>
            <a:pPr marL="203200" indent="-203200">
              <a:lnSpc>
                <a:spcPts val="2000"/>
              </a:lnSpc>
              <a:spcAft>
                <a:spcPts val="500"/>
              </a:spcAft>
              <a:buSzPct val="100000"/>
              <a:buChar char="•"/>
            </a:pPr>
            <a:r>
              <a:rPr lang="en-US" sz="1200" dirty="0">
                <a:solidFill>
                  <a:srgbClr val="6B6785"/>
                </a:solidFill>
                <a:latin typeface="Calibri" pitchFamily="34" charset="0"/>
                <a:ea typeface="Calibri" pitchFamily="34" charset="-122"/>
                <a:cs typeface="Calibri" pitchFamily="34" charset="-120"/>
              </a:rPr>
              <a:t>Solution: 5 classes</a:t>
            </a:r>
            <a:endParaRPr lang="en-US" sz="1200" dirty="0"/>
          </a:p>
        </p:txBody>
      </p:sp>
      <p:sp>
        <p:nvSpPr>
          <p:cNvPr id="8" name="Text 6"/>
          <p:cNvSpPr/>
          <p:nvPr/>
        </p:nvSpPr>
        <p:spPr>
          <a:xfrm>
            <a:off x="877824" y="3950208"/>
            <a:ext cx="4846320" cy="603504"/>
          </a:xfrm>
          <a:prstGeom prst="rect">
            <a:avLst/>
          </a:prstGeom>
          <a:noFill/>
          <a:ln/>
        </p:spPr>
        <p:txBody>
          <a:bodyPr wrap="square" lIns="0" tIns="0" rIns="0" bIns="0" rtlCol="0" anchor="t"/>
          <a:lstStyle/>
          <a:p>
            <a:pPr indent="0" marL="0">
              <a:lnSpc>
                <a:spcPts val="1600"/>
              </a:lnSpc>
              <a:buNone/>
            </a:pPr>
            <a:r>
              <a:rPr lang="en-US" sz="1200" dirty="0">
                <a:solidFill>
                  <a:srgbClr val="1A1633"/>
                </a:solidFill>
                <a:latin typeface="Calibri" pitchFamily="34" charset="0"/>
                <a:ea typeface="Calibri" pitchFamily="34" charset="-122"/>
                <a:cs typeface="Calibri" pitchFamily="34" charset="-120"/>
              </a:rPr>
              <a:t>The five classes included poly-substance use, prescription-drug dependence, and a stimulant/hallucinogen class.</a:t>
            </a:r>
            <a:endParaRPr lang="en-US" sz="1200" dirty="0"/>
          </a:p>
        </p:txBody>
      </p:sp>
      <p:sp>
        <p:nvSpPr>
          <p:cNvPr id="9" name="Shape 7"/>
          <p:cNvSpPr/>
          <p:nvPr/>
        </p:nvSpPr>
        <p:spPr>
          <a:xfrm>
            <a:off x="877824" y="4626864"/>
            <a:ext cx="4864608" cy="1325880"/>
          </a:xfrm>
          <a:prstGeom prst="roundRect">
            <a:avLst>
              <a:gd name="adj" fmla="val 6897"/>
            </a:avLst>
          </a:prstGeom>
          <a:solidFill>
            <a:srgbClr val="F5F4FA"/>
          </a:solidFill>
          <a:ln w="12700">
            <a:solidFill>
              <a:srgbClr val="DBD8E8"/>
            </a:solidFill>
            <a:prstDash val="solid"/>
          </a:ln>
        </p:spPr>
      </p:sp>
      <p:sp>
        <p:nvSpPr>
          <p:cNvPr id="10" name="Text 8"/>
          <p:cNvSpPr/>
          <p:nvPr/>
        </p:nvSpPr>
        <p:spPr>
          <a:xfrm>
            <a:off x="1097280" y="4754880"/>
            <a:ext cx="4480560" cy="237744"/>
          </a:xfrm>
          <a:prstGeom prst="rect">
            <a:avLst/>
          </a:prstGeom>
          <a:noFill/>
          <a:ln/>
        </p:spPr>
        <p:txBody>
          <a:bodyPr wrap="square" lIns="0" tIns="0" rIns="0" bIns="0" rtlCol="0" anchor="ctr"/>
          <a:lstStyle/>
          <a:p>
            <a:pPr indent="0" marL="0">
              <a:buNone/>
            </a:pPr>
            <a:r>
              <a:rPr lang="en-US" sz="1050" b="1" spc="100" kern="0" dirty="0">
                <a:solidFill>
                  <a:srgbClr val="6F63C9"/>
                </a:solidFill>
                <a:latin typeface="Calibri" pitchFamily="34" charset="0"/>
                <a:ea typeface="Calibri" pitchFamily="34" charset="-122"/>
                <a:cs typeface="Calibri" pitchFamily="34" charset="-120"/>
              </a:rPr>
              <a:t>Takeaway</a:t>
            </a:r>
            <a:endParaRPr lang="en-US" sz="1050" dirty="0"/>
          </a:p>
        </p:txBody>
      </p:sp>
      <p:sp>
        <p:nvSpPr>
          <p:cNvPr id="11" name="Text 9"/>
          <p:cNvSpPr/>
          <p:nvPr/>
        </p:nvSpPr>
        <p:spPr>
          <a:xfrm>
            <a:off x="1097280" y="5010912"/>
            <a:ext cx="4480560" cy="86868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Each class carried a distinct mental health burden and a distinct socio-demographic profile — so “substance misuse” as a single category was hiding five different service needs.</a:t>
            </a:r>
            <a:endParaRPr lang="en-US" sz="1150" dirty="0"/>
          </a:p>
        </p:txBody>
      </p:sp>
      <p:sp>
        <p:nvSpPr>
          <p:cNvPr id="12" name="Shape 10"/>
          <p:cNvSpPr/>
          <p:nvPr/>
        </p:nvSpPr>
        <p:spPr>
          <a:xfrm>
            <a:off x="6382512" y="1298448"/>
            <a:ext cx="5239512" cy="4754880"/>
          </a:xfrm>
          <a:prstGeom prst="roundRect">
            <a:avLst>
              <a:gd name="adj" fmla="val 1923"/>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3" name="Text 11"/>
          <p:cNvSpPr/>
          <p:nvPr/>
        </p:nvSpPr>
        <p:spPr>
          <a:xfrm>
            <a:off x="6693408" y="1481328"/>
            <a:ext cx="4663440" cy="256032"/>
          </a:xfrm>
          <a:prstGeom prst="rect">
            <a:avLst/>
          </a:prstGeom>
          <a:noFill/>
          <a:ln/>
        </p:spPr>
        <p:txBody>
          <a:bodyPr wrap="square" lIns="0" tIns="0" rIns="0" bIns="0" rtlCol="0" anchor="ctr"/>
          <a:lstStyle/>
          <a:p>
            <a:pPr indent="0" marL="0">
              <a:buNone/>
            </a:pPr>
            <a:r>
              <a:rPr lang="en-US" sz="1050" b="1" spc="150" kern="0" dirty="0">
                <a:solidFill>
                  <a:srgbClr val="E09B21"/>
                </a:solidFill>
                <a:latin typeface="Calibri" pitchFamily="34" charset="0"/>
                <a:ea typeface="Calibri" pitchFamily="34" charset="-122"/>
                <a:cs typeface="Calibri" pitchFamily="34" charset="-120"/>
              </a:rPr>
              <a:t>EXAMPLE 3 · HEALTH BEHAVIOUR</a:t>
            </a:r>
            <a:endParaRPr lang="en-US" sz="1050" dirty="0"/>
          </a:p>
        </p:txBody>
      </p:sp>
      <p:sp>
        <p:nvSpPr>
          <p:cNvPr id="14" name="Text 12"/>
          <p:cNvSpPr/>
          <p:nvPr/>
        </p:nvSpPr>
        <p:spPr>
          <a:xfrm>
            <a:off x="6693408" y="1755648"/>
            <a:ext cx="4663440" cy="731520"/>
          </a:xfrm>
          <a:prstGeom prst="rect">
            <a:avLst/>
          </a:prstGeom>
          <a:noFill/>
          <a:ln/>
        </p:spPr>
        <p:txBody>
          <a:bodyPr wrap="square" lIns="0" tIns="0" rIns="0" bIns="0" rtlCol="0" anchor="t"/>
          <a:lstStyle/>
          <a:p>
            <a:pPr indent="0" marL="0">
              <a:lnSpc>
                <a:spcPts val="2400"/>
              </a:lnSpc>
              <a:buNone/>
            </a:pPr>
            <a:r>
              <a:rPr lang="en-US" sz="1900" b="1" dirty="0">
                <a:solidFill>
                  <a:srgbClr val="1A1633"/>
                </a:solidFill>
                <a:latin typeface="Cambria" pitchFamily="34" charset="0"/>
                <a:ea typeface="Cambria" pitchFamily="34" charset="-122"/>
                <a:cs typeface="Cambria" pitchFamily="34" charset="-120"/>
              </a:rPr>
              <a:t>Lifestyle patterns in undergraduates</a:t>
            </a:r>
            <a:endParaRPr lang="en-US" sz="1900" dirty="0"/>
          </a:p>
        </p:txBody>
      </p:sp>
      <p:sp>
        <p:nvSpPr>
          <p:cNvPr id="15" name="Text 13"/>
          <p:cNvSpPr/>
          <p:nvPr/>
        </p:nvSpPr>
        <p:spPr>
          <a:xfrm>
            <a:off x="6693408" y="2560320"/>
            <a:ext cx="4663440" cy="1371600"/>
          </a:xfrm>
          <a:prstGeom prst="rect">
            <a:avLst/>
          </a:prstGeom>
          <a:noFill/>
          <a:ln/>
        </p:spPr>
        <p:txBody>
          <a:bodyPr wrap="square" lIns="0" tIns="0" rIns="0" bIns="0" rtlCol="0" anchor="t"/>
          <a:lstStyle/>
          <a:p>
            <a:pPr marL="203200" indent="-203200">
              <a:lnSpc>
                <a:spcPts val="2000"/>
              </a:lnSpc>
              <a:spcAft>
                <a:spcPts val="500"/>
              </a:spcAft>
              <a:buSzPct val="100000"/>
              <a:buChar char="•"/>
            </a:pPr>
            <a:r>
              <a:rPr lang="en-US" sz="1200" dirty="0">
                <a:solidFill>
                  <a:srgbClr val="6B6785"/>
                </a:solidFill>
                <a:latin typeface="Calibri" pitchFamily="34" charset="0"/>
                <a:ea typeface="Calibri" pitchFamily="34" charset="-122"/>
                <a:cs typeface="Calibri" pitchFamily="34" charset="-120"/>
              </a:rPr>
              <a:t>≈2,000 students at one large US university</a:t>
            </a:r>
            <a:endParaRPr lang="en-US" sz="1200" dirty="0"/>
          </a:p>
          <a:p>
            <a:pPr marL="203200" indent="-203200">
              <a:lnSpc>
                <a:spcPts val="2000"/>
              </a:lnSpc>
              <a:spcAft>
                <a:spcPts val="500"/>
              </a:spcAft>
              <a:buSzPct val="100000"/>
              <a:buChar char="•"/>
            </a:pPr>
            <a:r>
              <a:rPr lang="en-US" sz="1200" dirty="0">
                <a:solidFill>
                  <a:srgbClr val="6B6785"/>
                </a:solidFill>
                <a:latin typeface="Calibri" pitchFamily="34" charset="0"/>
                <a:ea typeface="Calibri" pitchFamily="34" charset="-122"/>
                <a:cs typeface="Calibri" pitchFamily="34" charset="-120"/>
              </a:rPr>
              <a:t>Indicators: sleep, stress, drinking, weight, risk-taking</a:t>
            </a:r>
            <a:endParaRPr lang="en-US" sz="1200" dirty="0"/>
          </a:p>
          <a:p>
            <a:pPr marL="203200" indent="-203200">
              <a:lnSpc>
                <a:spcPts val="2000"/>
              </a:lnSpc>
              <a:spcAft>
                <a:spcPts val="500"/>
              </a:spcAft>
              <a:buSzPct val="100000"/>
              <a:buChar char="•"/>
            </a:pPr>
            <a:r>
              <a:rPr lang="en-US" sz="1200" dirty="0">
                <a:solidFill>
                  <a:srgbClr val="6B6785"/>
                </a:solidFill>
                <a:latin typeface="Calibri" pitchFamily="34" charset="0"/>
                <a:ea typeface="Calibri" pitchFamily="34" charset="-122"/>
                <a:cs typeface="Calibri" pitchFamily="34" charset="-120"/>
              </a:rPr>
              <a:t>Solution: 8 classes — four male, four female</a:t>
            </a:r>
            <a:endParaRPr lang="en-US" sz="1200" dirty="0"/>
          </a:p>
        </p:txBody>
      </p:sp>
      <p:sp>
        <p:nvSpPr>
          <p:cNvPr id="16" name="Text 14"/>
          <p:cNvSpPr/>
          <p:nvPr/>
        </p:nvSpPr>
        <p:spPr>
          <a:xfrm>
            <a:off x="6693408" y="3950208"/>
            <a:ext cx="4663440" cy="603504"/>
          </a:xfrm>
          <a:prstGeom prst="rect">
            <a:avLst/>
          </a:prstGeom>
          <a:noFill/>
          <a:ln/>
        </p:spPr>
        <p:txBody>
          <a:bodyPr wrap="square" lIns="0" tIns="0" rIns="0" bIns="0" rtlCol="0" anchor="t"/>
          <a:lstStyle/>
          <a:p>
            <a:pPr indent="0" marL="0">
              <a:lnSpc>
                <a:spcPts val="1600"/>
              </a:lnSpc>
              <a:buNone/>
            </a:pPr>
            <a:r>
              <a:rPr lang="en-US" sz="1200" dirty="0">
                <a:solidFill>
                  <a:srgbClr val="1A1633"/>
                </a:solidFill>
                <a:latin typeface="Calibri" pitchFamily="34" charset="0"/>
                <a:ea typeface="Calibri" pitchFamily="34" charset="-122"/>
                <a:cs typeface="Calibri" pitchFamily="34" charset="-120"/>
              </a:rPr>
              <a:t>Male classes clustered around riskier behaviour; female classes around more moderate patterns. Risks came bundled, not one at a time.</a:t>
            </a:r>
            <a:endParaRPr lang="en-US" sz="1200" dirty="0"/>
          </a:p>
        </p:txBody>
      </p:sp>
      <p:sp>
        <p:nvSpPr>
          <p:cNvPr id="17" name="Shape 15"/>
          <p:cNvSpPr/>
          <p:nvPr/>
        </p:nvSpPr>
        <p:spPr>
          <a:xfrm>
            <a:off x="6693408" y="4626864"/>
            <a:ext cx="4636008" cy="1325880"/>
          </a:xfrm>
          <a:prstGeom prst="roundRect">
            <a:avLst>
              <a:gd name="adj" fmla="val 6897"/>
            </a:avLst>
          </a:prstGeom>
          <a:solidFill>
            <a:srgbClr val="FAF3F1"/>
          </a:solidFill>
          <a:ln w="12700">
            <a:solidFill>
              <a:srgbClr val="EBD5CD"/>
            </a:solidFill>
            <a:prstDash val="solid"/>
          </a:ln>
        </p:spPr>
      </p:sp>
      <p:sp>
        <p:nvSpPr>
          <p:cNvPr id="18" name="Text 16"/>
          <p:cNvSpPr/>
          <p:nvPr/>
        </p:nvSpPr>
        <p:spPr>
          <a:xfrm>
            <a:off x="6912864" y="4754880"/>
            <a:ext cx="4251960" cy="237744"/>
          </a:xfrm>
          <a:prstGeom prst="rect">
            <a:avLst/>
          </a:prstGeom>
          <a:noFill/>
          <a:ln/>
        </p:spPr>
        <p:txBody>
          <a:bodyPr wrap="square" lIns="0" tIns="0" rIns="0" bIns="0" rtlCol="0" anchor="ctr"/>
          <a:lstStyle/>
          <a:p>
            <a:pPr indent="0" marL="0">
              <a:buNone/>
            </a:pPr>
            <a:r>
              <a:rPr lang="en-US" sz="1050" b="1" spc="100" kern="0" dirty="0">
                <a:solidFill>
                  <a:srgbClr val="D9553C"/>
                </a:solidFill>
                <a:latin typeface="Calibri" pitchFamily="34" charset="0"/>
                <a:ea typeface="Calibri" pitchFamily="34" charset="-122"/>
                <a:cs typeface="Calibri" pitchFamily="34" charset="-120"/>
              </a:rPr>
              <a:t>Read it critically</a:t>
            </a:r>
            <a:endParaRPr lang="en-US" sz="1050" dirty="0"/>
          </a:p>
        </p:txBody>
      </p:sp>
      <p:sp>
        <p:nvSpPr>
          <p:cNvPr id="19" name="Text 17"/>
          <p:cNvSpPr/>
          <p:nvPr/>
        </p:nvSpPr>
        <p:spPr>
          <a:xfrm>
            <a:off x="6912864" y="5010912"/>
            <a:ext cx="4251960" cy="86868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One campus, small n, eight classes, and a binary treatment of gender that has dated badly. A useful reminder that an LCA is only ever as good as its sample and its indicators.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A2356"/>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E09B21"/>
                </a:solidFill>
                <a:latin typeface="Calibri" pitchFamily="34" charset="0"/>
                <a:ea typeface="Calibri" pitchFamily="34" charset="-122"/>
                <a:cs typeface="Calibri" pitchFamily="34" charset="-120"/>
              </a:rPr>
              <a:t>THE PATTERN</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What all three studies have in common</a:t>
            </a:r>
            <a:endParaRPr lang="en-US" sz="2900" dirty="0"/>
          </a:p>
        </p:txBody>
      </p:sp>
      <p:sp>
        <p:nvSpPr>
          <p:cNvPr id="4" name="Shape 2"/>
          <p:cNvSpPr/>
          <p:nvPr/>
        </p:nvSpPr>
        <p:spPr>
          <a:xfrm>
            <a:off x="566928" y="1481328"/>
            <a:ext cx="11055096" cy="1024128"/>
          </a:xfrm>
          <a:prstGeom prst="roundRect">
            <a:avLst>
              <a:gd name="adj" fmla="val 8929"/>
            </a:avLst>
          </a:prstGeom>
          <a:solidFill>
            <a:srgbClr val="393177"/>
          </a:solidFill>
          <a:ln w="9525">
            <a:solidFill>
              <a:srgbClr val="393177"/>
            </a:solidFill>
            <a:prstDash val="solid"/>
          </a:ln>
        </p:spPr>
      </p:sp>
      <p:sp>
        <p:nvSpPr>
          <p:cNvPr id="5" name="Shape 3"/>
          <p:cNvSpPr/>
          <p:nvPr/>
        </p:nvSpPr>
        <p:spPr>
          <a:xfrm>
            <a:off x="859536" y="1847088"/>
            <a:ext cx="292608" cy="292608"/>
          </a:xfrm>
          <a:prstGeom prst="ellipse">
            <a:avLst/>
          </a:prstGeom>
          <a:solidFill>
            <a:srgbClr val="E09B21"/>
          </a:solidFill>
          <a:ln w="12700">
            <a:solidFill>
              <a:srgbClr val="E09B21"/>
            </a:solidFill>
            <a:prstDash val="solid"/>
          </a:ln>
        </p:spPr>
      </p:sp>
      <p:sp>
        <p:nvSpPr>
          <p:cNvPr id="6" name="Text 4"/>
          <p:cNvSpPr/>
          <p:nvPr/>
        </p:nvSpPr>
        <p:spPr>
          <a:xfrm>
            <a:off x="1353312" y="1645920"/>
            <a:ext cx="100584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They started from a construct, not a dataset</a:t>
            </a:r>
            <a:endParaRPr lang="en-US" sz="1500" dirty="0"/>
          </a:p>
        </p:txBody>
      </p:sp>
      <p:sp>
        <p:nvSpPr>
          <p:cNvPr id="7" name="Text 5"/>
          <p:cNvSpPr/>
          <p:nvPr/>
        </p:nvSpPr>
        <p:spPr>
          <a:xfrm>
            <a:off x="1353312" y="1993392"/>
            <a:ext cx="10058400" cy="402336"/>
          </a:xfrm>
          <a:prstGeom prst="rect">
            <a:avLst/>
          </a:prstGeom>
          <a:noFill/>
          <a:ln/>
        </p:spPr>
        <p:txBody>
          <a:bodyPr wrap="square" lIns="0" tIns="0" rIns="0" bIns="0" rtlCol="0" anchor="t"/>
          <a:lstStyle/>
          <a:p>
            <a:pPr indent="0" marL="0">
              <a:buNone/>
            </a:pPr>
            <a:r>
              <a:rPr lang="en-US" sz="1250" dirty="0">
                <a:solidFill>
                  <a:srgbClr val="C4BFE0"/>
                </a:solidFill>
                <a:latin typeface="Calibri" pitchFamily="34" charset="0"/>
                <a:ea typeface="Calibri" pitchFamily="34" charset="-122"/>
                <a:cs typeface="Calibri" pitchFamily="34" charset="-120"/>
              </a:rPr>
              <a:t>Comorbidity. Addiction. Lifestyle. In each case the authors knew what they were looking for before they ran anything.</a:t>
            </a:r>
            <a:endParaRPr lang="en-US" sz="1250" dirty="0"/>
          </a:p>
        </p:txBody>
      </p:sp>
      <p:sp>
        <p:nvSpPr>
          <p:cNvPr id="8" name="Shape 6"/>
          <p:cNvSpPr/>
          <p:nvPr/>
        </p:nvSpPr>
        <p:spPr>
          <a:xfrm>
            <a:off x="566928" y="2651760"/>
            <a:ext cx="11055096" cy="1024128"/>
          </a:xfrm>
          <a:prstGeom prst="roundRect">
            <a:avLst>
              <a:gd name="adj" fmla="val 8929"/>
            </a:avLst>
          </a:prstGeom>
          <a:solidFill>
            <a:srgbClr val="393177"/>
          </a:solidFill>
          <a:ln w="9525">
            <a:solidFill>
              <a:srgbClr val="393177"/>
            </a:solidFill>
            <a:prstDash val="solid"/>
          </a:ln>
        </p:spPr>
      </p:sp>
      <p:sp>
        <p:nvSpPr>
          <p:cNvPr id="9" name="Shape 7"/>
          <p:cNvSpPr/>
          <p:nvPr/>
        </p:nvSpPr>
        <p:spPr>
          <a:xfrm>
            <a:off x="859536" y="3017520"/>
            <a:ext cx="292608" cy="292608"/>
          </a:xfrm>
          <a:prstGeom prst="ellipse">
            <a:avLst/>
          </a:prstGeom>
          <a:solidFill>
            <a:srgbClr val="1F8F82"/>
          </a:solidFill>
          <a:ln w="12700">
            <a:solidFill>
              <a:srgbClr val="1F8F82"/>
            </a:solidFill>
            <a:prstDash val="solid"/>
          </a:ln>
        </p:spPr>
      </p:sp>
      <p:sp>
        <p:nvSpPr>
          <p:cNvPr id="10" name="Text 8"/>
          <p:cNvSpPr/>
          <p:nvPr/>
        </p:nvSpPr>
        <p:spPr>
          <a:xfrm>
            <a:off x="1353312" y="2816352"/>
            <a:ext cx="100584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They found bundles, not single risks</a:t>
            </a:r>
            <a:endParaRPr lang="en-US" sz="1500" dirty="0"/>
          </a:p>
        </p:txBody>
      </p:sp>
      <p:sp>
        <p:nvSpPr>
          <p:cNvPr id="11" name="Text 9"/>
          <p:cNvSpPr/>
          <p:nvPr/>
        </p:nvSpPr>
        <p:spPr>
          <a:xfrm>
            <a:off x="1353312" y="3163824"/>
            <a:ext cx="10058400" cy="402336"/>
          </a:xfrm>
          <a:prstGeom prst="rect">
            <a:avLst/>
          </a:prstGeom>
          <a:noFill/>
          <a:ln/>
        </p:spPr>
        <p:txBody>
          <a:bodyPr wrap="square" lIns="0" tIns="0" rIns="0" bIns="0" rtlCol="0" anchor="t"/>
          <a:lstStyle/>
          <a:p>
            <a:pPr indent="0" marL="0">
              <a:buNone/>
            </a:pPr>
            <a:r>
              <a:rPr lang="en-US" sz="1250" dirty="0">
                <a:solidFill>
                  <a:srgbClr val="C4BFE0"/>
                </a:solidFill>
                <a:latin typeface="Calibri" pitchFamily="34" charset="0"/>
                <a:ea typeface="Calibri" pitchFamily="34" charset="-122"/>
                <a:cs typeface="Calibri" pitchFamily="34" charset="-120"/>
              </a:rPr>
              <a:t>Problems arrive together. That is precisely what a one-variable-at-a-time analysis cannot show you.</a:t>
            </a:r>
            <a:endParaRPr lang="en-US" sz="1250" dirty="0"/>
          </a:p>
        </p:txBody>
      </p:sp>
      <p:sp>
        <p:nvSpPr>
          <p:cNvPr id="12" name="Shape 10"/>
          <p:cNvSpPr/>
          <p:nvPr/>
        </p:nvSpPr>
        <p:spPr>
          <a:xfrm>
            <a:off x="566928" y="3822192"/>
            <a:ext cx="11055096" cy="1024128"/>
          </a:xfrm>
          <a:prstGeom prst="roundRect">
            <a:avLst>
              <a:gd name="adj" fmla="val 8929"/>
            </a:avLst>
          </a:prstGeom>
          <a:solidFill>
            <a:srgbClr val="393177"/>
          </a:solidFill>
          <a:ln w="9525">
            <a:solidFill>
              <a:srgbClr val="393177"/>
            </a:solidFill>
            <a:prstDash val="solid"/>
          </a:ln>
        </p:spPr>
      </p:sp>
      <p:sp>
        <p:nvSpPr>
          <p:cNvPr id="13" name="Shape 11"/>
          <p:cNvSpPr/>
          <p:nvPr/>
        </p:nvSpPr>
        <p:spPr>
          <a:xfrm>
            <a:off x="859536" y="4187952"/>
            <a:ext cx="292608" cy="292608"/>
          </a:xfrm>
          <a:prstGeom prst="ellipse">
            <a:avLst/>
          </a:prstGeom>
          <a:solidFill>
            <a:srgbClr val="D9553C"/>
          </a:solidFill>
          <a:ln w="12700">
            <a:solidFill>
              <a:srgbClr val="D9553C"/>
            </a:solidFill>
            <a:prstDash val="solid"/>
          </a:ln>
        </p:spPr>
      </p:sp>
      <p:sp>
        <p:nvSpPr>
          <p:cNvPr id="14" name="Text 12"/>
          <p:cNvSpPr/>
          <p:nvPr/>
        </p:nvSpPr>
        <p:spPr>
          <a:xfrm>
            <a:off x="1353312" y="3986784"/>
            <a:ext cx="100584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They linked classes to who people are</a:t>
            </a:r>
            <a:endParaRPr lang="en-US" sz="1500" dirty="0"/>
          </a:p>
        </p:txBody>
      </p:sp>
      <p:sp>
        <p:nvSpPr>
          <p:cNvPr id="15" name="Text 13"/>
          <p:cNvSpPr/>
          <p:nvPr/>
        </p:nvSpPr>
        <p:spPr>
          <a:xfrm>
            <a:off x="1353312" y="4334256"/>
            <a:ext cx="10058400" cy="402336"/>
          </a:xfrm>
          <a:prstGeom prst="rect">
            <a:avLst/>
          </a:prstGeom>
          <a:noFill/>
          <a:ln/>
        </p:spPr>
        <p:txBody>
          <a:bodyPr wrap="square" lIns="0" tIns="0" rIns="0" bIns="0" rtlCol="0" anchor="t"/>
          <a:lstStyle/>
          <a:p>
            <a:pPr indent="0" marL="0">
              <a:buNone/>
            </a:pPr>
            <a:r>
              <a:rPr lang="en-US" sz="1250" dirty="0">
                <a:solidFill>
                  <a:srgbClr val="C4BFE0"/>
                </a:solidFill>
                <a:latin typeface="Calibri" pitchFamily="34" charset="0"/>
                <a:ea typeface="Calibri" pitchFamily="34" charset="-122"/>
                <a:cs typeface="Calibri" pitchFamily="34" charset="-120"/>
              </a:rPr>
              <a:t>Class membership was related to sex, education, urbanicity, disadvantage — turning a description into an inequalities finding.</a:t>
            </a:r>
            <a:endParaRPr lang="en-US" sz="1250" dirty="0"/>
          </a:p>
        </p:txBody>
      </p:sp>
      <p:sp>
        <p:nvSpPr>
          <p:cNvPr id="16" name="Shape 14"/>
          <p:cNvSpPr/>
          <p:nvPr/>
        </p:nvSpPr>
        <p:spPr>
          <a:xfrm>
            <a:off x="566928" y="4992624"/>
            <a:ext cx="11055096" cy="1024128"/>
          </a:xfrm>
          <a:prstGeom prst="roundRect">
            <a:avLst>
              <a:gd name="adj" fmla="val 8929"/>
            </a:avLst>
          </a:prstGeom>
          <a:solidFill>
            <a:srgbClr val="393177"/>
          </a:solidFill>
          <a:ln w="9525">
            <a:solidFill>
              <a:srgbClr val="393177"/>
            </a:solidFill>
            <a:prstDash val="solid"/>
          </a:ln>
        </p:spPr>
      </p:sp>
      <p:sp>
        <p:nvSpPr>
          <p:cNvPr id="17" name="Shape 15"/>
          <p:cNvSpPr/>
          <p:nvPr/>
        </p:nvSpPr>
        <p:spPr>
          <a:xfrm>
            <a:off x="859536" y="5358384"/>
            <a:ext cx="292608" cy="292608"/>
          </a:xfrm>
          <a:prstGeom prst="ellipse">
            <a:avLst/>
          </a:prstGeom>
          <a:solidFill>
            <a:srgbClr val="6F63C9"/>
          </a:solidFill>
          <a:ln w="12700">
            <a:solidFill>
              <a:srgbClr val="6F63C9"/>
            </a:solidFill>
            <a:prstDash val="solid"/>
          </a:ln>
        </p:spPr>
      </p:sp>
      <p:sp>
        <p:nvSpPr>
          <p:cNvPr id="18" name="Text 16"/>
          <p:cNvSpPr/>
          <p:nvPr/>
        </p:nvSpPr>
        <p:spPr>
          <a:xfrm>
            <a:off x="1353312" y="5157216"/>
            <a:ext cx="100584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They ended at a service implication</a:t>
            </a:r>
            <a:endParaRPr lang="en-US" sz="1500" dirty="0"/>
          </a:p>
        </p:txBody>
      </p:sp>
      <p:sp>
        <p:nvSpPr>
          <p:cNvPr id="19" name="Text 17"/>
          <p:cNvSpPr/>
          <p:nvPr/>
        </p:nvSpPr>
        <p:spPr>
          <a:xfrm>
            <a:off x="1353312" y="5504688"/>
            <a:ext cx="10058400" cy="402336"/>
          </a:xfrm>
          <a:prstGeom prst="rect">
            <a:avLst/>
          </a:prstGeom>
          <a:noFill/>
          <a:ln/>
        </p:spPr>
        <p:txBody>
          <a:bodyPr wrap="square" lIns="0" tIns="0" rIns="0" bIns="0" rtlCol="0" anchor="t"/>
          <a:lstStyle/>
          <a:p>
            <a:pPr indent="0" marL="0">
              <a:buNone/>
            </a:pPr>
            <a:r>
              <a:rPr lang="en-US" sz="1250" dirty="0">
                <a:solidFill>
                  <a:srgbClr val="C4BFE0"/>
                </a:solidFill>
                <a:latin typeface="Calibri" pitchFamily="34" charset="0"/>
                <a:ea typeface="Calibri" pitchFamily="34" charset="-122"/>
                <a:cs typeface="Calibri" pitchFamily="34" charset="-120"/>
              </a:rPr>
              <a:t>Screening in schools; five different treatment needs; the failure of one-size-fits-all health promotion.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A2356"/>
        </a:solidFill>
      </p:bgPr>
    </p:bg>
    <p:spTree>
      <p:nvGrpSpPr>
        <p:cNvPr id="1" name=""/>
        <p:cNvGrpSpPr/>
        <p:nvPr/>
      </p:nvGrpSpPr>
      <p:grpSpPr>
        <a:xfrm>
          <a:off x="0" y="0"/>
          <a:ext cx="0" cy="0"/>
          <a:chOff x="0" y="0"/>
          <a:chExt cx="0" cy="0"/>
        </a:xfrm>
      </p:grpSpPr>
      <p:sp>
        <p:nvSpPr>
          <p:cNvPr id="2" name="Shape 0"/>
          <p:cNvSpPr/>
          <p:nvPr/>
        </p:nvSpPr>
        <p:spPr>
          <a:xfrm>
            <a:off x="8839186" y="2050188"/>
            <a:ext cx="117585" cy="117585"/>
          </a:xfrm>
          <a:prstGeom prst="ellipse">
            <a:avLst/>
          </a:prstGeom>
          <a:solidFill>
            <a:srgbClr val="D9553C">
              <a:alpha val="55000"/>
            </a:srgbClr>
          </a:solidFill>
          <a:ln w="12700">
            <a:solidFill>
              <a:srgbClr val="D9553C"/>
            </a:solidFill>
            <a:prstDash val="solid"/>
          </a:ln>
        </p:spPr>
      </p:sp>
      <p:sp>
        <p:nvSpPr>
          <p:cNvPr id="3" name="Shape 1"/>
          <p:cNvSpPr/>
          <p:nvPr/>
        </p:nvSpPr>
        <p:spPr>
          <a:xfrm>
            <a:off x="10372675" y="3514129"/>
            <a:ext cx="209779" cy="209779"/>
          </a:xfrm>
          <a:prstGeom prst="ellipse">
            <a:avLst/>
          </a:prstGeom>
          <a:solidFill>
            <a:srgbClr val="1F8F82">
              <a:alpha val="55000"/>
            </a:srgbClr>
          </a:solidFill>
          <a:ln w="12700">
            <a:solidFill>
              <a:srgbClr val="1F8F82"/>
            </a:solidFill>
            <a:prstDash val="solid"/>
          </a:ln>
        </p:spPr>
      </p:sp>
      <p:sp>
        <p:nvSpPr>
          <p:cNvPr id="4" name="Shape 2"/>
          <p:cNvSpPr/>
          <p:nvPr/>
        </p:nvSpPr>
        <p:spPr>
          <a:xfrm>
            <a:off x="9176044" y="5155180"/>
            <a:ext cx="190696" cy="190696"/>
          </a:xfrm>
          <a:prstGeom prst="ellipse">
            <a:avLst/>
          </a:prstGeom>
          <a:solidFill>
            <a:srgbClr val="E09B21">
              <a:alpha val="55000"/>
            </a:srgbClr>
          </a:solidFill>
          <a:ln w="12700">
            <a:solidFill>
              <a:srgbClr val="E09B21"/>
            </a:solidFill>
            <a:prstDash val="solid"/>
          </a:ln>
        </p:spPr>
      </p:sp>
      <p:sp>
        <p:nvSpPr>
          <p:cNvPr id="5" name="Shape 3"/>
          <p:cNvSpPr/>
          <p:nvPr/>
        </p:nvSpPr>
        <p:spPr>
          <a:xfrm>
            <a:off x="11533961" y="5493077"/>
            <a:ext cx="177163" cy="177163"/>
          </a:xfrm>
          <a:prstGeom prst="ellipse">
            <a:avLst/>
          </a:prstGeom>
          <a:solidFill>
            <a:srgbClr val="6F63C9">
              <a:alpha val="55000"/>
            </a:srgbClr>
          </a:solidFill>
          <a:ln w="12700">
            <a:solidFill>
              <a:srgbClr val="6F63C9"/>
            </a:solidFill>
            <a:prstDash val="solid"/>
          </a:ln>
        </p:spPr>
      </p:sp>
      <p:sp>
        <p:nvSpPr>
          <p:cNvPr id="6" name="Shape 4"/>
          <p:cNvSpPr/>
          <p:nvPr/>
        </p:nvSpPr>
        <p:spPr>
          <a:xfrm>
            <a:off x="10538431" y="6310825"/>
            <a:ext cx="151932" cy="151932"/>
          </a:xfrm>
          <a:prstGeom prst="ellipse">
            <a:avLst/>
          </a:prstGeom>
          <a:solidFill>
            <a:srgbClr val="B23A6B">
              <a:alpha val="55000"/>
            </a:srgbClr>
          </a:solidFill>
          <a:ln w="12700">
            <a:solidFill>
              <a:srgbClr val="B23A6B"/>
            </a:solidFill>
            <a:prstDash val="solid"/>
          </a:ln>
        </p:spPr>
      </p:sp>
      <p:sp>
        <p:nvSpPr>
          <p:cNvPr id="7" name="Shape 5"/>
          <p:cNvSpPr/>
          <p:nvPr/>
        </p:nvSpPr>
        <p:spPr>
          <a:xfrm>
            <a:off x="10865118" y="2320348"/>
            <a:ext cx="151012" cy="151012"/>
          </a:xfrm>
          <a:prstGeom prst="ellipse">
            <a:avLst/>
          </a:prstGeom>
          <a:solidFill>
            <a:srgbClr val="D9553C">
              <a:alpha val="55000"/>
            </a:srgbClr>
          </a:solidFill>
          <a:ln w="12700">
            <a:solidFill>
              <a:srgbClr val="D9553C"/>
            </a:solidFill>
            <a:prstDash val="solid"/>
          </a:ln>
        </p:spPr>
      </p:sp>
      <p:sp>
        <p:nvSpPr>
          <p:cNvPr id="8" name="Shape 6"/>
          <p:cNvSpPr/>
          <p:nvPr/>
        </p:nvSpPr>
        <p:spPr>
          <a:xfrm>
            <a:off x="11263004" y="5557944"/>
            <a:ext cx="131676" cy="131676"/>
          </a:xfrm>
          <a:prstGeom prst="ellipse">
            <a:avLst/>
          </a:prstGeom>
          <a:solidFill>
            <a:srgbClr val="1F8F82">
              <a:alpha val="55000"/>
            </a:srgbClr>
          </a:solidFill>
          <a:ln w="12700">
            <a:solidFill>
              <a:srgbClr val="1F8F82"/>
            </a:solidFill>
            <a:prstDash val="solid"/>
          </a:ln>
        </p:spPr>
      </p:sp>
      <p:sp>
        <p:nvSpPr>
          <p:cNvPr id="9" name="Shape 7"/>
          <p:cNvSpPr/>
          <p:nvPr/>
        </p:nvSpPr>
        <p:spPr>
          <a:xfrm>
            <a:off x="10206354" y="3262503"/>
            <a:ext cx="94468" cy="94468"/>
          </a:xfrm>
          <a:prstGeom prst="ellipse">
            <a:avLst/>
          </a:prstGeom>
          <a:solidFill>
            <a:srgbClr val="E09B21">
              <a:alpha val="55000"/>
            </a:srgbClr>
          </a:solidFill>
          <a:ln w="12700">
            <a:solidFill>
              <a:srgbClr val="E09B21"/>
            </a:solidFill>
            <a:prstDash val="solid"/>
          </a:ln>
        </p:spPr>
      </p:sp>
      <p:sp>
        <p:nvSpPr>
          <p:cNvPr id="10" name="Shape 8"/>
          <p:cNvSpPr/>
          <p:nvPr/>
        </p:nvSpPr>
        <p:spPr>
          <a:xfrm>
            <a:off x="11171616" y="5691517"/>
            <a:ext cx="140253" cy="140253"/>
          </a:xfrm>
          <a:prstGeom prst="ellipse">
            <a:avLst/>
          </a:prstGeom>
          <a:solidFill>
            <a:srgbClr val="6F63C9">
              <a:alpha val="55000"/>
            </a:srgbClr>
          </a:solidFill>
          <a:ln w="12700">
            <a:solidFill>
              <a:srgbClr val="6F63C9"/>
            </a:solidFill>
            <a:prstDash val="solid"/>
          </a:ln>
        </p:spPr>
      </p:sp>
      <p:sp>
        <p:nvSpPr>
          <p:cNvPr id="11" name="Shape 9"/>
          <p:cNvSpPr/>
          <p:nvPr/>
        </p:nvSpPr>
        <p:spPr>
          <a:xfrm>
            <a:off x="10104465" y="4610829"/>
            <a:ext cx="202656" cy="202656"/>
          </a:xfrm>
          <a:prstGeom prst="ellipse">
            <a:avLst/>
          </a:prstGeom>
          <a:solidFill>
            <a:srgbClr val="B23A6B">
              <a:alpha val="55000"/>
            </a:srgbClr>
          </a:solidFill>
          <a:ln w="12700">
            <a:solidFill>
              <a:srgbClr val="B23A6B"/>
            </a:solidFill>
            <a:prstDash val="solid"/>
          </a:ln>
        </p:spPr>
      </p:sp>
      <p:sp>
        <p:nvSpPr>
          <p:cNvPr id="12" name="Shape 10"/>
          <p:cNvSpPr/>
          <p:nvPr/>
        </p:nvSpPr>
        <p:spPr>
          <a:xfrm>
            <a:off x="8912988" y="6259612"/>
            <a:ext cx="137975" cy="137975"/>
          </a:xfrm>
          <a:prstGeom prst="ellipse">
            <a:avLst/>
          </a:prstGeom>
          <a:solidFill>
            <a:srgbClr val="D9553C">
              <a:alpha val="55000"/>
            </a:srgbClr>
          </a:solidFill>
          <a:ln w="12700">
            <a:solidFill>
              <a:srgbClr val="D9553C"/>
            </a:solidFill>
            <a:prstDash val="solid"/>
          </a:ln>
        </p:spPr>
      </p:sp>
      <p:sp>
        <p:nvSpPr>
          <p:cNvPr id="13" name="Shape 11"/>
          <p:cNvSpPr/>
          <p:nvPr/>
        </p:nvSpPr>
        <p:spPr>
          <a:xfrm>
            <a:off x="10962853" y="1194275"/>
            <a:ext cx="102343" cy="102343"/>
          </a:xfrm>
          <a:prstGeom prst="ellipse">
            <a:avLst/>
          </a:prstGeom>
          <a:solidFill>
            <a:srgbClr val="1F8F82">
              <a:alpha val="55000"/>
            </a:srgbClr>
          </a:solidFill>
          <a:ln w="12700">
            <a:solidFill>
              <a:srgbClr val="1F8F82"/>
            </a:solidFill>
            <a:prstDash val="solid"/>
          </a:ln>
        </p:spPr>
      </p:sp>
      <p:sp>
        <p:nvSpPr>
          <p:cNvPr id="14" name="Shape 12"/>
          <p:cNvSpPr/>
          <p:nvPr/>
        </p:nvSpPr>
        <p:spPr>
          <a:xfrm>
            <a:off x="10709416" y="4986696"/>
            <a:ext cx="104923" cy="104923"/>
          </a:xfrm>
          <a:prstGeom prst="ellipse">
            <a:avLst/>
          </a:prstGeom>
          <a:solidFill>
            <a:srgbClr val="E09B21">
              <a:alpha val="55000"/>
            </a:srgbClr>
          </a:solidFill>
          <a:ln w="12700">
            <a:solidFill>
              <a:srgbClr val="E09B21"/>
            </a:solidFill>
            <a:prstDash val="solid"/>
          </a:ln>
        </p:spPr>
      </p:sp>
      <p:sp>
        <p:nvSpPr>
          <p:cNvPr id="15" name="Shape 13"/>
          <p:cNvSpPr/>
          <p:nvPr/>
        </p:nvSpPr>
        <p:spPr>
          <a:xfrm>
            <a:off x="9345481" y="4047048"/>
            <a:ext cx="144913" cy="144913"/>
          </a:xfrm>
          <a:prstGeom prst="ellipse">
            <a:avLst/>
          </a:prstGeom>
          <a:solidFill>
            <a:srgbClr val="6F63C9">
              <a:alpha val="55000"/>
            </a:srgbClr>
          </a:solidFill>
          <a:ln w="12700">
            <a:solidFill>
              <a:srgbClr val="6F63C9"/>
            </a:solidFill>
            <a:prstDash val="solid"/>
          </a:ln>
        </p:spPr>
      </p:sp>
      <p:sp>
        <p:nvSpPr>
          <p:cNvPr id="16" name="Shape 14"/>
          <p:cNvSpPr/>
          <p:nvPr/>
        </p:nvSpPr>
        <p:spPr>
          <a:xfrm>
            <a:off x="8374730" y="5841905"/>
            <a:ext cx="110009" cy="110009"/>
          </a:xfrm>
          <a:prstGeom prst="ellipse">
            <a:avLst/>
          </a:prstGeom>
          <a:solidFill>
            <a:srgbClr val="B23A6B">
              <a:alpha val="55000"/>
            </a:srgbClr>
          </a:solidFill>
          <a:ln w="12700">
            <a:solidFill>
              <a:srgbClr val="B23A6B"/>
            </a:solidFill>
            <a:prstDash val="solid"/>
          </a:ln>
        </p:spPr>
      </p:sp>
      <p:sp>
        <p:nvSpPr>
          <p:cNvPr id="17" name="Shape 15"/>
          <p:cNvSpPr/>
          <p:nvPr/>
        </p:nvSpPr>
        <p:spPr>
          <a:xfrm>
            <a:off x="11322183" y="1493502"/>
            <a:ext cx="157809" cy="157809"/>
          </a:xfrm>
          <a:prstGeom prst="ellipse">
            <a:avLst/>
          </a:prstGeom>
          <a:solidFill>
            <a:srgbClr val="D9553C">
              <a:alpha val="55000"/>
            </a:srgbClr>
          </a:solidFill>
          <a:ln w="12700">
            <a:solidFill>
              <a:srgbClr val="D9553C"/>
            </a:solidFill>
            <a:prstDash val="solid"/>
          </a:ln>
        </p:spPr>
      </p:sp>
      <p:sp>
        <p:nvSpPr>
          <p:cNvPr id="18" name="Shape 16"/>
          <p:cNvSpPr/>
          <p:nvPr/>
        </p:nvSpPr>
        <p:spPr>
          <a:xfrm>
            <a:off x="8966242" y="6228364"/>
            <a:ext cx="157775" cy="157775"/>
          </a:xfrm>
          <a:prstGeom prst="ellipse">
            <a:avLst/>
          </a:prstGeom>
          <a:solidFill>
            <a:srgbClr val="1F8F82">
              <a:alpha val="55000"/>
            </a:srgbClr>
          </a:solidFill>
          <a:ln w="12700">
            <a:solidFill>
              <a:srgbClr val="1F8F82"/>
            </a:solidFill>
            <a:prstDash val="solid"/>
          </a:ln>
        </p:spPr>
      </p:sp>
      <p:sp>
        <p:nvSpPr>
          <p:cNvPr id="19" name="Shape 17"/>
          <p:cNvSpPr/>
          <p:nvPr/>
        </p:nvSpPr>
        <p:spPr>
          <a:xfrm>
            <a:off x="9379603" y="5131494"/>
            <a:ext cx="185771" cy="185771"/>
          </a:xfrm>
          <a:prstGeom prst="ellipse">
            <a:avLst/>
          </a:prstGeom>
          <a:solidFill>
            <a:srgbClr val="E09B21">
              <a:alpha val="55000"/>
            </a:srgbClr>
          </a:solidFill>
          <a:ln w="12700">
            <a:solidFill>
              <a:srgbClr val="E09B21"/>
            </a:solidFill>
            <a:prstDash val="solid"/>
          </a:ln>
        </p:spPr>
      </p:sp>
      <p:sp>
        <p:nvSpPr>
          <p:cNvPr id="20" name="Shape 18"/>
          <p:cNvSpPr/>
          <p:nvPr/>
        </p:nvSpPr>
        <p:spPr>
          <a:xfrm>
            <a:off x="10099932" y="5470575"/>
            <a:ext cx="98145" cy="98145"/>
          </a:xfrm>
          <a:prstGeom prst="ellipse">
            <a:avLst/>
          </a:prstGeom>
          <a:solidFill>
            <a:srgbClr val="6F63C9">
              <a:alpha val="55000"/>
            </a:srgbClr>
          </a:solidFill>
          <a:ln w="12700">
            <a:solidFill>
              <a:srgbClr val="6F63C9"/>
            </a:solidFill>
            <a:prstDash val="solid"/>
          </a:ln>
        </p:spPr>
      </p:sp>
      <p:sp>
        <p:nvSpPr>
          <p:cNvPr id="21" name="Shape 19"/>
          <p:cNvSpPr/>
          <p:nvPr/>
        </p:nvSpPr>
        <p:spPr>
          <a:xfrm>
            <a:off x="9119144" y="2298189"/>
            <a:ext cx="107254" cy="107254"/>
          </a:xfrm>
          <a:prstGeom prst="ellipse">
            <a:avLst/>
          </a:prstGeom>
          <a:solidFill>
            <a:srgbClr val="B23A6B">
              <a:alpha val="55000"/>
            </a:srgbClr>
          </a:solidFill>
          <a:ln w="12700">
            <a:solidFill>
              <a:srgbClr val="B23A6B"/>
            </a:solidFill>
            <a:prstDash val="solid"/>
          </a:ln>
        </p:spPr>
      </p:sp>
      <p:sp>
        <p:nvSpPr>
          <p:cNvPr id="22" name="Shape 20"/>
          <p:cNvSpPr/>
          <p:nvPr/>
        </p:nvSpPr>
        <p:spPr>
          <a:xfrm>
            <a:off x="8203368" y="4286659"/>
            <a:ext cx="121258" cy="121258"/>
          </a:xfrm>
          <a:prstGeom prst="ellipse">
            <a:avLst/>
          </a:prstGeom>
          <a:solidFill>
            <a:srgbClr val="D9553C">
              <a:alpha val="55000"/>
            </a:srgbClr>
          </a:solidFill>
          <a:ln w="12700">
            <a:solidFill>
              <a:srgbClr val="D9553C"/>
            </a:solidFill>
            <a:prstDash val="solid"/>
          </a:ln>
        </p:spPr>
      </p:sp>
      <p:sp>
        <p:nvSpPr>
          <p:cNvPr id="23" name="Shape 21"/>
          <p:cNvSpPr/>
          <p:nvPr/>
        </p:nvSpPr>
        <p:spPr>
          <a:xfrm>
            <a:off x="9268071" y="1791280"/>
            <a:ext cx="129525" cy="129525"/>
          </a:xfrm>
          <a:prstGeom prst="ellipse">
            <a:avLst/>
          </a:prstGeom>
          <a:solidFill>
            <a:srgbClr val="1F8F82">
              <a:alpha val="55000"/>
            </a:srgbClr>
          </a:solidFill>
          <a:ln w="12700">
            <a:solidFill>
              <a:srgbClr val="1F8F82"/>
            </a:solidFill>
            <a:prstDash val="solid"/>
          </a:ln>
        </p:spPr>
      </p:sp>
      <p:sp>
        <p:nvSpPr>
          <p:cNvPr id="24" name="Shape 22"/>
          <p:cNvSpPr/>
          <p:nvPr/>
        </p:nvSpPr>
        <p:spPr>
          <a:xfrm>
            <a:off x="8877218" y="989906"/>
            <a:ext cx="171538" cy="171538"/>
          </a:xfrm>
          <a:prstGeom prst="ellipse">
            <a:avLst/>
          </a:prstGeom>
          <a:solidFill>
            <a:srgbClr val="E09B21">
              <a:alpha val="55000"/>
            </a:srgbClr>
          </a:solidFill>
          <a:ln w="12700">
            <a:solidFill>
              <a:srgbClr val="E09B21"/>
            </a:solidFill>
            <a:prstDash val="solid"/>
          </a:ln>
        </p:spPr>
      </p:sp>
      <p:sp>
        <p:nvSpPr>
          <p:cNvPr id="25" name="Shape 23"/>
          <p:cNvSpPr/>
          <p:nvPr/>
        </p:nvSpPr>
        <p:spPr>
          <a:xfrm>
            <a:off x="11483061" y="1589259"/>
            <a:ext cx="166160" cy="166160"/>
          </a:xfrm>
          <a:prstGeom prst="ellipse">
            <a:avLst/>
          </a:prstGeom>
          <a:solidFill>
            <a:srgbClr val="6F63C9">
              <a:alpha val="55000"/>
            </a:srgbClr>
          </a:solidFill>
          <a:ln w="12700">
            <a:solidFill>
              <a:srgbClr val="6F63C9"/>
            </a:solidFill>
            <a:prstDash val="solid"/>
          </a:ln>
        </p:spPr>
      </p:sp>
      <p:sp>
        <p:nvSpPr>
          <p:cNvPr id="26" name="Shape 24"/>
          <p:cNvSpPr/>
          <p:nvPr/>
        </p:nvSpPr>
        <p:spPr>
          <a:xfrm>
            <a:off x="8219220" y="4756715"/>
            <a:ext cx="166327" cy="166327"/>
          </a:xfrm>
          <a:prstGeom prst="ellipse">
            <a:avLst/>
          </a:prstGeom>
          <a:solidFill>
            <a:srgbClr val="B23A6B">
              <a:alpha val="55000"/>
            </a:srgbClr>
          </a:solidFill>
          <a:ln w="12700">
            <a:solidFill>
              <a:srgbClr val="B23A6B"/>
            </a:solidFill>
            <a:prstDash val="solid"/>
          </a:ln>
        </p:spPr>
      </p:sp>
      <p:sp>
        <p:nvSpPr>
          <p:cNvPr id="27" name="Shape 25"/>
          <p:cNvSpPr/>
          <p:nvPr/>
        </p:nvSpPr>
        <p:spPr>
          <a:xfrm>
            <a:off x="11195589" y="5773067"/>
            <a:ext cx="103434" cy="103434"/>
          </a:xfrm>
          <a:prstGeom prst="ellipse">
            <a:avLst/>
          </a:prstGeom>
          <a:solidFill>
            <a:srgbClr val="D9553C">
              <a:alpha val="55000"/>
            </a:srgbClr>
          </a:solidFill>
          <a:ln w="12700">
            <a:solidFill>
              <a:srgbClr val="D9553C"/>
            </a:solidFill>
            <a:prstDash val="solid"/>
          </a:ln>
        </p:spPr>
      </p:sp>
      <p:sp>
        <p:nvSpPr>
          <p:cNvPr id="28" name="Shape 26"/>
          <p:cNvSpPr/>
          <p:nvPr/>
        </p:nvSpPr>
        <p:spPr>
          <a:xfrm>
            <a:off x="11156022" y="5286574"/>
            <a:ext cx="199247" cy="199247"/>
          </a:xfrm>
          <a:prstGeom prst="ellipse">
            <a:avLst/>
          </a:prstGeom>
          <a:solidFill>
            <a:srgbClr val="1F8F82">
              <a:alpha val="55000"/>
            </a:srgbClr>
          </a:solidFill>
          <a:ln w="12700">
            <a:solidFill>
              <a:srgbClr val="1F8F82"/>
            </a:solidFill>
            <a:prstDash val="solid"/>
          </a:ln>
        </p:spPr>
      </p:sp>
      <p:sp>
        <p:nvSpPr>
          <p:cNvPr id="29" name="Shape 27"/>
          <p:cNvSpPr/>
          <p:nvPr/>
        </p:nvSpPr>
        <p:spPr>
          <a:xfrm>
            <a:off x="10329993" y="3047910"/>
            <a:ext cx="158784" cy="158784"/>
          </a:xfrm>
          <a:prstGeom prst="ellipse">
            <a:avLst/>
          </a:prstGeom>
          <a:solidFill>
            <a:srgbClr val="E09B21">
              <a:alpha val="55000"/>
            </a:srgbClr>
          </a:solidFill>
          <a:ln w="12700">
            <a:solidFill>
              <a:srgbClr val="E09B21"/>
            </a:solidFill>
            <a:prstDash val="solid"/>
          </a:ln>
        </p:spPr>
      </p:sp>
      <p:sp>
        <p:nvSpPr>
          <p:cNvPr id="30" name="Shape 28"/>
          <p:cNvSpPr/>
          <p:nvPr/>
        </p:nvSpPr>
        <p:spPr>
          <a:xfrm>
            <a:off x="9998841" y="3102724"/>
            <a:ext cx="110972" cy="110972"/>
          </a:xfrm>
          <a:prstGeom prst="ellipse">
            <a:avLst/>
          </a:prstGeom>
          <a:solidFill>
            <a:srgbClr val="6F63C9">
              <a:alpha val="55000"/>
            </a:srgbClr>
          </a:solidFill>
          <a:ln w="12700">
            <a:solidFill>
              <a:srgbClr val="6F63C9"/>
            </a:solidFill>
            <a:prstDash val="solid"/>
          </a:ln>
        </p:spPr>
      </p:sp>
      <p:sp>
        <p:nvSpPr>
          <p:cNvPr id="31" name="Shape 29"/>
          <p:cNvSpPr/>
          <p:nvPr/>
        </p:nvSpPr>
        <p:spPr>
          <a:xfrm>
            <a:off x="11415970" y="4283603"/>
            <a:ext cx="95128" cy="95128"/>
          </a:xfrm>
          <a:prstGeom prst="ellipse">
            <a:avLst/>
          </a:prstGeom>
          <a:solidFill>
            <a:srgbClr val="B23A6B">
              <a:alpha val="55000"/>
            </a:srgbClr>
          </a:solidFill>
          <a:ln w="12700">
            <a:solidFill>
              <a:srgbClr val="B23A6B"/>
            </a:solidFill>
            <a:prstDash val="solid"/>
          </a:ln>
        </p:spPr>
      </p:sp>
      <p:sp>
        <p:nvSpPr>
          <p:cNvPr id="32" name="Shape 30"/>
          <p:cNvSpPr/>
          <p:nvPr/>
        </p:nvSpPr>
        <p:spPr>
          <a:xfrm>
            <a:off x="10978451" y="3345696"/>
            <a:ext cx="135487" cy="135487"/>
          </a:xfrm>
          <a:prstGeom prst="ellipse">
            <a:avLst/>
          </a:prstGeom>
          <a:solidFill>
            <a:srgbClr val="D9553C">
              <a:alpha val="55000"/>
            </a:srgbClr>
          </a:solidFill>
          <a:ln w="12700">
            <a:solidFill>
              <a:srgbClr val="D9553C"/>
            </a:solidFill>
            <a:prstDash val="solid"/>
          </a:ln>
        </p:spPr>
      </p:sp>
      <p:sp>
        <p:nvSpPr>
          <p:cNvPr id="33" name="Shape 31"/>
          <p:cNvSpPr/>
          <p:nvPr/>
        </p:nvSpPr>
        <p:spPr>
          <a:xfrm>
            <a:off x="9808848" y="2652045"/>
            <a:ext cx="191099" cy="191099"/>
          </a:xfrm>
          <a:prstGeom prst="ellipse">
            <a:avLst/>
          </a:prstGeom>
          <a:solidFill>
            <a:srgbClr val="1F8F82">
              <a:alpha val="55000"/>
            </a:srgbClr>
          </a:solidFill>
          <a:ln w="12700">
            <a:solidFill>
              <a:srgbClr val="1F8F82"/>
            </a:solidFill>
            <a:prstDash val="solid"/>
          </a:ln>
        </p:spPr>
      </p:sp>
      <p:sp>
        <p:nvSpPr>
          <p:cNvPr id="34" name="Shape 32"/>
          <p:cNvSpPr/>
          <p:nvPr/>
        </p:nvSpPr>
        <p:spPr>
          <a:xfrm>
            <a:off x="9574757" y="4415687"/>
            <a:ext cx="102179" cy="102179"/>
          </a:xfrm>
          <a:prstGeom prst="ellipse">
            <a:avLst/>
          </a:prstGeom>
          <a:solidFill>
            <a:srgbClr val="E09B21">
              <a:alpha val="55000"/>
            </a:srgbClr>
          </a:solidFill>
          <a:ln w="12700">
            <a:solidFill>
              <a:srgbClr val="E09B21"/>
            </a:solidFill>
            <a:prstDash val="solid"/>
          </a:ln>
        </p:spPr>
      </p:sp>
      <p:sp>
        <p:nvSpPr>
          <p:cNvPr id="35" name="Shape 33"/>
          <p:cNvSpPr/>
          <p:nvPr/>
        </p:nvSpPr>
        <p:spPr>
          <a:xfrm>
            <a:off x="10959103" y="5542633"/>
            <a:ext cx="168602" cy="168602"/>
          </a:xfrm>
          <a:prstGeom prst="ellipse">
            <a:avLst/>
          </a:prstGeom>
          <a:solidFill>
            <a:srgbClr val="6F63C9">
              <a:alpha val="55000"/>
            </a:srgbClr>
          </a:solidFill>
          <a:ln w="12700">
            <a:solidFill>
              <a:srgbClr val="6F63C9"/>
            </a:solidFill>
            <a:prstDash val="solid"/>
          </a:ln>
        </p:spPr>
      </p:sp>
      <p:sp>
        <p:nvSpPr>
          <p:cNvPr id="36" name="Shape 34"/>
          <p:cNvSpPr/>
          <p:nvPr/>
        </p:nvSpPr>
        <p:spPr>
          <a:xfrm>
            <a:off x="10254702" y="3470198"/>
            <a:ext cx="122151" cy="122151"/>
          </a:xfrm>
          <a:prstGeom prst="ellipse">
            <a:avLst/>
          </a:prstGeom>
          <a:solidFill>
            <a:srgbClr val="B23A6B">
              <a:alpha val="55000"/>
            </a:srgbClr>
          </a:solidFill>
          <a:ln w="12700">
            <a:solidFill>
              <a:srgbClr val="B23A6B"/>
            </a:solidFill>
            <a:prstDash val="solid"/>
          </a:ln>
        </p:spPr>
      </p:sp>
      <p:sp>
        <p:nvSpPr>
          <p:cNvPr id="37" name="Shape 35"/>
          <p:cNvSpPr/>
          <p:nvPr/>
        </p:nvSpPr>
        <p:spPr>
          <a:xfrm>
            <a:off x="11293828" y="5807193"/>
            <a:ext cx="98860" cy="98860"/>
          </a:xfrm>
          <a:prstGeom prst="ellipse">
            <a:avLst/>
          </a:prstGeom>
          <a:solidFill>
            <a:srgbClr val="D9553C">
              <a:alpha val="55000"/>
            </a:srgbClr>
          </a:solidFill>
          <a:ln w="12700">
            <a:solidFill>
              <a:srgbClr val="D9553C"/>
            </a:solidFill>
            <a:prstDash val="solid"/>
          </a:ln>
        </p:spPr>
      </p:sp>
      <p:sp>
        <p:nvSpPr>
          <p:cNvPr id="38" name="Shape 36"/>
          <p:cNvSpPr/>
          <p:nvPr/>
        </p:nvSpPr>
        <p:spPr>
          <a:xfrm>
            <a:off x="9320492" y="2475381"/>
            <a:ext cx="134567" cy="134567"/>
          </a:xfrm>
          <a:prstGeom prst="ellipse">
            <a:avLst/>
          </a:prstGeom>
          <a:solidFill>
            <a:srgbClr val="1F8F82">
              <a:alpha val="55000"/>
            </a:srgbClr>
          </a:solidFill>
          <a:ln w="12700">
            <a:solidFill>
              <a:srgbClr val="1F8F82"/>
            </a:solidFill>
            <a:prstDash val="solid"/>
          </a:ln>
        </p:spPr>
      </p:sp>
      <p:sp>
        <p:nvSpPr>
          <p:cNvPr id="39" name="Shape 37"/>
          <p:cNvSpPr/>
          <p:nvPr/>
        </p:nvSpPr>
        <p:spPr>
          <a:xfrm>
            <a:off x="8258396" y="4126605"/>
            <a:ext cx="137353" cy="137353"/>
          </a:xfrm>
          <a:prstGeom prst="ellipse">
            <a:avLst/>
          </a:prstGeom>
          <a:solidFill>
            <a:srgbClr val="E09B21">
              <a:alpha val="55000"/>
            </a:srgbClr>
          </a:solidFill>
          <a:ln w="12700">
            <a:solidFill>
              <a:srgbClr val="E09B21"/>
            </a:solidFill>
            <a:prstDash val="solid"/>
          </a:ln>
        </p:spPr>
      </p:sp>
      <p:sp>
        <p:nvSpPr>
          <p:cNvPr id="40" name="Shape 38"/>
          <p:cNvSpPr/>
          <p:nvPr/>
        </p:nvSpPr>
        <p:spPr>
          <a:xfrm>
            <a:off x="8279208" y="5259457"/>
            <a:ext cx="168244" cy="168244"/>
          </a:xfrm>
          <a:prstGeom prst="ellipse">
            <a:avLst/>
          </a:prstGeom>
          <a:solidFill>
            <a:srgbClr val="6F63C9">
              <a:alpha val="55000"/>
            </a:srgbClr>
          </a:solidFill>
          <a:ln w="12700">
            <a:solidFill>
              <a:srgbClr val="6F63C9"/>
            </a:solidFill>
            <a:prstDash val="solid"/>
          </a:ln>
        </p:spPr>
      </p:sp>
      <p:sp>
        <p:nvSpPr>
          <p:cNvPr id="41" name="Shape 39"/>
          <p:cNvSpPr/>
          <p:nvPr/>
        </p:nvSpPr>
        <p:spPr>
          <a:xfrm>
            <a:off x="9614484" y="6267910"/>
            <a:ext cx="195250" cy="195250"/>
          </a:xfrm>
          <a:prstGeom prst="ellipse">
            <a:avLst/>
          </a:prstGeom>
          <a:solidFill>
            <a:srgbClr val="B23A6B">
              <a:alpha val="55000"/>
            </a:srgbClr>
          </a:solidFill>
          <a:ln w="12700">
            <a:solidFill>
              <a:srgbClr val="B23A6B"/>
            </a:solidFill>
            <a:prstDash val="solid"/>
          </a:ln>
        </p:spPr>
      </p:sp>
      <p:sp>
        <p:nvSpPr>
          <p:cNvPr id="42" name="Shape 40"/>
          <p:cNvSpPr/>
          <p:nvPr/>
        </p:nvSpPr>
        <p:spPr>
          <a:xfrm>
            <a:off x="8921633" y="2597183"/>
            <a:ext cx="143697" cy="143697"/>
          </a:xfrm>
          <a:prstGeom prst="ellipse">
            <a:avLst/>
          </a:prstGeom>
          <a:solidFill>
            <a:srgbClr val="D9553C">
              <a:alpha val="55000"/>
            </a:srgbClr>
          </a:solidFill>
          <a:ln w="12700">
            <a:solidFill>
              <a:srgbClr val="D9553C"/>
            </a:solidFill>
            <a:prstDash val="solid"/>
          </a:ln>
        </p:spPr>
      </p:sp>
      <p:sp>
        <p:nvSpPr>
          <p:cNvPr id="43" name="Shape 41"/>
          <p:cNvSpPr/>
          <p:nvPr/>
        </p:nvSpPr>
        <p:spPr>
          <a:xfrm>
            <a:off x="11565692" y="3661467"/>
            <a:ext cx="121569" cy="121569"/>
          </a:xfrm>
          <a:prstGeom prst="ellipse">
            <a:avLst/>
          </a:prstGeom>
          <a:solidFill>
            <a:srgbClr val="1F8F82">
              <a:alpha val="55000"/>
            </a:srgbClr>
          </a:solidFill>
          <a:ln w="12700">
            <a:solidFill>
              <a:srgbClr val="1F8F82"/>
            </a:solidFill>
            <a:prstDash val="solid"/>
          </a:ln>
        </p:spPr>
      </p:sp>
      <p:sp>
        <p:nvSpPr>
          <p:cNvPr id="44" name="Shape 42"/>
          <p:cNvSpPr/>
          <p:nvPr/>
        </p:nvSpPr>
        <p:spPr>
          <a:xfrm>
            <a:off x="9502707" y="3768268"/>
            <a:ext cx="182937" cy="182937"/>
          </a:xfrm>
          <a:prstGeom prst="ellipse">
            <a:avLst/>
          </a:prstGeom>
          <a:solidFill>
            <a:srgbClr val="E09B21">
              <a:alpha val="55000"/>
            </a:srgbClr>
          </a:solidFill>
          <a:ln w="12700">
            <a:solidFill>
              <a:srgbClr val="E09B21"/>
            </a:solidFill>
            <a:prstDash val="solid"/>
          </a:ln>
        </p:spPr>
      </p:sp>
      <p:sp>
        <p:nvSpPr>
          <p:cNvPr id="45" name="Shape 43"/>
          <p:cNvSpPr/>
          <p:nvPr/>
        </p:nvSpPr>
        <p:spPr>
          <a:xfrm>
            <a:off x="11621876" y="4931859"/>
            <a:ext cx="95908" cy="95908"/>
          </a:xfrm>
          <a:prstGeom prst="ellipse">
            <a:avLst/>
          </a:prstGeom>
          <a:solidFill>
            <a:srgbClr val="6F63C9">
              <a:alpha val="55000"/>
            </a:srgbClr>
          </a:solidFill>
          <a:ln w="12700">
            <a:solidFill>
              <a:srgbClr val="6F63C9"/>
            </a:solidFill>
            <a:prstDash val="solid"/>
          </a:ln>
        </p:spPr>
      </p:sp>
      <p:sp>
        <p:nvSpPr>
          <p:cNvPr id="46" name="Shape 44"/>
          <p:cNvSpPr/>
          <p:nvPr/>
        </p:nvSpPr>
        <p:spPr>
          <a:xfrm>
            <a:off x="11345931" y="5348666"/>
            <a:ext cx="149783" cy="149783"/>
          </a:xfrm>
          <a:prstGeom prst="ellipse">
            <a:avLst/>
          </a:prstGeom>
          <a:solidFill>
            <a:srgbClr val="B23A6B">
              <a:alpha val="55000"/>
            </a:srgbClr>
          </a:solidFill>
          <a:ln w="12700">
            <a:solidFill>
              <a:srgbClr val="B23A6B"/>
            </a:solidFill>
            <a:prstDash val="solid"/>
          </a:ln>
        </p:spPr>
      </p:sp>
      <p:sp>
        <p:nvSpPr>
          <p:cNvPr id="47" name="Shape 45"/>
          <p:cNvSpPr/>
          <p:nvPr/>
        </p:nvSpPr>
        <p:spPr>
          <a:xfrm>
            <a:off x="9301853" y="1573614"/>
            <a:ext cx="119233" cy="119233"/>
          </a:xfrm>
          <a:prstGeom prst="ellipse">
            <a:avLst/>
          </a:prstGeom>
          <a:solidFill>
            <a:srgbClr val="D9553C">
              <a:alpha val="55000"/>
            </a:srgbClr>
          </a:solidFill>
          <a:ln w="12700">
            <a:solidFill>
              <a:srgbClr val="D9553C"/>
            </a:solidFill>
            <a:prstDash val="solid"/>
          </a:ln>
        </p:spPr>
      </p:sp>
      <p:sp>
        <p:nvSpPr>
          <p:cNvPr id="48" name="Shape 46"/>
          <p:cNvSpPr/>
          <p:nvPr/>
        </p:nvSpPr>
        <p:spPr>
          <a:xfrm>
            <a:off x="566928" y="2011680"/>
            <a:ext cx="786384" cy="786384"/>
          </a:xfrm>
          <a:prstGeom prst="ellipse">
            <a:avLst/>
          </a:prstGeom>
          <a:solidFill>
            <a:srgbClr val="E09B21"/>
          </a:solidFill>
          <a:ln w="12700">
            <a:solidFill>
              <a:srgbClr val="E09B21"/>
            </a:solidFill>
            <a:prstDash val="solid"/>
          </a:ln>
        </p:spPr>
      </p:sp>
      <p:sp>
        <p:nvSpPr>
          <p:cNvPr id="49" name="Text 47"/>
          <p:cNvSpPr/>
          <p:nvPr/>
        </p:nvSpPr>
        <p:spPr>
          <a:xfrm>
            <a:off x="566928" y="2011680"/>
            <a:ext cx="786384" cy="786384"/>
          </a:xfrm>
          <a:prstGeom prst="rect">
            <a:avLst/>
          </a:prstGeom>
          <a:noFill/>
          <a:ln/>
        </p:spPr>
        <p:txBody>
          <a:bodyPr wrap="square" lIns="0" tIns="0" rIns="0" bIns="0" rtlCol="0" anchor="ctr"/>
          <a:lstStyle/>
          <a:p>
            <a:pPr algn="ctr" indent="0" marL="0">
              <a:buNone/>
            </a:pPr>
            <a:r>
              <a:rPr lang="en-US" sz="3000" b="1" dirty="0">
                <a:solidFill>
                  <a:srgbClr val="2A2356"/>
                </a:solidFill>
                <a:latin typeface="Calibri" pitchFamily="34" charset="0"/>
                <a:ea typeface="Calibri" pitchFamily="34" charset="-122"/>
                <a:cs typeface="Calibri" pitchFamily="34" charset="-120"/>
              </a:rPr>
              <a:t>4</a:t>
            </a:r>
            <a:endParaRPr lang="en-US" sz="3000" dirty="0"/>
          </a:p>
        </p:txBody>
      </p:sp>
      <p:sp>
        <p:nvSpPr>
          <p:cNvPr id="50" name="Text 48"/>
          <p:cNvSpPr/>
          <p:nvPr/>
        </p:nvSpPr>
        <p:spPr>
          <a:xfrm>
            <a:off x="566928" y="2999232"/>
            <a:ext cx="6766560" cy="9601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five steps</a:t>
            </a:r>
            <a:endParaRPr lang="en-US" sz="4000" dirty="0"/>
          </a:p>
        </p:txBody>
      </p:sp>
      <p:sp>
        <p:nvSpPr>
          <p:cNvPr id="51" name="Text 49"/>
          <p:cNvSpPr/>
          <p:nvPr/>
        </p:nvSpPr>
        <p:spPr>
          <a:xfrm>
            <a:off x="566928" y="4041648"/>
            <a:ext cx="6400800" cy="731520"/>
          </a:xfrm>
          <a:prstGeom prst="rect">
            <a:avLst/>
          </a:prstGeom>
          <a:noFill/>
          <a:ln/>
        </p:spPr>
        <p:txBody>
          <a:bodyPr wrap="square" lIns="0" tIns="0" rIns="0" bIns="0" rtlCol="0" anchor="t"/>
          <a:lstStyle/>
          <a:p>
            <a:pPr indent="0" marL="0">
              <a:buNone/>
            </a:pPr>
            <a:r>
              <a:rPr lang="en-US" sz="1600" dirty="0">
                <a:solidFill>
                  <a:srgbClr val="C9C4E6"/>
                </a:solidFill>
                <a:latin typeface="Calibri" pitchFamily="34" charset="0"/>
                <a:ea typeface="Calibri" pitchFamily="34" charset="-122"/>
                <a:cs typeface="Calibri" pitchFamily="34" charset="-120"/>
              </a:rPr>
              <a:t>How a latent class model actually gets built — from a construct, to a fitted model, to a named solution.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OVERVIEW</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The workflow, end to end</a:t>
            </a:r>
            <a:endParaRPr lang="en-US" sz="2900" dirty="0"/>
          </a:p>
        </p:txBody>
      </p:sp>
      <p:sp>
        <p:nvSpPr>
          <p:cNvPr id="4" name="Shape 2"/>
          <p:cNvSpPr/>
          <p:nvPr/>
        </p:nvSpPr>
        <p:spPr>
          <a:xfrm>
            <a:off x="566928" y="1554480"/>
            <a:ext cx="2050085" cy="3246120"/>
          </a:xfrm>
          <a:prstGeom prst="roundRect">
            <a:avLst>
              <a:gd name="adj" fmla="val 446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5" name="Shape 3"/>
          <p:cNvSpPr/>
          <p:nvPr/>
        </p:nvSpPr>
        <p:spPr>
          <a:xfrm>
            <a:off x="786384" y="1792224"/>
            <a:ext cx="493776" cy="493776"/>
          </a:xfrm>
          <a:prstGeom prst="ellipse">
            <a:avLst/>
          </a:prstGeom>
          <a:solidFill>
            <a:srgbClr val="D9553C"/>
          </a:solidFill>
          <a:ln w="12700">
            <a:solidFill>
              <a:srgbClr val="D9553C"/>
            </a:solidFill>
            <a:prstDash val="solid"/>
          </a:ln>
        </p:spPr>
      </p:sp>
      <p:sp>
        <p:nvSpPr>
          <p:cNvPr id="6" name="Text 4"/>
          <p:cNvSpPr/>
          <p:nvPr/>
        </p:nvSpPr>
        <p:spPr>
          <a:xfrm>
            <a:off x="786384" y="1792224"/>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786384" y="2450592"/>
            <a:ext cx="1611173" cy="777240"/>
          </a:xfrm>
          <a:prstGeom prst="rect">
            <a:avLst/>
          </a:prstGeom>
          <a:noFill/>
          <a:ln/>
        </p:spPr>
        <p:txBody>
          <a:bodyPr wrap="square" lIns="0" tIns="0" rIns="0" bIns="0" rtlCol="0" anchor="t"/>
          <a:lstStyle/>
          <a:p>
            <a:pPr indent="0" marL="0">
              <a:lnSpc>
                <a:spcPts val="2100"/>
              </a:lnSpc>
              <a:buNone/>
            </a:pPr>
            <a:r>
              <a:rPr lang="en-US" sz="1600" b="1" dirty="0">
                <a:solidFill>
                  <a:srgbClr val="1A1633"/>
                </a:solidFill>
                <a:latin typeface="Cambria" pitchFamily="34" charset="0"/>
                <a:ea typeface="Cambria" pitchFamily="34" charset="-122"/>
                <a:cs typeface="Cambria" pitchFamily="34" charset="-120"/>
              </a:rPr>
              <a:t>Define the construct</a:t>
            </a:r>
            <a:endParaRPr lang="en-US" sz="1600" dirty="0"/>
          </a:p>
        </p:txBody>
      </p:sp>
      <p:sp>
        <p:nvSpPr>
          <p:cNvPr id="8" name="Text 6"/>
          <p:cNvSpPr/>
          <p:nvPr/>
        </p:nvSpPr>
        <p:spPr>
          <a:xfrm>
            <a:off x="786384" y="3273552"/>
            <a:ext cx="1611173" cy="132588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Decide what latent variable you are trying to recover — and read the theory on it first.</a:t>
            </a:r>
            <a:endParaRPr lang="en-US" sz="1150" dirty="0"/>
          </a:p>
        </p:txBody>
      </p:sp>
      <p:sp>
        <p:nvSpPr>
          <p:cNvPr id="9" name="Text 7"/>
          <p:cNvSpPr/>
          <p:nvPr/>
        </p:nvSpPr>
        <p:spPr>
          <a:xfrm>
            <a:off x="2626157" y="2926080"/>
            <a:ext cx="182880" cy="274320"/>
          </a:xfrm>
          <a:prstGeom prst="rect">
            <a:avLst/>
          </a:prstGeom>
          <a:noFill/>
          <a:ln/>
        </p:spPr>
        <p:txBody>
          <a:bodyPr wrap="square" lIns="0" tIns="0" rIns="0" bIns="0" rtlCol="0" anchor="ctr"/>
          <a:lstStyle/>
          <a:p>
            <a:pPr algn="ctr" indent="0" marL="0">
              <a:buNone/>
            </a:pPr>
            <a:r>
              <a:rPr lang="en-US" sz="1500" b="1" dirty="0">
                <a:solidFill>
                  <a:srgbClr val="9E9AB4"/>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2818181" y="1554480"/>
            <a:ext cx="2050085" cy="3246120"/>
          </a:xfrm>
          <a:prstGeom prst="roundRect">
            <a:avLst>
              <a:gd name="adj" fmla="val 446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1" name="Shape 9"/>
          <p:cNvSpPr/>
          <p:nvPr/>
        </p:nvSpPr>
        <p:spPr>
          <a:xfrm>
            <a:off x="3037637" y="1792224"/>
            <a:ext cx="493776" cy="493776"/>
          </a:xfrm>
          <a:prstGeom prst="ellipse">
            <a:avLst/>
          </a:prstGeom>
          <a:solidFill>
            <a:srgbClr val="1F8F82"/>
          </a:solidFill>
          <a:ln w="12700">
            <a:solidFill>
              <a:srgbClr val="1F8F82"/>
            </a:solidFill>
            <a:prstDash val="solid"/>
          </a:ln>
        </p:spPr>
      </p:sp>
      <p:sp>
        <p:nvSpPr>
          <p:cNvPr id="12" name="Text 10"/>
          <p:cNvSpPr/>
          <p:nvPr/>
        </p:nvSpPr>
        <p:spPr>
          <a:xfrm>
            <a:off x="3037637" y="1792224"/>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3037637" y="2450592"/>
            <a:ext cx="1611173" cy="777240"/>
          </a:xfrm>
          <a:prstGeom prst="rect">
            <a:avLst/>
          </a:prstGeom>
          <a:noFill/>
          <a:ln/>
        </p:spPr>
        <p:txBody>
          <a:bodyPr wrap="square" lIns="0" tIns="0" rIns="0" bIns="0" rtlCol="0" anchor="t"/>
          <a:lstStyle/>
          <a:p>
            <a:pPr indent="0" marL="0">
              <a:lnSpc>
                <a:spcPts val="2100"/>
              </a:lnSpc>
              <a:buNone/>
            </a:pPr>
            <a:r>
              <a:rPr lang="en-US" sz="1600" b="1" dirty="0">
                <a:solidFill>
                  <a:srgbClr val="1A1633"/>
                </a:solidFill>
                <a:latin typeface="Cambria" pitchFamily="34" charset="0"/>
                <a:ea typeface="Cambria" pitchFamily="34" charset="-122"/>
                <a:cs typeface="Cambria" pitchFamily="34" charset="-120"/>
              </a:rPr>
              <a:t>Get the right data</a:t>
            </a:r>
            <a:endParaRPr lang="en-US" sz="1600" dirty="0"/>
          </a:p>
        </p:txBody>
      </p:sp>
      <p:sp>
        <p:nvSpPr>
          <p:cNvPr id="14" name="Text 12"/>
          <p:cNvSpPr/>
          <p:nvPr/>
        </p:nvSpPr>
        <p:spPr>
          <a:xfrm>
            <a:off x="3037637" y="3273552"/>
            <a:ext cx="1611173" cy="132588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Find a dataset whose measured items are genuinely good indicators of that construct.</a:t>
            </a:r>
            <a:endParaRPr lang="en-US" sz="1150" dirty="0"/>
          </a:p>
        </p:txBody>
      </p:sp>
      <p:sp>
        <p:nvSpPr>
          <p:cNvPr id="15" name="Text 13"/>
          <p:cNvSpPr/>
          <p:nvPr/>
        </p:nvSpPr>
        <p:spPr>
          <a:xfrm>
            <a:off x="4877410" y="2926080"/>
            <a:ext cx="182880" cy="274320"/>
          </a:xfrm>
          <a:prstGeom prst="rect">
            <a:avLst/>
          </a:prstGeom>
          <a:noFill/>
          <a:ln/>
        </p:spPr>
        <p:txBody>
          <a:bodyPr wrap="square" lIns="0" tIns="0" rIns="0" bIns="0" rtlCol="0" anchor="ctr"/>
          <a:lstStyle/>
          <a:p>
            <a:pPr algn="ctr" indent="0" marL="0">
              <a:buNone/>
            </a:pPr>
            <a:r>
              <a:rPr lang="en-US" sz="1500" b="1" dirty="0">
                <a:solidFill>
                  <a:srgbClr val="9E9AB4"/>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5069434" y="1554480"/>
            <a:ext cx="2050085" cy="3246120"/>
          </a:xfrm>
          <a:prstGeom prst="roundRect">
            <a:avLst>
              <a:gd name="adj" fmla="val 446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7" name="Shape 15"/>
          <p:cNvSpPr/>
          <p:nvPr/>
        </p:nvSpPr>
        <p:spPr>
          <a:xfrm>
            <a:off x="5288890" y="1792224"/>
            <a:ext cx="493776" cy="493776"/>
          </a:xfrm>
          <a:prstGeom prst="ellipse">
            <a:avLst/>
          </a:prstGeom>
          <a:solidFill>
            <a:srgbClr val="E09B21"/>
          </a:solidFill>
          <a:ln w="12700">
            <a:solidFill>
              <a:srgbClr val="E09B21"/>
            </a:solidFill>
            <a:prstDash val="solid"/>
          </a:ln>
        </p:spPr>
      </p:sp>
      <p:sp>
        <p:nvSpPr>
          <p:cNvPr id="18" name="Text 16"/>
          <p:cNvSpPr/>
          <p:nvPr/>
        </p:nvSpPr>
        <p:spPr>
          <a:xfrm>
            <a:off x="5288890" y="1792224"/>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5288890" y="2450592"/>
            <a:ext cx="1611173" cy="777240"/>
          </a:xfrm>
          <a:prstGeom prst="rect">
            <a:avLst/>
          </a:prstGeom>
          <a:noFill/>
          <a:ln/>
        </p:spPr>
        <p:txBody>
          <a:bodyPr wrap="square" lIns="0" tIns="0" rIns="0" bIns="0" rtlCol="0" anchor="t"/>
          <a:lstStyle/>
          <a:p>
            <a:pPr indent="0" marL="0">
              <a:lnSpc>
                <a:spcPts val="2100"/>
              </a:lnSpc>
              <a:buNone/>
            </a:pPr>
            <a:r>
              <a:rPr lang="en-US" sz="1600" b="1" dirty="0">
                <a:solidFill>
                  <a:srgbClr val="1A1633"/>
                </a:solidFill>
                <a:latin typeface="Cambria" pitchFamily="34" charset="0"/>
                <a:ea typeface="Cambria" pitchFamily="34" charset="-122"/>
                <a:cs typeface="Cambria" pitchFamily="34" charset="-120"/>
              </a:rPr>
              <a:t>Fit and assess</a:t>
            </a:r>
            <a:endParaRPr lang="en-US" sz="1600" dirty="0"/>
          </a:p>
        </p:txBody>
      </p:sp>
      <p:sp>
        <p:nvSpPr>
          <p:cNvPr id="20" name="Text 18"/>
          <p:cNvSpPr/>
          <p:nvPr/>
        </p:nvSpPr>
        <p:spPr>
          <a:xfrm>
            <a:off x="5288890" y="3273552"/>
            <a:ext cx="1611173" cy="132588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Estimate models, check they converged, and gather goodness-of-fit statistics.</a:t>
            </a:r>
            <a:endParaRPr lang="en-US" sz="1150" dirty="0"/>
          </a:p>
        </p:txBody>
      </p:sp>
      <p:sp>
        <p:nvSpPr>
          <p:cNvPr id="21" name="Text 19"/>
          <p:cNvSpPr/>
          <p:nvPr/>
        </p:nvSpPr>
        <p:spPr>
          <a:xfrm>
            <a:off x="7128662" y="2926080"/>
            <a:ext cx="182880" cy="274320"/>
          </a:xfrm>
          <a:prstGeom prst="rect">
            <a:avLst/>
          </a:prstGeom>
          <a:noFill/>
          <a:ln/>
        </p:spPr>
        <p:txBody>
          <a:bodyPr wrap="square" lIns="0" tIns="0" rIns="0" bIns="0" rtlCol="0" anchor="ctr"/>
          <a:lstStyle/>
          <a:p>
            <a:pPr algn="ctr" indent="0" marL="0">
              <a:buNone/>
            </a:pPr>
            <a:r>
              <a:rPr lang="en-US" sz="1500" b="1" dirty="0">
                <a:solidFill>
                  <a:srgbClr val="9E9AB4"/>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7320686" y="1554480"/>
            <a:ext cx="2050085" cy="3246120"/>
          </a:xfrm>
          <a:prstGeom prst="roundRect">
            <a:avLst>
              <a:gd name="adj" fmla="val 446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23" name="Shape 21"/>
          <p:cNvSpPr/>
          <p:nvPr/>
        </p:nvSpPr>
        <p:spPr>
          <a:xfrm>
            <a:off x="7540142" y="1792224"/>
            <a:ext cx="493776" cy="493776"/>
          </a:xfrm>
          <a:prstGeom prst="ellipse">
            <a:avLst/>
          </a:prstGeom>
          <a:solidFill>
            <a:srgbClr val="6F63C9"/>
          </a:solidFill>
          <a:ln w="12700">
            <a:solidFill>
              <a:srgbClr val="6F63C9"/>
            </a:solidFill>
            <a:prstDash val="solid"/>
          </a:ln>
        </p:spPr>
      </p:sp>
      <p:sp>
        <p:nvSpPr>
          <p:cNvPr id="24" name="Text 22"/>
          <p:cNvSpPr/>
          <p:nvPr/>
        </p:nvSpPr>
        <p:spPr>
          <a:xfrm>
            <a:off x="7540142" y="1792224"/>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7540142" y="2450592"/>
            <a:ext cx="1611173" cy="777240"/>
          </a:xfrm>
          <a:prstGeom prst="rect">
            <a:avLst/>
          </a:prstGeom>
          <a:noFill/>
          <a:ln/>
        </p:spPr>
        <p:txBody>
          <a:bodyPr wrap="square" lIns="0" tIns="0" rIns="0" bIns="0" rtlCol="0" anchor="t"/>
          <a:lstStyle/>
          <a:p>
            <a:pPr indent="0" marL="0">
              <a:lnSpc>
                <a:spcPts val="2100"/>
              </a:lnSpc>
              <a:buNone/>
            </a:pPr>
            <a:r>
              <a:rPr lang="en-US" sz="1600" b="1" dirty="0">
                <a:solidFill>
                  <a:srgbClr val="1A1633"/>
                </a:solidFill>
                <a:latin typeface="Cambria" pitchFamily="34" charset="0"/>
                <a:ea typeface="Cambria" pitchFamily="34" charset="-122"/>
                <a:cs typeface="Cambria" pitchFamily="34" charset="-120"/>
              </a:rPr>
              <a:t>Choose k</a:t>
            </a:r>
            <a:endParaRPr lang="en-US" sz="1600" dirty="0"/>
          </a:p>
        </p:txBody>
      </p:sp>
      <p:sp>
        <p:nvSpPr>
          <p:cNvPr id="26" name="Text 24"/>
          <p:cNvSpPr/>
          <p:nvPr/>
        </p:nvSpPr>
        <p:spPr>
          <a:xfrm>
            <a:off x="7540142" y="3273552"/>
            <a:ext cx="1611173" cy="132588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Compare 1, 2, 3 … class solutions and defend the number you settle on.</a:t>
            </a:r>
            <a:endParaRPr lang="en-US" sz="1150" dirty="0"/>
          </a:p>
        </p:txBody>
      </p:sp>
      <p:sp>
        <p:nvSpPr>
          <p:cNvPr id="27" name="Text 25"/>
          <p:cNvSpPr/>
          <p:nvPr/>
        </p:nvSpPr>
        <p:spPr>
          <a:xfrm>
            <a:off x="9379915" y="2926080"/>
            <a:ext cx="182880" cy="274320"/>
          </a:xfrm>
          <a:prstGeom prst="rect">
            <a:avLst/>
          </a:prstGeom>
          <a:noFill/>
          <a:ln/>
        </p:spPr>
        <p:txBody>
          <a:bodyPr wrap="square" lIns="0" tIns="0" rIns="0" bIns="0" rtlCol="0" anchor="ctr"/>
          <a:lstStyle/>
          <a:p>
            <a:pPr algn="ctr" indent="0" marL="0">
              <a:buNone/>
            </a:pPr>
            <a:r>
              <a:rPr lang="en-US" sz="1500" b="1" dirty="0">
                <a:solidFill>
                  <a:srgbClr val="9E9AB4"/>
                </a:solidFill>
                <a:latin typeface="Calibri" pitchFamily="34" charset="0"/>
                <a:ea typeface="Calibri" pitchFamily="34" charset="-122"/>
                <a:cs typeface="Calibri" pitchFamily="34" charset="-120"/>
              </a:rPr>
              <a:t>→</a:t>
            </a:r>
            <a:endParaRPr lang="en-US" sz="1500" dirty="0"/>
          </a:p>
        </p:txBody>
      </p:sp>
      <p:sp>
        <p:nvSpPr>
          <p:cNvPr id="28" name="Shape 26"/>
          <p:cNvSpPr/>
          <p:nvPr/>
        </p:nvSpPr>
        <p:spPr>
          <a:xfrm>
            <a:off x="9571939" y="1554480"/>
            <a:ext cx="2050085" cy="3246120"/>
          </a:xfrm>
          <a:prstGeom prst="roundRect">
            <a:avLst>
              <a:gd name="adj" fmla="val 446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29" name="Shape 27"/>
          <p:cNvSpPr/>
          <p:nvPr/>
        </p:nvSpPr>
        <p:spPr>
          <a:xfrm>
            <a:off x="9791395" y="1792224"/>
            <a:ext cx="493776" cy="493776"/>
          </a:xfrm>
          <a:prstGeom prst="ellipse">
            <a:avLst/>
          </a:prstGeom>
          <a:solidFill>
            <a:srgbClr val="B23A6B"/>
          </a:solidFill>
          <a:ln w="12700">
            <a:solidFill>
              <a:srgbClr val="B23A6B"/>
            </a:solidFill>
            <a:prstDash val="solid"/>
          </a:ln>
        </p:spPr>
      </p:sp>
      <p:sp>
        <p:nvSpPr>
          <p:cNvPr id="30" name="Text 28"/>
          <p:cNvSpPr/>
          <p:nvPr/>
        </p:nvSpPr>
        <p:spPr>
          <a:xfrm>
            <a:off x="9791395" y="1792224"/>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p:nvPr/>
        </p:nvSpPr>
        <p:spPr>
          <a:xfrm>
            <a:off x="9791395" y="2450592"/>
            <a:ext cx="1611173" cy="777240"/>
          </a:xfrm>
          <a:prstGeom prst="rect">
            <a:avLst/>
          </a:prstGeom>
          <a:noFill/>
          <a:ln/>
        </p:spPr>
        <p:txBody>
          <a:bodyPr wrap="square" lIns="0" tIns="0" rIns="0" bIns="0" rtlCol="0" anchor="t"/>
          <a:lstStyle/>
          <a:p>
            <a:pPr indent="0" marL="0">
              <a:lnSpc>
                <a:spcPts val="2100"/>
              </a:lnSpc>
              <a:buNone/>
            </a:pPr>
            <a:r>
              <a:rPr lang="en-US" sz="1600" b="1" dirty="0">
                <a:solidFill>
                  <a:srgbClr val="1A1633"/>
                </a:solidFill>
                <a:latin typeface="Cambria" pitchFamily="34" charset="0"/>
                <a:ea typeface="Cambria" pitchFamily="34" charset="-122"/>
                <a:cs typeface="Cambria" pitchFamily="34" charset="-120"/>
              </a:rPr>
              <a:t>Interpret and name</a:t>
            </a:r>
            <a:endParaRPr lang="en-US" sz="1600" dirty="0"/>
          </a:p>
        </p:txBody>
      </p:sp>
      <p:sp>
        <p:nvSpPr>
          <p:cNvPr id="32" name="Text 30"/>
          <p:cNvSpPr/>
          <p:nvPr/>
        </p:nvSpPr>
        <p:spPr>
          <a:xfrm>
            <a:off x="9791395" y="3273552"/>
            <a:ext cx="1611173" cy="132588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Describe each class from its response pattern, and name it honestly.</a:t>
            </a:r>
            <a:endParaRPr lang="en-US" sz="1150" dirty="0"/>
          </a:p>
        </p:txBody>
      </p:sp>
      <p:sp>
        <p:nvSpPr>
          <p:cNvPr id="33" name="Shape 31"/>
          <p:cNvSpPr/>
          <p:nvPr/>
        </p:nvSpPr>
        <p:spPr>
          <a:xfrm>
            <a:off x="566928" y="5138928"/>
            <a:ext cx="11055096" cy="914400"/>
          </a:xfrm>
          <a:prstGeom prst="roundRect">
            <a:avLst>
              <a:gd name="adj" fmla="val 10000"/>
            </a:avLst>
          </a:prstGeom>
          <a:solidFill>
            <a:srgbClr val="EBE9F5"/>
          </a:solidFill>
          <a:ln w="12700">
            <a:solidFill>
              <a:srgbClr val="DBD8E8"/>
            </a:solidFill>
            <a:prstDash val="solid"/>
          </a:ln>
        </p:spPr>
      </p:sp>
      <p:sp>
        <p:nvSpPr>
          <p:cNvPr id="34" name="Text 32"/>
          <p:cNvSpPr/>
          <p:nvPr/>
        </p:nvSpPr>
        <p:spPr>
          <a:xfrm>
            <a:off x="886968" y="5138928"/>
            <a:ext cx="10415016" cy="914400"/>
          </a:xfrm>
          <a:prstGeom prst="rect">
            <a:avLst/>
          </a:prstGeom>
          <a:noFill/>
          <a:ln/>
        </p:spPr>
        <p:txBody>
          <a:bodyPr wrap="square" lIns="0" tIns="0" rIns="0" bIns="0" rtlCol="0" anchor="ctr"/>
          <a:lstStyle/>
          <a:p>
            <a:pPr indent="0" marL="0">
              <a:lnSpc>
                <a:spcPts val="1900"/>
              </a:lnSpc>
              <a:buNone/>
            </a:pPr>
            <a:r>
              <a:rPr lang="en-US" sz="1350" b="1" dirty="0">
                <a:solidFill>
                  <a:srgbClr val="1A1633"/>
                </a:solidFill>
                <a:latin typeface="Calibri" pitchFamily="34" charset="0"/>
                <a:ea typeface="Calibri" pitchFamily="34" charset="-122"/>
                <a:cs typeface="Calibri" pitchFamily="34" charset="-120"/>
              </a:rPr>
              <a:t>Steps 1 and 5 are where the thinking happens. </a:t>
            </a:r>
            <a:pPr indent="0" marL="0">
              <a:lnSpc>
                <a:spcPts val="1900"/>
              </a:lnSpc>
              <a:buNone/>
            </a:pPr>
            <a:r>
              <a:rPr lang="en-US" sz="1350" dirty="0">
                <a:solidFill>
                  <a:srgbClr val="6B6785"/>
                </a:solidFill>
                <a:latin typeface="Calibri" pitchFamily="34" charset="0"/>
                <a:ea typeface="Calibri" pitchFamily="34" charset="-122"/>
                <a:cs typeface="Calibri" pitchFamily="34" charset="-120"/>
              </a:rPr>
              <a:t>Steps 2–4 are craft, and the software does most of the arithmetic. Almost every weak LCA paper is weak because step 1 was skipped and step 5 was rushed.</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STEPS 1 AND 2</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Theory first, data second</a:t>
            </a:r>
            <a:endParaRPr lang="en-US" sz="2900" dirty="0"/>
          </a:p>
        </p:txBody>
      </p:sp>
      <p:sp>
        <p:nvSpPr>
          <p:cNvPr id="4" name="Shape 2"/>
          <p:cNvSpPr/>
          <p:nvPr/>
        </p:nvSpPr>
        <p:spPr>
          <a:xfrm>
            <a:off x="566928" y="1298448"/>
            <a:ext cx="5486400" cy="4617720"/>
          </a:xfrm>
          <a:prstGeom prst="roundRect">
            <a:avLst>
              <a:gd name="adj" fmla="val 198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5" name="Shape 3"/>
          <p:cNvSpPr/>
          <p:nvPr/>
        </p:nvSpPr>
        <p:spPr>
          <a:xfrm>
            <a:off x="877824" y="1517904"/>
            <a:ext cx="457200" cy="457200"/>
          </a:xfrm>
          <a:prstGeom prst="ellipse">
            <a:avLst/>
          </a:prstGeom>
          <a:solidFill>
            <a:srgbClr val="D9553C"/>
          </a:solidFill>
          <a:ln w="12700">
            <a:solidFill>
              <a:srgbClr val="D9553C"/>
            </a:solidFill>
            <a:prstDash val="solid"/>
          </a:ln>
        </p:spPr>
      </p:sp>
      <p:sp>
        <p:nvSpPr>
          <p:cNvPr id="6" name="Text 4"/>
          <p:cNvSpPr/>
          <p:nvPr/>
        </p:nvSpPr>
        <p:spPr>
          <a:xfrm>
            <a:off x="877824" y="151790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481328" y="1572768"/>
            <a:ext cx="4297680" cy="365760"/>
          </a:xfrm>
          <a:prstGeom prst="rect">
            <a:avLst/>
          </a:prstGeom>
          <a:noFill/>
          <a:ln/>
        </p:spPr>
        <p:txBody>
          <a:bodyPr wrap="square" lIns="0" tIns="0" rIns="0" bIns="0" rtlCol="0" anchor="ctr"/>
          <a:lstStyle/>
          <a:p>
            <a:pPr indent="0" marL="0">
              <a:buNone/>
            </a:pPr>
            <a:r>
              <a:rPr lang="en-US" sz="2100" b="1" dirty="0">
                <a:solidFill>
                  <a:srgbClr val="1A1633"/>
                </a:solidFill>
                <a:latin typeface="Cambria" pitchFamily="34" charset="0"/>
                <a:ea typeface="Cambria" pitchFamily="34" charset="-122"/>
                <a:cs typeface="Cambria" pitchFamily="34" charset="-120"/>
              </a:rPr>
              <a:t>Define the latent construct</a:t>
            </a:r>
            <a:endParaRPr lang="en-US" sz="2100" dirty="0"/>
          </a:p>
        </p:txBody>
      </p:sp>
      <p:sp>
        <p:nvSpPr>
          <p:cNvPr id="8" name="Text 6"/>
          <p:cNvSpPr/>
          <p:nvPr/>
        </p:nvSpPr>
        <p:spPr>
          <a:xfrm>
            <a:off x="877824" y="2121408"/>
            <a:ext cx="4846320" cy="868680"/>
          </a:xfrm>
          <a:prstGeom prst="rect">
            <a:avLst/>
          </a:prstGeom>
          <a:noFill/>
          <a:ln/>
        </p:spPr>
        <p:txBody>
          <a:bodyPr wrap="square" lIns="0" tIns="0" rIns="0" bIns="0" rtlCol="0" anchor="t"/>
          <a:lstStyle/>
          <a:p>
            <a:pPr indent="0" marL="0">
              <a:lnSpc>
                <a:spcPts val="1700"/>
              </a:lnSpc>
              <a:buNone/>
            </a:pPr>
            <a:r>
              <a:rPr lang="en-US" sz="1250" dirty="0">
                <a:solidFill>
                  <a:srgbClr val="6B6785"/>
                </a:solidFill>
                <a:latin typeface="Calibri" pitchFamily="34" charset="0"/>
                <a:ea typeface="Calibri" pitchFamily="34" charset="-122"/>
                <a:cs typeface="Calibri" pitchFamily="34" charset="-120"/>
              </a:rPr>
              <a:t>The temptation is to load every variable you have, press run, and see what appears. Resist it — that route produces models nobody can interpret and reviewers do not believe.</a:t>
            </a:r>
            <a:endParaRPr lang="en-US" sz="1250" dirty="0"/>
          </a:p>
        </p:txBody>
      </p:sp>
      <p:sp>
        <p:nvSpPr>
          <p:cNvPr id="9" name="Text 7"/>
          <p:cNvSpPr/>
          <p:nvPr/>
        </p:nvSpPr>
        <p:spPr>
          <a:xfrm>
            <a:off x="877824" y="3054096"/>
            <a:ext cx="4846320" cy="256032"/>
          </a:xfrm>
          <a:prstGeom prst="rect">
            <a:avLst/>
          </a:prstGeom>
          <a:noFill/>
          <a:ln/>
        </p:spPr>
        <p:txBody>
          <a:bodyPr wrap="square" lIns="0" tIns="0" rIns="0" bIns="0" rtlCol="0" anchor="ctr"/>
          <a:lstStyle/>
          <a:p>
            <a:pPr indent="0" marL="0">
              <a:buNone/>
            </a:pPr>
            <a:r>
              <a:rPr lang="en-US" sz="1100" b="1" spc="100" kern="0" dirty="0">
                <a:solidFill>
                  <a:srgbClr val="D9553C"/>
                </a:solidFill>
                <a:latin typeface="Calibri" pitchFamily="34" charset="0"/>
                <a:ea typeface="Calibri" pitchFamily="34" charset="-122"/>
                <a:cs typeface="Calibri" pitchFamily="34" charset="-120"/>
              </a:rPr>
              <a:t>Before you open the software</a:t>
            </a:r>
            <a:endParaRPr lang="en-US" sz="1100" dirty="0"/>
          </a:p>
        </p:txBody>
      </p:sp>
      <p:sp>
        <p:nvSpPr>
          <p:cNvPr id="10" name="Text 8"/>
          <p:cNvSpPr/>
          <p:nvPr/>
        </p:nvSpPr>
        <p:spPr>
          <a:xfrm>
            <a:off x="877824" y="3346704"/>
            <a:ext cx="4846320" cy="2331720"/>
          </a:xfrm>
          <a:prstGeom prst="rect">
            <a:avLst/>
          </a:prstGeom>
          <a:noFill/>
          <a:ln/>
        </p:spPr>
        <p:txBody>
          <a:bodyPr wrap="square" lIns="0" tIns="0" rIns="0" bIns="0" rtlCol="0" anchor="t"/>
          <a:lstStyle/>
          <a:p>
            <a:pPr marL="203200" indent="-203200">
              <a:lnSpc>
                <a:spcPts val="2000"/>
              </a:lnSpc>
              <a:spcAft>
                <a:spcPts val="800"/>
              </a:spcAft>
              <a:buSzPct val="100000"/>
              <a:buChar char="•"/>
            </a:pPr>
            <a:r>
              <a:rPr lang="en-US" sz="1200" dirty="0">
                <a:solidFill>
                  <a:srgbClr val="6B6785"/>
                </a:solidFill>
                <a:latin typeface="Calibri" pitchFamily="34" charset="0"/>
                <a:ea typeface="Calibri" pitchFamily="34" charset="-122"/>
                <a:cs typeface="Calibri" pitchFamily="34" charset="-120"/>
              </a:rPr>
              <a:t>Write one sentence: “I think there are distinct types of ___.”</a:t>
            </a:r>
            <a:endParaRPr lang="en-US" sz="1200" dirty="0"/>
          </a:p>
          <a:p>
            <a:pPr marL="203200" indent="-203200">
              <a:lnSpc>
                <a:spcPts val="2000"/>
              </a:lnSpc>
              <a:spcAft>
                <a:spcPts val="800"/>
              </a:spcAft>
              <a:buSzPct val="100000"/>
              <a:buChar char="•"/>
            </a:pPr>
            <a:r>
              <a:rPr lang="en-US" sz="1200" dirty="0">
                <a:solidFill>
                  <a:srgbClr val="6B6785"/>
                </a:solidFill>
                <a:latin typeface="Calibri" pitchFamily="34" charset="0"/>
                <a:ea typeface="Calibri" pitchFamily="34" charset="-122"/>
                <a:cs typeface="Calibri" pitchFamily="34" charset="-120"/>
              </a:rPr>
              <a:t>Read what has already been found — how many classes do others report?</a:t>
            </a:r>
            <a:endParaRPr lang="en-US" sz="1200" dirty="0"/>
          </a:p>
          <a:p>
            <a:pPr marL="203200" indent="-203200">
              <a:lnSpc>
                <a:spcPts val="2000"/>
              </a:lnSpc>
              <a:spcAft>
                <a:spcPts val="800"/>
              </a:spcAft>
              <a:buSzPct val="100000"/>
              <a:buChar char="•"/>
            </a:pPr>
            <a:r>
              <a:rPr lang="en-US" sz="1200" dirty="0">
                <a:solidFill>
                  <a:srgbClr val="6B6785"/>
                </a:solidFill>
                <a:latin typeface="Calibri" pitchFamily="34" charset="0"/>
                <a:ea typeface="Calibri" pitchFamily="34" charset="-122"/>
                <a:cs typeface="Calibri" pitchFamily="34" charset="-120"/>
              </a:rPr>
              <a:t>Decide, and justify, why categories fit this construct better than a dimension</a:t>
            </a:r>
            <a:endParaRPr lang="en-US" sz="1200" dirty="0"/>
          </a:p>
          <a:p>
            <a:pPr marL="203200" indent="-203200">
              <a:lnSpc>
                <a:spcPts val="2000"/>
              </a:lnSpc>
              <a:spcAft>
                <a:spcPts val="800"/>
              </a:spcAft>
              <a:buSzPct val="100000"/>
              <a:buChar char="•"/>
            </a:pPr>
            <a:r>
              <a:rPr lang="en-US" sz="1200" dirty="0">
                <a:solidFill>
                  <a:srgbClr val="6B6785"/>
                </a:solidFill>
                <a:latin typeface="Calibri" pitchFamily="34" charset="0"/>
                <a:ea typeface="Calibri" pitchFamily="34" charset="-122"/>
                <a:cs typeface="Calibri" pitchFamily="34" charset="-120"/>
              </a:rPr>
              <a:t>Sketch the classes you expect. Being wrong is fine; being surprised is informative</a:t>
            </a:r>
            <a:endParaRPr lang="en-US" sz="1200" dirty="0"/>
          </a:p>
        </p:txBody>
      </p:sp>
      <p:sp>
        <p:nvSpPr>
          <p:cNvPr id="11" name="Shape 9"/>
          <p:cNvSpPr/>
          <p:nvPr/>
        </p:nvSpPr>
        <p:spPr>
          <a:xfrm>
            <a:off x="6382512" y="1298448"/>
            <a:ext cx="5239512" cy="4617720"/>
          </a:xfrm>
          <a:prstGeom prst="roundRect">
            <a:avLst>
              <a:gd name="adj" fmla="val 1980"/>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2" name="Shape 10"/>
          <p:cNvSpPr/>
          <p:nvPr/>
        </p:nvSpPr>
        <p:spPr>
          <a:xfrm>
            <a:off x="6693408" y="1517904"/>
            <a:ext cx="457200" cy="457200"/>
          </a:xfrm>
          <a:prstGeom prst="ellipse">
            <a:avLst/>
          </a:prstGeom>
          <a:solidFill>
            <a:srgbClr val="1F8F82"/>
          </a:solidFill>
          <a:ln w="12700">
            <a:solidFill>
              <a:srgbClr val="1F8F82"/>
            </a:solidFill>
            <a:prstDash val="solid"/>
          </a:ln>
        </p:spPr>
      </p:sp>
      <p:sp>
        <p:nvSpPr>
          <p:cNvPr id="13" name="Text 11"/>
          <p:cNvSpPr/>
          <p:nvPr/>
        </p:nvSpPr>
        <p:spPr>
          <a:xfrm>
            <a:off x="6693408" y="151790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p:nvPr/>
        </p:nvSpPr>
        <p:spPr>
          <a:xfrm>
            <a:off x="7296912" y="1572768"/>
            <a:ext cx="4114800" cy="365760"/>
          </a:xfrm>
          <a:prstGeom prst="rect">
            <a:avLst/>
          </a:prstGeom>
          <a:noFill/>
          <a:ln/>
        </p:spPr>
        <p:txBody>
          <a:bodyPr wrap="square" lIns="0" tIns="0" rIns="0" bIns="0" rtlCol="0" anchor="ctr"/>
          <a:lstStyle/>
          <a:p>
            <a:pPr indent="0" marL="0">
              <a:buNone/>
            </a:pPr>
            <a:r>
              <a:rPr lang="en-US" sz="2100" b="1" dirty="0">
                <a:solidFill>
                  <a:srgbClr val="1A1633"/>
                </a:solidFill>
                <a:latin typeface="Cambria" pitchFamily="34" charset="0"/>
                <a:ea typeface="Cambria" pitchFamily="34" charset="-122"/>
                <a:cs typeface="Cambria" pitchFamily="34" charset="-120"/>
              </a:rPr>
              <a:t>Choose data and indicators</a:t>
            </a:r>
            <a:endParaRPr lang="en-US" sz="2100" dirty="0"/>
          </a:p>
        </p:txBody>
      </p:sp>
      <p:sp>
        <p:nvSpPr>
          <p:cNvPr id="15" name="Text 13"/>
          <p:cNvSpPr/>
          <p:nvPr/>
        </p:nvSpPr>
        <p:spPr>
          <a:xfrm>
            <a:off x="6693408" y="2121408"/>
            <a:ext cx="4663440" cy="868680"/>
          </a:xfrm>
          <a:prstGeom prst="rect">
            <a:avLst/>
          </a:prstGeom>
          <a:noFill/>
          <a:ln/>
        </p:spPr>
        <p:txBody>
          <a:bodyPr wrap="square" lIns="0" tIns="0" rIns="0" bIns="0" rtlCol="0" anchor="t"/>
          <a:lstStyle/>
          <a:p>
            <a:pPr indent="0" marL="0">
              <a:lnSpc>
                <a:spcPts val="1700"/>
              </a:lnSpc>
              <a:buNone/>
            </a:pPr>
            <a:r>
              <a:rPr lang="en-US" sz="1250" dirty="0">
                <a:solidFill>
                  <a:srgbClr val="6B6785"/>
                </a:solidFill>
                <a:latin typeface="Calibri" pitchFamily="34" charset="0"/>
                <a:ea typeface="Calibri" pitchFamily="34" charset="-122"/>
                <a:cs typeface="Calibri" pitchFamily="34" charset="-120"/>
              </a:rPr>
              <a:t>Your model is only as good as the items feeding it. There is usually some compromise between the construct you want and the questions someone actually asked.</a:t>
            </a:r>
            <a:endParaRPr lang="en-US" sz="1250" dirty="0"/>
          </a:p>
        </p:txBody>
      </p:sp>
      <p:sp>
        <p:nvSpPr>
          <p:cNvPr id="16" name="Text 14"/>
          <p:cNvSpPr/>
          <p:nvPr/>
        </p:nvSpPr>
        <p:spPr>
          <a:xfrm>
            <a:off x="6693408" y="3054096"/>
            <a:ext cx="4663440" cy="256032"/>
          </a:xfrm>
          <a:prstGeom prst="rect">
            <a:avLst/>
          </a:prstGeom>
          <a:noFill/>
          <a:ln/>
        </p:spPr>
        <p:txBody>
          <a:bodyPr wrap="square" lIns="0" tIns="0" rIns="0" bIns="0" rtlCol="0" anchor="ctr"/>
          <a:lstStyle/>
          <a:p>
            <a:pPr indent="0" marL="0">
              <a:buNone/>
            </a:pPr>
            <a:r>
              <a:rPr lang="en-US" sz="1100" b="1" spc="100" kern="0" dirty="0">
                <a:solidFill>
                  <a:srgbClr val="1F8F82"/>
                </a:solidFill>
                <a:latin typeface="Calibri" pitchFamily="34" charset="0"/>
                <a:ea typeface="Calibri" pitchFamily="34" charset="-122"/>
                <a:cs typeface="Calibri" pitchFamily="34" charset="-120"/>
              </a:rPr>
              <a:t>What makes a good indicator set</a:t>
            </a:r>
            <a:endParaRPr lang="en-US" sz="1100" dirty="0"/>
          </a:p>
        </p:txBody>
      </p:sp>
      <p:sp>
        <p:nvSpPr>
          <p:cNvPr id="17" name="Text 15"/>
          <p:cNvSpPr/>
          <p:nvPr/>
        </p:nvSpPr>
        <p:spPr>
          <a:xfrm>
            <a:off x="6693408" y="3346704"/>
            <a:ext cx="4663440" cy="1417320"/>
          </a:xfrm>
          <a:prstGeom prst="rect">
            <a:avLst/>
          </a:prstGeom>
          <a:noFill/>
          <a:ln/>
        </p:spPr>
        <p:txBody>
          <a:bodyPr wrap="square" lIns="0" tIns="0" rIns="0" bIns="0" rtlCol="0" anchor="t"/>
          <a:lstStyle/>
          <a:p>
            <a:pPr marL="203200" indent="-203200">
              <a:lnSpc>
                <a:spcPts val="2000"/>
              </a:lnSpc>
              <a:spcAft>
                <a:spcPts val="800"/>
              </a:spcAft>
              <a:buSzPct val="100000"/>
              <a:buChar char="•"/>
            </a:pPr>
            <a:r>
              <a:rPr lang="en-US" sz="1200" dirty="0">
                <a:solidFill>
                  <a:srgbClr val="6B6785"/>
                </a:solidFill>
                <a:latin typeface="Calibri" pitchFamily="34" charset="0"/>
                <a:ea typeface="Calibri" pitchFamily="34" charset="-122"/>
                <a:cs typeface="Calibri" pitchFamily="34" charset="-120"/>
              </a:rPr>
              <a:t>6–15 items is the usual working range</a:t>
            </a:r>
            <a:endParaRPr lang="en-US" sz="1200" dirty="0"/>
          </a:p>
          <a:p>
            <a:pPr marL="203200" indent="-203200">
              <a:lnSpc>
                <a:spcPts val="2000"/>
              </a:lnSpc>
              <a:spcAft>
                <a:spcPts val="800"/>
              </a:spcAft>
              <a:buSzPct val="100000"/>
              <a:buChar char="•"/>
            </a:pPr>
            <a:r>
              <a:rPr lang="en-US" sz="1200" dirty="0">
                <a:solidFill>
                  <a:srgbClr val="6B6785"/>
                </a:solidFill>
                <a:latin typeface="Calibri" pitchFamily="34" charset="0"/>
                <a:ea typeface="Calibri" pitchFamily="34" charset="-122"/>
                <a:cs typeface="Calibri" pitchFamily="34" charset="-120"/>
              </a:rPr>
              <a:t>Each item taps a different facet — near-duplicates break local independence</a:t>
            </a:r>
            <a:endParaRPr lang="en-US" sz="1200" dirty="0"/>
          </a:p>
          <a:p>
            <a:pPr marL="203200" indent="-203200">
              <a:lnSpc>
                <a:spcPts val="2000"/>
              </a:lnSpc>
              <a:spcAft>
                <a:spcPts val="800"/>
              </a:spcAft>
              <a:buSzPct val="100000"/>
              <a:buChar char="•"/>
            </a:pPr>
            <a:r>
              <a:rPr lang="en-US" sz="1200" dirty="0">
                <a:solidFill>
                  <a:srgbClr val="6B6785"/>
                </a:solidFill>
                <a:latin typeface="Calibri" pitchFamily="34" charset="0"/>
                <a:ea typeface="Calibri" pitchFamily="34" charset="-122"/>
                <a:cs typeface="Calibri" pitchFamily="34" charset="-120"/>
              </a:rPr>
              <a:t>Enough variation: an item endorsed by 2% of people carries almost no information</a:t>
            </a:r>
            <a:endParaRPr lang="en-US" sz="1200" dirty="0"/>
          </a:p>
        </p:txBody>
      </p:sp>
      <p:sp>
        <p:nvSpPr>
          <p:cNvPr id="18" name="Shape 16"/>
          <p:cNvSpPr/>
          <p:nvPr/>
        </p:nvSpPr>
        <p:spPr>
          <a:xfrm>
            <a:off x="6693408" y="4974336"/>
            <a:ext cx="4636008" cy="868680"/>
          </a:xfrm>
          <a:prstGeom prst="roundRect">
            <a:avLst>
              <a:gd name="adj" fmla="val 10526"/>
            </a:avLst>
          </a:prstGeom>
          <a:solidFill>
            <a:srgbClr val="F5F4FA"/>
          </a:solidFill>
          <a:ln w="12700">
            <a:solidFill>
              <a:srgbClr val="DBD8E8"/>
            </a:solidFill>
            <a:prstDash val="solid"/>
          </a:ln>
        </p:spPr>
      </p:sp>
      <p:sp>
        <p:nvSpPr>
          <p:cNvPr id="19" name="Text 17"/>
          <p:cNvSpPr/>
          <p:nvPr/>
        </p:nvSpPr>
        <p:spPr>
          <a:xfrm>
            <a:off x="6912864" y="4974336"/>
            <a:ext cx="4206240" cy="868680"/>
          </a:xfrm>
          <a:prstGeom prst="rect">
            <a:avLst/>
          </a:prstGeom>
          <a:noFill/>
          <a:ln/>
        </p:spPr>
        <p:txBody>
          <a:bodyPr wrap="square" lIns="0" tIns="0" rIns="0" bIns="0" rtlCol="0" anchor="ctr"/>
          <a:lstStyle/>
          <a:p>
            <a:pPr indent="0" marL="0">
              <a:lnSpc>
                <a:spcPts val="1550"/>
              </a:lnSpc>
              <a:buNone/>
            </a:pPr>
            <a:r>
              <a:rPr lang="en-US" sz="1150" dirty="0">
                <a:solidFill>
                  <a:srgbClr val="6B6785"/>
                </a:solidFill>
                <a:latin typeface="Calibri" pitchFamily="34" charset="0"/>
                <a:ea typeface="Calibri" pitchFamily="34" charset="-122"/>
                <a:cs typeface="Calibri" pitchFamily="34" charset="-120"/>
              </a:rPr>
              <a:t>In the UK, start with the UK Data Service: the birth cohorts run by the Centre for Longitudinal Studies, Understanding Society, and linked clinical records.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STEP 3</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Fitting the model — and what to fit it in</a:t>
            </a:r>
            <a:endParaRPr lang="en-US" sz="2900" dirty="0"/>
          </a:p>
        </p:txBody>
      </p:sp>
      <p:sp>
        <p:nvSpPr>
          <p:cNvPr id="4" name="Shape 2"/>
          <p:cNvSpPr/>
          <p:nvPr/>
        </p:nvSpPr>
        <p:spPr>
          <a:xfrm>
            <a:off x="566928" y="1298448"/>
            <a:ext cx="3526536" cy="2084832"/>
          </a:xfrm>
          <a:prstGeom prst="roundRect">
            <a:avLst>
              <a:gd name="adj" fmla="val 4386"/>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5" name="Text 3"/>
          <p:cNvSpPr/>
          <p:nvPr/>
        </p:nvSpPr>
        <p:spPr>
          <a:xfrm>
            <a:off x="822960" y="1463040"/>
            <a:ext cx="2429256" cy="384048"/>
          </a:xfrm>
          <a:prstGeom prst="rect">
            <a:avLst/>
          </a:prstGeom>
          <a:noFill/>
          <a:ln/>
        </p:spPr>
        <p:txBody>
          <a:bodyPr wrap="square" lIns="0" tIns="0" rIns="0" bIns="0" rtlCol="0" anchor="ctr"/>
          <a:lstStyle/>
          <a:p>
            <a:pPr indent="0" marL="0">
              <a:buNone/>
            </a:pPr>
            <a:r>
              <a:rPr lang="en-US" sz="2400" b="1" dirty="0">
                <a:solidFill>
                  <a:srgbClr val="1F8F82"/>
                </a:solidFill>
                <a:latin typeface="Cambria" pitchFamily="34" charset="0"/>
                <a:ea typeface="Cambria" pitchFamily="34" charset="-122"/>
                <a:cs typeface="Cambria" pitchFamily="34" charset="-120"/>
              </a:rPr>
              <a:t>R</a:t>
            </a:r>
            <a:endParaRPr lang="en-US" sz="2400" dirty="0"/>
          </a:p>
        </p:txBody>
      </p:sp>
      <p:sp>
        <p:nvSpPr>
          <p:cNvPr id="6" name="Text 4"/>
          <p:cNvSpPr/>
          <p:nvPr/>
        </p:nvSpPr>
        <p:spPr>
          <a:xfrm>
            <a:off x="3133344" y="1517904"/>
            <a:ext cx="731520" cy="256032"/>
          </a:xfrm>
          <a:prstGeom prst="rect">
            <a:avLst/>
          </a:prstGeom>
          <a:noFill/>
          <a:ln/>
        </p:spPr>
        <p:txBody>
          <a:bodyPr wrap="square" lIns="0" tIns="0" rIns="0" bIns="0" rtlCol="0" anchor="ctr"/>
          <a:lstStyle/>
          <a:p>
            <a:pPr algn="r" indent="0" marL="0">
              <a:buNone/>
            </a:pPr>
            <a:r>
              <a:rPr lang="en-US" sz="1000" b="1" spc="100" kern="0" dirty="0">
                <a:solidFill>
                  <a:srgbClr val="9E9AB4"/>
                </a:solidFill>
                <a:latin typeface="Calibri" pitchFamily="34" charset="0"/>
                <a:ea typeface="Calibri" pitchFamily="34" charset="-122"/>
                <a:cs typeface="Calibri" pitchFamily="34" charset="-120"/>
              </a:rPr>
              <a:t>FREE</a:t>
            </a:r>
            <a:endParaRPr lang="en-US" sz="1000" dirty="0"/>
          </a:p>
        </p:txBody>
      </p:sp>
      <p:sp>
        <p:nvSpPr>
          <p:cNvPr id="7" name="Text 5"/>
          <p:cNvSpPr/>
          <p:nvPr/>
        </p:nvSpPr>
        <p:spPr>
          <a:xfrm>
            <a:off x="822960" y="1938528"/>
            <a:ext cx="3014472" cy="96012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poLCA and tidyLPA / mclust do the job, MplusAutomation drives Mplus from R, and the whole pipeline stays reproducible.</a:t>
            </a:r>
            <a:endParaRPr lang="en-US" sz="1150" dirty="0"/>
          </a:p>
        </p:txBody>
      </p:sp>
      <p:sp>
        <p:nvSpPr>
          <p:cNvPr id="8" name="Text 6"/>
          <p:cNvSpPr/>
          <p:nvPr/>
        </p:nvSpPr>
        <p:spPr>
          <a:xfrm>
            <a:off x="822960" y="2980944"/>
            <a:ext cx="3014472" cy="274320"/>
          </a:xfrm>
          <a:prstGeom prst="rect">
            <a:avLst/>
          </a:prstGeom>
          <a:noFill/>
          <a:ln/>
        </p:spPr>
        <p:txBody>
          <a:bodyPr wrap="square" lIns="0" tIns="0" rIns="0" bIns="0" rtlCol="0" anchor="ctr"/>
          <a:lstStyle/>
          <a:p>
            <a:pPr indent="0" marL="0">
              <a:buNone/>
            </a:pPr>
            <a:r>
              <a:rPr lang="en-US" sz="1100" b="1" i="1" dirty="0">
                <a:solidFill>
                  <a:srgbClr val="1F8F82"/>
                </a:solidFill>
                <a:latin typeface="Calibri" pitchFamily="34" charset="0"/>
                <a:ea typeface="Calibri" pitchFamily="34" charset="-122"/>
                <a:cs typeface="Calibri" pitchFamily="34" charset="-120"/>
              </a:rPr>
              <a:t>Recommended starting point</a:t>
            </a:r>
            <a:endParaRPr lang="en-US" sz="1100" dirty="0"/>
          </a:p>
        </p:txBody>
      </p:sp>
      <p:sp>
        <p:nvSpPr>
          <p:cNvPr id="9" name="Shape 7"/>
          <p:cNvSpPr/>
          <p:nvPr/>
        </p:nvSpPr>
        <p:spPr>
          <a:xfrm>
            <a:off x="4331208" y="1298448"/>
            <a:ext cx="3526536" cy="2084832"/>
          </a:xfrm>
          <a:prstGeom prst="roundRect">
            <a:avLst>
              <a:gd name="adj" fmla="val 4386"/>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0" name="Text 8"/>
          <p:cNvSpPr/>
          <p:nvPr/>
        </p:nvSpPr>
        <p:spPr>
          <a:xfrm>
            <a:off x="4587240" y="1463040"/>
            <a:ext cx="2429256" cy="384048"/>
          </a:xfrm>
          <a:prstGeom prst="rect">
            <a:avLst/>
          </a:prstGeom>
          <a:noFill/>
          <a:ln/>
        </p:spPr>
        <p:txBody>
          <a:bodyPr wrap="square" lIns="0" tIns="0" rIns="0" bIns="0" rtlCol="0" anchor="ctr"/>
          <a:lstStyle/>
          <a:p>
            <a:pPr indent="0" marL="0">
              <a:buNone/>
            </a:pPr>
            <a:r>
              <a:rPr lang="en-US" sz="2400" b="1" dirty="0">
                <a:solidFill>
                  <a:srgbClr val="6F63C9"/>
                </a:solidFill>
                <a:latin typeface="Cambria" pitchFamily="34" charset="0"/>
                <a:ea typeface="Cambria" pitchFamily="34" charset="-122"/>
                <a:cs typeface="Cambria" pitchFamily="34" charset="-120"/>
              </a:rPr>
              <a:t>Mplus</a:t>
            </a:r>
            <a:endParaRPr lang="en-US" sz="2400" dirty="0"/>
          </a:p>
        </p:txBody>
      </p:sp>
      <p:sp>
        <p:nvSpPr>
          <p:cNvPr id="11" name="Text 9"/>
          <p:cNvSpPr/>
          <p:nvPr/>
        </p:nvSpPr>
        <p:spPr>
          <a:xfrm>
            <a:off x="6897624" y="1517904"/>
            <a:ext cx="731520" cy="256032"/>
          </a:xfrm>
          <a:prstGeom prst="rect">
            <a:avLst/>
          </a:prstGeom>
          <a:noFill/>
          <a:ln/>
        </p:spPr>
        <p:txBody>
          <a:bodyPr wrap="square" lIns="0" tIns="0" rIns="0" bIns="0" rtlCol="0" anchor="ctr"/>
          <a:lstStyle/>
          <a:p>
            <a:pPr algn="r" indent="0" marL="0">
              <a:buNone/>
            </a:pPr>
            <a:r>
              <a:rPr lang="en-US" sz="1000" b="1" spc="100" kern="0" dirty="0">
                <a:solidFill>
                  <a:srgbClr val="9E9AB4"/>
                </a:solidFill>
                <a:latin typeface="Calibri" pitchFamily="34" charset="0"/>
                <a:ea typeface="Calibri" pitchFamily="34" charset="-122"/>
                <a:cs typeface="Calibri" pitchFamily="34" charset="-120"/>
              </a:rPr>
              <a:t>PAID</a:t>
            </a:r>
            <a:endParaRPr lang="en-US" sz="1000" dirty="0"/>
          </a:p>
        </p:txBody>
      </p:sp>
      <p:sp>
        <p:nvSpPr>
          <p:cNvPr id="12" name="Text 10"/>
          <p:cNvSpPr/>
          <p:nvPr/>
        </p:nvSpPr>
        <p:spPr>
          <a:xfrm>
            <a:off x="4587240" y="1938528"/>
            <a:ext cx="3014472" cy="96012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The gold standard for mixture models. Fast, complete, does everything — 3-step, BCH, LTA, distal outcomes. The licence is the obstacle.</a:t>
            </a:r>
            <a:endParaRPr lang="en-US" sz="1150" dirty="0"/>
          </a:p>
        </p:txBody>
      </p:sp>
      <p:sp>
        <p:nvSpPr>
          <p:cNvPr id="13" name="Text 11"/>
          <p:cNvSpPr/>
          <p:nvPr/>
        </p:nvSpPr>
        <p:spPr>
          <a:xfrm>
            <a:off x="4587240" y="2980944"/>
            <a:ext cx="3014472" cy="274320"/>
          </a:xfrm>
          <a:prstGeom prst="rect">
            <a:avLst/>
          </a:prstGeom>
          <a:noFill/>
          <a:ln/>
        </p:spPr>
        <p:txBody>
          <a:bodyPr wrap="square" lIns="0" tIns="0" rIns="0" bIns="0" rtlCol="0" anchor="ctr"/>
          <a:lstStyle/>
          <a:p>
            <a:pPr indent="0" marL="0">
              <a:buNone/>
            </a:pPr>
            <a:r>
              <a:rPr lang="en-US" sz="1100" b="1" i="1" dirty="0">
                <a:solidFill>
                  <a:srgbClr val="6F63C9"/>
                </a:solidFill>
                <a:latin typeface="Calibri" pitchFamily="34" charset="0"/>
                <a:ea typeface="Calibri" pitchFamily="34" charset="-122"/>
                <a:cs typeface="Calibri" pitchFamily="34" charset="-120"/>
              </a:rPr>
              <a:t>Gold standard if you have access</a:t>
            </a:r>
            <a:endParaRPr lang="en-US" sz="1100" dirty="0"/>
          </a:p>
        </p:txBody>
      </p:sp>
      <p:sp>
        <p:nvSpPr>
          <p:cNvPr id="14" name="Shape 12"/>
          <p:cNvSpPr/>
          <p:nvPr/>
        </p:nvSpPr>
        <p:spPr>
          <a:xfrm>
            <a:off x="8095488" y="1298448"/>
            <a:ext cx="3526536" cy="2084832"/>
          </a:xfrm>
          <a:prstGeom prst="roundRect">
            <a:avLst>
              <a:gd name="adj" fmla="val 4386"/>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5" name="Text 13"/>
          <p:cNvSpPr/>
          <p:nvPr/>
        </p:nvSpPr>
        <p:spPr>
          <a:xfrm>
            <a:off x="8351520" y="1463040"/>
            <a:ext cx="2429256" cy="384048"/>
          </a:xfrm>
          <a:prstGeom prst="rect">
            <a:avLst/>
          </a:prstGeom>
          <a:noFill/>
          <a:ln/>
        </p:spPr>
        <p:txBody>
          <a:bodyPr wrap="square" lIns="0" tIns="0" rIns="0" bIns="0" rtlCol="0" anchor="ctr"/>
          <a:lstStyle/>
          <a:p>
            <a:pPr indent="0" marL="0">
              <a:buNone/>
            </a:pPr>
            <a:r>
              <a:rPr lang="en-US" sz="2400" b="1" dirty="0">
                <a:solidFill>
                  <a:srgbClr val="D9553C"/>
                </a:solidFill>
                <a:latin typeface="Cambria" pitchFamily="34" charset="0"/>
                <a:ea typeface="Cambria" pitchFamily="34" charset="-122"/>
                <a:cs typeface="Cambria" pitchFamily="34" charset="-120"/>
              </a:rPr>
              <a:t>Stata</a:t>
            </a:r>
            <a:endParaRPr lang="en-US" sz="2400" dirty="0"/>
          </a:p>
        </p:txBody>
      </p:sp>
      <p:sp>
        <p:nvSpPr>
          <p:cNvPr id="16" name="Text 14"/>
          <p:cNvSpPr/>
          <p:nvPr/>
        </p:nvSpPr>
        <p:spPr>
          <a:xfrm>
            <a:off x="10661904" y="1517904"/>
            <a:ext cx="731520" cy="256032"/>
          </a:xfrm>
          <a:prstGeom prst="rect">
            <a:avLst/>
          </a:prstGeom>
          <a:noFill/>
          <a:ln/>
        </p:spPr>
        <p:txBody>
          <a:bodyPr wrap="square" lIns="0" tIns="0" rIns="0" bIns="0" rtlCol="0" anchor="ctr"/>
          <a:lstStyle/>
          <a:p>
            <a:pPr algn="r" indent="0" marL="0">
              <a:buNone/>
            </a:pPr>
            <a:r>
              <a:rPr lang="en-US" sz="1000" b="1" spc="100" kern="0" dirty="0">
                <a:solidFill>
                  <a:srgbClr val="9E9AB4"/>
                </a:solidFill>
                <a:latin typeface="Calibri" pitchFamily="34" charset="0"/>
                <a:ea typeface="Calibri" pitchFamily="34" charset="-122"/>
                <a:cs typeface="Calibri" pitchFamily="34" charset="-120"/>
              </a:rPr>
              <a:t>PAID</a:t>
            </a:r>
            <a:endParaRPr lang="en-US" sz="1000" dirty="0"/>
          </a:p>
        </p:txBody>
      </p:sp>
      <p:sp>
        <p:nvSpPr>
          <p:cNvPr id="17" name="Text 15"/>
          <p:cNvSpPr/>
          <p:nvPr/>
        </p:nvSpPr>
        <p:spPr>
          <a:xfrm>
            <a:off x="8351520" y="1938528"/>
            <a:ext cx="3014472" cy="96012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Works via gsem, but is not well optimised for mixtures: slow, fewer fit statistics reported, harder to tune. Usable, not ideal.</a:t>
            </a:r>
            <a:endParaRPr lang="en-US" sz="1150" dirty="0"/>
          </a:p>
        </p:txBody>
      </p:sp>
      <p:sp>
        <p:nvSpPr>
          <p:cNvPr id="18" name="Text 16"/>
          <p:cNvSpPr/>
          <p:nvPr/>
        </p:nvSpPr>
        <p:spPr>
          <a:xfrm>
            <a:off x="8351520" y="2980944"/>
            <a:ext cx="3014472" cy="274320"/>
          </a:xfrm>
          <a:prstGeom prst="rect">
            <a:avLst/>
          </a:prstGeom>
          <a:noFill/>
          <a:ln/>
        </p:spPr>
        <p:txBody>
          <a:bodyPr wrap="square" lIns="0" tIns="0" rIns="0" bIns="0" rtlCol="0" anchor="ctr"/>
          <a:lstStyle/>
          <a:p>
            <a:pPr indent="0" marL="0">
              <a:buNone/>
            </a:pPr>
            <a:r>
              <a:rPr lang="en-US" sz="1100" b="1" i="1" dirty="0">
                <a:solidFill>
                  <a:srgbClr val="D9553C"/>
                </a:solidFill>
                <a:latin typeface="Calibri" pitchFamily="34" charset="0"/>
                <a:ea typeface="Calibri" pitchFamily="34" charset="-122"/>
                <a:cs typeface="Calibri" pitchFamily="34" charset="-120"/>
              </a:rPr>
              <a:t>Fine if it is all you have</a:t>
            </a:r>
            <a:endParaRPr lang="en-US" sz="1100" dirty="0"/>
          </a:p>
        </p:txBody>
      </p:sp>
      <p:sp>
        <p:nvSpPr>
          <p:cNvPr id="19" name="Shape 17"/>
          <p:cNvSpPr/>
          <p:nvPr/>
        </p:nvSpPr>
        <p:spPr>
          <a:xfrm>
            <a:off x="566928" y="3584448"/>
            <a:ext cx="5486400" cy="2377440"/>
          </a:xfrm>
          <a:prstGeom prst="roundRect">
            <a:avLst>
              <a:gd name="adj" fmla="val 3846"/>
            </a:avLst>
          </a:prstGeom>
          <a:solidFill>
            <a:srgbClr val="F5F4FA"/>
          </a:solidFill>
          <a:ln w="12700">
            <a:solidFill>
              <a:srgbClr val="DBD8E8"/>
            </a:solidFill>
            <a:prstDash val="solid"/>
          </a:ln>
        </p:spPr>
      </p:sp>
      <p:sp>
        <p:nvSpPr>
          <p:cNvPr id="20" name="Text 18"/>
          <p:cNvSpPr/>
          <p:nvPr/>
        </p:nvSpPr>
        <p:spPr>
          <a:xfrm>
            <a:off x="859536" y="3749040"/>
            <a:ext cx="4846320" cy="310896"/>
          </a:xfrm>
          <a:prstGeom prst="rect">
            <a:avLst/>
          </a:prstGeom>
          <a:noFill/>
          <a:ln/>
        </p:spPr>
        <p:txBody>
          <a:bodyPr wrap="square" lIns="0" tIns="0" rIns="0" bIns="0" rtlCol="0" anchor="ctr"/>
          <a:lstStyle/>
          <a:p>
            <a:pPr indent="0" marL="0">
              <a:buNone/>
            </a:pPr>
            <a:r>
              <a:rPr lang="en-US" sz="1800" b="1" dirty="0">
                <a:solidFill>
                  <a:srgbClr val="1A1633"/>
                </a:solidFill>
                <a:latin typeface="Cambria" pitchFamily="34" charset="0"/>
                <a:ea typeface="Cambria" pitchFamily="34" charset="-122"/>
                <a:cs typeface="Cambria" pitchFamily="34" charset="-120"/>
              </a:rPr>
              <a:t>What “model fit” means</a:t>
            </a:r>
            <a:endParaRPr lang="en-US" sz="1800" dirty="0"/>
          </a:p>
        </p:txBody>
      </p:sp>
      <p:sp>
        <p:nvSpPr>
          <p:cNvPr id="21" name="Text 19"/>
          <p:cNvSpPr/>
          <p:nvPr/>
        </p:nvSpPr>
        <p:spPr>
          <a:xfrm>
            <a:off x="859536" y="4133088"/>
            <a:ext cx="4846320" cy="914400"/>
          </a:xfrm>
          <a:prstGeom prst="rect">
            <a:avLst/>
          </a:prstGeom>
          <a:noFill/>
          <a:ln/>
        </p:spPr>
        <p:txBody>
          <a:bodyPr wrap="square" lIns="0" tIns="0" rIns="0" bIns="0" rtlCol="0" anchor="t"/>
          <a:lstStyle/>
          <a:p>
            <a:pPr indent="0" marL="0">
              <a:lnSpc>
                <a:spcPts val="1700"/>
              </a:lnSpc>
              <a:buNone/>
            </a:pPr>
            <a:r>
              <a:rPr lang="en-US" sz="1250" dirty="0">
                <a:solidFill>
                  <a:srgbClr val="6B6785"/>
                </a:solidFill>
                <a:latin typeface="Calibri" pitchFamily="34" charset="0"/>
                <a:ea typeface="Calibri" pitchFamily="34" charset="-122"/>
                <a:cs typeface="Calibri" pitchFamily="34" charset="-120"/>
              </a:rPr>
              <a:t>How closely the model you built reproduces the data you actually have. Think of trying on a jumper: too small and it strains, too big and it hangs. Goodness-of-fit statistics are how you check the size without a mirror.</a:t>
            </a:r>
            <a:endParaRPr lang="en-US" sz="1250" dirty="0"/>
          </a:p>
        </p:txBody>
      </p:sp>
      <p:sp>
        <p:nvSpPr>
          <p:cNvPr id="22" name="Text 20"/>
          <p:cNvSpPr/>
          <p:nvPr/>
        </p:nvSpPr>
        <p:spPr>
          <a:xfrm>
            <a:off x="859536" y="5102352"/>
            <a:ext cx="4846320" cy="713232"/>
          </a:xfrm>
          <a:prstGeom prst="rect">
            <a:avLst/>
          </a:prstGeom>
          <a:noFill/>
          <a:ln/>
        </p:spPr>
        <p:txBody>
          <a:bodyPr wrap="square" lIns="0" tIns="0" rIns="0" bIns="0" rtlCol="0" anchor="t"/>
          <a:lstStyle/>
          <a:p>
            <a:pPr indent="0" marL="0">
              <a:lnSpc>
                <a:spcPts val="1600"/>
              </a:lnSpc>
              <a:buNone/>
            </a:pPr>
            <a:r>
              <a:rPr lang="en-US" sz="1150" i="1" dirty="0">
                <a:solidFill>
                  <a:srgbClr val="D9553C"/>
                </a:solidFill>
                <a:latin typeface="Calibri" pitchFamily="34" charset="0"/>
                <a:ea typeface="Calibri" pitchFamily="34" charset="-122"/>
                <a:cs typeface="Calibri" pitchFamily="34" charset="-120"/>
              </a:rPr>
              <a:t>Before reading any fit statistic, check the model converged and that the best log-likelihood replicated across random starts. A non-replicated solution is a local maximum, not a result.</a:t>
            </a:r>
            <a:endParaRPr lang="en-US" sz="1150" dirty="0"/>
          </a:p>
        </p:txBody>
      </p:sp>
      <p:sp>
        <p:nvSpPr>
          <p:cNvPr id="23" name="Shape 21"/>
          <p:cNvSpPr/>
          <p:nvPr/>
        </p:nvSpPr>
        <p:spPr>
          <a:xfrm>
            <a:off x="6382512" y="3584448"/>
            <a:ext cx="5239512" cy="2377440"/>
          </a:xfrm>
          <a:prstGeom prst="roundRect">
            <a:avLst>
              <a:gd name="adj" fmla="val 3846"/>
            </a:avLst>
          </a:prstGeom>
          <a:solidFill>
            <a:srgbClr val="FAF3F1"/>
          </a:solidFill>
          <a:ln w="12700">
            <a:solidFill>
              <a:srgbClr val="EBD5CD"/>
            </a:solidFill>
            <a:prstDash val="solid"/>
          </a:ln>
        </p:spPr>
      </p:sp>
      <p:sp>
        <p:nvSpPr>
          <p:cNvPr id="24" name="Text 22"/>
          <p:cNvSpPr/>
          <p:nvPr/>
        </p:nvSpPr>
        <p:spPr>
          <a:xfrm>
            <a:off x="6675120" y="3749040"/>
            <a:ext cx="4663440" cy="310896"/>
          </a:xfrm>
          <a:prstGeom prst="rect">
            <a:avLst/>
          </a:prstGeom>
          <a:noFill/>
          <a:ln/>
        </p:spPr>
        <p:txBody>
          <a:bodyPr wrap="square" lIns="0" tIns="0" rIns="0" bIns="0" rtlCol="0" anchor="ctr"/>
          <a:lstStyle/>
          <a:p>
            <a:pPr indent="0" marL="0">
              <a:buNone/>
            </a:pPr>
            <a:r>
              <a:rPr lang="en-US" sz="1800" b="1" dirty="0">
                <a:solidFill>
                  <a:srgbClr val="1A1633"/>
                </a:solidFill>
                <a:latin typeface="Cambria" pitchFamily="34" charset="0"/>
                <a:ea typeface="Cambria" pitchFamily="34" charset="-122"/>
                <a:cs typeface="Cambria" pitchFamily="34" charset="-120"/>
              </a:rPr>
              <a:t>What fit statistics protect you from</a:t>
            </a:r>
            <a:endParaRPr lang="en-US" sz="1800" dirty="0"/>
          </a:p>
        </p:txBody>
      </p:sp>
      <p:sp>
        <p:nvSpPr>
          <p:cNvPr id="25" name="Text 23"/>
          <p:cNvSpPr/>
          <p:nvPr/>
        </p:nvSpPr>
        <p:spPr>
          <a:xfrm>
            <a:off x="6675120" y="4187952"/>
            <a:ext cx="4663440" cy="777240"/>
          </a:xfrm>
          <a:prstGeom prst="rect">
            <a:avLst/>
          </a:prstGeom>
          <a:noFill/>
          <a:ln/>
        </p:spPr>
        <p:txBody>
          <a:bodyPr wrap="square" lIns="0" tIns="0" rIns="0" bIns="0" rtlCol="0" anchor="t"/>
          <a:lstStyle/>
          <a:p>
            <a:pPr indent="0" marL="0">
              <a:lnSpc>
                <a:spcPts val="1700"/>
              </a:lnSpc>
              <a:buNone/>
            </a:pPr>
            <a:r>
              <a:rPr lang="en-US" sz="1250" dirty="0">
                <a:solidFill>
                  <a:srgbClr val="6B6785"/>
                </a:solidFill>
                <a:latin typeface="Calibri" pitchFamily="34" charset="0"/>
                <a:ea typeface="Calibri" pitchFamily="34" charset="-122"/>
                <a:cs typeface="Calibri" pitchFamily="34" charset="-120"/>
              </a:rPr>
              <a:t>An overfitted model has learned the quirks and random noise of your particular sample. It describes those 800 people beautifully and generalises to nobody.</a:t>
            </a:r>
            <a:endParaRPr lang="en-US" sz="1250" dirty="0"/>
          </a:p>
        </p:txBody>
      </p:sp>
      <p:sp>
        <p:nvSpPr>
          <p:cNvPr id="26" name="Text 24"/>
          <p:cNvSpPr/>
          <p:nvPr/>
        </p:nvSpPr>
        <p:spPr>
          <a:xfrm>
            <a:off x="6675120" y="5010912"/>
            <a:ext cx="4663440" cy="777240"/>
          </a:xfrm>
          <a:prstGeom prst="rect">
            <a:avLst/>
          </a:prstGeom>
          <a:noFill/>
          <a:ln/>
        </p:spPr>
        <p:txBody>
          <a:bodyPr wrap="square" lIns="0" tIns="0" rIns="0" bIns="0" rtlCol="0" anchor="t"/>
          <a:lstStyle/>
          <a:p>
            <a:pPr indent="0" marL="0">
              <a:lnSpc>
                <a:spcPts val="1700"/>
              </a:lnSpc>
              <a:buNone/>
            </a:pPr>
            <a:r>
              <a:rPr lang="en-US" sz="1250" dirty="0">
                <a:solidFill>
                  <a:srgbClr val="6B6785"/>
                </a:solidFill>
                <a:latin typeface="Calibri" pitchFamily="34" charset="0"/>
                <a:ea typeface="Calibri" pitchFamily="34" charset="-122"/>
                <a:cs typeface="Calibri" pitchFamily="34" charset="-120"/>
              </a:rPr>
              <a:t>Penalised criteria such as BIC add a cost for every extra parameter, so a more complicated model has to earn its complexity in improved likelihood before it wins.</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STEP 3 · CHEAT SHEET</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The goodness-of-fit statistics, decoded</a:t>
            </a:r>
            <a:endParaRPr lang="en-US" sz="2900" dirty="0"/>
          </a:p>
        </p:txBody>
      </p:sp>
      <p:sp>
        <p:nvSpPr>
          <p:cNvPr id="4" name="Text 2"/>
          <p:cNvSpPr/>
          <p:nvPr/>
        </p:nvSpPr>
        <p:spPr>
          <a:xfrm>
            <a:off x="566928" y="1261872"/>
            <a:ext cx="11055096" cy="329184"/>
          </a:xfrm>
          <a:prstGeom prst="rect">
            <a:avLst/>
          </a:prstGeom>
          <a:noFill/>
          <a:ln/>
        </p:spPr>
        <p:txBody>
          <a:bodyPr wrap="square" lIns="0" tIns="0" rIns="0" bIns="0" rtlCol="0" anchor="t"/>
          <a:lstStyle/>
          <a:p>
            <a:pPr algn="l" indent="0" marL="0">
              <a:lnSpc>
                <a:spcPts val="2100"/>
              </a:lnSpc>
              <a:buNone/>
            </a:pPr>
            <a:r>
              <a:rPr lang="en-US" sz="1300" dirty="0">
                <a:solidFill>
                  <a:srgbClr val="6B6785"/>
                </a:solidFill>
                <a:latin typeface="Calibri" pitchFamily="34" charset="0"/>
                <a:ea typeface="Calibri" pitchFamily="34" charset="-122"/>
                <a:cs typeface="Calibri" pitchFamily="34" charset="-120"/>
              </a:rPr>
              <a:t>There are many, they overlap, and no single one settles the question. Report several and look for agreement.</a:t>
            </a:r>
            <a:endParaRPr lang="en-US" sz="1300" dirty="0"/>
          </a:p>
        </p:txBody>
      </p:sp>
      <p:sp>
        <p:nvSpPr>
          <p:cNvPr id="5" name="Shape 3"/>
          <p:cNvSpPr/>
          <p:nvPr/>
        </p:nvSpPr>
        <p:spPr>
          <a:xfrm>
            <a:off x="566928" y="1700784"/>
            <a:ext cx="11055096" cy="438912"/>
          </a:xfrm>
          <a:prstGeom prst="rect">
            <a:avLst/>
          </a:prstGeom>
          <a:solidFill>
            <a:srgbClr val="2A2356"/>
          </a:solidFill>
          <a:ln w="12700">
            <a:solidFill>
              <a:srgbClr val="2A2356"/>
            </a:solidFill>
            <a:prstDash val="solid"/>
          </a:ln>
        </p:spPr>
      </p:sp>
      <p:sp>
        <p:nvSpPr>
          <p:cNvPr id="6" name="Text 4"/>
          <p:cNvSpPr/>
          <p:nvPr/>
        </p:nvSpPr>
        <p:spPr>
          <a:xfrm>
            <a:off x="694944" y="1700784"/>
            <a:ext cx="2012823" cy="43891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STATISTIC</a:t>
            </a:r>
            <a:endParaRPr lang="en-US" sz="1050" dirty="0"/>
          </a:p>
        </p:txBody>
      </p:sp>
      <p:sp>
        <p:nvSpPr>
          <p:cNvPr id="7" name="Text 5"/>
          <p:cNvSpPr/>
          <p:nvPr/>
        </p:nvSpPr>
        <p:spPr>
          <a:xfrm>
            <a:off x="2927223" y="1700784"/>
            <a:ext cx="4245102" cy="43891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WHAT IT IS</a:t>
            </a:r>
            <a:endParaRPr lang="en-US" sz="1050" dirty="0"/>
          </a:p>
        </p:txBody>
      </p:sp>
      <p:sp>
        <p:nvSpPr>
          <p:cNvPr id="8" name="Text 6"/>
          <p:cNvSpPr/>
          <p:nvPr/>
        </p:nvSpPr>
        <p:spPr>
          <a:xfrm>
            <a:off x="7391781" y="1700784"/>
            <a:ext cx="4138803" cy="43891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HOW TO READ IT</a:t>
            </a:r>
            <a:endParaRPr lang="en-US" sz="1050" dirty="0"/>
          </a:p>
        </p:txBody>
      </p:sp>
      <p:sp>
        <p:nvSpPr>
          <p:cNvPr id="9" name="Shape 7"/>
          <p:cNvSpPr/>
          <p:nvPr/>
        </p:nvSpPr>
        <p:spPr>
          <a:xfrm>
            <a:off x="566928" y="2139696"/>
            <a:ext cx="11055096" cy="434340"/>
          </a:xfrm>
          <a:prstGeom prst="rect">
            <a:avLst/>
          </a:prstGeom>
          <a:solidFill>
            <a:srgbClr val="FFFFFF"/>
          </a:solidFill>
          <a:ln w="7620">
            <a:solidFill>
              <a:srgbClr val="DBD8E8"/>
            </a:solidFill>
            <a:prstDash val="solid"/>
          </a:ln>
        </p:spPr>
      </p:sp>
      <p:sp>
        <p:nvSpPr>
          <p:cNvPr id="10" name="Text 8"/>
          <p:cNvSpPr/>
          <p:nvPr/>
        </p:nvSpPr>
        <p:spPr>
          <a:xfrm>
            <a:off x="694944" y="2139696"/>
            <a:ext cx="201282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Log-likelihood</a:t>
            </a:r>
            <a:endParaRPr lang="en-US" sz="1150" dirty="0"/>
          </a:p>
        </p:txBody>
      </p:sp>
      <p:sp>
        <p:nvSpPr>
          <p:cNvPr id="11" name="Text 9"/>
          <p:cNvSpPr/>
          <p:nvPr/>
        </p:nvSpPr>
        <p:spPr>
          <a:xfrm>
            <a:off x="2927223" y="2139696"/>
            <a:ext cx="4245102"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Raw fit of the model to the data</a:t>
            </a:r>
            <a:endParaRPr lang="en-US" sz="1150" dirty="0"/>
          </a:p>
        </p:txBody>
      </p:sp>
      <p:sp>
        <p:nvSpPr>
          <p:cNvPr id="12" name="Text 10"/>
          <p:cNvSpPr/>
          <p:nvPr/>
        </p:nvSpPr>
        <p:spPr>
          <a:xfrm>
            <a:off x="7391781" y="2139696"/>
            <a:ext cx="4138803"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Always improves with more classes — never use it alone. Check it replicates.</a:t>
            </a:r>
            <a:endParaRPr lang="en-US" sz="1150" dirty="0"/>
          </a:p>
        </p:txBody>
      </p:sp>
      <p:sp>
        <p:nvSpPr>
          <p:cNvPr id="13" name="Shape 11"/>
          <p:cNvSpPr/>
          <p:nvPr/>
        </p:nvSpPr>
        <p:spPr>
          <a:xfrm>
            <a:off x="566928" y="2574036"/>
            <a:ext cx="11055096" cy="434340"/>
          </a:xfrm>
          <a:prstGeom prst="rect">
            <a:avLst/>
          </a:prstGeom>
          <a:solidFill>
            <a:srgbClr val="F5F4FA"/>
          </a:solidFill>
          <a:ln w="7620">
            <a:solidFill>
              <a:srgbClr val="DBD8E8"/>
            </a:solidFill>
            <a:prstDash val="solid"/>
          </a:ln>
        </p:spPr>
      </p:sp>
      <p:sp>
        <p:nvSpPr>
          <p:cNvPr id="14" name="Text 12"/>
          <p:cNvSpPr/>
          <p:nvPr/>
        </p:nvSpPr>
        <p:spPr>
          <a:xfrm>
            <a:off x="694944" y="2574036"/>
            <a:ext cx="201282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AIC</a:t>
            </a:r>
            <a:endParaRPr lang="en-US" sz="1150" dirty="0"/>
          </a:p>
        </p:txBody>
      </p:sp>
      <p:sp>
        <p:nvSpPr>
          <p:cNvPr id="15" name="Text 13"/>
          <p:cNvSpPr/>
          <p:nvPr/>
        </p:nvSpPr>
        <p:spPr>
          <a:xfrm>
            <a:off x="2927223" y="2574036"/>
            <a:ext cx="4245102"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−2LL + 2p</a:t>
            </a:r>
            <a:endParaRPr lang="en-US" sz="1150" dirty="0"/>
          </a:p>
        </p:txBody>
      </p:sp>
      <p:sp>
        <p:nvSpPr>
          <p:cNvPr id="16" name="Text 14"/>
          <p:cNvSpPr/>
          <p:nvPr/>
        </p:nvSpPr>
        <p:spPr>
          <a:xfrm>
            <a:off x="7391781" y="2574036"/>
            <a:ext cx="4138803"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Lower is better. Tends to favour too many classes.</a:t>
            </a:r>
            <a:endParaRPr lang="en-US" sz="1150" dirty="0"/>
          </a:p>
        </p:txBody>
      </p:sp>
      <p:sp>
        <p:nvSpPr>
          <p:cNvPr id="17" name="Shape 15"/>
          <p:cNvSpPr/>
          <p:nvPr/>
        </p:nvSpPr>
        <p:spPr>
          <a:xfrm>
            <a:off x="566928" y="3008376"/>
            <a:ext cx="11055096" cy="434340"/>
          </a:xfrm>
          <a:prstGeom prst="rect">
            <a:avLst/>
          </a:prstGeom>
          <a:solidFill>
            <a:srgbClr val="FFFFFF"/>
          </a:solidFill>
          <a:ln w="7620">
            <a:solidFill>
              <a:srgbClr val="DBD8E8"/>
            </a:solidFill>
            <a:prstDash val="solid"/>
          </a:ln>
        </p:spPr>
      </p:sp>
      <p:sp>
        <p:nvSpPr>
          <p:cNvPr id="18" name="Text 16"/>
          <p:cNvSpPr/>
          <p:nvPr/>
        </p:nvSpPr>
        <p:spPr>
          <a:xfrm>
            <a:off x="694944" y="3008376"/>
            <a:ext cx="201282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BIC</a:t>
            </a:r>
            <a:endParaRPr lang="en-US" sz="1150" dirty="0"/>
          </a:p>
        </p:txBody>
      </p:sp>
      <p:sp>
        <p:nvSpPr>
          <p:cNvPr id="19" name="Text 17"/>
          <p:cNvSpPr/>
          <p:nvPr/>
        </p:nvSpPr>
        <p:spPr>
          <a:xfrm>
            <a:off x="2927223" y="3008376"/>
            <a:ext cx="4245102"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−2LL + p·ln(n)</a:t>
            </a:r>
            <a:endParaRPr lang="en-US" sz="1150" dirty="0"/>
          </a:p>
        </p:txBody>
      </p:sp>
      <p:sp>
        <p:nvSpPr>
          <p:cNvPr id="20" name="Text 18"/>
          <p:cNvSpPr/>
          <p:nvPr/>
        </p:nvSpPr>
        <p:spPr>
          <a:xfrm>
            <a:off x="7391781" y="3008376"/>
            <a:ext cx="413880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Lower is better. The one you will see in every paper.</a:t>
            </a:r>
            <a:endParaRPr lang="en-US" sz="1150" dirty="0"/>
          </a:p>
        </p:txBody>
      </p:sp>
      <p:sp>
        <p:nvSpPr>
          <p:cNvPr id="21" name="Shape 19"/>
          <p:cNvSpPr/>
          <p:nvPr/>
        </p:nvSpPr>
        <p:spPr>
          <a:xfrm>
            <a:off x="566928" y="3442716"/>
            <a:ext cx="11055096" cy="434340"/>
          </a:xfrm>
          <a:prstGeom prst="rect">
            <a:avLst/>
          </a:prstGeom>
          <a:solidFill>
            <a:srgbClr val="F5F4FA"/>
          </a:solidFill>
          <a:ln w="7620">
            <a:solidFill>
              <a:srgbClr val="DBD8E8"/>
            </a:solidFill>
            <a:prstDash val="solid"/>
          </a:ln>
        </p:spPr>
      </p:sp>
      <p:sp>
        <p:nvSpPr>
          <p:cNvPr id="22" name="Text 20"/>
          <p:cNvSpPr/>
          <p:nvPr/>
        </p:nvSpPr>
        <p:spPr>
          <a:xfrm>
            <a:off x="694944" y="3442716"/>
            <a:ext cx="201282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aBIC (SSA-BIC)</a:t>
            </a:r>
            <a:endParaRPr lang="en-US" sz="1150" dirty="0"/>
          </a:p>
        </p:txBody>
      </p:sp>
      <p:sp>
        <p:nvSpPr>
          <p:cNvPr id="23" name="Text 21"/>
          <p:cNvSpPr/>
          <p:nvPr/>
        </p:nvSpPr>
        <p:spPr>
          <a:xfrm>
            <a:off x="2927223" y="3442716"/>
            <a:ext cx="4245102"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BIC with a sample-size adjustment</a:t>
            </a:r>
            <a:endParaRPr lang="en-US" sz="1150" dirty="0"/>
          </a:p>
        </p:txBody>
      </p:sp>
      <p:sp>
        <p:nvSpPr>
          <p:cNvPr id="24" name="Text 22"/>
          <p:cNvSpPr/>
          <p:nvPr/>
        </p:nvSpPr>
        <p:spPr>
          <a:xfrm>
            <a:off x="7391781" y="3442716"/>
            <a:ext cx="4138803"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Lower is better. Performs well when n is modest.</a:t>
            </a:r>
            <a:endParaRPr lang="en-US" sz="1150" dirty="0"/>
          </a:p>
        </p:txBody>
      </p:sp>
      <p:sp>
        <p:nvSpPr>
          <p:cNvPr id="25" name="Shape 23"/>
          <p:cNvSpPr/>
          <p:nvPr/>
        </p:nvSpPr>
        <p:spPr>
          <a:xfrm>
            <a:off x="566928" y="3877056"/>
            <a:ext cx="11055096" cy="434340"/>
          </a:xfrm>
          <a:prstGeom prst="rect">
            <a:avLst/>
          </a:prstGeom>
          <a:solidFill>
            <a:srgbClr val="FFFFFF"/>
          </a:solidFill>
          <a:ln w="7620">
            <a:solidFill>
              <a:srgbClr val="DBD8E8"/>
            </a:solidFill>
            <a:prstDash val="solid"/>
          </a:ln>
        </p:spPr>
      </p:sp>
      <p:sp>
        <p:nvSpPr>
          <p:cNvPr id="26" name="Text 24"/>
          <p:cNvSpPr/>
          <p:nvPr/>
        </p:nvSpPr>
        <p:spPr>
          <a:xfrm>
            <a:off x="694944" y="3877056"/>
            <a:ext cx="201282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Entropy</a:t>
            </a:r>
            <a:endParaRPr lang="en-US" sz="1150" dirty="0"/>
          </a:p>
        </p:txBody>
      </p:sp>
      <p:sp>
        <p:nvSpPr>
          <p:cNvPr id="27" name="Text 25"/>
          <p:cNvSpPr/>
          <p:nvPr/>
        </p:nvSpPr>
        <p:spPr>
          <a:xfrm>
            <a:off x="2927223" y="3877056"/>
            <a:ext cx="4245102"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How cleanly people are classified, 0 to 1</a:t>
            </a:r>
            <a:endParaRPr lang="en-US" sz="1150" dirty="0"/>
          </a:p>
        </p:txBody>
      </p:sp>
      <p:sp>
        <p:nvSpPr>
          <p:cNvPr id="28" name="Text 26"/>
          <p:cNvSpPr/>
          <p:nvPr/>
        </p:nvSpPr>
        <p:spPr>
          <a:xfrm>
            <a:off x="7391781" y="3877056"/>
            <a:ext cx="4138803" cy="434340"/>
          </a:xfrm>
          <a:prstGeom prst="rect">
            <a:avLst/>
          </a:prstGeom>
          <a:noFill/>
          <a:ln/>
        </p:spPr>
        <p:txBody>
          <a:bodyPr wrap="square" lIns="0" tIns="0" rIns="0" bIns="0" rtlCol="0" anchor="ctr"/>
          <a:lstStyle/>
          <a:p>
            <a:pPr algn="l" indent="0" marL="0">
              <a:buNone/>
            </a:pPr>
            <a:r>
              <a:rPr lang="en-US" sz="1150" dirty="0">
                <a:solidFill>
                  <a:srgbClr val="D9553C"/>
                </a:solidFill>
                <a:latin typeface="Calibri" pitchFamily="34" charset="0"/>
                <a:ea typeface="Calibri" pitchFamily="34" charset="-122"/>
                <a:cs typeface="Calibri" pitchFamily="34" charset="-120"/>
              </a:rPr>
              <a:t>≥0.80 = clear separation. NOT a tool for choosing k.</a:t>
            </a:r>
            <a:endParaRPr lang="en-US" sz="1150" dirty="0"/>
          </a:p>
        </p:txBody>
      </p:sp>
      <p:sp>
        <p:nvSpPr>
          <p:cNvPr id="29" name="Shape 27"/>
          <p:cNvSpPr/>
          <p:nvPr/>
        </p:nvSpPr>
        <p:spPr>
          <a:xfrm>
            <a:off x="566928" y="4311396"/>
            <a:ext cx="11055096" cy="434340"/>
          </a:xfrm>
          <a:prstGeom prst="rect">
            <a:avLst/>
          </a:prstGeom>
          <a:solidFill>
            <a:srgbClr val="F5F4FA"/>
          </a:solidFill>
          <a:ln w="7620">
            <a:solidFill>
              <a:srgbClr val="DBD8E8"/>
            </a:solidFill>
            <a:prstDash val="solid"/>
          </a:ln>
        </p:spPr>
      </p:sp>
      <p:sp>
        <p:nvSpPr>
          <p:cNvPr id="30" name="Text 28"/>
          <p:cNvSpPr/>
          <p:nvPr/>
        </p:nvSpPr>
        <p:spPr>
          <a:xfrm>
            <a:off x="694944" y="4311396"/>
            <a:ext cx="201282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VLMR / LMR-LRT</a:t>
            </a:r>
            <a:endParaRPr lang="en-US" sz="1150" dirty="0"/>
          </a:p>
        </p:txBody>
      </p:sp>
      <p:sp>
        <p:nvSpPr>
          <p:cNvPr id="31" name="Text 29"/>
          <p:cNvSpPr/>
          <p:nvPr/>
        </p:nvSpPr>
        <p:spPr>
          <a:xfrm>
            <a:off x="2927223" y="4311396"/>
            <a:ext cx="4245102"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Tests k classes against k−1</a:t>
            </a:r>
            <a:endParaRPr lang="en-US" sz="1150" dirty="0"/>
          </a:p>
        </p:txBody>
      </p:sp>
      <p:sp>
        <p:nvSpPr>
          <p:cNvPr id="32" name="Text 30"/>
          <p:cNvSpPr/>
          <p:nvPr/>
        </p:nvSpPr>
        <p:spPr>
          <a:xfrm>
            <a:off x="7391781" y="4311396"/>
            <a:ext cx="4138803"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p &lt; .05 → keep k. p &gt; .05 → k−1 was enough.</a:t>
            </a:r>
            <a:endParaRPr lang="en-US" sz="1150" dirty="0"/>
          </a:p>
        </p:txBody>
      </p:sp>
      <p:sp>
        <p:nvSpPr>
          <p:cNvPr id="33" name="Shape 31"/>
          <p:cNvSpPr/>
          <p:nvPr/>
        </p:nvSpPr>
        <p:spPr>
          <a:xfrm>
            <a:off x="566928" y="4745736"/>
            <a:ext cx="11055096" cy="434340"/>
          </a:xfrm>
          <a:prstGeom prst="rect">
            <a:avLst/>
          </a:prstGeom>
          <a:solidFill>
            <a:srgbClr val="FFFFFF"/>
          </a:solidFill>
          <a:ln w="7620">
            <a:solidFill>
              <a:srgbClr val="DBD8E8"/>
            </a:solidFill>
            <a:prstDash val="solid"/>
          </a:ln>
        </p:spPr>
      </p:sp>
      <p:sp>
        <p:nvSpPr>
          <p:cNvPr id="34" name="Text 32"/>
          <p:cNvSpPr/>
          <p:nvPr/>
        </p:nvSpPr>
        <p:spPr>
          <a:xfrm>
            <a:off x="694944" y="4745736"/>
            <a:ext cx="201282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BLRT</a:t>
            </a:r>
            <a:endParaRPr lang="en-US" sz="1150" dirty="0"/>
          </a:p>
        </p:txBody>
      </p:sp>
      <p:sp>
        <p:nvSpPr>
          <p:cNvPr id="35" name="Text 33"/>
          <p:cNvSpPr/>
          <p:nvPr/>
        </p:nvSpPr>
        <p:spPr>
          <a:xfrm>
            <a:off x="2927223" y="4745736"/>
            <a:ext cx="4245102"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Bootstrapped version of the same test</a:t>
            </a:r>
            <a:endParaRPr lang="en-US" sz="1150" dirty="0"/>
          </a:p>
        </p:txBody>
      </p:sp>
      <p:sp>
        <p:nvSpPr>
          <p:cNvPr id="36" name="Text 34"/>
          <p:cNvSpPr/>
          <p:nvPr/>
        </p:nvSpPr>
        <p:spPr>
          <a:xfrm>
            <a:off x="7391781" y="4745736"/>
            <a:ext cx="4138803"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Best performer in simulation studies. Slow to run.</a:t>
            </a:r>
            <a:endParaRPr lang="en-US" sz="1150" dirty="0"/>
          </a:p>
        </p:txBody>
      </p:sp>
      <p:sp>
        <p:nvSpPr>
          <p:cNvPr id="37" name="Shape 35"/>
          <p:cNvSpPr/>
          <p:nvPr/>
        </p:nvSpPr>
        <p:spPr>
          <a:xfrm>
            <a:off x="566928" y="5180076"/>
            <a:ext cx="11055096" cy="434340"/>
          </a:xfrm>
          <a:prstGeom prst="rect">
            <a:avLst/>
          </a:prstGeom>
          <a:solidFill>
            <a:srgbClr val="F5F4FA"/>
          </a:solidFill>
          <a:ln w="7620">
            <a:solidFill>
              <a:srgbClr val="DBD8E8"/>
            </a:solidFill>
            <a:prstDash val="solid"/>
          </a:ln>
        </p:spPr>
      </p:sp>
      <p:sp>
        <p:nvSpPr>
          <p:cNvPr id="38" name="Text 36"/>
          <p:cNvSpPr/>
          <p:nvPr/>
        </p:nvSpPr>
        <p:spPr>
          <a:xfrm>
            <a:off x="694944" y="5180076"/>
            <a:ext cx="2012823" cy="434340"/>
          </a:xfrm>
          <a:prstGeom prst="rect">
            <a:avLst/>
          </a:prstGeom>
          <a:noFill/>
          <a:ln/>
        </p:spPr>
        <p:txBody>
          <a:bodyPr wrap="square" lIns="0" tIns="0" rIns="0" bIns="0" rtlCol="0" anchor="ctr"/>
          <a:lstStyle/>
          <a:p>
            <a:pPr algn="l" indent="0" marL="0">
              <a:buNone/>
            </a:pPr>
            <a:r>
              <a:rPr lang="en-US" sz="1150" b="1" dirty="0">
                <a:solidFill>
                  <a:srgbClr val="1A1633"/>
                </a:solidFill>
                <a:latin typeface="Calibri" pitchFamily="34" charset="0"/>
                <a:ea typeface="Calibri" pitchFamily="34" charset="-122"/>
                <a:cs typeface="Calibri" pitchFamily="34" charset="-120"/>
              </a:rPr>
              <a:t>Smallest class %</a:t>
            </a:r>
            <a:endParaRPr lang="en-US" sz="1150" dirty="0"/>
          </a:p>
        </p:txBody>
      </p:sp>
      <p:sp>
        <p:nvSpPr>
          <p:cNvPr id="39" name="Text 37"/>
          <p:cNvSpPr/>
          <p:nvPr/>
        </p:nvSpPr>
        <p:spPr>
          <a:xfrm>
            <a:off x="2927223" y="5180076"/>
            <a:ext cx="4245102" cy="434340"/>
          </a:xfrm>
          <a:prstGeom prst="rect">
            <a:avLst/>
          </a:prstGeom>
          <a:noFill/>
          <a:ln/>
        </p:spPr>
        <p:txBody>
          <a:bodyPr wrap="square" lIns="0" tIns="0" rIns="0" bIns="0" rtlCol="0" anchor="ctr"/>
          <a:lstStyle/>
          <a:p>
            <a:pPr algn="l" indent="0" marL="0">
              <a:buNone/>
            </a:pPr>
            <a:r>
              <a:rPr lang="en-US" sz="1150" dirty="0">
                <a:solidFill>
                  <a:srgbClr val="1A1633"/>
                </a:solidFill>
                <a:latin typeface="Calibri" pitchFamily="34" charset="0"/>
                <a:ea typeface="Calibri" pitchFamily="34" charset="-122"/>
                <a:cs typeface="Calibri" pitchFamily="34" charset="-120"/>
              </a:rPr>
              <a:t>Share of the sample in the smallest class</a:t>
            </a:r>
            <a:endParaRPr lang="en-US" sz="1150" dirty="0"/>
          </a:p>
        </p:txBody>
      </p:sp>
      <p:sp>
        <p:nvSpPr>
          <p:cNvPr id="40" name="Text 38"/>
          <p:cNvSpPr/>
          <p:nvPr/>
        </p:nvSpPr>
        <p:spPr>
          <a:xfrm>
            <a:off x="7391781" y="5180076"/>
            <a:ext cx="4138803" cy="434340"/>
          </a:xfrm>
          <a:prstGeom prst="rect">
            <a:avLst/>
          </a:prstGeom>
          <a:noFill/>
          <a:ln/>
        </p:spPr>
        <p:txBody>
          <a:bodyPr wrap="square" lIns="0" tIns="0" rIns="0" bIns="0" rtlCol="0" anchor="ctr"/>
          <a:lstStyle/>
          <a:p>
            <a:pPr algn="l" indent="0" marL="0">
              <a:buNone/>
            </a:pPr>
            <a:r>
              <a:rPr lang="en-US" sz="1150" dirty="0">
                <a:solidFill>
                  <a:srgbClr val="D9553C"/>
                </a:solidFill>
                <a:latin typeface="Calibri" pitchFamily="34" charset="0"/>
                <a:ea typeface="Calibri" pitchFamily="34" charset="-122"/>
                <a:cs typeface="Calibri" pitchFamily="34" charset="-120"/>
              </a:rPr>
              <a:t>Aim for ≥5%. A tiny class is usually noise, not a subgroup.</a:t>
            </a:r>
            <a:endParaRPr lang="en-US" sz="1150" dirty="0"/>
          </a:p>
        </p:txBody>
      </p:sp>
      <p:sp>
        <p:nvSpPr>
          <p:cNvPr id="41" name="Shape 39"/>
          <p:cNvSpPr/>
          <p:nvPr/>
        </p:nvSpPr>
        <p:spPr>
          <a:xfrm>
            <a:off x="566928" y="5340096"/>
            <a:ext cx="11055096" cy="804672"/>
          </a:xfrm>
          <a:prstGeom prst="roundRect">
            <a:avLst>
              <a:gd name="adj" fmla="val 11364"/>
            </a:avLst>
          </a:prstGeom>
          <a:solidFill>
            <a:srgbClr val="2A2356"/>
          </a:solidFill>
          <a:ln w="9525">
            <a:solidFill>
              <a:srgbClr val="2A2356"/>
            </a:solidFill>
            <a:prstDash val="solid"/>
          </a:ln>
        </p:spPr>
      </p:sp>
      <p:sp>
        <p:nvSpPr>
          <p:cNvPr id="42" name="Text 40"/>
          <p:cNvSpPr/>
          <p:nvPr/>
        </p:nvSpPr>
        <p:spPr>
          <a:xfrm>
            <a:off x="886968" y="5340096"/>
            <a:ext cx="10415016" cy="804672"/>
          </a:xfrm>
          <a:prstGeom prst="rect">
            <a:avLst/>
          </a:prstGeom>
          <a:noFill/>
          <a:ln/>
        </p:spPr>
        <p:txBody>
          <a:bodyPr wrap="square" lIns="0" tIns="0" rIns="0" bIns="0" rtlCol="0" anchor="ctr"/>
          <a:lstStyle/>
          <a:p>
            <a:pPr indent="0" marL="0">
              <a:lnSpc>
                <a:spcPts val="1800"/>
              </a:lnSpc>
              <a:buNone/>
            </a:pPr>
            <a:r>
              <a:rPr lang="en-US" sz="1300" b="1" dirty="0">
                <a:solidFill>
                  <a:srgbClr val="E09B21"/>
                </a:solidFill>
                <a:latin typeface="Calibri" pitchFamily="34" charset="0"/>
                <a:ea typeface="Calibri" pitchFamily="34" charset="-122"/>
                <a:cs typeface="Calibri" pitchFamily="34" charset="-120"/>
              </a:rPr>
              <a:t>Rule of thumb.  </a:t>
            </a:r>
            <a:pPr indent="0" marL="0">
              <a:lnSpc>
                <a:spcPts val="1800"/>
              </a:lnSpc>
              <a:buNone/>
            </a:pPr>
            <a:r>
              <a:rPr lang="en-US" sz="1300" dirty="0">
                <a:solidFill>
                  <a:srgbClr val="FFFFFF"/>
                </a:solidFill>
                <a:latin typeface="Calibri" pitchFamily="34" charset="0"/>
                <a:ea typeface="Calibri" pitchFamily="34" charset="-122"/>
                <a:cs typeface="Calibri" pitchFamily="34" charset="-120"/>
              </a:rPr>
              <a:t>BIC and aBIC to compare solutions · BLRT (or LMR) to test k against k−1 · entropy and smallest-class size to check the solution is usable. Then theory decides the ties.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STEP 4</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How many classes? Look for the elbow</a:t>
            </a:r>
            <a:endParaRPr lang="en-US" sz="2900" dirty="0"/>
          </a:p>
        </p:txBody>
      </p:sp>
      <p:sp>
        <p:nvSpPr>
          <p:cNvPr id="4" name="Text 2"/>
          <p:cNvSpPr/>
          <p:nvPr/>
        </p:nvSpPr>
        <p:spPr>
          <a:xfrm>
            <a:off x="566928" y="1298448"/>
            <a:ext cx="11055096" cy="384048"/>
          </a:xfrm>
          <a:prstGeom prst="rect">
            <a:avLst/>
          </a:prstGeom>
          <a:noFill/>
          <a:ln/>
        </p:spPr>
        <p:txBody>
          <a:bodyPr wrap="square" lIns="0" tIns="0" rIns="0" bIns="0" rtlCol="0" anchor="t"/>
          <a:lstStyle/>
          <a:p>
            <a:pPr algn="l" indent="0" marL="0">
              <a:lnSpc>
                <a:spcPts val="2100"/>
              </a:lnSpc>
              <a:buNone/>
            </a:pPr>
            <a:r>
              <a:rPr lang="en-US" sz="1300" dirty="0">
                <a:solidFill>
                  <a:srgbClr val="6B6785"/>
                </a:solidFill>
                <a:latin typeface="Calibri" pitchFamily="34" charset="0"/>
                <a:ea typeface="Calibri" pitchFamily="34" charset="-122"/>
                <a:cs typeface="Calibri" pitchFamily="34" charset="-120"/>
              </a:rPr>
              <a:t>You do not ask the software how many classes there are. You fit 1 class, then 2, then 3, until fit stops improving.</a:t>
            </a:r>
            <a:endParaRPr lang="en-US" sz="1300" dirty="0"/>
          </a:p>
        </p:txBody>
      </p:sp>
      <p:graphicFrame>
        <p:nvGraphicFramePr>
          <p:cNvPr id="5" name="Chart 0" descr=""/>
          <p:cNvGraphicFramePr/>
          <p:nvPr/>
        </p:nvGraphicFramePr>
        <p:xfrm>
          <a:off x="566928" y="1755648"/>
          <a:ext cx="6446520" cy="37490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98080" y="1755648"/>
            <a:ext cx="4123944" cy="4041648"/>
          </a:xfrm>
          <a:prstGeom prst="roundRect">
            <a:avLst>
              <a:gd name="adj" fmla="val 2262"/>
            </a:avLst>
          </a:prstGeom>
          <a:solidFill>
            <a:srgbClr val="F5F4FA"/>
          </a:solidFill>
          <a:ln w="12700">
            <a:solidFill>
              <a:srgbClr val="DBD8E8"/>
            </a:solidFill>
            <a:prstDash val="solid"/>
          </a:ln>
        </p:spPr>
      </p:sp>
      <p:sp>
        <p:nvSpPr>
          <p:cNvPr id="7" name="Text 4"/>
          <p:cNvSpPr/>
          <p:nvPr/>
        </p:nvSpPr>
        <p:spPr>
          <a:xfrm>
            <a:off x="7754112" y="1938528"/>
            <a:ext cx="3611880" cy="310896"/>
          </a:xfrm>
          <a:prstGeom prst="rect">
            <a:avLst/>
          </a:prstGeom>
          <a:noFill/>
          <a:ln/>
        </p:spPr>
        <p:txBody>
          <a:bodyPr wrap="square" lIns="0" tIns="0" rIns="0" bIns="0" rtlCol="0" anchor="ctr"/>
          <a:lstStyle/>
          <a:p>
            <a:pPr indent="0" marL="0">
              <a:buNone/>
            </a:pPr>
            <a:r>
              <a:rPr lang="en-US" sz="1800" b="1" dirty="0">
                <a:solidFill>
                  <a:srgbClr val="1A1633"/>
                </a:solidFill>
                <a:latin typeface="Cambria" pitchFamily="34" charset="0"/>
                <a:ea typeface="Cambria" pitchFamily="34" charset="-122"/>
                <a:cs typeface="Cambria" pitchFamily="34" charset="-120"/>
              </a:rPr>
              <a:t>Reading the curve</a:t>
            </a:r>
            <a:endParaRPr lang="en-US" sz="1800" dirty="0"/>
          </a:p>
        </p:txBody>
      </p:sp>
      <p:sp>
        <p:nvSpPr>
          <p:cNvPr id="8" name="Shape 5"/>
          <p:cNvSpPr/>
          <p:nvPr/>
        </p:nvSpPr>
        <p:spPr>
          <a:xfrm>
            <a:off x="7754112" y="2432304"/>
            <a:ext cx="237744" cy="237744"/>
          </a:xfrm>
          <a:prstGeom prst="ellipse">
            <a:avLst/>
          </a:prstGeom>
          <a:solidFill>
            <a:srgbClr val="D9553C"/>
          </a:solidFill>
          <a:ln w="12700">
            <a:solidFill>
              <a:srgbClr val="D9553C"/>
            </a:solidFill>
            <a:prstDash val="solid"/>
          </a:ln>
        </p:spPr>
      </p:sp>
      <p:sp>
        <p:nvSpPr>
          <p:cNvPr id="9" name="Text 6"/>
          <p:cNvSpPr/>
          <p:nvPr/>
        </p:nvSpPr>
        <p:spPr>
          <a:xfrm>
            <a:off x="8083296" y="2395728"/>
            <a:ext cx="3200400" cy="256032"/>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1 → 2 → 3</a:t>
            </a:r>
            <a:endParaRPr lang="en-US" sz="1300" dirty="0"/>
          </a:p>
        </p:txBody>
      </p:sp>
      <p:sp>
        <p:nvSpPr>
          <p:cNvPr id="10" name="Text 7"/>
          <p:cNvSpPr/>
          <p:nvPr/>
        </p:nvSpPr>
        <p:spPr>
          <a:xfrm>
            <a:off x="8083296" y="2688336"/>
            <a:ext cx="3200400" cy="566928"/>
          </a:xfrm>
          <a:prstGeom prst="rect">
            <a:avLst/>
          </a:prstGeom>
          <a:noFill/>
          <a:ln/>
        </p:spPr>
        <p:txBody>
          <a:bodyPr wrap="square" lIns="0" tIns="0" rIns="0" bIns="0" rtlCol="0" anchor="t"/>
          <a:lstStyle/>
          <a:p>
            <a:pPr indent="0" marL="0">
              <a:lnSpc>
                <a:spcPts val="1550"/>
              </a:lnSpc>
              <a:buNone/>
            </a:pPr>
            <a:r>
              <a:rPr lang="en-US" sz="1150" dirty="0">
                <a:solidFill>
                  <a:srgbClr val="6B6785"/>
                </a:solidFill>
                <a:latin typeface="Calibri" pitchFamily="34" charset="0"/>
                <a:ea typeface="Calibri" pitchFamily="34" charset="-122"/>
                <a:cs typeface="Calibri" pitchFamily="34" charset="-120"/>
              </a:rPr>
              <a:t>Fit improves sharply. Each new class is capturing real structure.</a:t>
            </a:r>
            <a:endParaRPr lang="en-US" sz="1150" dirty="0"/>
          </a:p>
        </p:txBody>
      </p:sp>
      <p:sp>
        <p:nvSpPr>
          <p:cNvPr id="11" name="Shape 8"/>
          <p:cNvSpPr/>
          <p:nvPr/>
        </p:nvSpPr>
        <p:spPr>
          <a:xfrm>
            <a:off x="7754112" y="3364992"/>
            <a:ext cx="237744" cy="237744"/>
          </a:xfrm>
          <a:prstGeom prst="ellipse">
            <a:avLst/>
          </a:prstGeom>
          <a:solidFill>
            <a:srgbClr val="6F63C9"/>
          </a:solidFill>
          <a:ln w="12700">
            <a:solidFill>
              <a:srgbClr val="6F63C9"/>
            </a:solidFill>
            <a:prstDash val="solid"/>
          </a:ln>
        </p:spPr>
      </p:sp>
      <p:sp>
        <p:nvSpPr>
          <p:cNvPr id="12" name="Text 9"/>
          <p:cNvSpPr/>
          <p:nvPr/>
        </p:nvSpPr>
        <p:spPr>
          <a:xfrm>
            <a:off x="8083296" y="3328416"/>
            <a:ext cx="3200400" cy="256032"/>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4</a:t>
            </a:r>
            <a:endParaRPr lang="en-US" sz="1300" dirty="0"/>
          </a:p>
        </p:txBody>
      </p:sp>
      <p:sp>
        <p:nvSpPr>
          <p:cNvPr id="13" name="Text 10"/>
          <p:cNvSpPr/>
          <p:nvPr/>
        </p:nvSpPr>
        <p:spPr>
          <a:xfrm>
            <a:off x="8083296" y="3621024"/>
            <a:ext cx="3200400" cy="566928"/>
          </a:xfrm>
          <a:prstGeom prst="rect">
            <a:avLst/>
          </a:prstGeom>
          <a:noFill/>
          <a:ln/>
        </p:spPr>
        <p:txBody>
          <a:bodyPr wrap="square" lIns="0" tIns="0" rIns="0" bIns="0" rtlCol="0" anchor="t"/>
          <a:lstStyle/>
          <a:p>
            <a:pPr indent="0" marL="0">
              <a:lnSpc>
                <a:spcPts val="1550"/>
              </a:lnSpc>
              <a:buNone/>
            </a:pPr>
            <a:r>
              <a:rPr lang="en-US" sz="1150" dirty="0">
                <a:solidFill>
                  <a:srgbClr val="6B6785"/>
                </a:solidFill>
                <a:latin typeface="Calibri" pitchFamily="34" charset="0"/>
                <a:ea typeface="Calibri" pitchFamily="34" charset="-122"/>
                <a:cs typeface="Calibri" pitchFamily="34" charset="-120"/>
              </a:rPr>
              <a:t>The lowest point. Beyond here the model is buying complexity it does not need.</a:t>
            </a:r>
            <a:endParaRPr lang="en-US" sz="1150" dirty="0"/>
          </a:p>
        </p:txBody>
      </p:sp>
      <p:sp>
        <p:nvSpPr>
          <p:cNvPr id="14" name="Shape 11"/>
          <p:cNvSpPr/>
          <p:nvPr/>
        </p:nvSpPr>
        <p:spPr>
          <a:xfrm>
            <a:off x="7754112" y="4297680"/>
            <a:ext cx="237744" cy="237744"/>
          </a:xfrm>
          <a:prstGeom prst="ellipse">
            <a:avLst/>
          </a:prstGeom>
          <a:solidFill>
            <a:srgbClr val="E09B21"/>
          </a:solidFill>
          <a:ln w="12700">
            <a:solidFill>
              <a:srgbClr val="E09B21"/>
            </a:solidFill>
            <a:prstDash val="solid"/>
          </a:ln>
        </p:spPr>
      </p:sp>
      <p:sp>
        <p:nvSpPr>
          <p:cNvPr id="15" name="Text 12"/>
          <p:cNvSpPr/>
          <p:nvPr/>
        </p:nvSpPr>
        <p:spPr>
          <a:xfrm>
            <a:off x="8083296" y="4261104"/>
            <a:ext cx="3200400" cy="256032"/>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5 → 6</a:t>
            </a:r>
            <a:endParaRPr lang="en-US" sz="1300" dirty="0"/>
          </a:p>
        </p:txBody>
      </p:sp>
      <p:sp>
        <p:nvSpPr>
          <p:cNvPr id="16" name="Text 13"/>
          <p:cNvSpPr/>
          <p:nvPr/>
        </p:nvSpPr>
        <p:spPr>
          <a:xfrm>
            <a:off x="8083296" y="4553712"/>
            <a:ext cx="3200400" cy="566928"/>
          </a:xfrm>
          <a:prstGeom prst="rect">
            <a:avLst/>
          </a:prstGeom>
          <a:noFill/>
          <a:ln/>
        </p:spPr>
        <p:txBody>
          <a:bodyPr wrap="square" lIns="0" tIns="0" rIns="0" bIns="0" rtlCol="0" anchor="t"/>
          <a:lstStyle/>
          <a:p>
            <a:pPr indent="0" marL="0">
              <a:lnSpc>
                <a:spcPts val="1550"/>
              </a:lnSpc>
              <a:buNone/>
            </a:pPr>
            <a:r>
              <a:rPr lang="en-US" sz="1150" dirty="0">
                <a:solidFill>
                  <a:srgbClr val="6B6785"/>
                </a:solidFill>
                <a:latin typeface="Calibri" pitchFamily="34" charset="0"/>
                <a:ea typeface="Calibri" pitchFamily="34" charset="-122"/>
                <a:cs typeface="Calibri" pitchFamily="34" charset="-120"/>
              </a:rPr>
              <a:t>The criteria rise again. Extra classes are now fitting noise.</a:t>
            </a:r>
            <a:endParaRPr lang="en-US" sz="1150" dirty="0"/>
          </a:p>
        </p:txBody>
      </p:sp>
      <p:sp>
        <p:nvSpPr>
          <p:cNvPr id="17" name="Text 14"/>
          <p:cNvSpPr/>
          <p:nvPr/>
        </p:nvSpPr>
        <p:spPr>
          <a:xfrm>
            <a:off x="7754112" y="5138928"/>
            <a:ext cx="3611880" cy="566928"/>
          </a:xfrm>
          <a:prstGeom prst="rect">
            <a:avLst/>
          </a:prstGeom>
          <a:noFill/>
          <a:ln/>
        </p:spPr>
        <p:txBody>
          <a:bodyPr wrap="square" lIns="0" tIns="0" rIns="0" bIns="0" rtlCol="0" anchor="t"/>
          <a:lstStyle/>
          <a:p>
            <a:pPr indent="0" marL="0">
              <a:lnSpc>
                <a:spcPts val="1500"/>
              </a:lnSpc>
              <a:buNone/>
            </a:pPr>
            <a:r>
              <a:rPr lang="en-US" sz="1100" i="1" dirty="0">
                <a:solidFill>
                  <a:srgbClr val="6F63C9"/>
                </a:solidFill>
                <a:latin typeface="Calibri" pitchFamily="34" charset="0"/>
                <a:ea typeface="Calibri" pitchFamily="34" charset="-122"/>
                <a:cs typeface="Calibri" pitchFamily="34" charset="-120"/>
              </a:rPr>
              <a:t>The elbow here points to 4 classes. Now check the other statistics agree — and that the four classes make sense.</a:t>
            </a:r>
            <a:endParaRPr lang="en-US" sz="1100" dirty="0"/>
          </a:p>
        </p:txBody>
      </p:sp>
      <p:sp>
        <p:nvSpPr>
          <p:cNvPr id="18" name="Text 15"/>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9E9AB4"/>
                </a:solidFill>
                <a:latin typeface="Calibri" pitchFamily="34" charset="0"/>
                <a:ea typeface="Calibri" pitchFamily="34" charset="-122"/>
                <a:cs typeface="Calibri" pitchFamily="34" charset="-120"/>
              </a:rPr>
              <a:t>Illustrative values. A real fit table would also carry entropy, the BLRT p-value and the smallest class size for every solution.</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A2356"/>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E09B21"/>
                </a:solidFill>
                <a:latin typeface="Calibri" pitchFamily="34" charset="0"/>
                <a:ea typeface="Calibri" pitchFamily="34" charset="-122"/>
                <a:cs typeface="Calibri" pitchFamily="34" charset="-120"/>
              </a:rPr>
              <a:t>STEP 4 · JUDGEMENT</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The statistics are evidence, not a verdict</a:t>
            </a:r>
            <a:endParaRPr lang="en-US" sz="2900" dirty="0"/>
          </a:p>
        </p:txBody>
      </p:sp>
      <p:sp>
        <p:nvSpPr>
          <p:cNvPr id="4" name="Shape 2"/>
          <p:cNvSpPr/>
          <p:nvPr/>
        </p:nvSpPr>
        <p:spPr>
          <a:xfrm>
            <a:off x="566928" y="1371600"/>
            <a:ext cx="11055096" cy="960120"/>
          </a:xfrm>
          <a:prstGeom prst="roundRect">
            <a:avLst>
              <a:gd name="adj" fmla="val 9524"/>
            </a:avLst>
          </a:prstGeom>
          <a:solidFill>
            <a:srgbClr val="393177"/>
          </a:solidFill>
          <a:ln w="9525">
            <a:solidFill>
              <a:srgbClr val="393177"/>
            </a:solidFill>
            <a:prstDash val="solid"/>
          </a:ln>
        </p:spPr>
      </p:sp>
      <p:sp>
        <p:nvSpPr>
          <p:cNvPr id="5" name="Text 3"/>
          <p:cNvSpPr/>
          <p:nvPr/>
        </p:nvSpPr>
        <p:spPr>
          <a:xfrm>
            <a:off x="950976" y="1371600"/>
            <a:ext cx="10287000" cy="960120"/>
          </a:xfrm>
          <a:prstGeom prst="rect">
            <a:avLst/>
          </a:prstGeom>
          <a:noFill/>
          <a:ln/>
        </p:spPr>
        <p:txBody>
          <a:bodyPr wrap="square" lIns="0" tIns="0" rIns="0" bIns="0" rtlCol="0" anchor="ctr"/>
          <a:lstStyle/>
          <a:p>
            <a:pPr indent="0" marL="0">
              <a:lnSpc>
                <a:spcPts val="2100"/>
              </a:lnSpc>
              <a:buNone/>
            </a:pPr>
            <a:r>
              <a:rPr lang="en-US" sz="1500" dirty="0">
                <a:solidFill>
                  <a:srgbClr val="FFFFFF"/>
                </a:solidFill>
                <a:latin typeface="Calibri" pitchFamily="34" charset="0"/>
                <a:ea typeface="Calibri" pitchFamily="34" charset="-122"/>
                <a:cs typeface="Calibri" pitchFamily="34" charset="-120"/>
              </a:rPr>
              <a:t>A 4-class model can win on BIC and still be the wrong answer — if one class holds 2% of the sample, if two classes are near-duplicates, or if nothing in the literature or the theory has any use for the fourth.</a:t>
            </a:r>
            <a:endParaRPr lang="en-US" sz="1500" dirty="0"/>
          </a:p>
        </p:txBody>
      </p:sp>
      <p:sp>
        <p:nvSpPr>
          <p:cNvPr id="6" name="Shape 4"/>
          <p:cNvSpPr/>
          <p:nvPr/>
        </p:nvSpPr>
        <p:spPr>
          <a:xfrm>
            <a:off x="566928" y="2606040"/>
            <a:ext cx="2599182" cy="2304288"/>
          </a:xfrm>
          <a:prstGeom prst="roundRect">
            <a:avLst>
              <a:gd name="adj" fmla="val 3968"/>
            </a:avLst>
          </a:prstGeom>
          <a:solidFill>
            <a:srgbClr val="393177"/>
          </a:solidFill>
          <a:ln w="9525">
            <a:solidFill>
              <a:srgbClr val="393177"/>
            </a:solidFill>
            <a:prstDash val="solid"/>
          </a:ln>
        </p:spPr>
      </p:sp>
      <p:sp>
        <p:nvSpPr>
          <p:cNvPr id="7" name="Shape 5"/>
          <p:cNvSpPr/>
          <p:nvPr/>
        </p:nvSpPr>
        <p:spPr>
          <a:xfrm>
            <a:off x="804672" y="2834640"/>
            <a:ext cx="274320" cy="274320"/>
          </a:xfrm>
          <a:prstGeom prst="ellipse">
            <a:avLst/>
          </a:prstGeom>
          <a:solidFill>
            <a:srgbClr val="E09B21"/>
          </a:solidFill>
          <a:ln w="12700">
            <a:solidFill>
              <a:srgbClr val="E09B21"/>
            </a:solidFill>
            <a:prstDash val="solid"/>
          </a:ln>
        </p:spPr>
      </p:sp>
      <p:sp>
        <p:nvSpPr>
          <p:cNvPr id="8" name="Text 6"/>
          <p:cNvSpPr/>
          <p:nvPr/>
        </p:nvSpPr>
        <p:spPr>
          <a:xfrm>
            <a:off x="804672" y="3218688"/>
            <a:ext cx="2123694" cy="53035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Is it parsimonious?</a:t>
            </a:r>
            <a:endParaRPr lang="en-US" sz="1400" dirty="0"/>
          </a:p>
        </p:txBody>
      </p:sp>
      <p:sp>
        <p:nvSpPr>
          <p:cNvPr id="9" name="Text 7"/>
          <p:cNvSpPr/>
          <p:nvPr/>
        </p:nvSpPr>
        <p:spPr>
          <a:xfrm>
            <a:off x="804672" y="3785616"/>
            <a:ext cx="2123694" cy="1024128"/>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Can you describe the solution in one sentence per class? If not, it is probably too complicated to be useful.</a:t>
            </a:r>
            <a:endParaRPr lang="en-US" sz="1150" dirty="0"/>
          </a:p>
        </p:txBody>
      </p:sp>
      <p:sp>
        <p:nvSpPr>
          <p:cNvPr id="10" name="Shape 8"/>
          <p:cNvSpPr/>
          <p:nvPr/>
        </p:nvSpPr>
        <p:spPr>
          <a:xfrm>
            <a:off x="3385566" y="2606040"/>
            <a:ext cx="2599182" cy="2304288"/>
          </a:xfrm>
          <a:prstGeom prst="roundRect">
            <a:avLst>
              <a:gd name="adj" fmla="val 3968"/>
            </a:avLst>
          </a:prstGeom>
          <a:solidFill>
            <a:srgbClr val="393177"/>
          </a:solidFill>
          <a:ln w="9525">
            <a:solidFill>
              <a:srgbClr val="393177"/>
            </a:solidFill>
            <a:prstDash val="solid"/>
          </a:ln>
        </p:spPr>
      </p:sp>
      <p:sp>
        <p:nvSpPr>
          <p:cNvPr id="11" name="Shape 9"/>
          <p:cNvSpPr/>
          <p:nvPr/>
        </p:nvSpPr>
        <p:spPr>
          <a:xfrm>
            <a:off x="3623310" y="2834640"/>
            <a:ext cx="274320" cy="274320"/>
          </a:xfrm>
          <a:prstGeom prst="ellipse">
            <a:avLst/>
          </a:prstGeom>
          <a:solidFill>
            <a:srgbClr val="1F8F82"/>
          </a:solidFill>
          <a:ln w="12700">
            <a:solidFill>
              <a:srgbClr val="1F8F82"/>
            </a:solidFill>
            <a:prstDash val="solid"/>
          </a:ln>
        </p:spPr>
      </p:sp>
      <p:sp>
        <p:nvSpPr>
          <p:cNvPr id="12" name="Text 10"/>
          <p:cNvSpPr/>
          <p:nvPr/>
        </p:nvSpPr>
        <p:spPr>
          <a:xfrm>
            <a:off x="3623310" y="3218688"/>
            <a:ext cx="2123694" cy="53035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Does it match theory?</a:t>
            </a:r>
            <a:endParaRPr lang="en-US" sz="1400" dirty="0"/>
          </a:p>
        </p:txBody>
      </p:sp>
      <p:sp>
        <p:nvSpPr>
          <p:cNvPr id="13" name="Text 11"/>
          <p:cNvSpPr/>
          <p:nvPr/>
        </p:nvSpPr>
        <p:spPr>
          <a:xfrm>
            <a:off x="3623310" y="3785616"/>
            <a:ext cx="2123694" cy="1024128"/>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Does the solution look like what the construct and the prior literature would lead you to expect?</a:t>
            </a:r>
            <a:endParaRPr lang="en-US" sz="1150" dirty="0"/>
          </a:p>
        </p:txBody>
      </p:sp>
      <p:sp>
        <p:nvSpPr>
          <p:cNvPr id="14" name="Shape 12"/>
          <p:cNvSpPr/>
          <p:nvPr/>
        </p:nvSpPr>
        <p:spPr>
          <a:xfrm>
            <a:off x="6204204" y="2606040"/>
            <a:ext cx="2599182" cy="2304288"/>
          </a:xfrm>
          <a:prstGeom prst="roundRect">
            <a:avLst>
              <a:gd name="adj" fmla="val 3968"/>
            </a:avLst>
          </a:prstGeom>
          <a:solidFill>
            <a:srgbClr val="393177"/>
          </a:solidFill>
          <a:ln w="9525">
            <a:solidFill>
              <a:srgbClr val="393177"/>
            </a:solidFill>
            <a:prstDash val="solid"/>
          </a:ln>
        </p:spPr>
      </p:sp>
      <p:sp>
        <p:nvSpPr>
          <p:cNvPr id="15" name="Shape 13"/>
          <p:cNvSpPr/>
          <p:nvPr/>
        </p:nvSpPr>
        <p:spPr>
          <a:xfrm>
            <a:off x="6441948" y="2834640"/>
            <a:ext cx="274320" cy="274320"/>
          </a:xfrm>
          <a:prstGeom prst="ellipse">
            <a:avLst/>
          </a:prstGeom>
          <a:solidFill>
            <a:srgbClr val="D9553C"/>
          </a:solidFill>
          <a:ln w="12700">
            <a:solidFill>
              <a:srgbClr val="D9553C"/>
            </a:solidFill>
            <a:prstDash val="solid"/>
          </a:ln>
        </p:spPr>
      </p:sp>
      <p:sp>
        <p:nvSpPr>
          <p:cNvPr id="16" name="Text 14"/>
          <p:cNvSpPr/>
          <p:nvPr/>
        </p:nvSpPr>
        <p:spPr>
          <a:xfrm>
            <a:off x="6441948" y="3218688"/>
            <a:ext cx="2123694" cy="53035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Are the classes usable?</a:t>
            </a:r>
            <a:endParaRPr lang="en-US" sz="1400" dirty="0"/>
          </a:p>
        </p:txBody>
      </p:sp>
      <p:sp>
        <p:nvSpPr>
          <p:cNvPr id="17" name="Text 15"/>
          <p:cNvSpPr/>
          <p:nvPr/>
        </p:nvSpPr>
        <p:spPr>
          <a:xfrm>
            <a:off x="6441948" y="3785616"/>
            <a:ext cx="2123694" cy="1024128"/>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Is the smallest class large enough to say anything about? Are any two classes essentially the same shape?</a:t>
            </a:r>
            <a:endParaRPr lang="en-US" sz="1150" dirty="0"/>
          </a:p>
        </p:txBody>
      </p:sp>
      <p:sp>
        <p:nvSpPr>
          <p:cNvPr id="18" name="Shape 16"/>
          <p:cNvSpPr/>
          <p:nvPr/>
        </p:nvSpPr>
        <p:spPr>
          <a:xfrm>
            <a:off x="9022842" y="2606040"/>
            <a:ext cx="2599182" cy="2304288"/>
          </a:xfrm>
          <a:prstGeom prst="roundRect">
            <a:avLst>
              <a:gd name="adj" fmla="val 3968"/>
            </a:avLst>
          </a:prstGeom>
          <a:solidFill>
            <a:srgbClr val="393177"/>
          </a:solidFill>
          <a:ln w="9525">
            <a:solidFill>
              <a:srgbClr val="393177"/>
            </a:solidFill>
            <a:prstDash val="solid"/>
          </a:ln>
        </p:spPr>
      </p:sp>
      <p:sp>
        <p:nvSpPr>
          <p:cNvPr id="19" name="Shape 17"/>
          <p:cNvSpPr/>
          <p:nvPr/>
        </p:nvSpPr>
        <p:spPr>
          <a:xfrm>
            <a:off x="9260586" y="2834640"/>
            <a:ext cx="274320" cy="274320"/>
          </a:xfrm>
          <a:prstGeom prst="ellipse">
            <a:avLst/>
          </a:prstGeom>
          <a:solidFill>
            <a:srgbClr val="6F63C9"/>
          </a:solidFill>
          <a:ln w="12700">
            <a:solidFill>
              <a:srgbClr val="6F63C9"/>
            </a:solidFill>
            <a:prstDash val="solid"/>
          </a:ln>
        </p:spPr>
      </p:sp>
      <p:sp>
        <p:nvSpPr>
          <p:cNvPr id="20" name="Text 18"/>
          <p:cNvSpPr/>
          <p:nvPr/>
        </p:nvSpPr>
        <p:spPr>
          <a:xfrm>
            <a:off x="9260586" y="3218688"/>
            <a:ext cx="2123694" cy="53035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Is classification clean?</a:t>
            </a:r>
            <a:endParaRPr lang="en-US" sz="1400" dirty="0"/>
          </a:p>
        </p:txBody>
      </p:sp>
      <p:sp>
        <p:nvSpPr>
          <p:cNvPr id="21" name="Text 19"/>
          <p:cNvSpPr/>
          <p:nvPr/>
        </p:nvSpPr>
        <p:spPr>
          <a:xfrm>
            <a:off x="9260586" y="3785616"/>
            <a:ext cx="2123694" cy="1024128"/>
          </a:xfrm>
          <a:prstGeom prst="rect">
            <a:avLst/>
          </a:prstGeom>
          <a:noFill/>
          <a:ln/>
        </p:spPr>
        <p:txBody>
          <a:bodyPr wrap="square" lIns="0" tIns="0" rIns="0" bIns="0" rtlCol="0" anchor="t"/>
          <a:lstStyle/>
          <a:p>
            <a:pPr indent="0" marL="0">
              <a:lnSpc>
                <a:spcPts val="1550"/>
              </a:lnSpc>
              <a:buNone/>
            </a:pPr>
            <a:r>
              <a:rPr lang="en-US" sz="1150" dirty="0">
                <a:solidFill>
                  <a:srgbClr val="C4BFE0"/>
                </a:solidFill>
                <a:latin typeface="Calibri" pitchFamily="34" charset="0"/>
                <a:ea typeface="Calibri" pitchFamily="34" charset="-122"/>
                <a:cs typeface="Calibri" pitchFamily="34" charset="-120"/>
              </a:rPr>
              <a:t>Entropy ≥0.80 and high average posterior probabilities mean people are being assigned with confidence.</a:t>
            </a:r>
            <a:endParaRPr lang="en-US" sz="1150" dirty="0"/>
          </a:p>
        </p:txBody>
      </p:sp>
      <p:sp>
        <p:nvSpPr>
          <p:cNvPr id="22" name="Shape 20"/>
          <p:cNvSpPr/>
          <p:nvPr/>
        </p:nvSpPr>
        <p:spPr>
          <a:xfrm>
            <a:off x="566928" y="5074920"/>
            <a:ext cx="11055096" cy="1051560"/>
          </a:xfrm>
          <a:prstGeom prst="roundRect">
            <a:avLst>
              <a:gd name="adj" fmla="val 8696"/>
            </a:avLst>
          </a:prstGeom>
          <a:solidFill>
            <a:srgbClr val="3D2A57"/>
          </a:solidFill>
          <a:ln w="9525">
            <a:solidFill>
              <a:srgbClr val="3D2A57"/>
            </a:solidFill>
            <a:prstDash val="solid"/>
          </a:ln>
        </p:spPr>
      </p:sp>
      <p:sp>
        <p:nvSpPr>
          <p:cNvPr id="23" name="Text 21"/>
          <p:cNvSpPr/>
          <p:nvPr/>
        </p:nvSpPr>
        <p:spPr>
          <a:xfrm>
            <a:off x="950976" y="5074920"/>
            <a:ext cx="10287000" cy="1051560"/>
          </a:xfrm>
          <a:prstGeom prst="rect">
            <a:avLst/>
          </a:prstGeom>
          <a:noFill/>
          <a:ln/>
        </p:spPr>
        <p:txBody>
          <a:bodyPr wrap="square" lIns="0" tIns="0" rIns="0" bIns="0" rtlCol="0" anchor="ctr"/>
          <a:lstStyle/>
          <a:p>
            <a:pPr indent="0" marL="0">
              <a:lnSpc>
                <a:spcPts val="1900"/>
              </a:lnSpc>
              <a:buNone/>
            </a:pPr>
            <a:r>
              <a:rPr lang="en-US" sz="1300" dirty="0">
                <a:solidFill>
                  <a:srgbClr val="C4BFE0"/>
                </a:solidFill>
                <a:latin typeface="Calibri" pitchFamily="34" charset="0"/>
                <a:ea typeface="Calibri" pitchFamily="34" charset="-122"/>
                <a:cs typeface="Calibri" pitchFamily="34" charset="-120"/>
              </a:rPr>
              <a:t>A perfectly respectable sentence in a results section:  </a:t>
            </a:r>
            <a:pPr indent="0" marL="0">
              <a:lnSpc>
                <a:spcPts val="1900"/>
              </a:lnSpc>
              <a:buNone/>
            </a:pPr>
            <a:r>
              <a:rPr lang="en-US" sz="1300" b="1" dirty="0">
                <a:solidFill>
                  <a:srgbClr val="FFFFFF"/>
                </a:solidFill>
                <a:latin typeface="Calibri" pitchFamily="34" charset="0"/>
                <a:ea typeface="Calibri" pitchFamily="34" charset="-122"/>
                <a:cs typeface="Calibri" pitchFamily="34" charset="-120"/>
              </a:rPr>
              <a:t>“Although the 4-class solution had marginally lower BIC, we retained the 3-class solution: the fourth class contained 3.1% of the sample, closely resembled class 2, and had no counterpart in the existing literature.”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STEP 5</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Interpreting and naming what you found</a:t>
            </a:r>
            <a:endParaRPr lang="en-US" sz="2900" dirty="0"/>
          </a:p>
        </p:txBody>
      </p:sp>
      <p:sp>
        <p:nvSpPr>
          <p:cNvPr id="4" name="Text 2"/>
          <p:cNvSpPr/>
          <p:nvPr/>
        </p:nvSpPr>
        <p:spPr>
          <a:xfrm>
            <a:off x="566928" y="1298448"/>
            <a:ext cx="11055096" cy="329184"/>
          </a:xfrm>
          <a:prstGeom prst="rect">
            <a:avLst/>
          </a:prstGeom>
          <a:noFill/>
          <a:ln/>
        </p:spPr>
        <p:txBody>
          <a:bodyPr wrap="square" lIns="0" tIns="0" rIns="0" bIns="0" rtlCol="0" anchor="t"/>
          <a:lstStyle/>
          <a:p>
            <a:pPr algn="l" indent="0" marL="0">
              <a:lnSpc>
                <a:spcPts val="2100"/>
              </a:lnSpc>
              <a:buNone/>
            </a:pPr>
            <a:r>
              <a:rPr lang="en-US" sz="1300" dirty="0">
                <a:solidFill>
                  <a:srgbClr val="6B6785"/>
                </a:solidFill>
                <a:latin typeface="Calibri" pitchFamily="34" charset="0"/>
                <a:ea typeface="Calibri" pitchFamily="34" charset="-122"/>
                <a:cs typeface="Calibri" pitchFamily="34" charset="-120"/>
              </a:rPr>
              <a:t>Now you read the response pattern inside each class. Suppose we asked about two things: big concerts, and mosh pits.</a:t>
            </a:r>
            <a:endParaRPr lang="en-US" sz="1300" dirty="0"/>
          </a:p>
        </p:txBody>
      </p:sp>
      <p:sp>
        <p:nvSpPr>
          <p:cNvPr id="5" name="Shape 3"/>
          <p:cNvSpPr/>
          <p:nvPr/>
        </p:nvSpPr>
        <p:spPr>
          <a:xfrm>
            <a:off x="566928" y="1737360"/>
            <a:ext cx="11055096" cy="438912"/>
          </a:xfrm>
          <a:prstGeom prst="rect">
            <a:avLst/>
          </a:prstGeom>
          <a:solidFill>
            <a:srgbClr val="2A2356"/>
          </a:solidFill>
          <a:ln w="12700">
            <a:solidFill>
              <a:srgbClr val="2A2356"/>
            </a:solidFill>
            <a:prstDash val="solid"/>
          </a:ln>
        </p:spPr>
      </p:sp>
      <p:sp>
        <p:nvSpPr>
          <p:cNvPr id="6" name="Text 4"/>
          <p:cNvSpPr/>
          <p:nvPr/>
        </p:nvSpPr>
        <p:spPr>
          <a:xfrm>
            <a:off x="694944" y="1737360"/>
            <a:ext cx="1839221" cy="438912"/>
          </a:xfrm>
          <a:prstGeom prst="rect">
            <a:avLst/>
          </a:prstGeom>
          <a:noFill/>
          <a:ln/>
        </p:spPr>
        <p:txBody>
          <a:bodyPr wrap="square" lIns="0" tIns="0" rIns="0" bIns="0" rtlCol="0" anchor="ctr"/>
          <a:lstStyle/>
          <a:p>
            <a:pPr algn="l" indent="0" marL="0">
              <a:buNone/>
            </a:pPr>
            <a:endParaRPr lang="en-US" sz="1050" dirty="0"/>
          </a:p>
        </p:txBody>
      </p:sp>
      <p:sp>
        <p:nvSpPr>
          <p:cNvPr id="7" name="Text 5"/>
          <p:cNvSpPr/>
          <p:nvPr/>
        </p:nvSpPr>
        <p:spPr>
          <a:xfrm>
            <a:off x="2753621" y="1737360"/>
            <a:ext cx="2045089"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P(likes big concerts)</a:t>
            </a:r>
            <a:endParaRPr lang="en-US" sz="1050" dirty="0"/>
          </a:p>
        </p:txBody>
      </p:sp>
      <p:sp>
        <p:nvSpPr>
          <p:cNvPr id="8" name="Text 6"/>
          <p:cNvSpPr/>
          <p:nvPr/>
        </p:nvSpPr>
        <p:spPr>
          <a:xfrm>
            <a:off x="5018166" y="1737360"/>
            <a:ext cx="2045089"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P(likes mosh pits)</a:t>
            </a:r>
            <a:endParaRPr lang="en-US" sz="1050" dirty="0"/>
          </a:p>
        </p:txBody>
      </p:sp>
      <p:sp>
        <p:nvSpPr>
          <p:cNvPr id="9" name="Text 7"/>
          <p:cNvSpPr/>
          <p:nvPr/>
        </p:nvSpPr>
        <p:spPr>
          <a:xfrm>
            <a:off x="7282711" y="1737360"/>
            <a:ext cx="1056924"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p>
        </p:txBody>
      </p:sp>
      <p:sp>
        <p:nvSpPr>
          <p:cNvPr id="10" name="Text 8"/>
          <p:cNvSpPr/>
          <p:nvPr/>
        </p:nvSpPr>
        <p:spPr>
          <a:xfrm>
            <a:off x="8559091" y="1737360"/>
            <a:ext cx="2971493" cy="43891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A HONEST NAME</a:t>
            </a:r>
            <a:endParaRPr lang="en-US" sz="1050" dirty="0"/>
          </a:p>
        </p:txBody>
      </p:sp>
      <p:sp>
        <p:nvSpPr>
          <p:cNvPr id="11" name="Shape 9"/>
          <p:cNvSpPr/>
          <p:nvPr/>
        </p:nvSpPr>
        <p:spPr>
          <a:xfrm>
            <a:off x="566928" y="2176272"/>
            <a:ext cx="11055096" cy="420624"/>
          </a:xfrm>
          <a:prstGeom prst="rect">
            <a:avLst/>
          </a:prstGeom>
          <a:solidFill>
            <a:srgbClr val="FFFFFF"/>
          </a:solidFill>
          <a:ln w="7620">
            <a:solidFill>
              <a:srgbClr val="DBD8E8"/>
            </a:solidFill>
            <a:prstDash val="solid"/>
          </a:ln>
        </p:spPr>
      </p:sp>
      <p:sp>
        <p:nvSpPr>
          <p:cNvPr id="12" name="Text 10"/>
          <p:cNvSpPr/>
          <p:nvPr/>
        </p:nvSpPr>
        <p:spPr>
          <a:xfrm>
            <a:off x="694944" y="2176272"/>
            <a:ext cx="1839221" cy="420624"/>
          </a:xfrm>
          <a:prstGeom prst="rect">
            <a:avLst/>
          </a:prstGeom>
          <a:noFill/>
          <a:ln/>
        </p:spPr>
        <p:txBody>
          <a:bodyPr wrap="square" lIns="0" tIns="0" rIns="0" bIns="0" rtlCol="0" anchor="ctr"/>
          <a:lstStyle/>
          <a:p>
            <a:pPr algn="l" indent="0" marL="0">
              <a:buNone/>
            </a:pPr>
            <a:r>
              <a:rPr lang="en-US" sz="1200" b="1" dirty="0">
                <a:solidFill>
                  <a:srgbClr val="D9553C"/>
                </a:solidFill>
                <a:latin typeface="Calibri" pitchFamily="34" charset="0"/>
                <a:ea typeface="Calibri" pitchFamily="34" charset="-122"/>
                <a:cs typeface="Calibri" pitchFamily="34" charset="-120"/>
              </a:rPr>
              <a:t>Class 1</a:t>
            </a:r>
            <a:endParaRPr lang="en-US" sz="1200" dirty="0"/>
          </a:p>
        </p:txBody>
      </p:sp>
      <p:sp>
        <p:nvSpPr>
          <p:cNvPr id="13" name="Text 11"/>
          <p:cNvSpPr/>
          <p:nvPr/>
        </p:nvSpPr>
        <p:spPr>
          <a:xfrm>
            <a:off x="2753621" y="2176272"/>
            <a:ext cx="2045089"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0.08</a:t>
            </a:r>
            <a:endParaRPr lang="en-US" sz="1200" dirty="0"/>
          </a:p>
        </p:txBody>
      </p:sp>
      <p:sp>
        <p:nvSpPr>
          <p:cNvPr id="14" name="Text 12"/>
          <p:cNvSpPr/>
          <p:nvPr/>
        </p:nvSpPr>
        <p:spPr>
          <a:xfrm>
            <a:off x="5018166" y="2176272"/>
            <a:ext cx="2045089"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0.05</a:t>
            </a:r>
            <a:endParaRPr lang="en-US" sz="1200" dirty="0"/>
          </a:p>
        </p:txBody>
      </p:sp>
      <p:sp>
        <p:nvSpPr>
          <p:cNvPr id="15" name="Text 13"/>
          <p:cNvSpPr/>
          <p:nvPr/>
        </p:nvSpPr>
        <p:spPr>
          <a:xfrm>
            <a:off x="7282711" y="2176272"/>
            <a:ext cx="1056924"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41%</a:t>
            </a:r>
            <a:endParaRPr lang="en-US" sz="1200" dirty="0"/>
          </a:p>
        </p:txBody>
      </p:sp>
      <p:sp>
        <p:nvSpPr>
          <p:cNvPr id="16" name="Text 14"/>
          <p:cNvSpPr/>
          <p:nvPr/>
        </p:nvSpPr>
        <p:spPr>
          <a:xfrm>
            <a:off x="8559091" y="2176272"/>
            <a:ext cx="2971493" cy="420624"/>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Low concert engagement</a:t>
            </a:r>
            <a:endParaRPr lang="en-US" sz="1200" dirty="0"/>
          </a:p>
        </p:txBody>
      </p:sp>
      <p:sp>
        <p:nvSpPr>
          <p:cNvPr id="17" name="Shape 15"/>
          <p:cNvSpPr/>
          <p:nvPr/>
        </p:nvSpPr>
        <p:spPr>
          <a:xfrm>
            <a:off x="566928" y="2596896"/>
            <a:ext cx="11055096" cy="420624"/>
          </a:xfrm>
          <a:prstGeom prst="rect">
            <a:avLst/>
          </a:prstGeom>
          <a:solidFill>
            <a:srgbClr val="F5F4FA"/>
          </a:solidFill>
          <a:ln w="7620">
            <a:solidFill>
              <a:srgbClr val="DBD8E8"/>
            </a:solidFill>
            <a:prstDash val="solid"/>
          </a:ln>
        </p:spPr>
      </p:sp>
      <p:sp>
        <p:nvSpPr>
          <p:cNvPr id="18" name="Text 16"/>
          <p:cNvSpPr/>
          <p:nvPr/>
        </p:nvSpPr>
        <p:spPr>
          <a:xfrm>
            <a:off x="694944" y="2596896"/>
            <a:ext cx="1839221" cy="420624"/>
          </a:xfrm>
          <a:prstGeom prst="rect">
            <a:avLst/>
          </a:prstGeom>
          <a:noFill/>
          <a:ln/>
        </p:spPr>
        <p:txBody>
          <a:bodyPr wrap="square" lIns="0" tIns="0" rIns="0" bIns="0" rtlCol="0" anchor="ctr"/>
          <a:lstStyle/>
          <a:p>
            <a:pPr algn="l" indent="0" marL="0">
              <a:buNone/>
            </a:pPr>
            <a:r>
              <a:rPr lang="en-US" sz="1200" b="1" dirty="0">
                <a:solidFill>
                  <a:srgbClr val="1F8F82"/>
                </a:solidFill>
                <a:latin typeface="Calibri" pitchFamily="34" charset="0"/>
                <a:ea typeface="Calibri" pitchFamily="34" charset="-122"/>
                <a:cs typeface="Calibri" pitchFamily="34" charset="-120"/>
              </a:rPr>
              <a:t>Class 2</a:t>
            </a:r>
            <a:endParaRPr lang="en-US" sz="1200" dirty="0"/>
          </a:p>
        </p:txBody>
      </p:sp>
      <p:sp>
        <p:nvSpPr>
          <p:cNvPr id="19" name="Text 17"/>
          <p:cNvSpPr/>
          <p:nvPr/>
        </p:nvSpPr>
        <p:spPr>
          <a:xfrm>
            <a:off x="2753621" y="2596896"/>
            <a:ext cx="2045089"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0.91</a:t>
            </a:r>
            <a:endParaRPr lang="en-US" sz="1200" dirty="0"/>
          </a:p>
        </p:txBody>
      </p:sp>
      <p:sp>
        <p:nvSpPr>
          <p:cNvPr id="20" name="Text 18"/>
          <p:cNvSpPr/>
          <p:nvPr/>
        </p:nvSpPr>
        <p:spPr>
          <a:xfrm>
            <a:off x="5018166" y="2596896"/>
            <a:ext cx="2045089"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0.74</a:t>
            </a:r>
            <a:endParaRPr lang="en-US" sz="1200" dirty="0"/>
          </a:p>
        </p:txBody>
      </p:sp>
      <p:sp>
        <p:nvSpPr>
          <p:cNvPr id="21" name="Text 19"/>
          <p:cNvSpPr/>
          <p:nvPr/>
        </p:nvSpPr>
        <p:spPr>
          <a:xfrm>
            <a:off x="7282711" y="2596896"/>
            <a:ext cx="1056924"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37%</a:t>
            </a:r>
            <a:endParaRPr lang="en-US" sz="1200" dirty="0"/>
          </a:p>
        </p:txBody>
      </p:sp>
      <p:sp>
        <p:nvSpPr>
          <p:cNvPr id="22" name="Text 20"/>
          <p:cNvSpPr/>
          <p:nvPr/>
        </p:nvSpPr>
        <p:spPr>
          <a:xfrm>
            <a:off x="8559091" y="2596896"/>
            <a:ext cx="2971493" cy="420624"/>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High engagement, both settings</a:t>
            </a:r>
            <a:endParaRPr lang="en-US" sz="1200" dirty="0"/>
          </a:p>
        </p:txBody>
      </p:sp>
      <p:sp>
        <p:nvSpPr>
          <p:cNvPr id="23" name="Shape 21"/>
          <p:cNvSpPr/>
          <p:nvPr/>
        </p:nvSpPr>
        <p:spPr>
          <a:xfrm>
            <a:off x="566928" y="3017520"/>
            <a:ext cx="11055096" cy="420624"/>
          </a:xfrm>
          <a:prstGeom prst="rect">
            <a:avLst/>
          </a:prstGeom>
          <a:solidFill>
            <a:srgbClr val="FFFFFF"/>
          </a:solidFill>
          <a:ln w="7620">
            <a:solidFill>
              <a:srgbClr val="DBD8E8"/>
            </a:solidFill>
            <a:prstDash val="solid"/>
          </a:ln>
        </p:spPr>
      </p:sp>
      <p:sp>
        <p:nvSpPr>
          <p:cNvPr id="24" name="Text 22"/>
          <p:cNvSpPr/>
          <p:nvPr/>
        </p:nvSpPr>
        <p:spPr>
          <a:xfrm>
            <a:off x="694944" y="3017520"/>
            <a:ext cx="1839221" cy="420624"/>
          </a:xfrm>
          <a:prstGeom prst="rect">
            <a:avLst/>
          </a:prstGeom>
          <a:noFill/>
          <a:ln/>
        </p:spPr>
        <p:txBody>
          <a:bodyPr wrap="square" lIns="0" tIns="0" rIns="0" bIns="0" rtlCol="0" anchor="ctr"/>
          <a:lstStyle/>
          <a:p>
            <a:pPr algn="l" indent="0" marL="0">
              <a:buNone/>
            </a:pPr>
            <a:r>
              <a:rPr lang="en-US" sz="1200" b="1" dirty="0">
                <a:solidFill>
                  <a:srgbClr val="E09B21"/>
                </a:solidFill>
                <a:latin typeface="Calibri" pitchFamily="34" charset="0"/>
                <a:ea typeface="Calibri" pitchFamily="34" charset="-122"/>
                <a:cs typeface="Calibri" pitchFamily="34" charset="-120"/>
              </a:rPr>
              <a:t>Class 3</a:t>
            </a:r>
            <a:endParaRPr lang="en-US" sz="1200" dirty="0"/>
          </a:p>
        </p:txBody>
      </p:sp>
      <p:sp>
        <p:nvSpPr>
          <p:cNvPr id="25" name="Text 23"/>
          <p:cNvSpPr/>
          <p:nvPr/>
        </p:nvSpPr>
        <p:spPr>
          <a:xfrm>
            <a:off x="2753621" y="3017520"/>
            <a:ext cx="2045089"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0.14</a:t>
            </a:r>
            <a:endParaRPr lang="en-US" sz="1200" dirty="0"/>
          </a:p>
        </p:txBody>
      </p:sp>
      <p:sp>
        <p:nvSpPr>
          <p:cNvPr id="26" name="Text 24"/>
          <p:cNvSpPr/>
          <p:nvPr/>
        </p:nvSpPr>
        <p:spPr>
          <a:xfrm>
            <a:off x="5018166" y="3017520"/>
            <a:ext cx="2045089"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0.88</a:t>
            </a:r>
            <a:endParaRPr lang="en-US" sz="1200" dirty="0"/>
          </a:p>
        </p:txBody>
      </p:sp>
      <p:sp>
        <p:nvSpPr>
          <p:cNvPr id="27" name="Text 25"/>
          <p:cNvSpPr/>
          <p:nvPr/>
        </p:nvSpPr>
        <p:spPr>
          <a:xfrm>
            <a:off x="7282711" y="3017520"/>
            <a:ext cx="1056924" cy="420624"/>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22%</a:t>
            </a:r>
            <a:endParaRPr lang="en-US" sz="1200" dirty="0"/>
          </a:p>
        </p:txBody>
      </p:sp>
      <p:sp>
        <p:nvSpPr>
          <p:cNvPr id="28" name="Text 26"/>
          <p:cNvSpPr/>
          <p:nvPr/>
        </p:nvSpPr>
        <p:spPr>
          <a:xfrm>
            <a:off x="8559091" y="3017520"/>
            <a:ext cx="2971493" cy="420624"/>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Mosh-pit only</a:t>
            </a:r>
            <a:endParaRPr lang="en-US" sz="1200" dirty="0"/>
          </a:p>
        </p:txBody>
      </p:sp>
      <p:sp>
        <p:nvSpPr>
          <p:cNvPr id="29" name="Text 27"/>
          <p:cNvSpPr/>
          <p:nvPr/>
        </p:nvSpPr>
        <p:spPr>
          <a:xfrm>
            <a:off x="566928" y="3602736"/>
            <a:ext cx="11055096" cy="292608"/>
          </a:xfrm>
          <a:prstGeom prst="rect">
            <a:avLst/>
          </a:prstGeom>
          <a:noFill/>
          <a:ln/>
        </p:spPr>
        <p:txBody>
          <a:bodyPr wrap="square" lIns="0" tIns="0" rIns="0" bIns="0" rtlCol="0" anchor="ctr"/>
          <a:lstStyle/>
          <a:p>
            <a:pPr indent="0" marL="0">
              <a:buNone/>
            </a:pPr>
            <a:r>
              <a:rPr lang="en-US" sz="1800" b="1" dirty="0">
                <a:solidFill>
                  <a:srgbClr val="1A1633"/>
                </a:solidFill>
                <a:latin typeface="Cambria" pitchFamily="34" charset="0"/>
                <a:ea typeface="Cambria" pitchFamily="34" charset="-122"/>
                <a:cs typeface="Cambria" pitchFamily="34" charset="-120"/>
              </a:rPr>
              <a:t>The tempting names — and why they cost you</a:t>
            </a:r>
            <a:endParaRPr lang="en-US" sz="1800" dirty="0"/>
          </a:p>
        </p:txBody>
      </p:sp>
      <p:sp>
        <p:nvSpPr>
          <p:cNvPr id="30" name="Shape 28"/>
          <p:cNvSpPr/>
          <p:nvPr/>
        </p:nvSpPr>
        <p:spPr>
          <a:xfrm>
            <a:off x="566928" y="3968496"/>
            <a:ext cx="3526536" cy="1417320"/>
          </a:xfrm>
          <a:prstGeom prst="roundRect">
            <a:avLst>
              <a:gd name="adj" fmla="val 6452"/>
            </a:avLst>
          </a:prstGeom>
          <a:solidFill>
            <a:srgbClr val="F5F4FA"/>
          </a:solidFill>
          <a:ln w="12700">
            <a:solidFill>
              <a:srgbClr val="DBD8E8"/>
            </a:solidFill>
            <a:prstDash val="solid"/>
          </a:ln>
        </p:spPr>
      </p:sp>
      <p:sp>
        <p:nvSpPr>
          <p:cNvPr id="31" name="Text 29"/>
          <p:cNvSpPr/>
          <p:nvPr/>
        </p:nvSpPr>
        <p:spPr>
          <a:xfrm>
            <a:off x="804672" y="4133088"/>
            <a:ext cx="3051048" cy="292608"/>
          </a:xfrm>
          <a:prstGeom prst="rect">
            <a:avLst/>
          </a:prstGeom>
          <a:noFill/>
          <a:ln/>
        </p:spPr>
        <p:txBody>
          <a:bodyPr wrap="square" lIns="0" tIns="0" rIns="0" bIns="0" rtlCol="0" anchor="ctr"/>
          <a:lstStyle/>
          <a:p>
            <a:pPr indent="0" marL="0">
              <a:buNone/>
            </a:pPr>
            <a:r>
              <a:rPr lang="en-US" sz="1400" b="1" dirty="0">
                <a:solidFill>
                  <a:srgbClr val="D9553C"/>
                </a:solidFill>
                <a:latin typeface="Calibri" pitchFamily="34" charset="0"/>
                <a:ea typeface="Calibri" pitchFamily="34" charset="-122"/>
                <a:cs typeface="Calibri" pitchFamily="34" charset="-120"/>
              </a:rPr>
              <a:t>“The homebodies”</a:t>
            </a:r>
            <a:endParaRPr lang="en-US" sz="1400" dirty="0"/>
          </a:p>
        </p:txBody>
      </p:sp>
      <p:sp>
        <p:nvSpPr>
          <p:cNvPr id="32" name="Text 30"/>
          <p:cNvSpPr/>
          <p:nvPr/>
        </p:nvSpPr>
        <p:spPr>
          <a:xfrm>
            <a:off x="804672" y="4462272"/>
            <a:ext cx="3051048" cy="841248"/>
          </a:xfrm>
          <a:prstGeom prst="rect">
            <a:avLst/>
          </a:prstGeom>
          <a:noFill/>
          <a:ln/>
        </p:spPr>
        <p:txBody>
          <a:bodyPr wrap="square" lIns="0" tIns="0" rIns="0" bIns="0" rtlCol="0" anchor="t"/>
          <a:lstStyle/>
          <a:p>
            <a:pPr indent="0" marL="0">
              <a:lnSpc>
                <a:spcPts val="1550"/>
              </a:lnSpc>
              <a:buNone/>
            </a:pPr>
            <a:r>
              <a:rPr lang="en-US" sz="1150" dirty="0">
                <a:solidFill>
                  <a:srgbClr val="6B6785"/>
                </a:solidFill>
                <a:latin typeface="Calibri" pitchFamily="34" charset="0"/>
                <a:ea typeface="Calibri" pitchFamily="34" charset="-122"/>
                <a:cs typeface="Calibri" pitchFamily="34" charset="-120"/>
              </a:rPr>
              <a:t>Class 1 might simply have no money, or no venue nearby. You have named a circumstance as a personality.</a:t>
            </a:r>
            <a:endParaRPr lang="en-US" sz="1150" dirty="0"/>
          </a:p>
        </p:txBody>
      </p:sp>
      <p:sp>
        <p:nvSpPr>
          <p:cNvPr id="33" name="Shape 31"/>
          <p:cNvSpPr/>
          <p:nvPr/>
        </p:nvSpPr>
        <p:spPr>
          <a:xfrm>
            <a:off x="4331208" y="3968496"/>
            <a:ext cx="3526536" cy="1417320"/>
          </a:xfrm>
          <a:prstGeom prst="roundRect">
            <a:avLst>
              <a:gd name="adj" fmla="val 6452"/>
            </a:avLst>
          </a:prstGeom>
          <a:solidFill>
            <a:srgbClr val="F5F4FA"/>
          </a:solidFill>
          <a:ln w="12700">
            <a:solidFill>
              <a:srgbClr val="DBD8E8"/>
            </a:solidFill>
            <a:prstDash val="solid"/>
          </a:ln>
        </p:spPr>
      </p:sp>
      <p:sp>
        <p:nvSpPr>
          <p:cNvPr id="34" name="Text 32"/>
          <p:cNvSpPr/>
          <p:nvPr/>
        </p:nvSpPr>
        <p:spPr>
          <a:xfrm>
            <a:off x="4568952" y="4133088"/>
            <a:ext cx="3051048" cy="292608"/>
          </a:xfrm>
          <a:prstGeom prst="rect">
            <a:avLst/>
          </a:prstGeom>
          <a:noFill/>
          <a:ln/>
        </p:spPr>
        <p:txBody>
          <a:bodyPr wrap="square" lIns="0" tIns="0" rIns="0" bIns="0" rtlCol="0" anchor="ctr"/>
          <a:lstStyle/>
          <a:p>
            <a:pPr indent="0" marL="0">
              <a:buNone/>
            </a:pPr>
            <a:r>
              <a:rPr lang="en-US" sz="1400" b="1" dirty="0">
                <a:solidFill>
                  <a:srgbClr val="1F8F82"/>
                </a:solidFill>
                <a:latin typeface="Calibri" pitchFamily="34" charset="0"/>
                <a:ea typeface="Calibri" pitchFamily="34" charset="-122"/>
                <a:cs typeface="Calibri" pitchFamily="34" charset="-120"/>
              </a:rPr>
              <a:t>“Taylor Swift fans”</a:t>
            </a:r>
            <a:endParaRPr lang="en-US" sz="1400" dirty="0"/>
          </a:p>
        </p:txBody>
      </p:sp>
      <p:sp>
        <p:nvSpPr>
          <p:cNvPr id="35" name="Text 33"/>
          <p:cNvSpPr/>
          <p:nvPr/>
        </p:nvSpPr>
        <p:spPr>
          <a:xfrm>
            <a:off x="4568952" y="4462272"/>
            <a:ext cx="3051048" cy="841248"/>
          </a:xfrm>
          <a:prstGeom prst="rect">
            <a:avLst/>
          </a:prstGeom>
          <a:noFill/>
          <a:ln/>
        </p:spPr>
        <p:txBody>
          <a:bodyPr wrap="square" lIns="0" tIns="0" rIns="0" bIns="0" rtlCol="0" anchor="t"/>
          <a:lstStyle/>
          <a:p>
            <a:pPr indent="0" marL="0">
              <a:lnSpc>
                <a:spcPts val="1550"/>
              </a:lnSpc>
              <a:buNone/>
            </a:pPr>
            <a:r>
              <a:rPr lang="en-US" sz="1150" dirty="0">
                <a:solidFill>
                  <a:srgbClr val="6B6785"/>
                </a:solidFill>
                <a:latin typeface="Calibri" pitchFamily="34" charset="0"/>
                <a:ea typeface="Calibri" pitchFamily="34" charset="-122"/>
                <a:cs typeface="Calibri" pitchFamily="34" charset="-120"/>
              </a:rPr>
              <a:t>Nothing in the data says anything about Taylor Swift. You have imported an assumption and made it look like a finding.</a:t>
            </a:r>
            <a:endParaRPr lang="en-US" sz="1150" dirty="0"/>
          </a:p>
        </p:txBody>
      </p:sp>
      <p:sp>
        <p:nvSpPr>
          <p:cNvPr id="36" name="Shape 34"/>
          <p:cNvSpPr/>
          <p:nvPr/>
        </p:nvSpPr>
        <p:spPr>
          <a:xfrm>
            <a:off x="8095488" y="3968496"/>
            <a:ext cx="3526536" cy="1417320"/>
          </a:xfrm>
          <a:prstGeom prst="roundRect">
            <a:avLst>
              <a:gd name="adj" fmla="val 6452"/>
            </a:avLst>
          </a:prstGeom>
          <a:solidFill>
            <a:srgbClr val="F5F4FA"/>
          </a:solidFill>
          <a:ln w="12700">
            <a:solidFill>
              <a:srgbClr val="DBD8E8"/>
            </a:solidFill>
            <a:prstDash val="solid"/>
          </a:ln>
        </p:spPr>
      </p:sp>
      <p:sp>
        <p:nvSpPr>
          <p:cNvPr id="37" name="Text 35"/>
          <p:cNvSpPr/>
          <p:nvPr/>
        </p:nvSpPr>
        <p:spPr>
          <a:xfrm>
            <a:off x="8333232" y="4133088"/>
            <a:ext cx="3051048" cy="292608"/>
          </a:xfrm>
          <a:prstGeom prst="rect">
            <a:avLst/>
          </a:prstGeom>
          <a:noFill/>
          <a:ln/>
        </p:spPr>
        <p:txBody>
          <a:bodyPr wrap="square" lIns="0" tIns="0" rIns="0" bIns="0" rtlCol="0" anchor="ctr"/>
          <a:lstStyle/>
          <a:p>
            <a:pPr indent="0" marL="0">
              <a:buNone/>
            </a:pPr>
            <a:r>
              <a:rPr lang="en-US" sz="1400" b="1" dirty="0">
                <a:solidFill>
                  <a:srgbClr val="E09B21"/>
                </a:solidFill>
                <a:latin typeface="Calibri" pitchFamily="34" charset="0"/>
                <a:ea typeface="Calibri" pitchFamily="34" charset="-122"/>
                <a:cs typeface="Calibri" pitchFamily="34" charset="-120"/>
              </a:rPr>
              <a:t>“Heavy metal fans”</a:t>
            </a:r>
            <a:endParaRPr lang="en-US" sz="1400" dirty="0"/>
          </a:p>
        </p:txBody>
      </p:sp>
      <p:sp>
        <p:nvSpPr>
          <p:cNvPr id="38" name="Text 36"/>
          <p:cNvSpPr/>
          <p:nvPr/>
        </p:nvSpPr>
        <p:spPr>
          <a:xfrm>
            <a:off x="8333232" y="4462272"/>
            <a:ext cx="3051048" cy="841248"/>
          </a:xfrm>
          <a:prstGeom prst="rect">
            <a:avLst/>
          </a:prstGeom>
          <a:noFill/>
          <a:ln/>
        </p:spPr>
        <p:txBody>
          <a:bodyPr wrap="square" lIns="0" tIns="0" rIns="0" bIns="0" rtlCol="0" anchor="t"/>
          <a:lstStyle/>
          <a:p>
            <a:pPr indent="0" marL="0">
              <a:lnSpc>
                <a:spcPts val="1550"/>
              </a:lnSpc>
              <a:buNone/>
            </a:pPr>
            <a:r>
              <a:rPr lang="en-US" sz="1150" dirty="0">
                <a:solidFill>
                  <a:srgbClr val="6B6785"/>
                </a:solidFill>
                <a:latin typeface="Calibri" pitchFamily="34" charset="0"/>
                <a:ea typeface="Calibri" pitchFamily="34" charset="-122"/>
                <a:cs typeface="Calibri" pitchFamily="34" charset="-120"/>
              </a:rPr>
              <a:t>Plausible, unevidenced, and now every reader will interpret class 3 through that label instead of through its actual probabilities.</a:t>
            </a:r>
            <a:endParaRPr lang="en-US" sz="1150" dirty="0"/>
          </a:p>
        </p:txBody>
      </p:sp>
      <p:sp>
        <p:nvSpPr>
          <p:cNvPr id="39" name="Shape 37"/>
          <p:cNvSpPr/>
          <p:nvPr/>
        </p:nvSpPr>
        <p:spPr>
          <a:xfrm>
            <a:off x="566928" y="5504688"/>
            <a:ext cx="11055096" cy="822960"/>
          </a:xfrm>
          <a:prstGeom prst="roundRect">
            <a:avLst>
              <a:gd name="adj" fmla="val 11111"/>
            </a:avLst>
          </a:prstGeom>
          <a:solidFill>
            <a:srgbClr val="FAF3F1"/>
          </a:solidFill>
          <a:ln w="12700">
            <a:solidFill>
              <a:srgbClr val="EBD5CD"/>
            </a:solidFill>
            <a:prstDash val="solid"/>
          </a:ln>
        </p:spPr>
      </p:sp>
      <p:sp>
        <p:nvSpPr>
          <p:cNvPr id="40" name="Text 38"/>
          <p:cNvSpPr/>
          <p:nvPr/>
        </p:nvSpPr>
        <p:spPr>
          <a:xfrm>
            <a:off x="886968" y="5504688"/>
            <a:ext cx="10415016" cy="822960"/>
          </a:xfrm>
          <a:prstGeom prst="rect">
            <a:avLst/>
          </a:prstGeom>
          <a:noFill/>
          <a:ln/>
        </p:spPr>
        <p:txBody>
          <a:bodyPr wrap="square" lIns="0" tIns="0" rIns="0" bIns="0" rtlCol="0" anchor="ctr"/>
          <a:lstStyle/>
          <a:p>
            <a:pPr indent="0" marL="0">
              <a:lnSpc>
                <a:spcPts val="1800"/>
              </a:lnSpc>
              <a:buNone/>
            </a:pPr>
            <a:r>
              <a:rPr lang="en-US" sz="1250" b="1" dirty="0">
                <a:solidFill>
                  <a:srgbClr val="D9553C"/>
                </a:solidFill>
                <a:latin typeface="Calibri" pitchFamily="34" charset="0"/>
                <a:ea typeface="Calibri" pitchFamily="34" charset="-122"/>
                <a:cs typeface="Calibri" pitchFamily="34" charset="-120"/>
              </a:rPr>
              <a:t>The naming fallacy.  </a:t>
            </a:r>
            <a:pPr indent="0" marL="0">
              <a:lnSpc>
                <a:spcPts val="1800"/>
              </a:lnSpc>
              <a:buNone/>
            </a:pPr>
            <a:r>
              <a:rPr lang="en-US" sz="1250" dirty="0">
                <a:solidFill>
                  <a:srgbClr val="1A1633"/>
                </a:solidFill>
                <a:latin typeface="Calibri" pitchFamily="34" charset="0"/>
                <a:ea typeface="Calibri" pitchFamily="34" charset="-122"/>
                <a:cs typeface="Calibri" pitchFamily="34" charset="-120"/>
              </a:rPr>
              <a:t>A class name is an interpretation, but it behaves like a finding: it sticks, it shapes how everyone reads your results, and if the work informs policy it can shape decisions about real people. Dull and accurate beats memorable and wrong.</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A2356"/>
        </a:solidFill>
      </p:bgPr>
    </p:bg>
    <p:spTree>
      <p:nvGrpSpPr>
        <p:cNvPr id="1" name=""/>
        <p:cNvGrpSpPr/>
        <p:nvPr/>
      </p:nvGrpSpPr>
      <p:grpSpPr>
        <a:xfrm>
          <a:off x="0" y="0"/>
          <a:ext cx="0" cy="0"/>
          <a:chOff x="0" y="0"/>
          <a:chExt cx="0" cy="0"/>
        </a:xfrm>
      </p:grpSpPr>
      <p:sp>
        <p:nvSpPr>
          <p:cNvPr id="2" name="Shape 0"/>
          <p:cNvSpPr/>
          <p:nvPr/>
        </p:nvSpPr>
        <p:spPr>
          <a:xfrm>
            <a:off x="10845174" y="5566279"/>
            <a:ext cx="202172" cy="202172"/>
          </a:xfrm>
          <a:prstGeom prst="ellipse">
            <a:avLst/>
          </a:prstGeom>
          <a:solidFill>
            <a:srgbClr val="D9553C">
              <a:alpha val="55000"/>
            </a:srgbClr>
          </a:solidFill>
          <a:ln w="12700">
            <a:solidFill>
              <a:srgbClr val="D9553C"/>
            </a:solidFill>
            <a:prstDash val="solid"/>
          </a:ln>
        </p:spPr>
      </p:sp>
      <p:sp>
        <p:nvSpPr>
          <p:cNvPr id="3" name="Shape 1"/>
          <p:cNvSpPr/>
          <p:nvPr/>
        </p:nvSpPr>
        <p:spPr>
          <a:xfrm>
            <a:off x="11155349" y="3433280"/>
            <a:ext cx="101060" cy="101060"/>
          </a:xfrm>
          <a:prstGeom prst="ellipse">
            <a:avLst/>
          </a:prstGeom>
          <a:solidFill>
            <a:srgbClr val="1F8F82">
              <a:alpha val="55000"/>
            </a:srgbClr>
          </a:solidFill>
          <a:ln w="12700">
            <a:solidFill>
              <a:srgbClr val="1F8F82"/>
            </a:solidFill>
            <a:prstDash val="solid"/>
          </a:ln>
        </p:spPr>
      </p:sp>
      <p:sp>
        <p:nvSpPr>
          <p:cNvPr id="4" name="Shape 2"/>
          <p:cNvSpPr/>
          <p:nvPr/>
        </p:nvSpPr>
        <p:spPr>
          <a:xfrm>
            <a:off x="10558783" y="6100861"/>
            <a:ext cx="206678" cy="206678"/>
          </a:xfrm>
          <a:prstGeom prst="ellipse">
            <a:avLst/>
          </a:prstGeom>
          <a:solidFill>
            <a:srgbClr val="E09B21">
              <a:alpha val="55000"/>
            </a:srgbClr>
          </a:solidFill>
          <a:ln w="12700">
            <a:solidFill>
              <a:srgbClr val="E09B21"/>
            </a:solidFill>
            <a:prstDash val="solid"/>
          </a:ln>
        </p:spPr>
      </p:sp>
      <p:sp>
        <p:nvSpPr>
          <p:cNvPr id="5" name="Shape 3"/>
          <p:cNvSpPr/>
          <p:nvPr/>
        </p:nvSpPr>
        <p:spPr>
          <a:xfrm>
            <a:off x="11164866" y="1302507"/>
            <a:ext cx="160481" cy="160481"/>
          </a:xfrm>
          <a:prstGeom prst="ellipse">
            <a:avLst/>
          </a:prstGeom>
          <a:solidFill>
            <a:srgbClr val="6F63C9">
              <a:alpha val="55000"/>
            </a:srgbClr>
          </a:solidFill>
          <a:ln w="12700">
            <a:solidFill>
              <a:srgbClr val="6F63C9"/>
            </a:solidFill>
            <a:prstDash val="solid"/>
          </a:ln>
        </p:spPr>
      </p:sp>
      <p:sp>
        <p:nvSpPr>
          <p:cNvPr id="6" name="Shape 4"/>
          <p:cNvSpPr/>
          <p:nvPr/>
        </p:nvSpPr>
        <p:spPr>
          <a:xfrm>
            <a:off x="8261698" y="3370080"/>
            <a:ext cx="130505" cy="130505"/>
          </a:xfrm>
          <a:prstGeom prst="ellipse">
            <a:avLst/>
          </a:prstGeom>
          <a:solidFill>
            <a:srgbClr val="B23A6B">
              <a:alpha val="55000"/>
            </a:srgbClr>
          </a:solidFill>
          <a:ln w="12700">
            <a:solidFill>
              <a:srgbClr val="B23A6B"/>
            </a:solidFill>
            <a:prstDash val="solid"/>
          </a:ln>
        </p:spPr>
      </p:sp>
      <p:sp>
        <p:nvSpPr>
          <p:cNvPr id="7" name="Shape 5"/>
          <p:cNvSpPr/>
          <p:nvPr/>
        </p:nvSpPr>
        <p:spPr>
          <a:xfrm>
            <a:off x="10138481" y="5732867"/>
            <a:ext cx="122546" cy="122546"/>
          </a:xfrm>
          <a:prstGeom prst="ellipse">
            <a:avLst/>
          </a:prstGeom>
          <a:solidFill>
            <a:srgbClr val="D9553C">
              <a:alpha val="55000"/>
            </a:srgbClr>
          </a:solidFill>
          <a:ln w="12700">
            <a:solidFill>
              <a:srgbClr val="D9553C"/>
            </a:solidFill>
            <a:prstDash val="solid"/>
          </a:ln>
        </p:spPr>
      </p:sp>
      <p:sp>
        <p:nvSpPr>
          <p:cNvPr id="8" name="Shape 6"/>
          <p:cNvSpPr/>
          <p:nvPr/>
        </p:nvSpPr>
        <p:spPr>
          <a:xfrm>
            <a:off x="10683341" y="6145168"/>
            <a:ext cx="200489" cy="200489"/>
          </a:xfrm>
          <a:prstGeom prst="ellipse">
            <a:avLst/>
          </a:prstGeom>
          <a:solidFill>
            <a:srgbClr val="1F8F82">
              <a:alpha val="55000"/>
            </a:srgbClr>
          </a:solidFill>
          <a:ln w="12700">
            <a:solidFill>
              <a:srgbClr val="1F8F82"/>
            </a:solidFill>
            <a:prstDash val="solid"/>
          </a:ln>
        </p:spPr>
      </p:sp>
      <p:sp>
        <p:nvSpPr>
          <p:cNvPr id="9" name="Shape 7"/>
          <p:cNvSpPr/>
          <p:nvPr/>
        </p:nvSpPr>
        <p:spPr>
          <a:xfrm>
            <a:off x="8353504" y="4186788"/>
            <a:ext cx="120106" cy="120106"/>
          </a:xfrm>
          <a:prstGeom prst="ellipse">
            <a:avLst/>
          </a:prstGeom>
          <a:solidFill>
            <a:srgbClr val="E09B21">
              <a:alpha val="55000"/>
            </a:srgbClr>
          </a:solidFill>
          <a:ln w="12700">
            <a:solidFill>
              <a:srgbClr val="E09B21"/>
            </a:solidFill>
            <a:prstDash val="solid"/>
          </a:ln>
        </p:spPr>
      </p:sp>
      <p:sp>
        <p:nvSpPr>
          <p:cNvPr id="10" name="Shape 8"/>
          <p:cNvSpPr/>
          <p:nvPr/>
        </p:nvSpPr>
        <p:spPr>
          <a:xfrm>
            <a:off x="9983641" y="893689"/>
            <a:ext cx="106703" cy="106703"/>
          </a:xfrm>
          <a:prstGeom prst="ellipse">
            <a:avLst/>
          </a:prstGeom>
          <a:solidFill>
            <a:srgbClr val="6F63C9">
              <a:alpha val="55000"/>
            </a:srgbClr>
          </a:solidFill>
          <a:ln w="12700">
            <a:solidFill>
              <a:srgbClr val="6F63C9"/>
            </a:solidFill>
            <a:prstDash val="solid"/>
          </a:ln>
        </p:spPr>
      </p:sp>
      <p:sp>
        <p:nvSpPr>
          <p:cNvPr id="11" name="Shape 9"/>
          <p:cNvSpPr/>
          <p:nvPr/>
        </p:nvSpPr>
        <p:spPr>
          <a:xfrm>
            <a:off x="10506251" y="4535263"/>
            <a:ext cx="134940" cy="134940"/>
          </a:xfrm>
          <a:prstGeom prst="ellipse">
            <a:avLst/>
          </a:prstGeom>
          <a:solidFill>
            <a:srgbClr val="B23A6B">
              <a:alpha val="55000"/>
            </a:srgbClr>
          </a:solidFill>
          <a:ln w="12700">
            <a:solidFill>
              <a:srgbClr val="B23A6B"/>
            </a:solidFill>
            <a:prstDash val="solid"/>
          </a:ln>
        </p:spPr>
      </p:sp>
      <p:sp>
        <p:nvSpPr>
          <p:cNvPr id="12" name="Shape 10"/>
          <p:cNvSpPr/>
          <p:nvPr/>
        </p:nvSpPr>
        <p:spPr>
          <a:xfrm>
            <a:off x="8891424" y="3050145"/>
            <a:ext cx="151853" cy="151853"/>
          </a:xfrm>
          <a:prstGeom prst="ellipse">
            <a:avLst/>
          </a:prstGeom>
          <a:solidFill>
            <a:srgbClr val="D9553C">
              <a:alpha val="55000"/>
            </a:srgbClr>
          </a:solidFill>
          <a:ln w="12700">
            <a:solidFill>
              <a:srgbClr val="D9553C"/>
            </a:solidFill>
            <a:prstDash val="solid"/>
          </a:ln>
        </p:spPr>
      </p:sp>
      <p:sp>
        <p:nvSpPr>
          <p:cNvPr id="13" name="Shape 11"/>
          <p:cNvSpPr/>
          <p:nvPr/>
        </p:nvSpPr>
        <p:spPr>
          <a:xfrm>
            <a:off x="9668336" y="4433846"/>
            <a:ext cx="125825" cy="125825"/>
          </a:xfrm>
          <a:prstGeom prst="ellipse">
            <a:avLst/>
          </a:prstGeom>
          <a:solidFill>
            <a:srgbClr val="1F8F82">
              <a:alpha val="55000"/>
            </a:srgbClr>
          </a:solidFill>
          <a:ln w="12700">
            <a:solidFill>
              <a:srgbClr val="1F8F82"/>
            </a:solidFill>
            <a:prstDash val="solid"/>
          </a:ln>
        </p:spPr>
      </p:sp>
      <p:sp>
        <p:nvSpPr>
          <p:cNvPr id="14" name="Shape 12"/>
          <p:cNvSpPr/>
          <p:nvPr/>
        </p:nvSpPr>
        <p:spPr>
          <a:xfrm>
            <a:off x="8934071" y="5705316"/>
            <a:ext cx="205713" cy="205713"/>
          </a:xfrm>
          <a:prstGeom prst="ellipse">
            <a:avLst/>
          </a:prstGeom>
          <a:solidFill>
            <a:srgbClr val="E09B21">
              <a:alpha val="55000"/>
            </a:srgbClr>
          </a:solidFill>
          <a:ln w="12700">
            <a:solidFill>
              <a:srgbClr val="E09B21"/>
            </a:solidFill>
            <a:prstDash val="solid"/>
          </a:ln>
        </p:spPr>
      </p:sp>
      <p:sp>
        <p:nvSpPr>
          <p:cNvPr id="15" name="Shape 13"/>
          <p:cNvSpPr/>
          <p:nvPr/>
        </p:nvSpPr>
        <p:spPr>
          <a:xfrm>
            <a:off x="10441562" y="2775608"/>
            <a:ext cx="138553" cy="138553"/>
          </a:xfrm>
          <a:prstGeom prst="ellipse">
            <a:avLst/>
          </a:prstGeom>
          <a:solidFill>
            <a:srgbClr val="6F63C9">
              <a:alpha val="55000"/>
            </a:srgbClr>
          </a:solidFill>
          <a:ln w="12700">
            <a:solidFill>
              <a:srgbClr val="6F63C9"/>
            </a:solidFill>
            <a:prstDash val="solid"/>
          </a:ln>
        </p:spPr>
      </p:sp>
      <p:sp>
        <p:nvSpPr>
          <p:cNvPr id="16" name="Shape 14"/>
          <p:cNvSpPr/>
          <p:nvPr/>
        </p:nvSpPr>
        <p:spPr>
          <a:xfrm>
            <a:off x="9265622" y="4253403"/>
            <a:ext cx="93370" cy="93370"/>
          </a:xfrm>
          <a:prstGeom prst="ellipse">
            <a:avLst/>
          </a:prstGeom>
          <a:solidFill>
            <a:srgbClr val="B23A6B">
              <a:alpha val="55000"/>
            </a:srgbClr>
          </a:solidFill>
          <a:ln w="12700">
            <a:solidFill>
              <a:srgbClr val="B23A6B"/>
            </a:solidFill>
            <a:prstDash val="solid"/>
          </a:ln>
        </p:spPr>
      </p:sp>
      <p:sp>
        <p:nvSpPr>
          <p:cNvPr id="17" name="Shape 15"/>
          <p:cNvSpPr/>
          <p:nvPr/>
        </p:nvSpPr>
        <p:spPr>
          <a:xfrm>
            <a:off x="11539790" y="5856970"/>
            <a:ext cx="134487" cy="134487"/>
          </a:xfrm>
          <a:prstGeom prst="ellipse">
            <a:avLst/>
          </a:prstGeom>
          <a:solidFill>
            <a:srgbClr val="D9553C">
              <a:alpha val="55000"/>
            </a:srgbClr>
          </a:solidFill>
          <a:ln w="12700">
            <a:solidFill>
              <a:srgbClr val="D9553C"/>
            </a:solidFill>
            <a:prstDash val="solid"/>
          </a:ln>
        </p:spPr>
      </p:sp>
      <p:sp>
        <p:nvSpPr>
          <p:cNvPr id="18" name="Shape 16"/>
          <p:cNvSpPr/>
          <p:nvPr/>
        </p:nvSpPr>
        <p:spPr>
          <a:xfrm>
            <a:off x="10362550" y="3182811"/>
            <a:ext cx="152880" cy="152880"/>
          </a:xfrm>
          <a:prstGeom prst="ellipse">
            <a:avLst/>
          </a:prstGeom>
          <a:solidFill>
            <a:srgbClr val="1F8F82">
              <a:alpha val="55000"/>
            </a:srgbClr>
          </a:solidFill>
          <a:ln w="12700">
            <a:solidFill>
              <a:srgbClr val="1F8F82"/>
            </a:solidFill>
            <a:prstDash val="solid"/>
          </a:ln>
        </p:spPr>
      </p:sp>
      <p:sp>
        <p:nvSpPr>
          <p:cNvPr id="19" name="Shape 17"/>
          <p:cNvSpPr/>
          <p:nvPr/>
        </p:nvSpPr>
        <p:spPr>
          <a:xfrm>
            <a:off x="9444908" y="3574907"/>
            <a:ext cx="119476" cy="119476"/>
          </a:xfrm>
          <a:prstGeom prst="ellipse">
            <a:avLst/>
          </a:prstGeom>
          <a:solidFill>
            <a:srgbClr val="E09B21">
              <a:alpha val="55000"/>
            </a:srgbClr>
          </a:solidFill>
          <a:ln w="12700">
            <a:solidFill>
              <a:srgbClr val="E09B21"/>
            </a:solidFill>
            <a:prstDash val="solid"/>
          </a:ln>
        </p:spPr>
      </p:sp>
      <p:sp>
        <p:nvSpPr>
          <p:cNvPr id="20" name="Shape 18"/>
          <p:cNvSpPr/>
          <p:nvPr/>
        </p:nvSpPr>
        <p:spPr>
          <a:xfrm>
            <a:off x="11200267" y="1680718"/>
            <a:ext cx="190926" cy="190926"/>
          </a:xfrm>
          <a:prstGeom prst="ellipse">
            <a:avLst/>
          </a:prstGeom>
          <a:solidFill>
            <a:srgbClr val="6F63C9">
              <a:alpha val="55000"/>
            </a:srgbClr>
          </a:solidFill>
          <a:ln w="12700">
            <a:solidFill>
              <a:srgbClr val="6F63C9"/>
            </a:solidFill>
            <a:prstDash val="solid"/>
          </a:ln>
        </p:spPr>
      </p:sp>
      <p:sp>
        <p:nvSpPr>
          <p:cNvPr id="21" name="Shape 19"/>
          <p:cNvSpPr/>
          <p:nvPr/>
        </p:nvSpPr>
        <p:spPr>
          <a:xfrm>
            <a:off x="7988355" y="4702611"/>
            <a:ext cx="204174" cy="204174"/>
          </a:xfrm>
          <a:prstGeom prst="ellipse">
            <a:avLst/>
          </a:prstGeom>
          <a:solidFill>
            <a:srgbClr val="B23A6B">
              <a:alpha val="55000"/>
            </a:srgbClr>
          </a:solidFill>
          <a:ln w="12700">
            <a:solidFill>
              <a:srgbClr val="B23A6B"/>
            </a:solidFill>
            <a:prstDash val="solid"/>
          </a:ln>
        </p:spPr>
      </p:sp>
      <p:sp>
        <p:nvSpPr>
          <p:cNvPr id="22" name="Shape 20"/>
          <p:cNvSpPr/>
          <p:nvPr/>
        </p:nvSpPr>
        <p:spPr>
          <a:xfrm>
            <a:off x="10347755" y="5517386"/>
            <a:ext cx="159134" cy="159134"/>
          </a:xfrm>
          <a:prstGeom prst="ellipse">
            <a:avLst/>
          </a:prstGeom>
          <a:solidFill>
            <a:srgbClr val="D9553C">
              <a:alpha val="55000"/>
            </a:srgbClr>
          </a:solidFill>
          <a:ln w="12700">
            <a:solidFill>
              <a:srgbClr val="D9553C"/>
            </a:solidFill>
            <a:prstDash val="solid"/>
          </a:ln>
        </p:spPr>
      </p:sp>
      <p:sp>
        <p:nvSpPr>
          <p:cNvPr id="23" name="Shape 21"/>
          <p:cNvSpPr/>
          <p:nvPr/>
        </p:nvSpPr>
        <p:spPr>
          <a:xfrm>
            <a:off x="10537734" y="3126721"/>
            <a:ext cx="184789" cy="184789"/>
          </a:xfrm>
          <a:prstGeom prst="ellipse">
            <a:avLst/>
          </a:prstGeom>
          <a:solidFill>
            <a:srgbClr val="1F8F82">
              <a:alpha val="55000"/>
            </a:srgbClr>
          </a:solidFill>
          <a:ln w="12700">
            <a:solidFill>
              <a:srgbClr val="1F8F82"/>
            </a:solidFill>
            <a:prstDash val="solid"/>
          </a:ln>
        </p:spPr>
      </p:sp>
      <p:sp>
        <p:nvSpPr>
          <p:cNvPr id="24" name="Shape 22"/>
          <p:cNvSpPr/>
          <p:nvPr/>
        </p:nvSpPr>
        <p:spPr>
          <a:xfrm>
            <a:off x="10575299" y="558356"/>
            <a:ext cx="150305" cy="150305"/>
          </a:xfrm>
          <a:prstGeom prst="ellipse">
            <a:avLst/>
          </a:prstGeom>
          <a:solidFill>
            <a:srgbClr val="E09B21">
              <a:alpha val="55000"/>
            </a:srgbClr>
          </a:solidFill>
          <a:ln w="12700">
            <a:solidFill>
              <a:srgbClr val="E09B21"/>
            </a:solidFill>
            <a:prstDash val="solid"/>
          </a:ln>
        </p:spPr>
      </p:sp>
      <p:sp>
        <p:nvSpPr>
          <p:cNvPr id="25" name="Shape 23"/>
          <p:cNvSpPr/>
          <p:nvPr/>
        </p:nvSpPr>
        <p:spPr>
          <a:xfrm>
            <a:off x="11383348" y="991284"/>
            <a:ext cx="145113" cy="145113"/>
          </a:xfrm>
          <a:prstGeom prst="ellipse">
            <a:avLst/>
          </a:prstGeom>
          <a:solidFill>
            <a:srgbClr val="6F63C9">
              <a:alpha val="55000"/>
            </a:srgbClr>
          </a:solidFill>
          <a:ln w="12700">
            <a:solidFill>
              <a:srgbClr val="6F63C9"/>
            </a:solidFill>
            <a:prstDash val="solid"/>
          </a:ln>
        </p:spPr>
      </p:sp>
      <p:sp>
        <p:nvSpPr>
          <p:cNvPr id="26" name="Shape 24"/>
          <p:cNvSpPr/>
          <p:nvPr/>
        </p:nvSpPr>
        <p:spPr>
          <a:xfrm>
            <a:off x="9699401" y="5350166"/>
            <a:ext cx="126143" cy="126143"/>
          </a:xfrm>
          <a:prstGeom prst="ellipse">
            <a:avLst/>
          </a:prstGeom>
          <a:solidFill>
            <a:srgbClr val="B23A6B">
              <a:alpha val="55000"/>
            </a:srgbClr>
          </a:solidFill>
          <a:ln w="12700">
            <a:solidFill>
              <a:srgbClr val="B23A6B"/>
            </a:solidFill>
            <a:prstDash val="solid"/>
          </a:ln>
        </p:spPr>
      </p:sp>
      <p:sp>
        <p:nvSpPr>
          <p:cNvPr id="27" name="Shape 25"/>
          <p:cNvSpPr/>
          <p:nvPr/>
        </p:nvSpPr>
        <p:spPr>
          <a:xfrm>
            <a:off x="10468987" y="4987408"/>
            <a:ext cx="171964" cy="171964"/>
          </a:xfrm>
          <a:prstGeom prst="ellipse">
            <a:avLst/>
          </a:prstGeom>
          <a:solidFill>
            <a:srgbClr val="D9553C">
              <a:alpha val="55000"/>
            </a:srgbClr>
          </a:solidFill>
          <a:ln w="12700">
            <a:solidFill>
              <a:srgbClr val="D9553C"/>
            </a:solidFill>
            <a:prstDash val="solid"/>
          </a:ln>
        </p:spPr>
      </p:sp>
      <p:sp>
        <p:nvSpPr>
          <p:cNvPr id="28" name="Shape 26"/>
          <p:cNvSpPr/>
          <p:nvPr/>
        </p:nvSpPr>
        <p:spPr>
          <a:xfrm>
            <a:off x="9188971" y="5996506"/>
            <a:ext cx="100575" cy="100575"/>
          </a:xfrm>
          <a:prstGeom prst="ellipse">
            <a:avLst/>
          </a:prstGeom>
          <a:solidFill>
            <a:srgbClr val="1F8F82">
              <a:alpha val="55000"/>
            </a:srgbClr>
          </a:solidFill>
          <a:ln w="12700">
            <a:solidFill>
              <a:srgbClr val="1F8F82"/>
            </a:solidFill>
            <a:prstDash val="solid"/>
          </a:ln>
        </p:spPr>
      </p:sp>
      <p:sp>
        <p:nvSpPr>
          <p:cNvPr id="29" name="Shape 27"/>
          <p:cNvSpPr/>
          <p:nvPr/>
        </p:nvSpPr>
        <p:spPr>
          <a:xfrm>
            <a:off x="10867753" y="5149653"/>
            <a:ext cx="209417" cy="209417"/>
          </a:xfrm>
          <a:prstGeom prst="ellipse">
            <a:avLst/>
          </a:prstGeom>
          <a:solidFill>
            <a:srgbClr val="E09B21">
              <a:alpha val="55000"/>
            </a:srgbClr>
          </a:solidFill>
          <a:ln w="12700">
            <a:solidFill>
              <a:srgbClr val="E09B21"/>
            </a:solidFill>
            <a:prstDash val="solid"/>
          </a:ln>
        </p:spPr>
      </p:sp>
      <p:sp>
        <p:nvSpPr>
          <p:cNvPr id="30" name="Shape 28"/>
          <p:cNvSpPr/>
          <p:nvPr/>
        </p:nvSpPr>
        <p:spPr>
          <a:xfrm>
            <a:off x="8074901" y="2284548"/>
            <a:ext cx="205143" cy="205143"/>
          </a:xfrm>
          <a:prstGeom prst="ellipse">
            <a:avLst/>
          </a:prstGeom>
          <a:solidFill>
            <a:srgbClr val="6F63C9">
              <a:alpha val="55000"/>
            </a:srgbClr>
          </a:solidFill>
          <a:ln w="12700">
            <a:solidFill>
              <a:srgbClr val="6F63C9"/>
            </a:solidFill>
            <a:prstDash val="solid"/>
          </a:ln>
        </p:spPr>
      </p:sp>
      <p:sp>
        <p:nvSpPr>
          <p:cNvPr id="31" name="Shape 29"/>
          <p:cNvSpPr/>
          <p:nvPr/>
        </p:nvSpPr>
        <p:spPr>
          <a:xfrm>
            <a:off x="10614012" y="762815"/>
            <a:ext cx="171106" cy="171106"/>
          </a:xfrm>
          <a:prstGeom prst="ellipse">
            <a:avLst/>
          </a:prstGeom>
          <a:solidFill>
            <a:srgbClr val="B23A6B">
              <a:alpha val="55000"/>
            </a:srgbClr>
          </a:solidFill>
          <a:ln w="12700">
            <a:solidFill>
              <a:srgbClr val="B23A6B"/>
            </a:solidFill>
            <a:prstDash val="solid"/>
          </a:ln>
        </p:spPr>
      </p:sp>
      <p:sp>
        <p:nvSpPr>
          <p:cNvPr id="32" name="Shape 30"/>
          <p:cNvSpPr/>
          <p:nvPr/>
        </p:nvSpPr>
        <p:spPr>
          <a:xfrm>
            <a:off x="8473406" y="2623406"/>
            <a:ext cx="180488" cy="180488"/>
          </a:xfrm>
          <a:prstGeom prst="ellipse">
            <a:avLst/>
          </a:prstGeom>
          <a:solidFill>
            <a:srgbClr val="D9553C">
              <a:alpha val="55000"/>
            </a:srgbClr>
          </a:solidFill>
          <a:ln w="12700">
            <a:solidFill>
              <a:srgbClr val="D9553C"/>
            </a:solidFill>
            <a:prstDash val="solid"/>
          </a:ln>
        </p:spPr>
      </p:sp>
      <p:sp>
        <p:nvSpPr>
          <p:cNvPr id="33" name="Shape 31"/>
          <p:cNvSpPr/>
          <p:nvPr/>
        </p:nvSpPr>
        <p:spPr>
          <a:xfrm>
            <a:off x="10071467" y="1535607"/>
            <a:ext cx="136632" cy="136632"/>
          </a:xfrm>
          <a:prstGeom prst="ellipse">
            <a:avLst/>
          </a:prstGeom>
          <a:solidFill>
            <a:srgbClr val="1F8F82">
              <a:alpha val="55000"/>
            </a:srgbClr>
          </a:solidFill>
          <a:ln w="12700">
            <a:solidFill>
              <a:srgbClr val="1F8F82"/>
            </a:solidFill>
            <a:prstDash val="solid"/>
          </a:ln>
        </p:spPr>
      </p:sp>
      <p:sp>
        <p:nvSpPr>
          <p:cNvPr id="34" name="Shape 32"/>
          <p:cNvSpPr/>
          <p:nvPr/>
        </p:nvSpPr>
        <p:spPr>
          <a:xfrm>
            <a:off x="9196187" y="2843015"/>
            <a:ext cx="161752" cy="161752"/>
          </a:xfrm>
          <a:prstGeom prst="ellipse">
            <a:avLst/>
          </a:prstGeom>
          <a:solidFill>
            <a:srgbClr val="E09B21">
              <a:alpha val="55000"/>
            </a:srgbClr>
          </a:solidFill>
          <a:ln w="12700">
            <a:solidFill>
              <a:srgbClr val="E09B21"/>
            </a:solidFill>
            <a:prstDash val="solid"/>
          </a:ln>
        </p:spPr>
      </p:sp>
      <p:sp>
        <p:nvSpPr>
          <p:cNvPr id="35" name="Shape 33"/>
          <p:cNvSpPr/>
          <p:nvPr/>
        </p:nvSpPr>
        <p:spPr>
          <a:xfrm>
            <a:off x="8505756" y="5007984"/>
            <a:ext cx="129245" cy="129245"/>
          </a:xfrm>
          <a:prstGeom prst="ellipse">
            <a:avLst/>
          </a:prstGeom>
          <a:solidFill>
            <a:srgbClr val="6F63C9">
              <a:alpha val="55000"/>
            </a:srgbClr>
          </a:solidFill>
          <a:ln w="12700">
            <a:solidFill>
              <a:srgbClr val="6F63C9"/>
            </a:solidFill>
            <a:prstDash val="solid"/>
          </a:ln>
        </p:spPr>
      </p:sp>
      <p:sp>
        <p:nvSpPr>
          <p:cNvPr id="36" name="Shape 34"/>
          <p:cNvSpPr/>
          <p:nvPr/>
        </p:nvSpPr>
        <p:spPr>
          <a:xfrm>
            <a:off x="9278272" y="3267899"/>
            <a:ext cx="175134" cy="175134"/>
          </a:xfrm>
          <a:prstGeom prst="ellipse">
            <a:avLst/>
          </a:prstGeom>
          <a:solidFill>
            <a:srgbClr val="B23A6B">
              <a:alpha val="55000"/>
            </a:srgbClr>
          </a:solidFill>
          <a:ln w="12700">
            <a:solidFill>
              <a:srgbClr val="B23A6B"/>
            </a:solidFill>
            <a:prstDash val="solid"/>
          </a:ln>
        </p:spPr>
      </p:sp>
      <p:sp>
        <p:nvSpPr>
          <p:cNvPr id="37" name="Shape 35"/>
          <p:cNvSpPr/>
          <p:nvPr/>
        </p:nvSpPr>
        <p:spPr>
          <a:xfrm>
            <a:off x="9704402" y="3319534"/>
            <a:ext cx="113483" cy="113483"/>
          </a:xfrm>
          <a:prstGeom prst="ellipse">
            <a:avLst/>
          </a:prstGeom>
          <a:solidFill>
            <a:srgbClr val="D9553C">
              <a:alpha val="55000"/>
            </a:srgbClr>
          </a:solidFill>
          <a:ln w="12700">
            <a:solidFill>
              <a:srgbClr val="D9553C"/>
            </a:solidFill>
            <a:prstDash val="solid"/>
          </a:ln>
        </p:spPr>
      </p:sp>
      <p:sp>
        <p:nvSpPr>
          <p:cNvPr id="38" name="Shape 36"/>
          <p:cNvSpPr/>
          <p:nvPr/>
        </p:nvSpPr>
        <p:spPr>
          <a:xfrm>
            <a:off x="10071309" y="587381"/>
            <a:ext cx="123983" cy="123983"/>
          </a:xfrm>
          <a:prstGeom prst="ellipse">
            <a:avLst/>
          </a:prstGeom>
          <a:solidFill>
            <a:srgbClr val="1F8F82">
              <a:alpha val="55000"/>
            </a:srgbClr>
          </a:solidFill>
          <a:ln w="12700">
            <a:solidFill>
              <a:srgbClr val="1F8F82"/>
            </a:solidFill>
            <a:prstDash val="solid"/>
          </a:ln>
        </p:spPr>
      </p:sp>
      <p:sp>
        <p:nvSpPr>
          <p:cNvPr id="39" name="Shape 37"/>
          <p:cNvSpPr/>
          <p:nvPr/>
        </p:nvSpPr>
        <p:spPr>
          <a:xfrm>
            <a:off x="8942267" y="5718799"/>
            <a:ext cx="155428" cy="155428"/>
          </a:xfrm>
          <a:prstGeom prst="ellipse">
            <a:avLst/>
          </a:prstGeom>
          <a:solidFill>
            <a:srgbClr val="E09B21">
              <a:alpha val="55000"/>
            </a:srgbClr>
          </a:solidFill>
          <a:ln w="12700">
            <a:solidFill>
              <a:srgbClr val="E09B21"/>
            </a:solidFill>
            <a:prstDash val="solid"/>
          </a:ln>
        </p:spPr>
      </p:sp>
      <p:sp>
        <p:nvSpPr>
          <p:cNvPr id="40" name="Shape 38"/>
          <p:cNvSpPr/>
          <p:nvPr/>
        </p:nvSpPr>
        <p:spPr>
          <a:xfrm>
            <a:off x="8588042" y="6198476"/>
            <a:ext cx="104355" cy="104355"/>
          </a:xfrm>
          <a:prstGeom prst="ellipse">
            <a:avLst/>
          </a:prstGeom>
          <a:solidFill>
            <a:srgbClr val="6F63C9">
              <a:alpha val="55000"/>
            </a:srgbClr>
          </a:solidFill>
          <a:ln w="12700">
            <a:solidFill>
              <a:srgbClr val="6F63C9"/>
            </a:solidFill>
            <a:prstDash val="solid"/>
          </a:ln>
        </p:spPr>
      </p:sp>
      <p:sp>
        <p:nvSpPr>
          <p:cNvPr id="41" name="Shape 39"/>
          <p:cNvSpPr/>
          <p:nvPr/>
        </p:nvSpPr>
        <p:spPr>
          <a:xfrm>
            <a:off x="11395125" y="2576655"/>
            <a:ext cx="95783" cy="95783"/>
          </a:xfrm>
          <a:prstGeom prst="ellipse">
            <a:avLst/>
          </a:prstGeom>
          <a:solidFill>
            <a:srgbClr val="B23A6B">
              <a:alpha val="55000"/>
            </a:srgbClr>
          </a:solidFill>
          <a:ln w="12700">
            <a:solidFill>
              <a:srgbClr val="B23A6B"/>
            </a:solidFill>
            <a:prstDash val="solid"/>
          </a:ln>
        </p:spPr>
      </p:sp>
      <p:sp>
        <p:nvSpPr>
          <p:cNvPr id="42" name="Shape 40"/>
          <p:cNvSpPr/>
          <p:nvPr/>
        </p:nvSpPr>
        <p:spPr>
          <a:xfrm>
            <a:off x="10758984" y="4090893"/>
            <a:ext cx="124105" cy="124105"/>
          </a:xfrm>
          <a:prstGeom prst="ellipse">
            <a:avLst/>
          </a:prstGeom>
          <a:solidFill>
            <a:srgbClr val="D9553C">
              <a:alpha val="55000"/>
            </a:srgbClr>
          </a:solidFill>
          <a:ln w="12700">
            <a:solidFill>
              <a:srgbClr val="D9553C"/>
            </a:solidFill>
            <a:prstDash val="solid"/>
          </a:ln>
        </p:spPr>
      </p:sp>
      <p:sp>
        <p:nvSpPr>
          <p:cNvPr id="43" name="Shape 41"/>
          <p:cNvSpPr/>
          <p:nvPr/>
        </p:nvSpPr>
        <p:spPr>
          <a:xfrm>
            <a:off x="8405823" y="5911649"/>
            <a:ext cx="191107" cy="191107"/>
          </a:xfrm>
          <a:prstGeom prst="ellipse">
            <a:avLst/>
          </a:prstGeom>
          <a:solidFill>
            <a:srgbClr val="1F8F82">
              <a:alpha val="55000"/>
            </a:srgbClr>
          </a:solidFill>
          <a:ln w="12700">
            <a:solidFill>
              <a:srgbClr val="1F8F82"/>
            </a:solidFill>
            <a:prstDash val="solid"/>
          </a:ln>
        </p:spPr>
      </p:sp>
      <p:sp>
        <p:nvSpPr>
          <p:cNvPr id="44" name="Shape 42"/>
          <p:cNvSpPr/>
          <p:nvPr/>
        </p:nvSpPr>
        <p:spPr>
          <a:xfrm>
            <a:off x="8919224" y="1110474"/>
            <a:ext cx="201412" cy="201412"/>
          </a:xfrm>
          <a:prstGeom prst="ellipse">
            <a:avLst/>
          </a:prstGeom>
          <a:solidFill>
            <a:srgbClr val="E09B21">
              <a:alpha val="55000"/>
            </a:srgbClr>
          </a:solidFill>
          <a:ln w="12700">
            <a:solidFill>
              <a:srgbClr val="E09B21"/>
            </a:solidFill>
            <a:prstDash val="solid"/>
          </a:ln>
        </p:spPr>
      </p:sp>
      <p:sp>
        <p:nvSpPr>
          <p:cNvPr id="45" name="Shape 43"/>
          <p:cNvSpPr/>
          <p:nvPr/>
        </p:nvSpPr>
        <p:spPr>
          <a:xfrm>
            <a:off x="11228526" y="5856138"/>
            <a:ext cx="206960" cy="206960"/>
          </a:xfrm>
          <a:prstGeom prst="ellipse">
            <a:avLst/>
          </a:prstGeom>
          <a:solidFill>
            <a:srgbClr val="6F63C9">
              <a:alpha val="55000"/>
            </a:srgbClr>
          </a:solidFill>
          <a:ln w="12700">
            <a:solidFill>
              <a:srgbClr val="6F63C9"/>
            </a:solidFill>
            <a:prstDash val="solid"/>
          </a:ln>
        </p:spPr>
      </p:sp>
      <p:sp>
        <p:nvSpPr>
          <p:cNvPr id="46" name="Shape 44"/>
          <p:cNvSpPr/>
          <p:nvPr/>
        </p:nvSpPr>
        <p:spPr>
          <a:xfrm>
            <a:off x="7880685" y="1829909"/>
            <a:ext cx="169750" cy="169750"/>
          </a:xfrm>
          <a:prstGeom prst="ellipse">
            <a:avLst/>
          </a:prstGeom>
          <a:solidFill>
            <a:srgbClr val="B23A6B">
              <a:alpha val="55000"/>
            </a:srgbClr>
          </a:solidFill>
          <a:ln w="12700">
            <a:solidFill>
              <a:srgbClr val="B23A6B"/>
            </a:solidFill>
            <a:prstDash val="solid"/>
          </a:ln>
        </p:spPr>
      </p:sp>
      <p:sp>
        <p:nvSpPr>
          <p:cNvPr id="47" name="Shape 45"/>
          <p:cNvSpPr/>
          <p:nvPr/>
        </p:nvSpPr>
        <p:spPr>
          <a:xfrm>
            <a:off x="10164770" y="5670536"/>
            <a:ext cx="94421" cy="94421"/>
          </a:xfrm>
          <a:prstGeom prst="ellipse">
            <a:avLst/>
          </a:prstGeom>
          <a:solidFill>
            <a:srgbClr val="D9553C">
              <a:alpha val="55000"/>
            </a:srgbClr>
          </a:solidFill>
          <a:ln w="12700">
            <a:solidFill>
              <a:srgbClr val="D9553C"/>
            </a:solidFill>
            <a:prstDash val="solid"/>
          </a:ln>
        </p:spPr>
      </p:sp>
      <p:sp>
        <p:nvSpPr>
          <p:cNvPr id="48" name="Shape 46"/>
          <p:cNvSpPr/>
          <p:nvPr/>
        </p:nvSpPr>
        <p:spPr>
          <a:xfrm>
            <a:off x="566928" y="2011680"/>
            <a:ext cx="786384" cy="786384"/>
          </a:xfrm>
          <a:prstGeom prst="ellipse">
            <a:avLst/>
          </a:prstGeom>
          <a:solidFill>
            <a:srgbClr val="E09B21"/>
          </a:solidFill>
          <a:ln w="12700">
            <a:solidFill>
              <a:srgbClr val="E09B21"/>
            </a:solidFill>
            <a:prstDash val="solid"/>
          </a:ln>
        </p:spPr>
      </p:sp>
      <p:sp>
        <p:nvSpPr>
          <p:cNvPr id="49" name="Text 47"/>
          <p:cNvSpPr/>
          <p:nvPr/>
        </p:nvSpPr>
        <p:spPr>
          <a:xfrm>
            <a:off x="566928" y="2011680"/>
            <a:ext cx="786384" cy="786384"/>
          </a:xfrm>
          <a:prstGeom prst="rect">
            <a:avLst/>
          </a:prstGeom>
          <a:noFill/>
          <a:ln/>
        </p:spPr>
        <p:txBody>
          <a:bodyPr wrap="square" lIns="0" tIns="0" rIns="0" bIns="0" rtlCol="0" anchor="ctr"/>
          <a:lstStyle/>
          <a:p>
            <a:pPr algn="ctr" indent="0" marL="0">
              <a:buNone/>
            </a:pPr>
            <a:r>
              <a:rPr lang="en-US" sz="3000" b="1" dirty="0">
                <a:solidFill>
                  <a:srgbClr val="2A2356"/>
                </a:solidFill>
                <a:latin typeface="Calibri" pitchFamily="34" charset="0"/>
                <a:ea typeface="Calibri" pitchFamily="34" charset="-122"/>
                <a:cs typeface="Calibri" pitchFamily="34" charset="-120"/>
              </a:rPr>
              <a:t>5</a:t>
            </a:r>
            <a:endParaRPr lang="en-US" sz="3000" dirty="0"/>
          </a:p>
        </p:txBody>
      </p:sp>
      <p:sp>
        <p:nvSpPr>
          <p:cNvPr id="50" name="Text 48"/>
          <p:cNvSpPr/>
          <p:nvPr/>
        </p:nvSpPr>
        <p:spPr>
          <a:xfrm>
            <a:off x="566928" y="2999232"/>
            <a:ext cx="6766560" cy="9601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Practical</a:t>
            </a:r>
            <a:endParaRPr lang="en-US" sz="4000" dirty="0"/>
          </a:p>
        </p:txBody>
      </p:sp>
      <p:sp>
        <p:nvSpPr>
          <p:cNvPr id="51" name="Text 49"/>
          <p:cNvSpPr/>
          <p:nvPr/>
        </p:nvSpPr>
        <p:spPr>
          <a:xfrm>
            <a:off x="566928" y="4041648"/>
            <a:ext cx="6400800" cy="731520"/>
          </a:xfrm>
          <a:prstGeom prst="rect">
            <a:avLst/>
          </a:prstGeom>
          <a:noFill/>
          <a:ln/>
        </p:spPr>
        <p:txBody>
          <a:bodyPr wrap="square" lIns="0" tIns="0" rIns="0" bIns="0" rtlCol="0" anchor="t"/>
          <a:lstStyle/>
          <a:p>
            <a:pPr indent="0" marL="0">
              <a:buNone/>
            </a:pPr>
            <a:r>
              <a:rPr lang="en-US" sz="1600" dirty="0">
                <a:solidFill>
                  <a:srgbClr val="C9C4E6"/>
                </a:solidFill>
                <a:latin typeface="Calibri" pitchFamily="34" charset="0"/>
                <a:ea typeface="Calibri" pitchFamily="34" charset="-122"/>
                <a:cs typeface="Calibri" pitchFamily="34" charset="-120"/>
              </a:rPr>
              <a:t>Open R. We will simulate a dataset, fit an LCA and an LPA on it, and interpret both.</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PRACTICAL · BRIEF</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The practical, in one page</a:t>
            </a:r>
            <a:endParaRPr lang="en-US" sz="2900" dirty="0"/>
          </a:p>
        </p:txBody>
      </p:sp>
      <p:sp>
        <p:nvSpPr>
          <p:cNvPr id="4" name="Shape 2"/>
          <p:cNvSpPr/>
          <p:nvPr/>
        </p:nvSpPr>
        <p:spPr>
          <a:xfrm>
            <a:off x="566928" y="1298448"/>
            <a:ext cx="5486400" cy="2331720"/>
          </a:xfrm>
          <a:prstGeom prst="roundRect">
            <a:avLst>
              <a:gd name="adj" fmla="val 3922"/>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5" name="Text 3"/>
          <p:cNvSpPr/>
          <p:nvPr/>
        </p:nvSpPr>
        <p:spPr>
          <a:xfrm>
            <a:off x="859536" y="1463040"/>
            <a:ext cx="4846320" cy="310896"/>
          </a:xfrm>
          <a:prstGeom prst="rect">
            <a:avLst/>
          </a:prstGeom>
          <a:noFill/>
          <a:ln/>
        </p:spPr>
        <p:txBody>
          <a:bodyPr wrap="square" lIns="0" tIns="0" rIns="0" bIns="0" rtlCol="0" anchor="ctr"/>
          <a:lstStyle/>
          <a:p>
            <a:pPr indent="0" marL="0">
              <a:buNone/>
            </a:pPr>
            <a:r>
              <a:rPr lang="en-US" sz="1900" b="1" dirty="0">
                <a:solidFill>
                  <a:srgbClr val="1A1633"/>
                </a:solidFill>
                <a:latin typeface="Cambria" pitchFamily="34" charset="0"/>
                <a:ea typeface="Cambria" pitchFamily="34" charset="-122"/>
                <a:cs typeface="Cambria" pitchFamily="34" charset="-120"/>
              </a:rPr>
              <a:t>The dataset</a:t>
            </a:r>
            <a:endParaRPr lang="en-US" sz="1900" dirty="0"/>
          </a:p>
        </p:txBody>
      </p:sp>
      <p:sp>
        <p:nvSpPr>
          <p:cNvPr id="6" name="Text 4"/>
          <p:cNvSpPr/>
          <p:nvPr/>
        </p:nvSpPr>
        <p:spPr>
          <a:xfrm>
            <a:off x="859536" y="1847088"/>
            <a:ext cx="4846320" cy="685800"/>
          </a:xfrm>
          <a:prstGeom prst="rect">
            <a:avLst/>
          </a:prstGeom>
          <a:noFill/>
          <a:ln/>
        </p:spPr>
        <p:txBody>
          <a:bodyPr wrap="square" lIns="0" tIns="0" rIns="0" bIns="0" rtlCol="0" anchor="t"/>
          <a:lstStyle/>
          <a:p>
            <a:pPr indent="0" marL="0">
              <a:lnSpc>
                <a:spcPts val="1700"/>
              </a:lnSpc>
              <a:buNone/>
            </a:pPr>
            <a:r>
              <a:rPr lang="en-US" sz="1250" dirty="0">
                <a:solidFill>
                  <a:srgbClr val="6B6785"/>
                </a:solidFill>
                <a:latin typeface="Calibri" pitchFamily="34" charset="0"/>
                <a:ea typeface="Calibri" pitchFamily="34" charset="-122"/>
                <a:cs typeface="Calibri" pitchFamily="34" charset="-120"/>
              </a:rPr>
              <a:t>student_wellbeing.csv — 800 simulated students, generated by the script so everyone gets identical results. It deliberately contains three true subgroups.</a:t>
            </a:r>
            <a:endParaRPr lang="en-US" sz="1250" dirty="0"/>
          </a:p>
        </p:txBody>
      </p:sp>
      <p:sp>
        <p:nvSpPr>
          <p:cNvPr id="7" name="Text 5"/>
          <p:cNvSpPr/>
          <p:nvPr/>
        </p:nvSpPr>
        <p:spPr>
          <a:xfrm>
            <a:off x="859536" y="2560320"/>
            <a:ext cx="4846320" cy="256032"/>
          </a:xfrm>
          <a:prstGeom prst="rect">
            <a:avLst/>
          </a:prstGeom>
          <a:noFill/>
          <a:ln/>
        </p:spPr>
        <p:txBody>
          <a:bodyPr wrap="square" lIns="0" tIns="0" rIns="0" bIns="0" rtlCol="0" anchor="ctr"/>
          <a:lstStyle/>
          <a:p>
            <a:pPr indent="0" marL="0">
              <a:buNone/>
            </a:pPr>
            <a:r>
              <a:rPr lang="en-US" sz="1200" b="1" dirty="0">
                <a:solidFill>
                  <a:srgbClr val="D9553C"/>
                </a:solidFill>
                <a:latin typeface="Calibri" pitchFamily="34" charset="0"/>
                <a:ea typeface="Calibri" pitchFamily="34" charset="-122"/>
                <a:cs typeface="Calibri" pitchFamily="34" charset="-120"/>
              </a:rPr>
              <a:t>Six binary items  →  use these for LCA</a:t>
            </a:r>
            <a:endParaRPr lang="en-US" sz="1200" dirty="0"/>
          </a:p>
        </p:txBody>
      </p:sp>
      <p:sp>
        <p:nvSpPr>
          <p:cNvPr id="8" name="Text 6"/>
          <p:cNvSpPr/>
          <p:nvPr/>
        </p:nvSpPr>
        <p:spPr>
          <a:xfrm>
            <a:off x="859536" y="2798064"/>
            <a:ext cx="4846320" cy="256032"/>
          </a:xfrm>
          <a:prstGeom prst="rect">
            <a:avLst/>
          </a:prstGeom>
          <a:noFill/>
          <a:ln/>
        </p:spPr>
        <p:txBody>
          <a:bodyPr wrap="square" lIns="0" tIns="0" rIns="0" bIns="0" rtlCol="0" anchor="ctr"/>
          <a:lstStyle/>
          <a:p>
            <a:pPr indent="0" marL="0">
              <a:buNone/>
            </a:pPr>
            <a:r>
              <a:rPr lang="en-US" sz="1150" dirty="0">
                <a:solidFill>
                  <a:srgbClr val="6B6785"/>
                </a:solidFill>
                <a:latin typeface="Calibri" pitchFamily="34" charset="0"/>
                <a:ea typeface="Calibri" pitchFamily="34" charset="-122"/>
                <a:cs typeface="Calibri" pitchFamily="34" charset="-120"/>
              </a:rPr>
              <a:t>low_mood · anhedonia · sleep · fatigue · appetite · concentration</a:t>
            </a:r>
            <a:endParaRPr lang="en-US" sz="1150" dirty="0"/>
          </a:p>
        </p:txBody>
      </p:sp>
      <p:sp>
        <p:nvSpPr>
          <p:cNvPr id="9" name="Text 7"/>
          <p:cNvSpPr/>
          <p:nvPr/>
        </p:nvSpPr>
        <p:spPr>
          <a:xfrm>
            <a:off x="859536" y="3072384"/>
            <a:ext cx="4846320" cy="256032"/>
          </a:xfrm>
          <a:prstGeom prst="rect">
            <a:avLst/>
          </a:prstGeom>
          <a:noFill/>
          <a:ln/>
        </p:spPr>
        <p:txBody>
          <a:bodyPr wrap="square" lIns="0" tIns="0" rIns="0" bIns="0" rtlCol="0" anchor="ctr"/>
          <a:lstStyle/>
          <a:p>
            <a:pPr indent="0" marL="0">
              <a:buNone/>
            </a:pPr>
            <a:r>
              <a:rPr lang="en-US" sz="1200" b="1" dirty="0">
                <a:solidFill>
                  <a:srgbClr val="1F8F82"/>
                </a:solidFill>
                <a:latin typeface="Calibri" pitchFamily="34" charset="0"/>
                <a:ea typeface="Calibri" pitchFamily="34" charset="-122"/>
                <a:cs typeface="Calibri" pitchFamily="34" charset="-120"/>
              </a:rPr>
              <a:t>Four continuous scales  →  use these for LPA</a:t>
            </a:r>
            <a:endParaRPr lang="en-US" sz="1200" dirty="0"/>
          </a:p>
        </p:txBody>
      </p:sp>
      <p:sp>
        <p:nvSpPr>
          <p:cNvPr id="10" name="Text 8"/>
          <p:cNvSpPr/>
          <p:nvPr/>
        </p:nvSpPr>
        <p:spPr>
          <a:xfrm>
            <a:off x="859536" y="3310128"/>
            <a:ext cx="4846320" cy="256032"/>
          </a:xfrm>
          <a:prstGeom prst="rect">
            <a:avLst/>
          </a:prstGeom>
          <a:noFill/>
          <a:ln/>
        </p:spPr>
        <p:txBody>
          <a:bodyPr wrap="square" lIns="0" tIns="0" rIns="0" bIns="0" rtlCol="0" anchor="ctr"/>
          <a:lstStyle/>
          <a:p>
            <a:pPr indent="0" marL="0">
              <a:buNone/>
            </a:pPr>
            <a:r>
              <a:rPr lang="en-US" sz="1150" dirty="0">
                <a:solidFill>
                  <a:srgbClr val="6B6785"/>
                </a:solidFill>
                <a:latin typeface="Calibri" pitchFamily="34" charset="0"/>
                <a:ea typeface="Calibri" pitchFamily="34" charset="-122"/>
                <a:cs typeface="Calibri" pitchFamily="34" charset="-120"/>
              </a:rPr>
              <a:t>phq9 · gad7 · sleep_quality · academic_stress</a:t>
            </a:r>
            <a:endParaRPr lang="en-US" sz="1150" dirty="0"/>
          </a:p>
        </p:txBody>
      </p:sp>
      <p:sp>
        <p:nvSpPr>
          <p:cNvPr id="11" name="Shape 9"/>
          <p:cNvSpPr/>
          <p:nvPr/>
        </p:nvSpPr>
        <p:spPr>
          <a:xfrm>
            <a:off x="6382512" y="1298448"/>
            <a:ext cx="5239512" cy="2331720"/>
          </a:xfrm>
          <a:prstGeom prst="roundRect">
            <a:avLst>
              <a:gd name="adj" fmla="val 3922"/>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2" name="Text 10"/>
          <p:cNvSpPr/>
          <p:nvPr/>
        </p:nvSpPr>
        <p:spPr>
          <a:xfrm>
            <a:off x="6675120" y="1463040"/>
            <a:ext cx="4663440" cy="310896"/>
          </a:xfrm>
          <a:prstGeom prst="rect">
            <a:avLst/>
          </a:prstGeom>
          <a:noFill/>
          <a:ln/>
        </p:spPr>
        <p:txBody>
          <a:bodyPr wrap="square" lIns="0" tIns="0" rIns="0" bIns="0" rtlCol="0" anchor="ctr"/>
          <a:lstStyle/>
          <a:p>
            <a:pPr indent="0" marL="0">
              <a:buNone/>
            </a:pPr>
            <a:r>
              <a:rPr lang="en-US" sz="1900" b="1" dirty="0">
                <a:solidFill>
                  <a:srgbClr val="1A1633"/>
                </a:solidFill>
                <a:latin typeface="Cambria" pitchFamily="34" charset="0"/>
                <a:ea typeface="Cambria" pitchFamily="34" charset="-122"/>
                <a:cs typeface="Cambria" pitchFamily="34" charset="-120"/>
              </a:rPr>
              <a:t>What you will do</a:t>
            </a:r>
            <a:endParaRPr lang="en-US" sz="1900" dirty="0"/>
          </a:p>
        </p:txBody>
      </p:sp>
      <p:sp>
        <p:nvSpPr>
          <p:cNvPr id="13" name="Text 11"/>
          <p:cNvSpPr/>
          <p:nvPr/>
        </p:nvSpPr>
        <p:spPr>
          <a:xfrm>
            <a:off x="6675120" y="1883664"/>
            <a:ext cx="4663440" cy="1645920"/>
          </a:xfrm>
          <a:prstGeom prst="rect">
            <a:avLst/>
          </a:prstGeom>
          <a:noFill/>
          <a:ln/>
        </p:spPr>
        <p:txBody>
          <a:bodyPr wrap="square" lIns="0" tIns="0" rIns="0" bIns="0" rtlCol="0" anchor="t"/>
          <a:lstStyle/>
          <a:p>
            <a:pPr marL="203200" indent="-203200">
              <a:lnSpc>
                <a:spcPts val="2000"/>
              </a:lnSpc>
              <a:spcAft>
                <a:spcPts val="500"/>
              </a:spcAft>
              <a:buSzPct val="100000"/>
              <a:buChar char="•"/>
            </a:pPr>
            <a:r>
              <a:rPr lang="en-US" sz="1150" dirty="0">
                <a:solidFill>
                  <a:srgbClr val="6B6785"/>
                </a:solidFill>
                <a:latin typeface="Calibri" pitchFamily="34" charset="0"/>
                <a:ea typeface="Calibri" pitchFamily="34" charset="-122"/>
                <a:cs typeface="Calibri" pitchFamily="34" charset="-120"/>
              </a:rPr>
              <a:t>Fit 1- to 5-class LCA models on the six binary items</a:t>
            </a:r>
            <a:endParaRPr lang="en-US" sz="1150" dirty="0"/>
          </a:p>
          <a:p>
            <a:pPr marL="203200" indent="-203200">
              <a:lnSpc>
                <a:spcPts val="2000"/>
              </a:lnSpc>
              <a:spcAft>
                <a:spcPts val="500"/>
              </a:spcAft>
              <a:buSzPct val="100000"/>
              <a:buChar char="•"/>
            </a:pPr>
            <a:r>
              <a:rPr lang="en-US" sz="1150" dirty="0">
                <a:solidFill>
                  <a:srgbClr val="6B6785"/>
                </a:solidFill>
                <a:latin typeface="Calibri" pitchFamily="34" charset="0"/>
                <a:ea typeface="Calibri" pitchFamily="34" charset="-122"/>
                <a:cs typeface="Calibri" pitchFamily="34" charset="-120"/>
              </a:rPr>
              <a:t>Build the fit table and pick a solution</a:t>
            </a:r>
            <a:endParaRPr lang="en-US" sz="1150" dirty="0"/>
          </a:p>
          <a:p>
            <a:pPr marL="203200" indent="-203200">
              <a:lnSpc>
                <a:spcPts val="2000"/>
              </a:lnSpc>
              <a:spcAft>
                <a:spcPts val="500"/>
              </a:spcAft>
              <a:buSzPct val="100000"/>
              <a:buChar char="•"/>
            </a:pPr>
            <a:r>
              <a:rPr lang="en-US" sz="1150" dirty="0">
                <a:solidFill>
                  <a:srgbClr val="6B6785"/>
                </a:solidFill>
                <a:latin typeface="Calibri" pitchFamily="34" charset="0"/>
                <a:ea typeface="Calibri" pitchFamily="34" charset="-122"/>
                <a:cs typeface="Calibri" pitchFamily="34" charset="-120"/>
              </a:rPr>
              <a:t>Read the item-response probabilities and name the classes</a:t>
            </a:r>
            <a:endParaRPr lang="en-US" sz="1150" dirty="0"/>
          </a:p>
          <a:p>
            <a:pPr marL="203200" indent="-203200">
              <a:lnSpc>
                <a:spcPts val="2000"/>
              </a:lnSpc>
              <a:spcAft>
                <a:spcPts val="500"/>
              </a:spcAft>
              <a:buSzPct val="100000"/>
              <a:buChar char="•"/>
            </a:pPr>
            <a:r>
              <a:rPr lang="en-US" sz="1150" dirty="0">
                <a:solidFill>
                  <a:srgbClr val="6B6785"/>
                </a:solidFill>
                <a:latin typeface="Calibri" pitchFamily="34" charset="0"/>
                <a:ea typeface="Calibri" pitchFamily="34" charset="-122"/>
                <a:cs typeface="Calibri" pitchFamily="34" charset="-120"/>
              </a:rPr>
              <a:t>Repeat with LPA on the four continuous scales</a:t>
            </a:r>
            <a:endParaRPr lang="en-US" sz="1150" dirty="0"/>
          </a:p>
          <a:p>
            <a:pPr marL="203200" indent="-203200">
              <a:lnSpc>
                <a:spcPts val="2000"/>
              </a:lnSpc>
              <a:spcAft>
                <a:spcPts val="500"/>
              </a:spcAft>
              <a:buSzPct val="100000"/>
              <a:buChar char="•"/>
            </a:pPr>
            <a:r>
              <a:rPr lang="en-US" sz="1150" dirty="0">
                <a:solidFill>
                  <a:srgbClr val="6B6785"/>
                </a:solidFill>
                <a:latin typeface="Calibri" pitchFamily="34" charset="0"/>
                <a:ea typeface="Calibri" pitchFamily="34" charset="-122"/>
                <a:cs typeface="Calibri" pitchFamily="34" charset="-120"/>
              </a:rPr>
              <a:t>Compare: do the two methods find the same people?</a:t>
            </a:r>
            <a:endParaRPr lang="en-US" sz="1150" dirty="0"/>
          </a:p>
        </p:txBody>
      </p:sp>
      <p:sp>
        <p:nvSpPr>
          <p:cNvPr id="14" name="Shape 12"/>
          <p:cNvSpPr/>
          <p:nvPr/>
        </p:nvSpPr>
        <p:spPr>
          <a:xfrm>
            <a:off x="566928" y="3840480"/>
            <a:ext cx="11055096" cy="960120"/>
          </a:xfrm>
          <a:prstGeom prst="roundRect">
            <a:avLst>
              <a:gd name="adj" fmla="val 9524"/>
            </a:avLst>
          </a:prstGeom>
          <a:solidFill>
            <a:srgbClr val="221D48"/>
          </a:solidFill>
          <a:ln w="9525">
            <a:solidFill>
              <a:srgbClr val="221D48"/>
            </a:solidFill>
            <a:prstDash val="solid"/>
          </a:ln>
        </p:spPr>
      </p:sp>
      <p:sp>
        <p:nvSpPr>
          <p:cNvPr id="15" name="Text 13"/>
          <p:cNvSpPr/>
          <p:nvPr/>
        </p:nvSpPr>
        <p:spPr>
          <a:xfrm>
            <a:off x="950976" y="3840480"/>
            <a:ext cx="10287000" cy="960120"/>
          </a:xfrm>
          <a:prstGeom prst="rect">
            <a:avLst/>
          </a:prstGeom>
          <a:noFill/>
          <a:ln/>
        </p:spPr>
        <p:txBody>
          <a:bodyPr wrap="square" lIns="0" tIns="0" rIns="0" bIns="0" rtlCol="0" anchor="ctr"/>
          <a:lstStyle/>
          <a:p>
            <a:pPr indent="0" marL="0">
              <a:buNone/>
            </a:pPr>
            <a:r>
              <a:rPr lang="en-US" sz="1400" b="1" dirty="0">
                <a:solidFill>
                  <a:srgbClr val="E09B21"/>
                </a:solidFill>
                <a:latin typeface="Courier New" pitchFamily="34" charset="0"/>
                <a:ea typeface="Courier New" pitchFamily="34" charset="-122"/>
                <a:cs typeface="Courier New" pitchFamily="34" charset="-120"/>
              </a:rPr>
              <a:t>Setup — run once:  </a:t>
            </a:r>
            <a:pPr indent="0" marL="0">
              <a:buNone/>
            </a:pPr>
            <a:r>
              <a:rPr lang="en-US" sz="1400" dirty="0">
                <a:solidFill>
                  <a:srgbClr val="E8E6F5"/>
                </a:solidFill>
                <a:latin typeface="Courier New" pitchFamily="34" charset="0"/>
                <a:ea typeface="Courier New" pitchFamily="34" charset="-122"/>
                <a:cs typeface="Courier New" pitchFamily="34" charset="-120"/>
              </a:rPr>
              <a:t>install.packages(c("poLCA", "tidyLPA", "mclust", "dplyr"))</a:t>
            </a:r>
            <a:endParaRPr lang="en-US" sz="1400" dirty="0"/>
          </a:p>
        </p:txBody>
      </p:sp>
      <p:sp>
        <p:nvSpPr>
          <p:cNvPr id="16" name="Shape 14"/>
          <p:cNvSpPr/>
          <p:nvPr/>
        </p:nvSpPr>
        <p:spPr>
          <a:xfrm>
            <a:off x="566928" y="5047488"/>
            <a:ext cx="3526536" cy="1115568"/>
          </a:xfrm>
          <a:prstGeom prst="roundRect">
            <a:avLst>
              <a:gd name="adj" fmla="val 8197"/>
            </a:avLst>
          </a:prstGeom>
          <a:solidFill>
            <a:srgbClr val="F5F4FA"/>
          </a:solidFill>
          <a:ln w="12700">
            <a:solidFill>
              <a:srgbClr val="DBD8E8"/>
            </a:solidFill>
            <a:prstDash val="solid"/>
          </a:ln>
        </p:spPr>
      </p:sp>
      <p:sp>
        <p:nvSpPr>
          <p:cNvPr id="17" name="Shape 15"/>
          <p:cNvSpPr/>
          <p:nvPr/>
        </p:nvSpPr>
        <p:spPr>
          <a:xfrm>
            <a:off x="804672" y="5248656"/>
            <a:ext cx="237744" cy="237744"/>
          </a:xfrm>
          <a:prstGeom prst="ellipse">
            <a:avLst/>
          </a:prstGeom>
          <a:solidFill>
            <a:srgbClr val="D9553C"/>
          </a:solidFill>
          <a:ln w="12700">
            <a:solidFill>
              <a:srgbClr val="D9553C"/>
            </a:solidFill>
            <a:prstDash val="solid"/>
          </a:ln>
        </p:spPr>
      </p:sp>
      <p:sp>
        <p:nvSpPr>
          <p:cNvPr id="18" name="Text 16"/>
          <p:cNvSpPr/>
          <p:nvPr/>
        </p:nvSpPr>
        <p:spPr>
          <a:xfrm>
            <a:off x="1115568" y="5230368"/>
            <a:ext cx="2749296" cy="274320"/>
          </a:xfrm>
          <a:prstGeom prst="rect">
            <a:avLst/>
          </a:prstGeom>
          <a:noFill/>
          <a:ln/>
        </p:spPr>
        <p:txBody>
          <a:bodyPr wrap="square" lIns="0" tIns="0" rIns="0" bIns="0" rtlCol="0" anchor="ctr"/>
          <a:lstStyle/>
          <a:p>
            <a:pPr indent="0" marL="0">
              <a:buNone/>
            </a:pPr>
            <a:r>
              <a:rPr lang="en-US" sz="1150" b="1" dirty="0">
                <a:solidFill>
                  <a:srgbClr val="1A1633"/>
                </a:solidFill>
                <a:latin typeface="Courier New" pitchFamily="34" charset="0"/>
                <a:ea typeface="Courier New" pitchFamily="34" charset="-122"/>
                <a:cs typeface="Courier New" pitchFamily="34" charset="-120"/>
              </a:rPr>
              <a:t>lca_lpa_practical.R</a:t>
            </a:r>
            <a:endParaRPr lang="en-US" sz="1150" dirty="0"/>
          </a:p>
        </p:txBody>
      </p:sp>
      <p:sp>
        <p:nvSpPr>
          <p:cNvPr id="19" name="Text 17"/>
          <p:cNvSpPr/>
          <p:nvPr/>
        </p:nvSpPr>
        <p:spPr>
          <a:xfrm>
            <a:off x="804672" y="5559552"/>
            <a:ext cx="3051048" cy="530352"/>
          </a:xfrm>
          <a:prstGeom prst="rect">
            <a:avLst/>
          </a:prstGeom>
          <a:noFill/>
          <a:ln/>
        </p:spPr>
        <p:txBody>
          <a:bodyPr wrap="square" lIns="0" tIns="0" rIns="0" bIns="0" rtlCol="0" anchor="t"/>
          <a:lstStyle/>
          <a:p>
            <a:pPr indent="0" marL="0">
              <a:lnSpc>
                <a:spcPts val="1400"/>
              </a:lnSpc>
              <a:buNone/>
            </a:pPr>
            <a:r>
              <a:rPr lang="en-US" sz="1050" dirty="0">
                <a:solidFill>
                  <a:srgbClr val="6B6785"/>
                </a:solidFill>
                <a:latin typeface="Calibri" pitchFamily="34" charset="0"/>
                <a:ea typeface="Calibri" pitchFamily="34" charset="-122"/>
                <a:cs typeface="Calibri" pitchFamily="34" charset="-120"/>
              </a:rPr>
              <a:t>The full annotated script — simulates the data, fits everything, prints every table in this section.</a:t>
            </a:r>
            <a:endParaRPr lang="en-US" sz="1050" dirty="0"/>
          </a:p>
        </p:txBody>
      </p:sp>
      <p:sp>
        <p:nvSpPr>
          <p:cNvPr id="20" name="Shape 18"/>
          <p:cNvSpPr/>
          <p:nvPr/>
        </p:nvSpPr>
        <p:spPr>
          <a:xfrm>
            <a:off x="4331208" y="5047488"/>
            <a:ext cx="3526536" cy="1115568"/>
          </a:xfrm>
          <a:prstGeom prst="roundRect">
            <a:avLst>
              <a:gd name="adj" fmla="val 8197"/>
            </a:avLst>
          </a:prstGeom>
          <a:solidFill>
            <a:srgbClr val="F5F4FA"/>
          </a:solidFill>
          <a:ln w="12700">
            <a:solidFill>
              <a:srgbClr val="DBD8E8"/>
            </a:solidFill>
            <a:prstDash val="solid"/>
          </a:ln>
        </p:spPr>
      </p:sp>
      <p:sp>
        <p:nvSpPr>
          <p:cNvPr id="21" name="Shape 19"/>
          <p:cNvSpPr/>
          <p:nvPr/>
        </p:nvSpPr>
        <p:spPr>
          <a:xfrm>
            <a:off x="4568952" y="5248656"/>
            <a:ext cx="237744" cy="237744"/>
          </a:xfrm>
          <a:prstGeom prst="ellipse">
            <a:avLst/>
          </a:prstGeom>
          <a:solidFill>
            <a:srgbClr val="1F8F82"/>
          </a:solidFill>
          <a:ln w="12700">
            <a:solidFill>
              <a:srgbClr val="1F8F82"/>
            </a:solidFill>
            <a:prstDash val="solid"/>
          </a:ln>
        </p:spPr>
      </p:sp>
      <p:sp>
        <p:nvSpPr>
          <p:cNvPr id="22" name="Text 20"/>
          <p:cNvSpPr/>
          <p:nvPr/>
        </p:nvSpPr>
        <p:spPr>
          <a:xfrm>
            <a:off x="4879848" y="5230368"/>
            <a:ext cx="2749296" cy="274320"/>
          </a:xfrm>
          <a:prstGeom prst="rect">
            <a:avLst/>
          </a:prstGeom>
          <a:noFill/>
          <a:ln/>
        </p:spPr>
        <p:txBody>
          <a:bodyPr wrap="square" lIns="0" tIns="0" rIns="0" bIns="0" rtlCol="0" anchor="ctr"/>
          <a:lstStyle/>
          <a:p>
            <a:pPr indent="0" marL="0">
              <a:buNone/>
            </a:pPr>
            <a:r>
              <a:rPr lang="en-US" sz="1150" b="1" dirty="0">
                <a:solidFill>
                  <a:srgbClr val="1A1633"/>
                </a:solidFill>
                <a:latin typeface="Courier New" pitchFamily="34" charset="0"/>
                <a:ea typeface="Courier New" pitchFamily="34" charset="-122"/>
                <a:cs typeface="Courier New" pitchFamily="34" charset="-120"/>
              </a:rPr>
              <a:t>student_wellbeing.csv</a:t>
            </a:r>
            <a:endParaRPr lang="en-US" sz="1150" dirty="0"/>
          </a:p>
        </p:txBody>
      </p:sp>
      <p:sp>
        <p:nvSpPr>
          <p:cNvPr id="23" name="Text 21"/>
          <p:cNvSpPr/>
          <p:nvPr/>
        </p:nvSpPr>
        <p:spPr>
          <a:xfrm>
            <a:off x="4568952" y="5559552"/>
            <a:ext cx="3051048" cy="530352"/>
          </a:xfrm>
          <a:prstGeom prst="rect">
            <a:avLst/>
          </a:prstGeom>
          <a:noFill/>
          <a:ln/>
        </p:spPr>
        <p:txBody>
          <a:bodyPr wrap="square" lIns="0" tIns="0" rIns="0" bIns="0" rtlCol="0" anchor="t"/>
          <a:lstStyle/>
          <a:p>
            <a:pPr indent="0" marL="0">
              <a:lnSpc>
                <a:spcPts val="1400"/>
              </a:lnSpc>
              <a:buNone/>
            </a:pPr>
            <a:r>
              <a:rPr lang="en-US" sz="1050" dirty="0">
                <a:solidFill>
                  <a:srgbClr val="6B6785"/>
                </a:solidFill>
                <a:latin typeface="Calibri" pitchFamily="34" charset="0"/>
                <a:ea typeface="Calibri" pitchFamily="34" charset="-122"/>
                <a:cs typeface="Calibri" pitchFamily="34" charset="-120"/>
              </a:rPr>
              <a:t>Written by the script on first run, so you can also open it in Stata, Mplus or SPSS.</a:t>
            </a:r>
            <a:endParaRPr lang="en-US" sz="1050" dirty="0"/>
          </a:p>
        </p:txBody>
      </p:sp>
      <p:sp>
        <p:nvSpPr>
          <p:cNvPr id="24" name="Shape 22"/>
          <p:cNvSpPr/>
          <p:nvPr/>
        </p:nvSpPr>
        <p:spPr>
          <a:xfrm>
            <a:off x="8095488" y="5047488"/>
            <a:ext cx="3526536" cy="1115568"/>
          </a:xfrm>
          <a:prstGeom prst="roundRect">
            <a:avLst>
              <a:gd name="adj" fmla="val 8197"/>
            </a:avLst>
          </a:prstGeom>
          <a:solidFill>
            <a:srgbClr val="F5F4FA"/>
          </a:solidFill>
          <a:ln w="12700">
            <a:solidFill>
              <a:srgbClr val="DBD8E8"/>
            </a:solidFill>
            <a:prstDash val="solid"/>
          </a:ln>
        </p:spPr>
      </p:sp>
      <p:sp>
        <p:nvSpPr>
          <p:cNvPr id="25" name="Shape 23"/>
          <p:cNvSpPr/>
          <p:nvPr/>
        </p:nvSpPr>
        <p:spPr>
          <a:xfrm>
            <a:off x="8333232" y="5248656"/>
            <a:ext cx="237744" cy="237744"/>
          </a:xfrm>
          <a:prstGeom prst="ellipse">
            <a:avLst/>
          </a:prstGeom>
          <a:solidFill>
            <a:srgbClr val="E09B21"/>
          </a:solidFill>
          <a:ln w="12700">
            <a:solidFill>
              <a:srgbClr val="E09B21"/>
            </a:solidFill>
            <a:prstDash val="solid"/>
          </a:ln>
        </p:spPr>
      </p:sp>
      <p:sp>
        <p:nvSpPr>
          <p:cNvPr id="26" name="Text 24"/>
          <p:cNvSpPr/>
          <p:nvPr/>
        </p:nvSpPr>
        <p:spPr>
          <a:xfrm>
            <a:off x="8644128" y="5230368"/>
            <a:ext cx="2749296" cy="274320"/>
          </a:xfrm>
          <a:prstGeom prst="rect">
            <a:avLst/>
          </a:prstGeom>
          <a:noFill/>
          <a:ln/>
        </p:spPr>
        <p:txBody>
          <a:bodyPr wrap="square" lIns="0" tIns="0" rIns="0" bIns="0" rtlCol="0" anchor="ctr"/>
          <a:lstStyle/>
          <a:p>
            <a:pPr indent="0" marL="0">
              <a:buNone/>
            </a:pPr>
            <a:r>
              <a:rPr lang="en-US" sz="1150" b="1" dirty="0">
                <a:solidFill>
                  <a:srgbClr val="1A1633"/>
                </a:solidFill>
                <a:latin typeface="Courier New" pitchFamily="34" charset="0"/>
                <a:ea typeface="Courier New" pitchFamily="34" charset="-122"/>
                <a:cs typeface="Courier New" pitchFamily="34" charset="-120"/>
              </a:rPr>
              <a:t>practical/README.md</a:t>
            </a:r>
            <a:endParaRPr lang="en-US" sz="1150" dirty="0"/>
          </a:p>
        </p:txBody>
      </p:sp>
      <p:sp>
        <p:nvSpPr>
          <p:cNvPr id="27" name="Text 25"/>
          <p:cNvSpPr/>
          <p:nvPr/>
        </p:nvSpPr>
        <p:spPr>
          <a:xfrm>
            <a:off x="8333232" y="5559552"/>
            <a:ext cx="3051048" cy="530352"/>
          </a:xfrm>
          <a:prstGeom prst="rect">
            <a:avLst/>
          </a:prstGeom>
          <a:noFill/>
          <a:ln/>
        </p:spPr>
        <p:txBody>
          <a:bodyPr wrap="square" lIns="0" tIns="0" rIns="0" bIns="0" rtlCol="0" anchor="t"/>
          <a:lstStyle/>
          <a:p>
            <a:pPr indent="0" marL="0">
              <a:lnSpc>
                <a:spcPts val="1400"/>
              </a:lnSpc>
              <a:buNone/>
            </a:pPr>
            <a:r>
              <a:rPr lang="en-US" sz="1050" dirty="0">
                <a:solidFill>
                  <a:srgbClr val="6B6785"/>
                </a:solidFill>
                <a:latin typeface="Calibri" pitchFamily="34" charset="0"/>
                <a:ea typeface="Calibri" pitchFamily="34" charset="-122"/>
                <a:cs typeface="Calibri" pitchFamily="34" charset="-120"/>
              </a:rPr>
              <a:t>The exercise sheet, with the questions to answer and what a good answer looks like.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PRACTICAL · POLCA</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Hands-on A — fitting an LCA in R</a:t>
            </a:r>
            <a:endParaRPr lang="en-US" sz="2900" dirty="0"/>
          </a:p>
        </p:txBody>
      </p:sp>
      <p:sp>
        <p:nvSpPr>
          <p:cNvPr id="4" name="Shape 2"/>
          <p:cNvSpPr/>
          <p:nvPr/>
        </p:nvSpPr>
        <p:spPr>
          <a:xfrm>
            <a:off x="566928" y="1298448"/>
            <a:ext cx="6903720" cy="4617720"/>
          </a:xfrm>
          <a:prstGeom prst="roundRect">
            <a:avLst>
              <a:gd name="adj" fmla="val 1980"/>
            </a:avLst>
          </a:prstGeom>
          <a:solidFill>
            <a:srgbClr val="221D48"/>
          </a:solidFill>
          <a:ln w="9525">
            <a:solidFill>
              <a:srgbClr val="221D48"/>
            </a:solidFill>
            <a:prstDash val="solid"/>
          </a:ln>
        </p:spPr>
      </p:sp>
      <p:sp>
        <p:nvSpPr>
          <p:cNvPr id="5" name="Text 3"/>
          <p:cNvSpPr/>
          <p:nvPr/>
        </p:nvSpPr>
        <p:spPr>
          <a:xfrm>
            <a:off x="786384" y="1463040"/>
            <a:ext cx="6464808" cy="4288536"/>
          </a:xfrm>
          <a:prstGeom prst="rect">
            <a:avLst/>
          </a:prstGeom>
          <a:noFill/>
          <a:ln/>
        </p:spPr>
        <p:txBody>
          <a:bodyPr wrap="square" lIns="0" tIns="0" rIns="0" bIns="0" rtlCol="0" anchor="t"/>
          <a:lstStyle/>
          <a:p>
            <a:pPr indent="0" marL="0">
              <a:lnSpc>
                <a:spcPts val="1450"/>
              </a:lnSpc>
              <a:buNone/>
            </a:pPr>
            <a:r>
              <a:rPr lang="en-US" sz="1100" dirty="0">
                <a:solidFill>
                  <a:srgbClr val="8B86AD"/>
                </a:solidFill>
                <a:latin typeface="Courier New" pitchFamily="34" charset="0"/>
                <a:ea typeface="Courier New" pitchFamily="34" charset="-122"/>
                <a:cs typeface="Courier New" pitchFamily="34" charset="-120"/>
              </a:rPr>
              <a:t># ---- 1. load and look ------------------------------</a:t>
            </a:r>
            <a:endParaRPr lang="en-US" sz="1100" dirty="0"/>
          </a:p>
          <a:p>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library</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(poLCA)</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d &lt;- </a:t>
            </a:r>
            <a:pPr indent="0" marL="0">
              <a:lnSpc>
                <a:spcPts val="1450"/>
              </a:lnSpc>
              <a:buNone/>
            </a:pPr>
            <a:r>
              <a:rPr lang="en-US" sz="1100" dirty="0">
                <a:solidFill>
                  <a:srgbClr val="6FD3C7"/>
                </a:solidFill>
                <a:latin typeface="Courier New" pitchFamily="34" charset="0"/>
                <a:ea typeface="Courier New" pitchFamily="34" charset="-122"/>
                <a:cs typeface="Courier New" pitchFamily="34" charset="-120"/>
              </a:rPr>
              <a:t>read.csv</a:t>
            </a:r>
            <a:pPr indent="0" marL="0">
              <a:lnSpc>
                <a:spcPts val="1450"/>
              </a:lnSpc>
              <a:buNone/>
            </a:pPr>
            <a:r>
              <a:rPr lang="en-US" sz="1100" dirty="0">
                <a:solidFill>
                  <a:srgbClr val="E0A3C4"/>
                </a:solidFill>
                <a:latin typeface="Courier New" pitchFamily="34" charset="0"/>
                <a:ea typeface="Courier New" pitchFamily="34" charset="-122"/>
                <a:cs typeface="Courier New" pitchFamily="34" charset="-120"/>
              </a:rPr>
              <a:t>("student_wellbeing.csv")</a:t>
            </a:r>
            <a:endParaRPr lang="en-US" sz="1100" dirty="0"/>
          </a:p>
          <a:p>
            <a:pPr indent="0" marL="0">
              <a:lnSpc>
                <a:spcPts val="1450"/>
              </a:lnSpc>
              <a:buNone/>
            </a:pPr>
            <a:endParaRPr lang="en-US" sz="1100" dirty="0"/>
          </a:p>
          <a:p>
            <a:pPr indent="0" marL="0">
              <a:lnSpc>
                <a:spcPts val="1450"/>
              </a:lnSpc>
              <a:buNone/>
            </a:pPr>
            <a:r>
              <a:rPr lang="en-US" sz="1100" dirty="0">
                <a:solidFill>
                  <a:srgbClr val="8B86AD"/>
                </a:solidFill>
                <a:latin typeface="Courier New" pitchFamily="34" charset="0"/>
                <a:ea typeface="Courier New" pitchFamily="34" charset="-122"/>
                <a:cs typeface="Courier New" pitchFamily="34" charset="-120"/>
              </a:rPr>
              <a:t># poLCA needs categories coded 1,2,... NOT 0,1</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items &lt;- </a:t>
            </a:r>
            <a:pPr indent="0" marL="0">
              <a:lnSpc>
                <a:spcPts val="1450"/>
              </a:lnSpc>
              <a:buNone/>
            </a:pPr>
            <a:r>
              <a:rPr lang="en-US" sz="1100" dirty="0">
                <a:solidFill>
                  <a:srgbClr val="E0A3C4"/>
                </a:solidFill>
                <a:latin typeface="Courier New" pitchFamily="34" charset="0"/>
                <a:ea typeface="Courier New" pitchFamily="34" charset="-122"/>
                <a:cs typeface="Courier New" pitchFamily="34" charset="-120"/>
              </a:rPr>
              <a:t>c("low_mood","anhedonia","sleep",</a:t>
            </a:r>
            <a:endParaRPr lang="en-US" sz="1100" dirty="0"/>
          </a:p>
          <a:p>
            <a:pPr indent="0" marL="0">
              <a:lnSpc>
                <a:spcPts val="1450"/>
              </a:lnSpc>
              <a:buNone/>
            </a:pPr>
            <a:r>
              <a:rPr lang="en-US" sz="1100" dirty="0">
                <a:solidFill>
                  <a:srgbClr val="E0A3C4"/>
                </a:solidFill>
                <a:latin typeface="Courier New" pitchFamily="34" charset="0"/>
                <a:ea typeface="Courier New" pitchFamily="34" charset="-122"/>
                <a:cs typeface="Courier New" pitchFamily="34" charset="-120"/>
              </a:rPr>
              <a:t>          "fatigue","appetite","concentration")</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d[items] &lt;- d[items] + </a:t>
            </a:r>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1L</a:t>
            </a:r>
            <a:endParaRPr lang="en-US" sz="1100" dirty="0"/>
          </a:p>
          <a:p>
            <a:pPr indent="0" marL="0">
              <a:lnSpc>
                <a:spcPts val="1450"/>
              </a:lnSpc>
              <a:buNone/>
            </a:pPr>
            <a:endParaRPr lang="en-US" sz="1100" dirty="0"/>
          </a:p>
          <a:p>
            <a:pPr indent="0" marL="0">
              <a:lnSpc>
                <a:spcPts val="1450"/>
              </a:lnSpc>
              <a:buNone/>
            </a:pPr>
            <a:r>
              <a:rPr lang="en-US" sz="1100" dirty="0">
                <a:solidFill>
                  <a:srgbClr val="8B86AD"/>
                </a:solidFill>
                <a:latin typeface="Courier New" pitchFamily="34" charset="0"/>
                <a:ea typeface="Courier New" pitchFamily="34" charset="-122"/>
                <a:cs typeface="Courier New" pitchFamily="34" charset="-120"/>
              </a:rPr>
              <a:t># ---- 2. fit 1 to 5 classes -------------------------</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f &lt;- </a:t>
            </a:r>
            <a:pPr indent="0" marL="0">
              <a:lnSpc>
                <a:spcPts val="1450"/>
              </a:lnSpc>
              <a:buNone/>
            </a:pPr>
            <a:r>
              <a:rPr lang="en-US" sz="1100" dirty="0">
                <a:solidFill>
                  <a:srgbClr val="6FD3C7"/>
                </a:solidFill>
                <a:latin typeface="Courier New" pitchFamily="34" charset="0"/>
                <a:ea typeface="Courier New" pitchFamily="34" charset="-122"/>
                <a:cs typeface="Courier New" pitchFamily="34" charset="-120"/>
              </a:rPr>
              <a:t>cbind</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(low_mood, anhedonia, sleep,</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             fatigue, appetite, concentration) ~ </a:t>
            </a:r>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1</a:t>
            </a:r>
            <a:endParaRPr lang="en-US" sz="1100" dirty="0"/>
          </a:p>
          <a:p>
            <a:pPr indent="0" marL="0">
              <a:lnSpc>
                <a:spcPts val="1450"/>
              </a:lnSpc>
              <a:buNone/>
            </a:pPr>
            <a:endParaRPr lang="en-US" sz="1100" dirty="0"/>
          </a:p>
          <a:p>
            <a:pPr indent="0" marL="0">
              <a:lnSpc>
                <a:spcPts val="1450"/>
              </a:lnSpc>
              <a:buNone/>
            </a:pPr>
            <a:r>
              <a:rPr lang="en-US" sz="1100" dirty="0">
                <a:solidFill>
                  <a:srgbClr val="6FD3C7"/>
                </a:solidFill>
                <a:latin typeface="Courier New" pitchFamily="34" charset="0"/>
                <a:ea typeface="Courier New" pitchFamily="34" charset="-122"/>
                <a:cs typeface="Courier New" pitchFamily="34" charset="-120"/>
              </a:rPr>
              <a:t>set.seed</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(2026)</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fits &lt;- </a:t>
            </a:r>
            <a:pPr indent="0" marL="0">
              <a:lnSpc>
                <a:spcPts val="1450"/>
              </a:lnSpc>
              <a:buNone/>
            </a:pPr>
            <a:r>
              <a:rPr lang="en-US" sz="1100" dirty="0">
                <a:solidFill>
                  <a:srgbClr val="6FD3C7"/>
                </a:solidFill>
                <a:latin typeface="Courier New" pitchFamily="34" charset="0"/>
                <a:ea typeface="Courier New" pitchFamily="34" charset="-122"/>
                <a:cs typeface="Courier New" pitchFamily="34" charset="-120"/>
              </a:rPr>
              <a:t>lapply</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a:t>
            </a:r>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1:5</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 </a:t>
            </a:r>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function</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(k)</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  </a:t>
            </a:r>
            <a:pPr indent="0" marL="0">
              <a:lnSpc>
                <a:spcPts val="1450"/>
              </a:lnSpc>
              <a:buNone/>
            </a:pPr>
            <a:r>
              <a:rPr lang="en-US" sz="1100" dirty="0">
                <a:solidFill>
                  <a:srgbClr val="6FD3C7"/>
                </a:solidFill>
                <a:latin typeface="Courier New" pitchFamily="34" charset="0"/>
                <a:ea typeface="Courier New" pitchFamily="34" charset="-122"/>
                <a:cs typeface="Courier New" pitchFamily="34" charset="-120"/>
              </a:rPr>
              <a:t>poLCA</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(f, data = d, nclass = k,</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        nrep = </a:t>
            </a:r>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20</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 maxiter = </a:t>
            </a:r>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5000</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 verbose = </a:t>
            </a:r>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FALSE</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a:t>
            </a:r>
            <a:endParaRPr lang="en-US" sz="1100" dirty="0"/>
          </a:p>
          <a:p>
            <a:pPr indent="0" marL="0">
              <a:lnSpc>
                <a:spcPts val="1450"/>
              </a:lnSpc>
              <a:buNone/>
            </a:pP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best &lt;- fits[[</a:t>
            </a:r>
            <a:pPr indent="0" marL="0">
              <a:lnSpc>
                <a:spcPts val="1450"/>
              </a:lnSpc>
              <a:buNone/>
            </a:pPr>
            <a:r>
              <a:rPr lang="en-US" sz="1100" dirty="0">
                <a:solidFill>
                  <a:srgbClr val="F2A65A"/>
                </a:solidFill>
                <a:latin typeface="Courier New" pitchFamily="34" charset="0"/>
                <a:ea typeface="Courier New" pitchFamily="34" charset="-122"/>
                <a:cs typeface="Courier New" pitchFamily="34" charset="-120"/>
              </a:rPr>
              <a:t>3</a:t>
            </a:r>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      </a:t>
            </a:r>
            <a:pPr indent="0" marL="0">
              <a:lnSpc>
                <a:spcPts val="1450"/>
              </a:lnSpc>
              <a:buNone/>
            </a:pPr>
            <a:r>
              <a:rPr lang="en-US" sz="1100" dirty="0">
                <a:solidFill>
                  <a:srgbClr val="8B86AD"/>
                </a:solidFill>
                <a:latin typeface="Courier New" pitchFamily="34" charset="0"/>
                <a:ea typeface="Courier New" pitchFamily="34" charset="-122"/>
                <a:cs typeface="Courier New" pitchFamily="34" charset="-120"/>
              </a:rPr>
              <a:t># chosen after the fit table</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best$P                 </a:t>
            </a:r>
            <a:pPr indent="0" marL="0">
              <a:lnSpc>
                <a:spcPts val="1450"/>
              </a:lnSpc>
              <a:buNone/>
            </a:pPr>
            <a:r>
              <a:rPr lang="en-US" sz="1100" dirty="0">
                <a:solidFill>
                  <a:srgbClr val="8B86AD"/>
                </a:solidFill>
                <a:latin typeface="Courier New" pitchFamily="34" charset="0"/>
                <a:ea typeface="Courier New" pitchFamily="34" charset="-122"/>
                <a:cs typeface="Courier New" pitchFamily="34" charset="-120"/>
              </a:rPr>
              <a:t># class sizes</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best$probs             </a:t>
            </a:r>
            <a:pPr indent="0" marL="0">
              <a:lnSpc>
                <a:spcPts val="1450"/>
              </a:lnSpc>
              <a:buNone/>
            </a:pPr>
            <a:r>
              <a:rPr lang="en-US" sz="1100" dirty="0">
                <a:solidFill>
                  <a:srgbClr val="8B86AD"/>
                </a:solidFill>
                <a:latin typeface="Courier New" pitchFamily="34" charset="0"/>
                <a:ea typeface="Courier New" pitchFamily="34" charset="-122"/>
                <a:cs typeface="Courier New" pitchFamily="34" charset="-120"/>
              </a:rPr>
              <a:t># item-response probabilities</a:t>
            </a:r>
            <a:endParaRPr lang="en-US" sz="1100" dirty="0"/>
          </a:p>
          <a:p>
            <a:pPr indent="0" marL="0">
              <a:lnSpc>
                <a:spcPts val="1450"/>
              </a:lnSpc>
              <a:buNone/>
            </a:pPr>
            <a:r>
              <a:rPr lang="en-US" sz="1100" dirty="0">
                <a:solidFill>
                  <a:srgbClr val="E8E6F5"/>
                </a:solidFill>
                <a:latin typeface="Courier New" pitchFamily="34" charset="0"/>
                <a:ea typeface="Courier New" pitchFamily="34" charset="-122"/>
                <a:cs typeface="Courier New" pitchFamily="34" charset="-120"/>
              </a:rPr>
              <a:t>best$posterior         </a:t>
            </a:r>
            <a:pPr indent="0" marL="0">
              <a:lnSpc>
                <a:spcPts val="1450"/>
              </a:lnSpc>
              <a:buNone/>
            </a:pPr>
            <a:r>
              <a:rPr lang="en-US" sz="1100" dirty="0">
                <a:solidFill>
                  <a:srgbClr val="8B86AD"/>
                </a:solidFill>
                <a:latin typeface="Courier New" pitchFamily="34" charset="0"/>
                <a:ea typeface="Courier New" pitchFamily="34" charset="-122"/>
                <a:cs typeface="Courier New" pitchFamily="34" charset="-120"/>
              </a:rPr>
              <a:t># per-person probabilities</a:t>
            </a:r>
            <a:endParaRPr lang="en-US" sz="1100" dirty="0"/>
          </a:p>
        </p:txBody>
      </p:sp>
      <p:sp>
        <p:nvSpPr>
          <p:cNvPr id="6" name="Shape 4"/>
          <p:cNvSpPr/>
          <p:nvPr/>
        </p:nvSpPr>
        <p:spPr>
          <a:xfrm>
            <a:off x="7699248" y="1298448"/>
            <a:ext cx="3922776" cy="1024128"/>
          </a:xfrm>
          <a:prstGeom prst="roundRect">
            <a:avLst>
              <a:gd name="adj" fmla="val 8929"/>
            </a:avLst>
          </a:prstGeom>
          <a:solidFill>
            <a:srgbClr val="F5F4FA"/>
          </a:solidFill>
          <a:ln w="12700">
            <a:solidFill>
              <a:srgbClr val="DBD8E8"/>
            </a:solidFill>
            <a:prstDash val="solid"/>
          </a:ln>
        </p:spPr>
      </p:sp>
      <p:sp>
        <p:nvSpPr>
          <p:cNvPr id="7" name="Shape 5"/>
          <p:cNvSpPr/>
          <p:nvPr/>
        </p:nvSpPr>
        <p:spPr>
          <a:xfrm>
            <a:off x="7918704" y="1472184"/>
            <a:ext cx="219456" cy="219456"/>
          </a:xfrm>
          <a:prstGeom prst="ellipse">
            <a:avLst/>
          </a:prstGeom>
          <a:solidFill>
            <a:srgbClr val="D9553C"/>
          </a:solidFill>
          <a:ln w="12700">
            <a:solidFill>
              <a:srgbClr val="D9553C"/>
            </a:solidFill>
            <a:prstDash val="solid"/>
          </a:ln>
        </p:spPr>
      </p:sp>
      <p:sp>
        <p:nvSpPr>
          <p:cNvPr id="8" name="Text 6"/>
          <p:cNvSpPr/>
          <p:nvPr/>
        </p:nvSpPr>
        <p:spPr>
          <a:xfrm>
            <a:off x="8211312" y="1444752"/>
            <a:ext cx="3200400" cy="256032"/>
          </a:xfrm>
          <a:prstGeom prst="rect">
            <a:avLst/>
          </a:prstGeom>
          <a:noFill/>
          <a:ln/>
        </p:spPr>
        <p:txBody>
          <a:bodyPr wrap="square" lIns="0" tIns="0" rIns="0" bIns="0" rtlCol="0" anchor="ctr"/>
          <a:lstStyle/>
          <a:p>
            <a:pPr indent="0" marL="0">
              <a:buNone/>
            </a:pPr>
            <a:r>
              <a:rPr lang="en-US" sz="1100" b="1" dirty="0">
                <a:solidFill>
                  <a:srgbClr val="1A1633"/>
                </a:solidFill>
                <a:latin typeface="Courier New" pitchFamily="34" charset="0"/>
                <a:ea typeface="Courier New" pitchFamily="34" charset="-122"/>
                <a:cs typeface="Courier New" pitchFamily="34" charset="-120"/>
              </a:rPr>
              <a:t>nrep = 20</a:t>
            </a:r>
            <a:endParaRPr lang="en-US" sz="1100" dirty="0"/>
          </a:p>
        </p:txBody>
      </p:sp>
      <p:sp>
        <p:nvSpPr>
          <p:cNvPr id="9" name="Text 7"/>
          <p:cNvSpPr/>
          <p:nvPr/>
        </p:nvSpPr>
        <p:spPr>
          <a:xfrm>
            <a:off x="7918704" y="1737360"/>
            <a:ext cx="3520440" cy="530352"/>
          </a:xfrm>
          <a:prstGeom prst="rect">
            <a:avLst/>
          </a:prstGeom>
          <a:noFill/>
          <a:ln/>
        </p:spPr>
        <p:txBody>
          <a:bodyPr wrap="square" lIns="0" tIns="0" rIns="0" bIns="0" rtlCol="0" anchor="t"/>
          <a:lstStyle/>
          <a:p>
            <a:pPr indent="0" marL="0">
              <a:lnSpc>
                <a:spcPts val="1350"/>
              </a:lnSpc>
              <a:buNone/>
            </a:pPr>
            <a:r>
              <a:rPr lang="en-US" sz="1000" dirty="0">
                <a:solidFill>
                  <a:srgbClr val="6B6785"/>
                </a:solidFill>
                <a:latin typeface="Calibri" pitchFamily="34" charset="0"/>
                <a:ea typeface="Calibri" pitchFamily="34" charset="-122"/>
                <a:cs typeface="Calibri" pitchFamily="34" charset="-120"/>
              </a:rPr>
              <a:t>Twenty random starts. Mixture likelihoods are riddled with local maxima — without this you may be reporting the best of one lucky guess.</a:t>
            </a:r>
            <a:endParaRPr lang="en-US" sz="1000" dirty="0"/>
          </a:p>
        </p:txBody>
      </p:sp>
      <p:sp>
        <p:nvSpPr>
          <p:cNvPr id="10" name="Shape 8"/>
          <p:cNvSpPr/>
          <p:nvPr/>
        </p:nvSpPr>
        <p:spPr>
          <a:xfrm>
            <a:off x="7699248" y="2450592"/>
            <a:ext cx="3922776" cy="1024128"/>
          </a:xfrm>
          <a:prstGeom prst="roundRect">
            <a:avLst>
              <a:gd name="adj" fmla="val 8929"/>
            </a:avLst>
          </a:prstGeom>
          <a:solidFill>
            <a:srgbClr val="F5F4FA"/>
          </a:solidFill>
          <a:ln w="12700">
            <a:solidFill>
              <a:srgbClr val="DBD8E8"/>
            </a:solidFill>
            <a:prstDash val="solid"/>
          </a:ln>
        </p:spPr>
      </p:sp>
      <p:sp>
        <p:nvSpPr>
          <p:cNvPr id="11" name="Shape 9"/>
          <p:cNvSpPr/>
          <p:nvPr/>
        </p:nvSpPr>
        <p:spPr>
          <a:xfrm>
            <a:off x="7918704" y="2624328"/>
            <a:ext cx="219456" cy="219456"/>
          </a:xfrm>
          <a:prstGeom prst="ellipse">
            <a:avLst/>
          </a:prstGeom>
          <a:solidFill>
            <a:srgbClr val="1F8F82"/>
          </a:solidFill>
          <a:ln w="12700">
            <a:solidFill>
              <a:srgbClr val="1F8F82"/>
            </a:solidFill>
            <a:prstDash val="solid"/>
          </a:ln>
        </p:spPr>
      </p:sp>
      <p:sp>
        <p:nvSpPr>
          <p:cNvPr id="12" name="Text 10"/>
          <p:cNvSpPr/>
          <p:nvPr/>
        </p:nvSpPr>
        <p:spPr>
          <a:xfrm>
            <a:off x="8211312" y="2596896"/>
            <a:ext cx="3200400" cy="256032"/>
          </a:xfrm>
          <a:prstGeom prst="rect">
            <a:avLst/>
          </a:prstGeom>
          <a:noFill/>
          <a:ln/>
        </p:spPr>
        <p:txBody>
          <a:bodyPr wrap="square" lIns="0" tIns="0" rIns="0" bIns="0" rtlCol="0" anchor="ctr"/>
          <a:lstStyle/>
          <a:p>
            <a:pPr indent="0" marL="0">
              <a:buNone/>
            </a:pPr>
            <a:r>
              <a:rPr lang="en-US" sz="1100" b="1" dirty="0">
                <a:solidFill>
                  <a:srgbClr val="1A1633"/>
                </a:solidFill>
                <a:latin typeface="Courier New" pitchFamily="34" charset="0"/>
                <a:ea typeface="Courier New" pitchFamily="34" charset="-122"/>
                <a:cs typeface="Courier New" pitchFamily="34" charset="-120"/>
              </a:rPr>
              <a:t>~ 1 on the right</a:t>
            </a:r>
            <a:endParaRPr lang="en-US" sz="1100" dirty="0"/>
          </a:p>
        </p:txBody>
      </p:sp>
      <p:sp>
        <p:nvSpPr>
          <p:cNvPr id="13" name="Text 11"/>
          <p:cNvSpPr/>
          <p:nvPr/>
        </p:nvSpPr>
        <p:spPr>
          <a:xfrm>
            <a:off x="7918704" y="2889504"/>
            <a:ext cx="3520440" cy="530352"/>
          </a:xfrm>
          <a:prstGeom prst="rect">
            <a:avLst/>
          </a:prstGeom>
          <a:noFill/>
          <a:ln/>
        </p:spPr>
        <p:txBody>
          <a:bodyPr wrap="square" lIns="0" tIns="0" rIns="0" bIns="0" rtlCol="0" anchor="t"/>
          <a:lstStyle/>
          <a:p>
            <a:pPr indent="0" marL="0">
              <a:lnSpc>
                <a:spcPts val="1350"/>
              </a:lnSpc>
              <a:buNone/>
            </a:pPr>
            <a:r>
              <a:rPr lang="en-US" sz="1000" dirty="0">
                <a:solidFill>
                  <a:srgbClr val="6B6785"/>
                </a:solidFill>
                <a:latin typeface="Calibri" pitchFamily="34" charset="0"/>
                <a:ea typeface="Calibri" pitchFamily="34" charset="-122"/>
                <a:cs typeface="Calibri" pitchFamily="34" charset="-120"/>
              </a:rPr>
              <a:t>There are no predictors in the measurement model. Covariates come later, in a separate step.</a:t>
            </a:r>
            <a:endParaRPr lang="en-US" sz="1000" dirty="0"/>
          </a:p>
        </p:txBody>
      </p:sp>
      <p:sp>
        <p:nvSpPr>
          <p:cNvPr id="14" name="Shape 12"/>
          <p:cNvSpPr/>
          <p:nvPr/>
        </p:nvSpPr>
        <p:spPr>
          <a:xfrm>
            <a:off x="7699248" y="3602736"/>
            <a:ext cx="3922776" cy="1024128"/>
          </a:xfrm>
          <a:prstGeom prst="roundRect">
            <a:avLst>
              <a:gd name="adj" fmla="val 8929"/>
            </a:avLst>
          </a:prstGeom>
          <a:solidFill>
            <a:srgbClr val="F5F4FA"/>
          </a:solidFill>
          <a:ln w="12700">
            <a:solidFill>
              <a:srgbClr val="DBD8E8"/>
            </a:solidFill>
            <a:prstDash val="solid"/>
          </a:ln>
        </p:spPr>
      </p:sp>
      <p:sp>
        <p:nvSpPr>
          <p:cNvPr id="15" name="Shape 13"/>
          <p:cNvSpPr/>
          <p:nvPr/>
        </p:nvSpPr>
        <p:spPr>
          <a:xfrm>
            <a:off x="7918704" y="3776472"/>
            <a:ext cx="219456" cy="219456"/>
          </a:xfrm>
          <a:prstGeom prst="ellipse">
            <a:avLst/>
          </a:prstGeom>
          <a:solidFill>
            <a:srgbClr val="E09B21"/>
          </a:solidFill>
          <a:ln w="12700">
            <a:solidFill>
              <a:srgbClr val="E09B21"/>
            </a:solidFill>
            <a:prstDash val="solid"/>
          </a:ln>
        </p:spPr>
      </p:sp>
      <p:sp>
        <p:nvSpPr>
          <p:cNvPr id="16" name="Text 14"/>
          <p:cNvSpPr/>
          <p:nvPr/>
        </p:nvSpPr>
        <p:spPr>
          <a:xfrm>
            <a:off x="8211312" y="3749040"/>
            <a:ext cx="3200400" cy="256032"/>
          </a:xfrm>
          <a:prstGeom prst="rect">
            <a:avLst/>
          </a:prstGeom>
          <a:noFill/>
          <a:ln/>
        </p:spPr>
        <p:txBody>
          <a:bodyPr wrap="square" lIns="0" tIns="0" rIns="0" bIns="0" rtlCol="0" anchor="ctr"/>
          <a:lstStyle/>
          <a:p>
            <a:pPr indent="0" marL="0">
              <a:buNone/>
            </a:pPr>
            <a:r>
              <a:rPr lang="en-US" sz="1100" b="1" dirty="0">
                <a:solidFill>
                  <a:srgbClr val="1A1633"/>
                </a:solidFill>
                <a:latin typeface="Courier New" pitchFamily="34" charset="0"/>
                <a:ea typeface="Courier New" pitchFamily="34" charset="-122"/>
                <a:cs typeface="Courier New" pitchFamily="34" charset="-120"/>
              </a:rPr>
              <a:t>The +1L line</a:t>
            </a:r>
            <a:endParaRPr lang="en-US" sz="1100" dirty="0"/>
          </a:p>
        </p:txBody>
      </p:sp>
      <p:sp>
        <p:nvSpPr>
          <p:cNvPr id="17" name="Text 15"/>
          <p:cNvSpPr/>
          <p:nvPr/>
        </p:nvSpPr>
        <p:spPr>
          <a:xfrm>
            <a:off x="7918704" y="4041648"/>
            <a:ext cx="3520440" cy="530352"/>
          </a:xfrm>
          <a:prstGeom prst="rect">
            <a:avLst/>
          </a:prstGeom>
          <a:noFill/>
          <a:ln/>
        </p:spPr>
        <p:txBody>
          <a:bodyPr wrap="square" lIns="0" tIns="0" rIns="0" bIns="0" rtlCol="0" anchor="t"/>
          <a:lstStyle/>
          <a:p>
            <a:pPr indent="0" marL="0">
              <a:lnSpc>
                <a:spcPts val="1350"/>
              </a:lnSpc>
              <a:buNone/>
            </a:pPr>
            <a:r>
              <a:rPr lang="en-US" sz="1000" dirty="0">
                <a:solidFill>
                  <a:srgbClr val="6B6785"/>
                </a:solidFill>
                <a:latin typeface="Calibri" pitchFamily="34" charset="0"/>
                <a:ea typeface="Calibri" pitchFamily="34" charset="-122"/>
                <a:cs typeface="Calibri" pitchFamily="34" charset="-120"/>
              </a:rPr>
              <a:t>poLCA refuses 0/1 coding. This is the single most common error message beginners hit.</a:t>
            </a:r>
            <a:endParaRPr lang="en-US" sz="1000" dirty="0"/>
          </a:p>
        </p:txBody>
      </p:sp>
      <p:sp>
        <p:nvSpPr>
          <p:cNvPr id="18" name="Shape 16"/>
          <p:cNvSpPr/>
          <p:nvPr/>
        </p:nvSpPr>
        <p:spPr>
          <a:xfrm>
            <a:off x="7699248" y="4754880"/>
            <a:ext cx="3922776" cy="1024128"/>
          </a:xfrm>
          <a:prstGeom prst="roundRect">
            <a:avLst>
              <a:gd name="adj" fmla="val 8929"/>
            </a:avLst>
          </a:prstGeom>
          <a:solidFill>
            <a:srgbClr val="F5F4FA"/>
          </a:solidFill>
          <a:ln w="12700">
            <a:solidFill>
              <a:srgbClr val="DBD8E8"/>
            </a:solidFill>
            <a:prstDash val="solid"/>
          </a:ln>
        </p:spPr>
      </p:sp>
      <p:sp>
        <p:nvSpPr>
          <p:cNvPr id="19" name="Shape 17"/>
          <p:cNvSpPr/>
          <p:nvPr/>
        </p:nvSpPr>
        <p:spPr>
          <a:xfrm>
            <a:off x="7918704" y="4928616"/>
            <a:ext cx="219456" cy="219456"/>
          </a:xfrm>
          <a:prstGeom prst="ellipse">
            <a:avLst/>
          </a:prstGeom>
          <a:solidFill>
            <a:srgbClr val="6F63C9"/>
          </a:solidFill>
          <a:ln w="12700">
            <a:solidFill>
              <a:srgbClr val="6F63C9"/>
            </a:solidFill>
            <a:prstDash val="solid"/>
          </a:ln>
        </p:spPr>
      </p:sp>
      <p:sp>
        <p:nvSpPr>
          <p:cNvPr id="20" name="Text 18"/>
          <p:cNvSpPr/>
          <p:nvPr/>
        </p:nvSpPr>
        <p:spPr>
          <a:xfrm>
            <a:off x="8211312" y="4901184"/>
            <a:ext cx="3200400" cy="256032"/>
          </a:xfrm>
          <a:prstGeom prst="rect">
            <a:avLst/>
          </a:prstGeom>
          <a:noFill/>
          <a:ln/>
        </p:spPr>
        <p:txBody>
          <a:bodyPr wrap="square" lIns="0" tIns="0" rIns="0" bIns="0" rtlCol="0" anchor="ctr"/>
          <a:lstStyle/>
          <a:p>
            <a:pPr indent="0" marL="0">
              <a:buNone/>
            </a:pPr>
            <a:r>
              <a:rPr lang="en-US" sz="1100" b="1" dirty="0">
                <a:solidFill>
                  <a:srgbClr val="1A1633"/>
                </a:solidFill>
                <a:latin typeface="Courier New" pitchFamily="34" charset="0"/>
                <a:ea typeface="Courier New" pitchFamily="34" charset="-122"/>
                <a:cs typeface="Courier New" pitchFamily="34" charset="-120"/>
              </a:rPr>
              <a:t>set.seed()</a:t>
            </a:r>
            <a:endParaRPr lang="en-US" sz="1100" dirty="0"/>
          </a:p>
        </p:txBody>
      </p:sp>
      <p:sp>
        <p:nvSpPr>
          <p:cNvPr id="21" name="Text 19"/>
          <p:cNvSpPr/>
          <p:nvPr/>
        </p:nvSpPr>
        <p:spPr>
          <a:xfrm>
            <a:off x="7918704" y="5193792"/>
            <a:ext cx="3520440" cy="530352"/>
          </a:xfrm>
          <a:prstGeom prst="rect">
            <a:avLst/>
          </a:prstGeom>
          <a:noFill/>
          <a:ln/>
        </p:spPr>
        <p:txBody>
          <a:bodyPr wrap="square" lIns="0" tIns="0" rIns="0" bIns="0" rtlCol="0" anchor="t"/>
          <a:lstStyle/>
          <a:p>
            <a:pPr indent="0" marL="0">
              <a:lnSpc>
                <a:spcPts val="1350"/>
              </a:lnSpc>
              <a:buNone/>
            </a:pPr>
            <a:r>
              <a:rPr lang="en-US" sz="1000" dirty="0">
                <a:solidFill>
                  <a:srgbClr val="6B6785"/>
                </a:solidFill>
                <a:latin typeface="Calibri" pitchFamily="34" charset="0"/>
                <a:ea typeface="Calibri" pitchFamily="34" charset="-122"/>
                <a:cs typeface="Calibri" pitchFamily="34" charset="-120"/>
              </a:rPr>
              <a:t>Random starts mean random results. Without a seed your analysis is not reproducible — including by you, next week.</a:t>
            </a:r>
            <a:endParaRPr lang="en-US" sz="1000" dirty="0"/>
          </a:p>
        </p:txBody>
      </p:sp>
      <p:sp>
        <p:nvSpPr>
          <p:cNvPr id="22" name="Text 20"/>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9E9AB4"/>
                </a:solidFill>
                <a:latin typeface="Calibri" pitchFamily="34" charset="0"/>
                <a:ea typeface="Calibri" pitchFamily="34" charset="-122"/>
                <a:cs typeface="Calibri" pitchFamily="34" charset="-120"/>
              </a:rPr>
              <a:t>The full script also builds the fit table — log-likelihood, AIC, BIC, aBIC, entropy, smallest class — for all five solutions.</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PRACTICAL · INTERPRETING LCA</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Reading the output: what the classes are</a:t>
            </a:r>
            <a:endParaRPr lang="en-US" sz="2900" dirty="0"/>
          </a:p>
        </p:txBody>
      </p:sp>
      <p:sp>
        <p:nvSpPr>
          <p:cNvPr id="4" name="Text 2"/>
          <p:cNvSpPr/>
          <p:nvPr/>
        </p:nvSpPr>
        <p:spPr>
          <a:xfrm>
            <a:off x="566928" y="1261872"/>
            <a:ext cx="11055096" cy="384048"/>
          </a:xfrm>
          <a:prstGeom prst="rect">
            <a:avLst/>
          </a:prstGeom>
          <a:noFill/>
          <a:ln/>
        </p:spPr>
        <p:txBody>
          <a:bodyPr wrap="square" lIns="0" tIns="0" rIns="0" bIns="0" rtlCol="0" anchor="t"/>
          <a:lstStyle/>
          <a:p>
            <a:pPr algn="l" indent="0" marL="0">
              <a:lnSpc>
                <a:spcPts val="2100"/>
              </a:lnSpc>
              <a:buNone/>
            </a:pPr>
            <a:r>
              <a:rPr lang="en-US" sz="1300" dirty="0">
                <a:solidFill>
                  <a:srgbClr val="6B6785"/>
                </a:solidFill>
                <a:latin typeface="Calibri" pitchFamily="34" charset="0"/>
                <a:ea typeface="Calibri" pitchFamily="34" charset="-122"/>
                <a:cs typeface="Calibri" pitchFamily="34" charset="-120"/>
              </a:rPr>
              <a:t>best$probs gives, for each item, the probability that a class member endorses it. That table is your result.</a:t>
            </a:r>
            <a:endParaRPr lang="en-US" sz="1300" dirty="0"/>
          </a:p>
        </p:txBody>
      </p:sp>
      <p:sp>
        <p:nvSpPr>
          <p:cNvPr id="5" name="Shape 3"/>
          <p:cNvSpPr/>
          <p:nvPr/>
        </p:nvSpPr>
        <p:spPr>
          <a:xfrm>
            <a:off x="566928" y="1700784"/>
            <a:ext cx="7452360" cy="420624"/>
          </a:xfrm>
          <a:prstGeom prst="rect">
            <a:avLst/>
          </a:prstGeom>
          <a:solidFill>
            <a:srgbClr val="2A2356"/>
          </a:solidFill>
          <a:ln w="12700">
            <a:solidFill>
              <a:srgbClr val="2A2356"/>
            </a:solidFill>
            <a:prstDash val="solid"/>
          </a:ln>
        </p:spPr>
      </p:sp>
      <p:sp>
        <p:nvSpPr>
          <p:cNvPr id="6" name="Text 4"/>
          <p:cNvSpPr/>
          <p:nvPr/>
        </p:nvSpPr>
        <p:spPr>
          <a:xfrm>
            <a:off x="694944" y="1700784"/>
            <a:ext cx="2202561" cy="420624"/>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SYMPTOM ITEM</a:t>
            </a:r>
            <a:endParaRPr lang="en-US" sz="1050" dirty="0"/>
          </a:p>
        </p:txBody>
      </p:sp>
      <p:sp>
        <p:nvSpPr>
          <p:cNvPr id="7" name="Text 5"/>
          <p:cNvSpPr/>
          <p:nvPr/>
        </p:nvSpPr>
        <p:spPr>
          <a:xfrm>
            <a:off x="3116961" y="1700784"/>
            <a:ext cx="1457325"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CLASS 1 — 47%</a:t>
            </a:r>
            <a:endParaRPr lang="en-US" sz="1050" dirty="0"/>
          </a:p>
        </p:txBody>
      </p:sp>
      <p:sp>
        <p:nvSpPr>
          <p:cNvPr id="8" name="Text 6"/>
          <p:cNvSpPr/>
          <p:nvPr/>
        </p:nvSpPr>
        <p:spPr>
          <a:xfrm>
            <a:off x="4793742" y="1700784"/>
            <a:ext cx="1457325"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CLASS 2 — 32%</a:t>
            </a:r>
            <a:endParaRPr lang="en-US" sz="1050" dirty="0"/>
          </a:p>
        </p:txBody>
      </p:sp>
      <p:sp>
        <p:nvSpPr>
          <p:cNvPr id="9" name="Text 7"/>
          <p:cNvSpPr/>
          <p:nvPr/>
        </p:nvSpPr>
        <p:spPr>
          <a:xfrm>
            <a:off x="6470523" y="1700784"/>
            <a:ext cx="1457325"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CLASS 3 — 21%</a:t>
            </a:r>
            <a:endParaRPr lang="en-US" sz="1050" dirty="0"/>
          </a:p>
        </p:txBody>
      </p:sp>
      <p:sp>
        <p:nvSpPr>
          <p:cNvPr id="10" name="Shape 8"/>
          <p:cNvSpPr/>
          <p:nvPr/>
        </p:nvSpPr>
        <p:spPr>
          <a:xfrm>
            <a:off x="566928" y="2121408"/>
            <a:ext cx="7452360" cy="384048"/>
          </a:xfrm>
          <a:prstGeom prst="rect">
            <a:avLst/>
          </a:prstGeom>
          <a:solidFill>
            <a:srgbClr val="FFFFFF"/>
          </a:solidFill>
          <a:ln w="7620">
            <a:solidFill>
              <a:srgbClr val="DBD8E8"/>
            </a:solidFill>
            <a:prstDash val="solid"/>
          </a:ln>
        </p:spPr>
      </p:sp>
      <p:sp>
        <p:nvSpPr>
          <p:cNvPr id="11" name="Text 9"/>
          <p:cNvSpPr/>
          <p:nvPr/>
        </p:nvSpPr>
        <p:spPr>
          <a:xfrm>
            <a:off x="694944" y="2121408"/>
            <a:ext cx="2202561" cy="384048"/>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Low mood</a:t>
            </a:r>
            <a:endParaRPr lang="en-US" sz="1200" dirty="0"/>
          </a:p>
        </p:txBody>
      </p:sp>
      <p:sp>
        <p:nvSpPr>
          <p:cNvPr id="12" name="Text 10"/>
          <p:cNvSpPr/>
          <p:nvPr/>
        </p:nvSpPr>
        <p:spPr>
          <a:xfrm>
            <a:off x="3116961" y="2121408"/>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0.11</a:t>
            </a:r>
            <a:endParaRPr lang="en-US" sz="1200" dirty="0"/>
          </a:p>
        </p:txBody>
      </p:sp>
      <p:sp>
        <p:nvSpPr>
          <p:cNvPr id="13" name="Text 11"/>
          <p:cNvSpPr/>
          <p:nvPr/>
        </p:nvSpPr>
        <p:spPr>
          <a:xfrm>
            <a:off x="4793742" y="2121408"/>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0.20</a:t>
            </a:r>
            <a:endParaRPr lang="en-US" sz="1200" dirty="0"/>
          </a:p>
        </p:txBody>
      </p:sp>
      <p:sp>
        <p:nvSpPr>
          <p:cNvPr id="14" name="Text 12"/>
          <p:cNvSpPr/>
          <p:nvPr/>
        </p:nvSpPr>
        <p:spPr>
          <a:xfrm>
            <a:off x="6470523" y="2121408"/>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0.88</a:t>
            </a:r>
            <a:endParaRPr lang="en-US" sz="1200" dirty="0"/>
          </a:p>
        </p:txBody>
      </p:sp>
      <p:sp>
        <p:nvSpPr>
          <p:cNvPr id="15" name="Shape 13"/>
          <p:cNvSpPr/>
          <p:nvPr/>
        </p:nvSpPr>
        <p:spPr>
          <a:xfrm>
            <a:off x="566928" y="2505456"/>
            <a:ext cx="7452360" cy="384048"/>
          </a:xfrm>
          <a:prstGeom prst="rect">
            <a:avLst/>
          </a:prstGeom>
          <a:solidFill>
            <a:srgbClr val="F5F4FA"/>
          </a:solidFill>
          <a:ln w="7620">
            <a:solidFill>
              <a:srgbClr val="DBD8E8"/>
            </a:solidFill>
            <a:prstDash val="solid"/>
          </a:ln>
        </p:spPr>
      </p:sp>
      <p:sp>
        <p:nvSpPr>
          <p:cNvPr id="16" name="Text 14"/>
          <p:cNvSpPr/>
          <p:nvPr/>
        </p:nvSpPr>
        <p:spPr>
          <a:xfrm>
            <a:off x="694944" y="2505456"/>
            <a:ext cx="2202561" cy="384048"/>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Loss of interest</a:t>
            </a:r>
            <a:endParaRPr lang="en-US" sz="1200" dirty="0"/>
          </a:p>
        </p:txBody>
      </p:sp>
      <p:sp>
        <p:nvSpPr>
          <p:cNvPr id="17" name="Text 15"/>
          <p:cNvSpPr/>
          <p:nvPr/>
        </p:nvSpPr>
        <p:spPr>
          <a:xfrm>
            <a:off x="3116961" y="2505456"/>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0.08</a:t>
            </a:r>
            <a:endParaRPr lang="en-US" sz="1200" dirty="0"/>
          </a:p>
        </p:txBody>
      </p:sp>
      <p:sp>
        <p:nvSpPr>
          <p:cNvPr id="18" name="Text 16"/>
          <p:cNvSpPr/>
          <p:nvPr/>
        </p:nvSpPr>
        <p:spPr>
          <a:xfrm>
            <a:off x="4793742" y="2505456"/>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0.20</a:t>
            </a:r>
            <a:endParaRPr lang="en-US" sz="1200" dirty="0"/>
          </a:p>
        </p:txBody>
      </p:sp>
      <p:sp>
        <p:nvSpPr>
          <p:cNvPr id="19" name="Text 17"/>
          <p:cNvSpPr/>
          <p:nvPr/>
        </p:nvSpPr>
        <p:spPr>
          <a:xfrm>
            <a:off x="6470523" y="2505456"/>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0.85</a:t>
            </a:r>
            <a:endParaRPr lang="en-US" sz="1200" dirty="0"/>
          </a:p>
        </p:txBody>
      </p:sp>
      <p:sp>
        <p:nvSpPr>
          <p:cNvPr id="20" name="Shape 18"/>
          <p:cNvSpPr/>
          <p:nvPr/>
        </p:nvSpPr>
        <p:spPr>
          <a:xfrm>
            <a:off x="566928" y="2889504"/>
            <a:ext cx="7452360" cy="384048"/>
          </a:xfrm>
          <a:prstGeom prst="rect">
            <a:avLst/>
          </a:prstGeom>
          <a:solidFill>
            <a:srgbClr val="FFFFFF"/>
          </a:solidFill>
          <a:ln w="7620">
            <a:solidFill>
              <a:srgbClr val="DBD8E8"/>
            </a:solidFill>
            <a:prstDash val="solid"/>
          </a:ln>
        </p:spPr>
      </p:sp>
      <p:sp>
        <p:nvSpPr>
          <p:cNvPr id="21" name="Text 19"/>
          <p:cNvSpPr/>
          <p:nvPr/>
        </p:nvSpPr>
        <p:spPr>
          <a:xfrm>
            <a:off x="694944" y="2889504"/>
            <a:ext cx="2202561" cy="384048"/>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Sleep problems</a:t>
            </a:r>
            <a:endParaRPr lang="en-US" sz="1200" dirty="0"/>
          </a:p>
        </p:txBody>
      </p:sp>
      <p:sp>
        <p:nvSpPr>
          <p:cNvPr id="22" name="Text 20"/>
          <p:cNvSpPr/>
          <p:nvPr/>
        </p:nvSpPr>
        <p:spPr>
          <a:xfrm>
            <a:off x="3116961" y="2889504"/>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0.13</a:t>
            </a:r>
            <a:endParaRPr lang="en-US" sz="1200" dirty="0"/>
          </a:p>
        </p:txBody>
      </p:sp>
      <p:sp>
        <p:nvSpPr>
          <p:cNvPr id="23" name="Text 21"/>
          <p:cNvSpPr/>
          <p:nvPr/>
        </p:nvSpPr>
        <p:spPr>
          <a:xfrm>
            <a:off x="4793742" y="2889504"/>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0.80</a:t>
            </a:r>
            <a:endParaRPr lang="en-US" sz="1200" dirty="0"/>
          </a:p>
        </p:txBody>
      </p:sp>
      <p:sp>
        <p:nvSpPr>
          <p:cNvPr id="24" name="Text 22"/>
          <p:cNvSpPr/>
          <p:nvPr/>
        </p:nvSpPr>
        <p:spPr>
          <a:xfrm>
            <a:off x="6470523" y="2889504"/>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0.89</a:t>
            </a:r>
            <a:endParaRPr lang="en-US" sz="1200" dirty="0"/>
          </a:p>
        </p:txBody>
      </p:sp>
      <p:sp>
        <p:nvSpPr>
          <p:cNvPr id="25" name="Shape 23"/>
          <p:cNvSpPr/>
          <p:nvPr/>
        </p:nvSpPr>
        <p:spPr>
          <a:xfrm>
            <a:off x="566928" y="3273552"/>
            <a:ext cx="7452360" cy="384048"/>
          </a:xfrm>
          <a:prstGeom prst="rect">
            <a:avLst/>
          </a:prstGeom>
          <a:solidFill>
            <a:srgbClr val="F5F4FA"/>
          </a:solidFill>
          <a:ln w="7620">
            <a:solidFill>
              <a:srgbClr val="DBD8E8"/>
            </a:solidFill>
            <a:prstDash val="solid"/>
          </a:ln>
        </p:spPr>
      </p:sp>
      <p:sp>
        <p:nvSpPr>
          <p:cNvPr id="26" name="Text 24"/>
          <p:cNvSpPr/>
          <p:nvPr/>
        </p:nvSpPr>
        <p:spPr>
          <a:xfrm>
            <a:off x="694944" y="3273552"/>
            <a:ext cx="2202561" cy="384048"/>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Fatigue</a:t>
            </a:r>
            <a:endParaRPr lang="en-US" sz="1200" dirty="0"/>
          </a:p>
        </p:txBody>
      </p:sp>
      <p:sp>
        <p:nvSpPr>
          <p:cNvPr id="27" name="Text 25"/>
          <p:cNvSpPr/>
          <p:nvPr/>
        </p:nvSpPr>
        <p:spPr>
          <a:xfrm>
            <a:off x="3116961" y="3273552"/>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0.13</a:t>
            </a:r>
            <a:endParaRPr lang="en-US" sz="1200" dirty="0"/>
          </a:p>
        </p:txBody>
      </p:sp>
      <p:sp>
        <p:nvSpPr>
          <p:cNvPr id="28" name="Text 26"/>
          <p:cNvSpPr/>
          <p:nvPr/>
        </p:nvSpPr>
        <p:spPr>
          <a:xfrm>
            <a:off x="4793742" y="3273552"/>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0.85</a:t>
            </a:r>
            <a:endParaRPr lang="en-US" sz="1200" dirty="0"/>
          </a:p>
        </p:txBody>
      </p:sp>
      <p:sp>
        <p:nvSpPr>
          <p:cNvPr id="29" name="Text 27"/>
          <p:cNvSpPr/>
          <p:nvPr/>
        </p:nvSpPr>
        <p:spPr>
          <a:xfrm>
            <a:off x="6470523" y="3273552"/>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0.95</a:t>
            </a:r>
            <a:endParaRPr lang="en-US" sz="1200" dirty="0"/>
          </a:p>
        </p:txBody>
      </p:sp>
      <p:sp>
        <p:nvSpPr>
          <p:cNvPr id="30" name="Shape 28"/>
          <p:cNvSpPr/>
          <p:nvPr/>
        </p:nvSpPr>
        <p:spPr>
          <a:xfrm>
            <a:off x="566928" y="3657600"/>
            <a:ext cx="7452360" cy="384048"/>
          </a:xfrm>
          <a:prstGeom prst="rect">
            <a:avLst/>
          </a:prstGeom>
          <a:solidFill>
            <a:srgbClr val="FFFFFF"/>
          </a:solidFill>
          <a:ln w="7620">
            <a:solidFill>
              <a:srgbClr val="DBD8E8"/>
            </a:solidFill>
            <a:prstDash val="solid"/>
          </a:ln>
        </p:spPr>
      </p:sp>
      <p:sp>
        <p:nvSpPr>
          <p:cNvPr id="31" name="Text 29"/>
          <p:cNvSpPr/>
          <p:nvPr/>
        </p:nvSpPr>
        <p:spPr>
          <a:xfrm>
            <a:off x="694944" y="3657600"/>
            <a:ext cx="2202561" cy="384048"/>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Appetite change</a:t>
            </a:r>
            <a:endParaRPr lang="en-US" sz="1200" dirty="0"/>
          </a:p>
        </p:txBody>
      </p:sp>
      <p:sp>
        <p:nvSpPr>
          <p:cNvPr id="32" name="Text 30"/>
          <p:cNvSpPr/>
          <p:nvPr/>
        </p:nvSpPr>
        <p:spPr>
          <a:xfrm>
            <a:off x="3116961" y="3657600"/>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0.07</a:t>
            </a:r>
            <a:endParaRPr lang="en-US" sz="1200" dirty="0"/>
          </a:p>
        </p:txBody>
      </p:sp>
      <p:sp>
        <p:nvSpPr>
          <p:cNvPr id="33" name="Text 31"/>
          <p:cNvSpPr/>
          <p:nvPr/>
        </p:nvSpPr>
        <p:spPr>
          <a:xfrm>
            <a:off x="4793742" y="3657600"/>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0.61</a:t>
            </a:r>
            <a:endParaRPr lang="en-US" sz="1200" dirty="0"/>
          </a:p>
        </p:txBody>
      </p:sp>
      <p:sp>
        <p:nvSpPr>
          <p:cNvPr id="34" name="Text 32"/>
          <p:cNvSpPr/>
          <p:nvPr/>
        </p:nvSpPr>
        <p:spPr>
          <a:xfrm>
            <a:off x="6470523" y="3657600"/>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0.75</a:t>
            </a:r>
            <a:endParaRPr lang="en-US" sz="1200" dirty="0"/>
          </a:p>
        </p:txBody>
      </p:sp>
      <p:sp>
        <p:nvSpPr>
          <p:cNvPr id="35" name="Shape 33"/>
          <p:cNvSpPr/>
          <p:nvPr/>
        </p:nvSpPr>
        <p:spPr>
          <a:xfrm>
            <a:off x="566928" y="4041648"/>
            <a:ext cx="7452360" cy="384048"/>
          </a:xfrm>
          <a:prstGeom prst="rect">
            <a:avLst/>
          </a:prstGeom>
          <a:solidFill>
            <a:srgbClr val="F5F4FA"/>
          </a:solidFill>
          <a:ln w="7620">
            <a:solidFill>
              <a:srgbClr val="DBD8E8"/>
            </a:solidFill>
            <a:prstDash val="solid"/>
          </a:ln>
        </p:spPr>
      </p:sp>
      <p:sp>
        <p:nvSpPr>
          <p:cNvPr id="36" name="Text 34"/>
          <p:cNvSpPr/>
          <p:nvPr/>
        </p:nvSpPr>
        <p:spPr>
          <a:xfrm>
            <a:off x="694944" y="4041648"/>
            <a:ext cx="2202561" cy="384048"/>
          </a:xfrm>
          <a:prstGeom prst="rect">
            <a:avLst/>
          </a:prstGeom>
          <a:noFill/>
          <a:ln/>
        </p:spPr>
        <p:txBody>
          <a:bodyPr wrap="square" lIns="0" tIns="0" rIns="0" bIns="0" rtlCol="0" anchor="ctr"/>
          <a:lstStyle/>
          <a:p>
            <a:pPr algn="l" indent="0" marL="0">
              <a:buNone/>
            </a:pPr>
            <a:r>
              <a:rPr lang="en-US" sz="1200" b="1" dirty="0">
                <a:solidFill>
                  <a:srgbClr val="1A1633"/>
                </a:solidFill>
                <a:latin typeface="Calibri" pitchFamily="34" charset="0"/>
                <a:ea typeface="Calibri" pitchFamily="34" charset="-122"/>
                <a:cs typeface="Calibri" pitchFamily="34" charset="-120"/>
              </a:rPr>
              <a:t>Poor concentration</a:t>
            </a:r>
            <a:endParaRPr lang="en-US" sz="1200" dirty="0"/>
          </a:p>
        </p:txBody>
      </p:sp>
      <p:sp>
        <p:nvSpPr>
          <p:cNvPr id="37" name="Text 35"/>
          <p:cNvSpPr/>
          <p:nvPr/>
        </p:nvSpPr>
        <p:spPr>
          <a:xfrm>
            <a:off x="3116961" y="4041648"/>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0.12</a:t>
            </a:r>
            <a:endParaRPr lang="en-US" sz="1200" dirty="0"/>
          </a:p>
        </p:txBody>
      </p:sp>
      <p:sp>
        <p:nvSpPr>
          <p:cNvPr id="38" name="Text 36"/>
          <p:cNvSpPr/>
          <p:nvPr/>
        </p:nvSpPr>
        <p:spPr>
          <a:xfrm>
            <a:off x="4793742" y="4041648"/>
            <a:ext cx="1457325" cy="384048"/>
          </a:xfrm>
          <a:prstGeom prst="rect">
            <a:avLst/>
          </a:prstGeom>
          <a:noFill/>
          <a:ln/>
        </p:spPr>
        <p:txBody>
          <a:bodyPr wrap="square" lIns="0" tIns="0" rIns="0" bIns="0" rtlCol="0" anchor="ctr"/>
          <a:lstStyle/>
          <a:p>
            <a:pPr algn="ctr" indent="0" marL="0">
              <a:buNone/>
            </a:pPr>
            <a:r>
              <a:rPr lang="en-US" sz="1200" dirty="0">
                <a:solidFill>
                  <a:srgbClr val="1A1633"/>
                </a:solidFill>
                <a:latin typeface="Calibri" pitchFamily="34" charset="0"/>
                <a:ea typeface="Calibri" pitchFamily="34" charset="-122"/>
                <a:cs typeface="Calibri" pitchFamily="34" charset="-120"/>
              </a:rPr>
              <a:t>0.34</a:t>
            </a:r>
            <a:endParaRPr lang="en-US" sz="1200" dirty="0"/>
          </a:p>
        </p:txBody>
      </p:sp>
      <p:sp>
        <p:nvSpPr>
          <p:cNvPr id="39" name="Text 37"/>
          <p:cNvSpPr/>
          <p:nvPr/>
        </p:nvSpPr>
        <p:spPr>
          <a:xfrm>
            <a:off x="6470523" y="4041648"/>
            <a:ext cx="1457325" cy="384048"/>
          </a:xfrm>
          <a:prstGeom prst="rect">
            <a:avLst/>
          </a:prstGeom>
          <a:noFill/>
          <a:ln/>
        </p:spPr>
        <p:txBody>
          <a:bodyPr wrap="square" lIns="0" tIns="0" rIns="0" bIns="0" rtlCol="0" anchor="ctr"/>
          <a:lstStyle/>
          <a:p>
            <a:pPr algn="ctr" indent="0" marL="0">
              <a:buNone/>
            </a:pPr>
            <a:r>
              <a:rPr lang="en-US" sz="1200" b="1" dirty="0">
                <a:solidFill>
                  <a:srgbClr val="D9553C"/>
                </a:solidFill>
                <a:latin typeface="Calibri" pitchFamily="34" charset="0"/>
                <a:ea typeface="Calibri" pitchFamily="34" charset="-122"/>
                <a:cs typeface="Calibri" pitchFamily="34" charset="-120"/>
              </a:rPr>
              <a:t>0.80</a:t>
            </a:r>
            <a:endParaRPr lang="en-US" sz="1200" dirty="0"/>
          </a:p>
        </p:txBody>
      </p:sp>
      <p:sp>
        <p:nvSpPr>
          <p:cNvPr id="40" name="Shape 38"/>
          <p:cNvSpPr/>
          <p:nvPr/>
        </p:nvSpPr>
        <p:spPr>
          <a:xfrm>
            <a:off x="8321040" y="1700784"/>
            <a:ext cx="3300984" cy="914400"/>
          </a:xfrm>
          <a:prstGeom prst="roundRect">
            <a:avLst>
              <a:gd name="adj" fmla="val 10000"/>
            </a:avLst>
          </a:prstGeom>
          <a:solidFill>
            <a:srgbClr val="F5F4FA"/>
          </a:solidFill>
          <a:ln w="12700">
            <a:solidFill>
              <a:srgbClr val="DBD8E8"/>
            </a:solidFill>
            <a:prstDash val="solid"/>
          </a:ln>
        </p:spPr>
      </p:sp>
      <p:sp>
        <p:nvSpPr>
          <p:cNvPr id="41" name="Shape 39"/>
          <p:cNvSpPr/>
          <p:nvPr/>
        </p:nvSpPr>
        <p:spPr>
          <a:xfrm>
            <a:off x="8540496" y="1847088"/>
            <a:ext cx="201168" cy="201168"/>
          </a:xfrm>
          <a:prstGeom prst="ellipse">
            <a:avLst/>
          </a:prstGeom>
          <a:solidFill>
            <a:srgbClr val="1F8F82"/>
          </a:solidFill>
          <a:ln w="12700">
            <a:solidFill>
              <a:srgbClr val="1F8F82"/>
            </a:solidFill>
            <a:prstDash val="solid"/>
          </a:ln>
        </p:spPr>
      </p:sp>
      <p:sp>
        <p:nvSpPr>
          <p:cNvPr id="42" name="Text 40"/>
          <p:cNvSpPr/>
          <p:nvPr/>
        </p:nvSpPr>
        <p:spPr>
          <a:xfrm>
            <a:off x="8814816" y="1819656"/>
            <a:ext cx="2560320" cy="256032"/>
          </a:xfrm>
          <a:prstGeom prst="rect">
            <a:avLst/>
          </a:prstGeom>
          <a:noFill/>
          <a:ln/>
        </p:spPr>
        <p:txBody>
          <a:bodyPr wrap="square" lIns="0" tIns="0" rIns="0" bIns="0" rtlCol="0" anchor="ctr"/>
          <a:lstStyle/>
          <a:p>
            <a:pPr indent="0" marL="0">
              <a:buNone/>
            </a:pPr>
            <a:r>
              <a:rPr lang="en-US" sz="1100" b="1" dirty="0">
                <a:solidFill>
                  <a:srgbClr val="1F8F82"/>
                </a:solidFill>
                <a:latin typeface="Calibri" pitchFamily="34" charset="0"/>
                <a:ea typeface="Calibri" pitchFamily="34" charset="-122"/>
                <a:cs typeface="Calibri" pitchFamily="34" charset="-120"/>
              </a:rPr>
              <a:t>Class 1 · 47%</a:t>
            </a:r>
            <a:endParaRPr lang="en-US" sz="1100" dirty="0"/>
          </a:p>
        </p:txBody>
      </p:sp>
      <p:sp>
        <p:nvSpPr>
          <p:cNvPr id="43" name="Text 41"/>
          <p:cNvSpPr/>
          <p:nvPr/>
        </p:nvSpPr>
        <p:spPr>
          <a:xfrm>
            <a:off x="8540496" y="2084832"/>
            <a:ext cx="2880360" cy="256032"/>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Minimal symptoms</a:t>
            </a:r>
            <a:endParaRPr lang="en-US" sz="1250" dirty="0"/>
          </a:p>
        </p:txBody>
      </p:sp>
      <p:sp>
        <p:nvSpPr>
          <p:cNvPr id="44" name="Text 42"/>
          <p:cNvSpPr/>
          <p:nvPr/>
        </p:nvSpPr>
        <p:spPr>
          <a:xfrm>
            <a:off x="8540496" y="2322576"/>
            <a:ext cx="2880360" cy="256032"/>
          </a:xfrm>
          <a:prstGeom prst="rect">
            <a:avLst/>
          </a:prstGeom>
          <a:noFill/>
          <a:ln/>
        </p:spPr>
        <p:txBody>
          <a:bodyPr wrap="square" lIns="0" tIns="0" rIns="0" bIns="0" rtlCol="0" anchor="t"/>
          <a:lstStyle/>
          <a:p>
            <a:pPr indent="0" marL="0">
              <a:lnSpc>
                <a:spcPts val="1300"/>
              </a:lnSpc>
              <a:buNone/>
            </a:pPr>
            <a:r>
              <a:rPr lang="en-US" sz="1000" dirty="0">
                <a:solidFill>
                  <a:srgbClr val="6B6785"/>
                </a:solidFill>
                <a:latin typeface="Calibri" pitchFamily="34" charset="0"/>
                <a:ea typeface="Calibri" pitchFamily="34" charset="-122"/>
                <a:cs typeface="Calibri" pitchFamily="34" charset="-120"/>
              </a:rPr>
              <a:t>Low on every item. The comparison group.</a:t>
            </a:r>
            <a:endParaRPr lang="en-US" sz="1000" dirty="0"/>
          </a:p>
        </p:txBody>
      </p:sp>
      <p:sp>
        <p:nvSpPr>
          <p:cNvPr id="45" name="Shape 43"/>
          <p:cNvSpPr/>
          <p:nvPr/>
        </p:nvSpPr>
        <p:spPr>
          <a:xfrm>
            <a:off x="8321040" y="2706624"/>
            <a:ext cx="3300984" cy="914400"/>
          </a:xfrm>
          <a:prstGeom prst="roundRect">
            <a:avLst>
              <a:gd name="adj" fmla="val 10000"/>
            </a:avLst>
          </a:prstGeom>
          <a:solidFill>
            <a:srgbClr val="F5F4FA"/>
          </a:solidFill>
          <a:ln w="12700">
            <a:solidFill>
              <a:srgbClr val="DBD8E8"/>
            </a:solidFill>
            <a:prstDash val="solid"/>
          </a:ln>
        </p:spPr>
      </p:sp>
      <p:sp>
        <p:nvSpPr>
          <p:cNvPr id="46" name="Shape 44"/>
          <p:cNvSpPr/>
          <p:nvPr/>
        </p:nvSpPr>
        <p:spPr>
          <a:xfrm>
            <a:off x="8540496" y="2852928"/>
            <a:ext cx="201168" cy="201168"/>
          </a:xfrm>
          <a:prstGeom prst="ellipse">
            <a:avLst/>
          </a:prstGeom>
          <a:solidFill>
            <a:srgbClr val="E09B21"/>
          </a:solidFill>
          <a:ln w="12700">
            <a:solidFill>
              <a:srgbClr val="E09B21"/>
            </a:solidFill>
            <a:prstDash val="solid"/>
          </a:ln>
        </p:spPr>
      </p:sp>
      <p:sp>
        <p:nvSpPr>
          <p:cNvPr id="47" name="Text 45"/>
          <p:cNvSpPr/>
          <p:nvPr/>
        </p:nvSpPr>
        <p:spPr>
          <a:xfrm>
            <a:off x="8814816" y="2825496"/>
            <a:ext cx="2560320" cy="256032"/>
          </a:xfrm>
          <a:prstGeom prst="rect">
            <a:avLst/>
          </a:prstGeom>
          <a:noFill/>
          <a:ln/>
        </p:spPr>
        <p:txBody>
          <a:bodyPr wrap="square" lIns="0" tIns="0" rIns="0" bIns="0" rtlCol="0" anchor="ctr"/>
          <a:lstStyle/>
          <a:p>
            <a:pPr indent="0" marL="0">
              <a:buNone/>
            </a:pPr>
            <a:r>
              <a:rPr lang="en-US" sz="1100" b="1" dirty="0">
                <a:solidFill>
                  <a:srgbClr val="E09B21"/>
                </a:solidFill>
                <a:latin typeface="Calibri" pitchFamily="34" charset="0"/>
                <a:ea typeface="Calibri" pitchFamily="34" charset="-122"/>
                <a:cs typeface="Calibri" pitchFamily="34" charset="-120"/>
              </a:rPr>
              <a:t>Class 2 · 32%</a:t>
            </a:r>
            <a:endParaRPr lang="en-US" sz="1100" dirty="0"/>
          </a:p>
        </p:txBody>
      </p:sp>
      <p:sp>
        <p:nvSpPr>
          <p:cNvPr id="48" name="Text 46"/>
          <p:cNvSpPr/>
          <p:nvPr/>
        </p:nvSpPr>
        <p:spPr>
          <a:xfrm>
            <a:off x="8540496" y="3090672"/>
            <a:ext cx="2880360" cy="256032"/>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Somatic / sleep–fatigue</a:t>
            </a:r>
            <a:endParaRPr lang="en-US" sz="1250" dirty="0"/>
          </a:p>
        </p:txBody>
      </p:sp>
      <p:sp>
        <p:nvSpPr>
          <p:cNvPr id="49" name="Text 47"/>
          <p:cNvSpPr/>
          <p:nvPr/>
        </p:nvSpPr>
        <p:spPr>
          <a:xfrm>
            <a:off x="8540496" y="3328416"/>
            <a:ext cx="2880360" cy="256032"/>
          </a:xfrm>
          <a:prstGeom prst="rect">
            <a:avLst/>
          </a:prstGeom>
          <a:noFill/>
          <a:ln/>
        </p:spPr>
        <p:txBody>
          <a:bodyPr wrap="square" lIns="0" tIns="0" rIns="0" bIns="0" rtlCol="0" anchor="t"/>
          <a:lstStyle/>
          <a:p>
            <a:pPr indent="0" marL="0">
              <a:lnSpc>
                <a:spcPts val="1300"/>
              </a:lnSpc>
              <a:buNone/>
            </a:pPr>
            <a:r>
              <a:rPr lang="en-US" sz="1000" dirty="0">
                <a:solidFill>
                  <a:srgbClr val="6B6785"/>
                </a:solidFill>
                <a:latin typeface="Calibri" pitchFamily="34" charset="0"/>
                <a:ea typeface="Calibri" pitchFamily="34" charset="-122"/>
                <a:cs typeface="Calibri" pitchFamily="34" charset="-120"/>
              </a:rPr>
              <a:t>Sleep and fatigue high, mood items low.</a:t>
            </a:r>
            <a:endParaRPr lang="en-US" sz="1000" dirty="0"/>
          </a:p>
        </p:txBody>
      </p:sp>
      <p:sp>
        <p:nvSpPr>
          <p:cNvPr id="50" name="Shape 48"/>
          <p:cNvSpPr/>
          <p:nvPr/>
        </p:nvSpPr>
        <p:spPr>
          <a:xfrm>
            <a:off x="8321040" y="3712464"/>
            <a:ext cx="3300984" cy="914400"/>
          </a:xfrm>
          <a:prstGeom prst="roundRect">
            <a:avLst>
              <a:gd name="adj" fmla="val 10000"/>
            </a:avLst>
          </a:prstGeom>
          <a:solidFill>
            <a:srgbClr val="F5F4FA"/>
          </a:solidFill>
          <a:ln w="12700">
            <a:solidFill>
              <a:srgbClr val="DBD8E8"/>
            </a:solidFill>
            <a:prstDash val="solid"/>
          </a:ln>
        </p:spPr>
      </p:sp>
      <p:sp>
        <p:nvSpPr>
          <p:cNvPr id="51" name="Shape 49"/>
          <p:cNvSpPr/>
          <p:nvPr/>
        </p:nvSpPr>
        <p:spPr>
          <a:xfrm>
            <a:off x="8540496" y="3858768"/>
            <a:ext cx="201168" cy="201168"/>
          </a:xfrm>
          <a:prstGeom prst="ellipse">
            <a:avLst/>
          </a:prstGeom>
          <a:solidFill>
            <a:srgbClr val="D9553C"/>
          </a:solidFill>
          <a:ln w="12700">
            <a:solidFill>
              <a:srgbClr val="D9553C"/>
            </a:solidFill>
            <a:prstDash val="solid"/>
          </a:ln>
        </p:spPr>
      </p:sp>
      <p:sp>
        <p:nvSpPr>
          <p:cNvPr id="52" name="Text 50"/>
          <p:cNvSpPr/>
          <p:nvPr/>
        </p:nvSpPr>
        <p:spPr>
          <a:xfrm>
            <a:off x="8814816" y="3831336"/>
            <a:ext cx="2560320" cy="256032"/>
          </a:xfrm>
          <a:prstGeom prst="rect">
            <a:avLst/>
          </a:prstGeom>
          <a:noFill/>
          <a:ln/>
        </p:spPr>
        <p:txBody>
          <a:bodyPr wrap="square" lIns="0" tIns="0" rIns="0" bIns="0" rtlCol="0" anchor="ctr"/>
          <a:lstStyle/>
          <a:p>
            <a:pPr indent="0" marL="0">
              <a:buNone/>
            </a:pPr>
            <a:r>
              <a:rPr lang="en-US" sz="1100" b="1" dirty="0">
                <a:solidFill>
                  <a:srgbClr val="D9553C"/>
                </a:solidFill>
                <a:latin typeface="Calibri" pitchFamily="34" charset="0"/>
                <a:ea typeface="Calibri" pitchFamily="34" charset="-122"/>
                <a:cs typeface="Calibri" pitchFamily="34" charset="-120"/>
              </a:rPr>
              <a:t>Class 3 · 21%</a:t>
            </a:r>
            <a:endParaRPr lang="en-US" sz="1100" dirty="0"/>
          </a:p>
        </p:txBody>
      </p:sp>
      <p:sp>
        <p:nvSpPr>
          <p:cNvPr id="53" name="Text 51"/>
          <p:cNvSpPr/>
          <p:nvPr/>
        </p:nvSpPr>
        <p:spPr>
          <a:xfrm>
            <a:off x="8540496" y="4096512"/>
            <a:ext cx="2880360" cy="256032"/>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Pervasive symptoms</a:t>
            </a:r>
            <a:endParaRPr lang="en-US" sz="1250" dirty="0"/>
          </a:p>
        </p:txBody>
      </p:sp>
      <p:sp>
        <p:nvSpPr>
          <p:cNvPr id="54" name="Text 52"/>
          <p:cNvSpPr/>
          <p:nvPr/>
        </p:nvSpPr>
        <p:spPr>
          <a:xfrm>
            <a:off x="8540496" y="4334256"/>
            <a:ext cx="2880360" cy="256032"/>
          </a:xfrm>
          <a:prstGeom prst="rect">
            <a:avLst/>
          </a:prstGeom>
          <a:noFill/>
          <a:ln/>
        </p:spPr>
        <p:txBody>
          <a:bodyPr wrap="square" lIns="0" tIns="0" rIns="0" bIns="0" rtlCol="0" anchor="t"/>
          <a:lstStyle/>
          <a:p>
            <a:pPr indent="0" marL="0">
              <a:lnSpc>
                <a:spcPts val="1300"/>
              </a:lnSpc>
              <a:buNone/>
            </a:pPr>
            <a:r>
              <a:rPr lang="en-US" sz="1000" dirty="0">
                <a:solidFill>
                  <a:srgbClr val="6B6785"/>
                </a:solidFill>
                <a:latin typeface="Calibri" pitchFamily="34" charset="0"/>
                <a:ea typeface="Calibri" pitchFamily="34" charset="-122"/>
                <a:cs typeface="Calibri" pitchFamily="34" charset="-120"/>
              </a:rPr>
              <a:t>High on every item, mood and somatic.</a:t>
            </a:r>
            <a:endParaRPr lang="en-US" sz="1000" dirty="0"/>
          </a:p>
        </p:txBody>
      </p:sp>
      <p:sp>
        <p:nvSpPr>
          <p:cNvPr id="55" name="Text 53"/>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9E9AB4"/>
                </a:solidFill>
                <a:latin typeface="Calibri" pitchFamily="34" charset="0"/>
                <a:ea typeface="Calibri" pitchFamily="34" charset="-122"/>
                <a:cs typeface="Calibri" pitchFamily="34" charset="-120"/>
              </a:rPr>
              <a:t>Figures are the 3-class solution from practical/lca_lpa_practical.R. Your own run reproduces them exactly; a different seed will move the second decimal.</a:t>
            </a:r>
            <a:endParaRPr lang="en-US" sz="950" dirty="0"/>
          </a:p>
        </p:txBody>
      </p:sp>
      <p:sp>
        <p:nvSpPr>
          <p:cNvPr id="56" name="Shape 54"/>
          <p:cNvSpPr/>
          <p:nvPr/>
        </p:nvSpPr>
        <p:spPr>
          <a:xfrm>
            <a:off x="566928" y="4846320"/>
            <a:ext cx="11055096" cy="1143000"/>
          </a:xfrm>
          <a:prstGeom prst="roundRect">
            <a:avLst>
              <a:gd name="adj" fmla="val 8000"/>
            </a:avLst>
          </a:prstGeom>
          <a:solidFill>
            <a:srgbClr val="2A2356"/>
          </a:solidFill>
          <a:ln w="9525">
            <a:solidFill>
              <a:srgbClr val="2A2356"/>
            </a:solidFill>
            <a:prstDash val="solid"/>
          </a:ln>
        </p:spPr>
      </p:sp>
      <p:sp>
        <p:nvSpPr>
          <p:cNvPr id="57" name="Text 55"/>
          <p:cNvSpPr/>
          <p:nvPr/>
        </p:nvSpPr>
        <p:spPr>
          <a:xfrm>
            <a:off x="950976" y="4846320"/>
            <a:ext cx="10287000" cy="1143000"/>
          </a:xfrm>
          <a:prstGeom prst="rect">
            <a:avLst/>
          </a:prstGeom>
          <a:noFill/>
          <a:ln/>
        </p:spPr>
        <p:txBody>
          <a:bodyPr wrap="square" lIns="0" tIns="0" rIns="0" bIns="0" rtlCol="0" anchor="ctr"/>
          <a:lstStyle/>
          <a:p>
            <a:pPr indent="0" marL="0">
              <a:lnSpc>
                <a:spcPts val="1900"/>
              </a:lnSpc>
              <a:buNone/>
            </a:pPr>
            <a:r>
              <a:rPr lang="en-US" sz="1300" b="1" dirty="0">
                <a:solidFill>
                  <a:srgbClr val="E09B21"/>
                </a:solidFill>
                <a:latin typeface="Calibri" pitchFamily="34" charset="0"/>
                <a:ea typeface="Calibri" pitchFamily="34" charset="-122"/>
                <a:cs typeface="Calibri" pitchFamily="34" charset="-120"/>
              </a:rPr>
              <a:t>This is the finding that a severity score would have destroyed.  </a:t>
            </a:r>
            <a:pPr indent="0" marL="0">
              <a:lnSpc>
                <a:spcPts val="1900"/>
              </a:lnSpc>
              <a:buNone/>
            </a:pPr>
            <a:r>
              <a:rPr lang="en-US" sz="1300" dirty="0">
                <a:solidFill>
                  <a:srgbClr val="FFFFFF"/>
                </a:solidFill>
                <a:latin typeface="Calibri" pitchFamily="34" charset="0"/>
                <a:ea typeface="Calibri" pitchFamily="34" charset="-122"/>
                <a:cs typeface="Calibri" pitchFamily="34" charset="-120"/>
              </a:rPr>
              <a:t>Classes 2 and 3 both look “symptomatic” on a total score. Only the class solution shows that one group has somatic symptoms without low mood — a different pattern, plausibly with a different cause and a different treatment.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PRACTICAL · TIDYLPA</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Hands-on B — the same idea, continuous data</a:t>
            </a:r>
            <a:endParaRPr lang="en-US" sz="2900" dirty="0"/>
          </a:p>
        </p:txBody>
      </p:sp>
      <p:sp>
        <p:nvSpPr>
          <p:cNvPr id="4" name="Shape 2"/>
          <p:cNvSpPr/>
          <p:nvPr/>
        </p:nvSpPr>
        <p:spPr>
          <a:xfrm>
            <a:off x="566928" y="1298448"/>
            <a:ext cx="6903720" cy="4224528"/>
          </a:xfrm>
          <a:prstGeom prst="roundRect">
            <a:avLst>
              <a:gd name="adj" fmla="val 2165"/>
            </a:avLst>
          </a:prstGeom>
          <a:solidFill>
            <a:srgbClr val="221D48"/>
          </a:solidFill>
          <a:ln w="9525">
            <a:solidFill>
              <a:srgbClr val="221D48"/>
            </a:solidFill>
            <a:prstDash val="solid"/>
          </a:ln>
        </p:spPr>
      </p:sp>
      <p:sp>
        <p:nvSpPr>
          <p:cNvPr id="5" name="Text 3"/>
          <p:cNvSpPr/>
          <p:nvPr/>
        </p:nvSpPr>
        <p:spPr>
          <a:xfrm>
            <a:off x="786384" y="1463040"/>
            <a:ext cx="6464808" cy="3895344"/>
          </a:xfrm>
          <a:prstGeom prst="rect">
            <a:avLst/>
          </a:prstGeom>
          <a:noFill/>
          <a:ln/>
        </p:spPr>
        <p:txBody>
          <a:bodyPr wrap="square" lIns="0" tIns="0" rIns="0" bIns="0" rtlCol="0" anchor="t"/>
          <a:lstStyle/>
          <a:p>
            <a:pPr indent="0" marL="0">
              <a:lnSpc>
                <a:spcPts val="1650"/>
              </a:lnSpc>
              <a:buNone/>
            </a:pPr>
            <a:r>
              <a:rPr lang="en-US" sz="1150" dirty="0">
                <a:solidFill>
                  <a:srgbClr val="8B86AD"/>
                </a:solidFill>
                <a:latin typeface="Courier New" pitchFamily="34" charset="0"/>
                <a:ea typeface="Courier New" pitchFamily="34" charset="-122"/>
                <a:cs typeface="Courier New" pitchFamily="34" charset="-120"/>
              </a:rPr>
              <a:t># ---- LPA on the four scale scores ------------------</a:t>
            </a:r>
            <a:endParaRPr lang="en-US" sz="1150" dirty="0"/>
          </a:p>
          <a:p>
            <a:pPr indent="0" marL="0">
              <a:lnSpc>
                <a:spcPts val="1650"/>
              </a:lnSpc>
              <a:buNone/>
            </a:pPr>
            <a:r>
              <a:rPr lang="en-US" sz="1150" dirty="0">
                <a:solidFill>
                  <a:srgbClr val="F2A65A"/>
                </a:solidFill>
                <a:latin typeface="Courier New" pitchFamily="34" charset="0"/>
                <a:ea typeface="Courier New" pitchFamily="34" charset="-122"/>
                <a:cs typeface="Courier New" pitchFamily="34" charset="-120"/>
              </a:rPr>
              <a:t>library</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(tidyLPA); </a:t>
            </a:r>
            <a:pPr indent="0" marL="0">
              <a:lnSpc>
                <a:spcPts val="1650"/>
              </a:lnSpc>
              <a:buNone/>
            </a:pPr>
            <a:r>
              <a:rPr lang="en-US" sz="1150" dirty="0">
                <a:solidFill>
                  <a:srgbClr val="F2A65A"/>
                </a:solidFill>
                <a:latin typeface="Courier New" pitchFamily="34" charset="0"/>
                <a:ea typeface="Courier New" pitchFamily="34" charset="-122"/>
                <a:cs typeface="Courier New" pitchFamily="34" charset="-120"/>
              </a:rPr>
              <a:t>library</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(dplyr)</a:t>
            </a:r>
            <a:endParaRPr lang="en-US" sz="1150" dirty="0"/>
          </a:p>
          <a:p>
            <a:pPr indent="0" marL="0">
              <a:lnSpc>
                <a:spcPts val="1650"/>
              </a:lnSpc>
              <a:buNone/>
            </a:pPr>
            <a:endParaRPr lang="en-US" sz="1150" dirty="0"/>
          </a:p>
          <a:p>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scales &lt;- </a:t>
            </a:r>
            <a:pPr indent="0" marL="0">
              <a:lnSpc>
                <a:spcPts val="1650"/>
              </a:lnSpc>
              <a:buNone/>
            </a:pPr>
            <a:r>
              <a:rPr lang="en-US" sz="1150" dirty="0">
                <a:solidFill>
                  <a:srgbClr val="E0A3C4"/>
                </a:solidFill>
                <a:latin typeface="Courier New" pitchFamily="34" charset="0"/>
                <a:ea typeface="Courier New" pitchFamily="34" charset="-122"/>
                <a:cs typeface="Courier New" pitchFamily="34" charset="-120"/>
              </a:rPr>
              <a:t>c("phq9","gad7","sleep_quality",</a:t>
            </a:r>
            <a:endParaRPr lang="en-US" sz="1150" dirty="0"/>
          </a:p>
          <a:p>
            <a:pPr indent="0" marL="0">
              <a:lnSpc>
                <a:spcPts val="1650"/>
              </a:lnSpc>
              <a:buNone/>
            </a:pPr>
            <a:r>
              <a:rPr lang="en-US" sz="1150" dirty="0">
                <a:solidFill>
                  <a:srgbClr val="E0A3C4"/>
                </a:solidFill>
                <a:latin typeface="Courier New" pitchFamily="34" charset="0"/>
                <a:ea typeface="Courier New" pitchFamily="34" charset="-122"/>
                <a:cs typeface="Courier New" pitchFamily="34" charset="-120"/>
              </a:rPr>
              <a:t>            "academic_stress")</a:t>
            </a:r>
            <a:endParaRPr lang="en-US" sz="1150" dirty="0"/>
          </a:p>
          <a:p>
            <a:pPr indent="0" marL="0">
              <a:lnSpc>
                <a:spcPts val="1650"/>
              </a:lnSpc>
              <a:buNone/>
            </a:pPr>
            <a:endParaRPr lang="en-US" sz="1150" dirty="0"/>
          </a:p>
          <a:p>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lpa &lt;- d %&gt;%</a:t>
            </a:r>
            <a:endParaRPr lang="en-US" sz="1150" dirty="0"/>
          </a:p>
          <a:p>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a:t>
            </a:r>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select</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a:t>
            </a:r>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all_of</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(scales)) %&gt;%</a:t>
            </a:r>
            <a:endParaRPr lang="en-US" sz="1150" dirty="0"/>
          </a:p>
          <a:p>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a:t>
            </a:r>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scale</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%&gt;% </a:t>
            </a:r>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as.data.frame</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%&gt;%     </a:t>
            </a:r>
            <a:pPr indent="0" marL="0">
              <a:lnSpc>
                <a:spcPts val="1650"/>
              </a:lnSpc>
              <a:buNone/>
            </a:pPr>
            <a:r>
              <a:rPr lang="en-US" sz="1150" dirty="0">
                <a:solidFill>
                  <a:srgbClr val="8B86AD"/>
                </a:solidFill>
                <a:latin typeface="Courier New" pitchFamily="34" charset="0"/>
                <a:ea typeface="Courier New" pitchFamily="34" charset="-122"/>
                <a:cs typeface="Courier New" pitchFamily="34" charset="-120"/>
              </a:rPr>
              <a:t># z-scores</a:t>
            </a:r>
            <a:endParaRPr lang="en-US" sz="1150" dirty="0"/>
          </a:p>
          <a:p>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a:t>
            </a:r>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estimate_profiles</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a:t>
            </a:r>
            <a:pPr indent="0" marL="0">
              <a:lnSpc>
                <a:spcPts val="1650"/>
              </a:lnSpc>
              <a:buNone/>
            </a:pPr>
            <a:r>
              <a:rPr lang="en-US" sz="1150" dirty="0">
                <a:solidFill>
                  <a:srgbClr val="F2A65A"/>
                </a:solidFill>
                <a:latin typeface="Courier New" pitchFamily="34" charset="0"/>
                <a:ea typeface="Courier New" pitchFamily="34" charset="-122"/>
                <a:cs typeface="Courier New" pitchFamily="34" charset="-120"/>
              </a:rPr>
              <a:t>1:5</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a:t>
            </a:r>
            <a:endParaRPr lang="en-US" sz="1150" dirty="0"/>
          </a:p>
          <a:p>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variances = </a:t>
            </a:r>
            <a:pPr indent="0" marL="0">
              <a:lnSpc>
                <a:spcPts val="1650"/>
              </a:lnSpc>
              <a:buNone/>
            </a:pPr>
            <a:r>
              <a:rPr lang="en-US" sz="1150" dirty="0">
                <a:solidFill>
                  <a:srgbClr val="E0A3C4"/>
                </a:solidFill>
                <a:latin typeface="Courier New" pitchFamily="34" charset="0"/>
                <a:ea typeface="Courier New" pitchFamily="34" charset="-122"/>
                <a:cs typeface="Courier New" pitchFamily="34" charset="-120"/>
              </a:rPr>
              <a:t>"equal"</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covariances = </a:t>
            </a:r>
            <a:pPr indent="0" marL="0">
              <a:lnSpc>
                <a:spcPts val="1650"/>
              </a:lnSpc>
              <a:buNone/>
            </a:pPr>
            <a:r>
              <a:rPr lang="en-US" sz="1150" dirty="0">
                <a:solidFill>
                  <a:srgbClr val="E0A3C4"/>
                </a:solidFill>
                <a:latin typeface="Courier New" pitchFamily="34" charset="0"/>
                <a:ea typeface="Courier New" pitchFamily="34" charset="-122"/>
                <a:cs typeface="Courier New" pitchFamily="34" charset="-120"/>
              </a:rPr>
              <a:t>"zero"</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a:t>
            </a:r>
            <a:endParaRPr lang="en-US" sz="1150" dirty="0"/>
          </a:p>
          <a:p>
            <a:pPr indent="0" marL="0">
              <a:lnSpc>
                <a:spcPts val="1650"/>
              </a:lnSpc>
              <a:buNone/>
            </a:pPr>
            <a:endParaRPr lang="en-US" sz="1150" dirty="0"/>
          </a:p>
          <a:p>
            <a:pPr indent="0" marL="0">
              <a:lnSpc>
                <a:spcPts val="1650"/>
              </a:lnSpc>
              <a:buNone/>
            </a:pPr>
            <a:r>
              <a:rPr lang="en-US" sz="1150" dirty="0">
                <a:solidFill>
                  <a:srgbClr val="8B86AD"/>
                </a:solidFill>
                <a:latin typeface="Courier New" pitchFamily="34" charset="0"/>
                <a:ea typeface="Courier New" pitchFamily="34" charset="-122"/>
                <a:cs typeface="Courier New" pitchFamily="34" charset="-120"/>
              </a:rPr>
              <a:t># ---- compare solutions -----------------------------</a:t>
            </a:r>
            <a:endParaRPr lang="en-US" sz="1150" dirty="0"/>
          </a:p>
          <a:p>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compare_solutions</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(lpa, statistics = </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c(</a:t>
            </a:r>
            <a:pPr indent="0" marL="0">
              <a:lnSpc>
                <a:spcPts val="1650"/>
              </a:lnSpc>
              <a:buNone/>
            </a:pPr>
            <a:r>
              <a:rPr lang="en-US" sz="1150" dirty="0">
                <a:solidFill>
                  <a:srgbClr val="E0A3C4"/>
                </a:solidFill>
                <a:latin typeface="Courier New" pitchFamily="34" charset="0"/>
                <a:ea typeface="Courier New" pitchFamily="34" charset="-122"/>
                <a:cs typeface="Courier New" pitchFamily="34" charset="-120"/>
              </a:rPr>
              <a:t>"AIC"</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a:t>
            </a:r>
            <a:pPr indent="0" marL="0">
              <a:lnSpc>
                <a:spcPts val="1650"/>
              </a:lnSpc>
              <a:buNone/>
            </a:pPr>
            <a:r>
              <a:rPr lang="en-US" sz="1150" dirty="0">
                <a:solidFill>
                  <a:srgbClr val="E0A3C4"/>
                </a:solidFill>
                <a:latin typeface="Courier New" pitchFamily="34" charset="0"/>
                <a:ea typeface="Courier New" pitchFamily="34" charset="-122"/>
                <a:cs typeface="Courier New" pitchFamily="34" charset="-120"/>
              </a:rPr>
              <a:t>"BIC"</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a:t>
            </a:r>
            <a:pPr indent="0" marL="0">
              <a:lnSpc>
                <a:spcPts val="1650"/>
              </a:lnSpc>
              <a:buNone/>
            </a:pPr>
            <a:r>
              <a:rPr lang="en-US" sz="1150" dirty="0">
                <a:solidFill>
                  <a:srgbClr val="E0A3C4"/>
                </a:solidFill>
                <a:latin typeface="Courier New" pitchFamily="34" charset="0"/>
                <a:ea typeface="Courier New" pitchFamily="34" charset="-122"/>
                <a:cs typeface="Courier New" pitchFamily="34" charset="-120"/>
              </a:rPr>
              <a:t>"Entropy"</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a:t>
            </a:r>
            <a:endParaRPr lang="en-US" sz="1150" dirty="0"/>
          </a:p>
          <a:p>
            <a:pPr indent="0" marL="0">
              <a:lnSpc>
                <a:spcPts val="1650"/>
              </a:lnSpc>
              <a:buNone/>
            </a:pPr>
            <a:endParaRPr lang="en-US" sz="1150" dirty="0"/>
          </a:p>
          <a:p>
            <a:pPr indent="0" marL="0">
              <a:lnSpc>
                <a:spcPts val="1650"/>
              </a:lnSpc>
              <a:buNone/>
            </a:pPr>
            <a:r>
              <a:rPr lang="en-US" sz="1150" dirty="0">
                <a:solidFill>
                  <a:srgbClr val="8B86AD"/>
                </a:solidFill>
                <a:latin typeface="Courier New" pitchFamily="34" charset="0"/>
                <a:ea typeface="Courier New" pitchFamily="34" charset="-122"/>
                <a:cs typeface="Courier New" pitchFamily="34" charset="-120"/>
              </a:rPr>
              <a:t># ---- inspect the chosen solution -------------------</a:t>
            </a:r>
            <a:endParaRPr lang="en-US" sz="1150" dirty="0"/>
          </a:p>
          <a:p>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get_estimates</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(lpa[[</a:t>
            </a:r>
            <a:pPr indent="0" marL="0">
              <a:lnSpc>
                <a:spcPts val="1650"/>
              </a:lnSpc>
              <a:buNone/>
            </a:pPr>
            <a:r>
              <a:rPr lang="en-US" sz="1150" dirty="0">
                <a:solidFill>
                  <a:srgbClr val="F2A65A"/>
                </a:solidFill>
                <a:latin typeface="Courier New" pitchFamily="34" charset="0"/>
                <a:ea typeface="Courier New" pitchFamily="34" charset="-122"/>
                <a:cs typeface="Courier New" pitchFamily="34" charset="-120"/>
              </a:rPr>
              <a:t>3</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a:t>
            </a:r>
            <a:pPr indent="0" marL="0">
              <a:lnSpc>
                <a:spcPts val="1650"/>
              </a:lnSpc>
              <a:buNone/>
            </a:pPr>
            <a:r>
              <a:rPr lang="en-US" sz="1150" dirty="0">
                <a:solidFill>
                  <a:srgbClr val="8B86AD"/>
                </a:solidFill>
                <a:latin typeface="Courier New" pitchFamily="34" charset="0"/>
                <a:ea typeface="Courier New" pitchFamily="34" charset="-122"/>
                <a:cs typeface="Courier New" pitchFamily="34" charset="-120"/>
              </a:rPr>
              <a:t># profile means</a:t>
            </a:r>
            <a:endParaRPr lang="en-US" sz="1150" dirty="0"/>
          </a:p>
          <a:p>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get_data</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(lpa[[</a:t>
            </a:r>
            <a:pPr indent="0" marL="0">
              <a:lnSpc>
                <a:spcPts val="1650"/>
              </a:lnSpc>
              <a:buNone/>
            </a:pPr>
            <a:r>
              <a:rPr lang="en-US" sz="1150" dirty="0">
                <a:solidFill>
                  <a:srgbClr val="F2A65A"/>
                </a:solidFill>
                <a:latin typeface="Courier New" pitchFamily="34" charset="0"/>
                <a:ea typeface="Courier New" pitchFamily="34" charset="-122"/>
                <a:cs typeface="Courier New" pitchFamily="34" charset="-120"/>
              </a:rPr>
              <a:t>3</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a:t>
            </a:r>
            <a:pPr indent="0" marL="0">
              <a:lnSpc>
                <a:spcPts val="1650"/>
              </a:lnSpc>
              <a:buNone/>
            </a:pPr>
            <a:r>
              <a:rPr lang="en-US" sz="1150" dirty="0">
                <a:solidFill>
                  <a:srgbClr val="8B86AD"/>
                </a:solidFill>
                <a:latin typeface="Courier New" pitchFamily="34" charset="0"/>
                <a:ea typeface="Courier New" pitchFamily="34" charset="-122"/>
                <a:cs typeface="Courier New" pitchFamily="34" charset="-120"/>
              </a:rPr>
              <a:t># class + probabilities</a:t>
            </a:r>
            <a:endParaRPr lang="en-US" sz="1150" dirty="0"/>
          </a:p>
          <a:p>
            <a:pPr indent="0" marL="0">
              <a:lnSpc>
                <a:spcPts val="1650"/>
              </a:lnSpc>
              <a:buNone/>
            </a:pPr>
            <a:r>
              <a:rPr lang="en-US" sz="1150" dirty="0">
                <a:solidFill>
                  <a:srgbClr val="6FD3C7"/>
                </a:solidFill>
                <a:latin typeface="Courier New" pitchFamily="34" charset="0"/>
                <a:ea typeface="Courier New" pitchFamily="34" charset="-122"/>
                <a:cs typeface="Courier New" pitchFamily="34" charset="-120"/>
              </a:rPr>
              <a:t>plot_profiles</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(lpa[[</a:t>
            </a:r>
            <a:pPr indent="0" marL="0">
              <a:lnSpc>
                <a:spcPts val="1650"/>
              </a:lnSpc>
              <a:buNone/>
            </a:pPr>
            <a:r>
              <a:rPr lang="en-US" sz="1150" dirty="0">
                <a:solidFill>
                  <a:srgbClr val="F2A65A"/>
                </a:solidFill>
                <a:latin typeface="Courier New" pitchFamily="34" charset="0"/>
                <a:ea typeface="Courier New" pitchFamily="34" charset="-122"/>
                <a:cs typeface="Courier New" pitchFamily="34" charset="-120"/>
              </a:rPr>
              <a:t>3</a:t>
            </a:r>
            <a:pPr indent="0" marL="0">
              <a:lnSpc>
                <a:spcPts val="1650"/>
              </a:lnSpc>
              <a:buNone/>
            </a:pPr>
            <a:r>
              <a:rPr lang="en-US" sz="1150" dirty="0">
                <a:solidFill>
                  <a:srgbClr val="E8E6F5"/>
                </a:solidFill>
                <a:latin typeface="Courier New" pitchFamily="34" charset="0"/>
                <a:ea typeface="Courier New" pitchFamily="34" charset="-122"/>
                <a:cs typeface="Courier New" pitchFamily="34" charset="-120"/>
              </a:rPr>
              <a:t>]])   </a:t>
            </a:r>
            <a:pPr indent="0" marL="0">
              <a:lnSpc>
                <a:spcPts val="1650"/>
              </a:lnSpc>
              <a:buNone/>
            </a:pPr>
            <a:r>
              <a:rPr lang="en-US" sz="1150" dirty="0">
                <a:solidFill>
                  <a:srgbClr val="8B86AD"/>
                </a:solidFill>
                <a:latin typeface="Courier New" pitchFamily="34" charset="0"/>
                <a:ea typeface="Courier New" pitchFamily="34" charset="-122"/>
                <a:cs typeface="Courier New" pitchFamily="34" charset="-120"/>
              </a:rPr>
              <a:t># the profile plot</a:t>
            </a:r>
            <a:endParaRPr lang="en-US" sz="1150" dirty="0"/>
          </a:p>
        </p:txBody>
      </p:sp>
      <p:sp>
        <p:nvSpPr>
          <p:cNvPr id="6" name="Shape 4"/>
          <p:cNvSpPr/>
          <p:nvPr/>
        </p:nvSpPr>
        <p:spPr>
          <a:xfrm>
            <a:off x="7699248" y="1298448"/>
            <a:ext cx="3922776" cy="2212848"/>
          </a:xfrm>
          <a:prstGeom prst="roundRect">
            <a:avLst>
              <a:gd name="adj" fmla="val 4132"/>
            </a:avLst>
          </a:prstGeom>
          <a:solidFill>
            <a:srgbClr val="EDF6F4"/>
          </a:solidFill>
          <a:ln w="12700">
            <a:solidFill>
              <a:srgbClr val="C7E3DE"/>
            </a:solidFill>
            <a:prstDash val="solid"/>
          </a:ln>
        </p:spPr>
      </p:sp>
      <p:sp>
        <p:nvSpPr>
          <p:cNvPr id="7" name="Text 5"/>
          <p:cNvSpPr/>
          <p:nvPr/>
        </p:nvSpPr>
        <p:spPr>
          <a:xfrm>
            <a:off x="7936992" y="1463040"/>
            <a:ext cx="3474720" cy="512064"/>
          </a:xfrm>
          <a:prstGeom prst="rect">
            <a:avLst/>
          </a:prstGeom>
          <a:noFill/>
          <a:ln/>
        </p:spPr>
        <p:txBody>
          <a:bodyPr wrap="square" lIns="0" tIns="0" rIns="0" bIns="0" rtlCol="0" anchor="t"/>
          <a:lstStyle/>
          <a:p>
            <a:pPr indent="0" marL="0">
              <a:buNone/>
            </a:pPr>
            <a:r>
              <a:rPr lang="en-US" sz="1500" b="1" dirty="0">
                <a:solidFill>
                  <a:srgbClr val="1A1633"/>
                </a:solidFill>
                <a:latin typeface="Cambria" pitchFamily="34" charset="0"/>
                <a:ea typeface="Cambria" pitchFamily="34" charset="-122"/>
                <a:cs typeface="Cambria" pitchFamily="34" charset="-120"/>
              </a:rPr>
              <a:t>The one extra decision LPA makes you take</a:t>
            </a:r>
            <a:endParaRPr lang="en-US" sz="1500" dirty="0"/>
          </a:p>
        </p:txBody>
      </p:sp>
      <p:sp>
        <p:nvSpPr>
          <p:cNvPr id="8" name="Text 6"/>
          <p:cNvSpPr/>
          <p:nvPr/>
        </p:nvSpPr>
        <p:spPr>
          <a:xfrm>
            <a:off x="7936992" y="2029968"/>
            <a:ext cx="3474720" cy="868680"/>
          </a:xfrm>
          <a:prstGeom prst="rect">
            <a:avLst/>
          </a:prstGeom>
          <a:noFill/>
          <a:ln/>
        </p:spPr>
        <p:txBody>
          <a:bodyPr wrap="square" lIns="0" tIns="0" rIns="0" bIns="0" rtlCol="0" anchor="t"/>
          <a:lstStyle/>
          <a:p>
            <a:pPr indent="0" marL="0">
              <a:lnSpc>
                <a:spcPts val="1600"/>
              </a:lnSpc>
              <a:buNone/>
            </a:pPr>
            <a:r>
              <a:rPr lang="en-US" sz="1150" dirty="0">
                <a:solidFill>
                  <a:srgbClr val="6B6785"/>
                </a:solidFill>
                <a:latin typeface="Calibri" pitchFamily="34" charset="0"/>
                <a:ea typeface="Calibri" pitchFamily="34" charset="-122"/>
                <a:cs typeface="Calibri" pitchFamily="34" charset="-120"/>
              </a:rPr>
              <a:t>Because indicators are continuous, each profile has both a mean and a variance. You must say whether variances (and covariances) are held equal across profiles or freed.</a:t>
            </a:r>
            <a:endParaRPr lang="en-US" sz="1150" dirty="0"/>
          </a:p>
        </p:txBody>
      </p:sp>
      <p:sp>
        <p:nvSpPr>
          <p:cNvPr id="9" name="Text 7"/>
          <p:cNvSpPr/>
          <p:nvPr/>
        </p:nvSpPr>
        <p:spPr>
          <a:xfrm>
            <a:off x="7936992" y="2926080"/>
            <a:ext cx="3474720" cy="502920"/>
          </a:xfrm>
          <a:prstGeom prst="rect">
            <a:avLst/>
          </a:prstGeom>
          <a:noFill/>
          <a:ln/>
        </p:spPr>
        <p:txBody>
          <a:bodyPr wrap="square" lIns="0" tIns="0" rIns="0" bIns="0" rtlCol="0" anchor="t"/>
          <a:lstStyle/>
          <a:p>
            <a:pPr indent="0" marL="0">
              <a:lnSpc>
                <a:spcPts val="1500"/>
              </a:lnSpc>
              <a:buNone/>
            </a:pPr>
            <a:r>
              <a:rPr lang="en-US" sz="1100" i="1" dirty="0">
                <a:solidFill>
                  <a:srgbClr val="1F8F82"/>
                </a:solidFill>
                <a:latin typeface="Calibri" pitchFamily="34" charset="0"/>
                <a:ea typeface="Calibri" pitchFamily="34" charset="-122"/>
                <a:cs typeface="Calibri" pitchFamily="34" charset="-120"/>
              </a:rPr>
              <a:t>Start with equal variances / zero covariances — the most constrained model. Free them only if fit clearly improves.</a:t>
            </a:r>
            <a:endParaRPr lang="en-US" sz="1100" dirty="0"/>
          </a:p>
        </p:txBody>
      </p:sp>
      <p:sp>
        <p:nvSpPr>
          <p:cNvPr id="10" name="Shape 8"/>
          <p:cNvSpPr/>
          <p:nvPr/>
        </p:nvSpPr>
        <p:spPr>
          <a:xfrm>
            <a:off x="7699248" y="3712464"/>
            <a:ext cx="3922776" cy="365760"/>
          </a:xfrm>
          <a:prstGeom prst="rect">
            <a:avLst/>
          </a:prstGeom>
          <a:solidFill>
            <a:srgbClr val="2A2356"/>
          </a:solidFill>
          <a:ln w="12700">
            <a:solidFill>
              <a:srgbClr val="2A2356"/>
            </a:solidFill>
            <a:prstDash val="solid"/>
          </a:ln>
        </p:spPr>
      </p:sp>
      <p:sp>
        <p:nvSpPr>
          <p:cNvPr id="11" name="Text 9"/>
          <p:cNvSpPr/>
          <p:nvPr/>
        </p:nvSpPr>
        <p:spPr>
          <a:xfrm>
            <a:off x="7827264" y="3712464"/>
            <a:ext cx="812853"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TIDYLPA MODEL</a:t>
            </a:r>
            <a:endParaRPr lang="en-US" sz="950" dirty="0"/>
          </a:p>
        </p:txBody>
      </p:sp>
      <p:sp>
        <p:nvSpPr>
          <p:cNvPr id="12" name="Text 10"/>
          <p:cNvSpPr/>
          <p:nvPr/>
        </p:nvSpPr>
        <p:spPr>
          <a:xfrm>
            <a:off x="8859573" y="3712464"/>
            <a:ext cx="1225777" cy="36576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VARIANCES</a:t>
            </a:r>
            <a:endParaRPr lang="en-US" sz="950" dirty="0"/>
          </a:p>
        </p:txBody>
      </p:sp>
      <p:sp>
        <p:nvSpPr>
          <p:cNvPr id="13" name="Text 11"/>
          <p:cNvSpPr/>
          <p:nvPr/>
        </p:nvSpPr>
        <p:spPr>
          <a:xfrm>
            <a:off x="10304807" y="3712464"/>
            <a:ext cx="1225777" cy="36576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COVARIANCES</a:t>
            </a:r>
            <a:endParaRPr lang="en-US" sz="950" dirty="0"/>
          </a:p>
        </p:txBody>
      </p:sp>
      <p:sp>
        <p:nvSpPr>
          <p:cNvPr id="14" name="Shape 12"/>
          <p:cNvSpPr/>
          <p:nvPr/>
        </p:nvSpPr>
        <p:spPr>
          <a:xfrm>
            <a:off x="7699248" y="4078224"/>
            <a:ext cx="3922776" cy="347472"/>
          </a:xfrm>
          <a:prstGeom prst="rect">
            <a:avLst/>
          </a:prstGeom>
          <a:solidFill>
            <a:srgbClr val="FFFFFF"/>
          </a:solidFill>
          <a:ln w="7620">
            <a:solidFill>
              <a:srgbClr val="DBD8E8"/>
            </a:solidFill>
            <a:prstDash val="solid"/>
          </a:ln>
        </p:spPr>
      </p:sp>
      <p:sp>
        <p:nvSpPr>
          <p:cNvPr id="15" name="Text 13"/>
          <p:cNvSpPr/>
          <p:nvPr/>
        </p:nvSpPr>
        <p:spPr>
          <a:xfrm>
            <a:off x="7827264" y="4078224"/>
            <a:ext cx="812853" cy="347472"/>
          </a:xfrm>
          <a:prstGeom prst="rect">
            <a:avLst/>
          </a:prstGeom>
          <a:noFill/>
          <a:ln/>
        </p:spPr>
        <p:txBody>
          <a:bodyPr wrap="square" lIns="0" tIns="0" rIns="0" bIns="0" rtlCol="0" anchor="ctr"/>
          <a:lstStyle/>
          <a:p>
            <a:pPr algn="ctr" indent="0" marL="0">
              <a:buNone/>
            </a:pPr>
            <a:r>
              <a:rPr lang="en-US" sz="1050" b="1" dirty="0">
                <a:solidFill>
                  <a:srgbClr val="1A1633"/>
                </a:solidFill>
                <a:latin typeface="Calibri" pitchFamily="34" charset="0"/>
                <a:ea typeface="Calibri" pitchFamily="34" charset="-122"/>
                <a:cs typeface="Calibri" pitchFamily="34" charset="-120"/>
              </a:rPr>
              <a:t>1</a:t>
            </a:r>
            <a:endParaRPr lang="en-US" sz="1050" dirty="0"/>
          </a:p>
        </p:txBody>
      </p:sp>
      <p:sp>
        <p:nvSpPr>
          <p:cNvPr id="16" name="Text 14"/>
          <p:cNvSpPr/>
          <p:nvPr/>
        </p:nvSpPr>
        <p:spPr>
          <a:xfrm>
            <a:off x="8859573" y="4078224"/>
            <a:ext cx="1225777" cy="347472"/>
          </a:xfrm>
          <a:prstGeom prst="rect">
            <a:avLst/>
          </a:prstGeom>
          <a:noFill/>
          <a:ln/>
        </p:spPr>
        <p:txBody>
          <a:bodyPr wrap="square" lIns="0" tIns="0" rIns="0" bIns="0" rtlCol="0" anchor="ctr"/>
          <a:lstStyle/>
          <a:p>
            <a:pPr algn="l" indent="0" marL="0">
              <a:buNone/>
            </a:pPr>
            <a:r>
              <a:rPr lang="en-US" sz="1050" dirty="0">
                <a:solidFill>
                  <a:srgbClr val="1A1633"/>
                </a:solidFill>
                <a:latin typeface="Calibri" pitchFamily="34" charset="0"/>
                <a:ea typeface="Calibri" pitchFamily="34" charset="-122"/>
                <a:cs typeface="Calibri" pitchFamily="34" charset="-120"/>
              </a:rPr>
              <a:t>Equal</a:t>
            </a:r>
            <a:endParaRPr lang="en-US" sz="1050" dirty="0"/>
          </a:p>
        </p:txBody>
      </p:sp>
      <p:sp>
        <p:nvSpPr>
          <p:cNvPr id="17" name="Text 15"/>
          <p:cNvSpPr/>
          <p:nvPr/>
        </p:nvSpPr>
        <p:spPr>
          <a:xfrm>
            <a:off x="10304807" y="4078224"/>
            <a:ext cx="1225777" cy="347472"/>
          </a:xfrm>
          <a:prstGeom prst="rect">
            <a:avLst/>
          </a:prstGeom>
          <a:noFill/>
          <a:ln/>
        </p:spPr>
        <p:txBody>
          <a:bodyPr wrap="square" lIns="0" tIns="0" rIns="0" bIns="0" rtlCol="0" anchor="ctr"/>
          <a:lstStyle/>
          <a:p>
            <a:pPr algn="l" indent="0" marL="0">
              <a:buNone/>
            </a:pPr>
            <a:r>
              <a:rPr lang="en-US" sz="1050" dirty="0">
                <a:solidFill>
                  <a:srgbClr val="1A1633"/>
                </a:solidFill>
                <a:latin typeface="Calibri" pitchFamily="34" charset="0"/>
                <a:ea typeface="Calibri" pitchFamily="34" charset="-122"/>
                <a:cs typeface="Calibri" pitchFamily="34" charset="-120"/>
              </a:rPr>
              <a:t>Zero</a:t>
            </a:r>
            <a:endParaRPr lang="en-US" sz="1050" dirty="0"/>
          </a:p>
        </p:txBody>
      </p:sp>
      <p:sp>
        <p:nvSpPr>
          <p:cNvPr id="18" name="Shape 16"/>
          <p:cNvSpPr/>
          <p:nvPr/>
        </p:nvSpPr>
        <p:spPr>
          <a:xfrm>
            <a:off x="7699248" y="4425696"/>
            <a:ext cx="3922776" cy="347472"/>
          </a:xfrm>
          <a:prstGeom prst="rect">
            <a:avLst/>
          </a:prstGeom>
          <a:solidFill>
            <a:srgbClr val="F5F4FA"/>
          </a:solidFill>
          <a:ln w="7620">
            <a:solidFill>
              <a:srgbClr val="DBD8E8"/>
            </a:solidFill>
            <a:prstDash val="solid"/>
          </a:ln>
        </p:spPr>
      </p:sp>
      <p:sp>
        <p:nvSpPr>
          <p:cNvPr id="19" name="Text 17"/>
          <p:cNvSpPr/>
          <p:nvPr/>
        </p:nvSpPr>
        <p:spPr>
          <a:xfrm>
            <a:off x="7827264" y="4425696"/>
            <a:ext cx="812853" cy="347472"/>
          </a:xfrm>
          <a:prstGeom prst="rect">
            <a:avLst/>
          </a:prstGeom>
          <a:noFill/>
          <a:ln/>
        </p:spPr>
        <p:txBody>
          <a:bodyPr wrap="square" lIns="0" tIns="0" rIns="0" bIns="0" rtlCol="0" anchor="ctr"/>
          <a:lstStyle/>
          <a:p>
            <a:pPr algn="ctr" indent="0" marL="0">
              <a:buNone/>
            </a:pPr>
            <a:r>
              <a:rPr lang="en-US" sz="1050" b="1" dirty="0">
                <a:solidFill>
                  <a:srgbClr val="1A1633"/>
                </a:solidFill>
                <a:latin typeface="Calibri" pitchFamily="34" charset="0"/>
                <a:ea typeface="Calibri" pitchFamily="34" charset="-122"/>
                <a:cs typeface="Calibri" pitchFamily="34" charset="-120"/>
              </a:rPr>
              <a:t>2</a:t>
            </a:r>
            <a:endParaRPr lang="en-US" sz="1050" dirty="0"/>
          </a:p>
        </p:txBody>
      </p:sp>
      <p:sp>
        <p:nvSpPr>
          <p:cNvPr id="20" name="Text 18"/>
          <p:cNvSpPr/>
          <p:nvPr/>
        </p:nvSpPr>
        <p:spPr>
          <a:xfrm>
            <a:off x="8859573" y="4425696"/>
            <a:ext cx="1225777" cy="347472"/>
          </a:xfrm>
          <a:prstGeom prst="rect">
            <a:avLst/>
          </a:prstGeom>
          <a:noFill/>
          <a:ln/>
        </p:spPr>
        <p:txBody>
          <a:bodyPr wrap="square" lIns="0" tIns="0" rIns="0" bIns="0" rtlCol="0" anchor="ctr"/>
          <a:lstStyle/>
          <a:p>
            <a:pPr algn="l" indent="0" marL="0">
              <a:buNone/>
            </a:pPr>
            <a:r>
              <a:rPr lang="en-US" sz="1050" dirty="0">
                <a:solidFill>
                  <a:srgbClr val="1A1633"/>
                </a:solidFill>
                <a:latin typeface="Calibri" pitchFamily="34" charset="0"/>
                <a:ea typeface="Calibri" pitchFamily="34" charset="-122"/>
                <a:cs typeface="Calibri" pitchFamily="34" charset="-120"/>
              </a:rPr>
              <a:t>Varying</a:t>
            </a:r>
            <a:endParaRPr lang="en-US" sz="1050" dirty="0"/>
          </a:p>
        </p:txBody>
      </p:sp>
      <p:sp>
        <p:nvSpPr>
          <p:cNvPr id="21" name="Text 19"/>
          <p:cNvSpPr/>
          <p:nvPr/>
        </p:nvSpPr>
        <p:spPr>
          <a:xfrm>
            <a:off x="10304807" y="4425696"/>
            <a:ext cx="1225777" cy="347472"/>
          </a:xfrm>
          <a:prstGeom prst="rect">
            <a:avLst/>
          </a:prstGeom>
          <a:noFill/>
          <a:ln/>
        </p:spPr>
        <p:txBody>
          <a:bodyPr wrap="square" lIns="0" tIns="0" rIns="0" bIns="0" rtlCol="0" anchor="ctr"/>
          <a:lstStyle/>
          <a:p>
            <a:pPr algn="l" indent="0" marL="0">
              <a:buNone/>
            </a:pPr>
            <a:r>
              <a:rPr lang="en-US" sz="1050" dirty="0">
                <a:solidFill>
                  <a:srgbClr val="1A1633"/>
                </a:solidFill>
                <a:latin typeface="Calibri" pitchFamily="34" charset="0"/>
                <a:ea typeface="Calibri" pitchFamily="34" charset="-122"/>
                <a:cs typeface="Calibri" pitchFamily="34" charset="-120"/>
              </a:rPr>
              <a:t>Zero</a:t>
            </a:r>
            <a:endParaRPr lang="en-US" sz="1050" dirty="0"/>
          </a:p>
        </p:txBody>
      </p:sp>
      <p:sp>
        <p:nvSpPr>
          <p:cNvPr id="22" name="Shape 20"/>
          <p:cNvSpPr/>
          <p:nvPr/>
        </p:nvSpPr>
        <p:spPr>
          <a:xfrm>
            <a:off x="7699248" y="4773168"/>
            <a:ext cx="3922776" cy="347472"/>
          </a:xfrm>
          <a:prstGeom prst="rect">
            <a:avLst/>
          </a:prstGeom>
          <a:solidFill>
            <a:srgbClr val="FFFFFF"/>
          </a:solidFill>
          <a:ln w="7620">
            <a:solidFill>
              <a:srgbClr val="DBD8E8"/>
            </a:solidFill>
            <a:prstDash val="solid"/>
          </a:ln>
        </p:spPr>
      </p:sp>
      <p:sp>
        <p:nvSpPr>
          <p:cNvPr id="23" name="Text 21"/>
          <p:cNvSpPr/>
          <p:nvPr/>
        </p:nvSpPr>
        <p:spPr>
          <a:xfrm>
            <a:off x="7827264" y="4773168"/>
            <a:ext cx="812853" cy="347472"/>
          </a:xfrm>
          <a:prstGeom prst="rect">
            <a:avLst/>
          </a:prstGeom>
          <a:noFill/>
          <a:ln/>
        </p:spPr>
        <p:txBody>
          <a:bodyPr wrap="square" lIns="0" tIns="0" rIns="0" bIns="0" rtlCol="0" anchor="ctr"/>
          <a:lstStyle/>
          <a:p>
            <a:pPr algn="ctr" indent="0" marL="0">
              <a:buNone/>
            </a:pPr>
            <a:r>
              <a:rPr lang="en-US" sz="1050" b="1" dirty="0">
                <a:solidFill>
                  <a:srgbClr val="1A1633"/>
                </a:solidFill>
                <a:latin typeface="Calibri" pitchFamily="34" charset="0"/>
                <a:ea typeface="Calibri" pitchFamily="34" charset="-122"/>
                <a:cs typeface="Calibri" pitchFamily="34" charset="-120"/>
              </a:rPr>
              <a:t>3</a:t>
            </a:r>
            <a:endParaRPr lang="en-US" sz="1050" dirty="0"/>
          </a:p>
        </p:txBody>
      </p:sp>
      <p:sp>
        <p:nvSpPr>
          <p:cNvPr id="24" name="Text 22"/>
          <p:cNvSpPr/>
          <p:nvPr/>
        </p:nvSpPr>
        <p:spPr>
          <a:xfrm>
            <a:off x="8859573" y="4773168"/>
            <a:ext cx="1225777" cy="347472"/>
          </a:xfrm>
          <a:prstGeom prst="rect">
            <a:avLst/>
          </a:prstGeom>
          <a:noFill/>
          <a:ln/>
        </p:spPr>
        <p:txBody>
          <a:bodyPr wrap="square" lIns="0" tIns="0" rIns="0" bIns="0" rtlCol="0" anchor="ctr"/>
          <a:lstStyle/>
          <a:p>
            <a:pPr algn="l" indent="0" marL="0">
              <a:buNone/>
            </a:pPr>
            <a:r>
              <a:rPr lang="en-US" sz="1050" dirty="0">
                <a:solidFill>
                  <a:srgbClr val="1A1633"/>
                </a:solidFill>
                <a:latin typeface="Calibri" pitchFamily="34" charset="0"/>
                <a:ea typeface="Calibri" pitchFamily="34" charset="-122"/>
                <a:cs typeface="Calibri" pitchFamily="34" charset="-120"/>
              </a:rPr>
              <a:t>Equal</a:t>
            </a:r>
            <a:endParaRPr lang="en-US" sz="1050" dirty="0"/>
          </a:p>
        </p:txBody>
      </p:sp>
      <p:sp>
        <p:nvSpPr>
          <p:cNvPr id="25" name="Text 23"/>
          <p:cNvSpPr/>
          <p:nvPr/>
        </p:nvSpPr>
        <p:spPr>
          <a:xfrm>
            <a:off x="10304807" y="4773168"/>
            <a:ext cx="1225777" cy="347472"/>
          </a:xfrm>
          <a:prstGeom prst="rect">
            <a:avLst/>
          </a:prstGeom>
          <a:noFill/>
          <a:ln/>
        </p:spPr>
        <p:txBody>
          <a:bodyPr wrap="square" lIns="0" tIns="0" rIns="0" bIns="0" rtlCol="0" anchor="ctr"/>
          <a:lstStyle/>
          <a:p>
            <a:pPr algn="l" indent="0" marL="0">
              <a:buNone/>
            </a:pPr>
            <a:r>
              <a:rPr lang="en-US" sz="1050" dirty="0">
                <a:solidFill>
                  <a:srgbClr val="1A1633"/>
                </a:solidFill>
                <a:latin typeface="Calibri" pitchFamily="34" charset="0"/>
                <a:ea typeface="Calibri" pitchFamily="34" charset="-122"/>
                <a:cs typeface="Calibri" pitchFamily="34" charset="-120"/>
              </a:rPr>
              <a:t>Equal</a:t>
            </a:r>
            <a:endParaRPr lang="en-US" sz="1050" dirty="0"/>
          </a:p>
        </p:txBody>
      </p:sp>
      <p:sp>
        <p:nvSpPr>
          <p:cNvPr id="26" name="Shape 24"/>
          <p:cNvSpPr/>
          <p:nvPr/>
        </p:nvSpPr>
        <p:spPr>
          <a:xfrm>
            <a:off x="7699248" y="5120640"/>
            <a:ext cx="3922776" cy="347472"/>
          </a:xfrm>
          <a:prstGeom prst="rect">
            <a:avLst/>
          </a:prstGeom>
          <a:solidFill>
            <a:srgbClr val="F5F4FA"/>
          </a:solidFill>
          <a:ln w="7620">
            <a:solidFill>
              <a:srgbClr val="DBD8E8"/>
            </a:solidFill>
            <a:prstDash val="solid"/>
          </a:ln>
        </p:spPr>
      </p:sp>
      <p:sp>
        <p:nvSpPr>
          <p:cNvPr id="27" name="Text 25"/>
          <p:cNvSpPr/>
          <p:nvPr/>
        </p:nvSpPr>
        <p:spPr>
          <a:xfrm>
            <a:off x="7827264" y="5120640"/>
            <a:ext cx="812853" cy="347472"/>
          </a:xfrm>
          <a:prstGeom prst="rect">
            <a:avLst/>
          </a:prstGeom>
          <a:noFill/>
          <a:ln/>
        </p:spPr>
        <p:txBody>
          <a:bodyPr wrap="square" lIns="0" tIns="0" rIns="0" bIns="0" rtlCol="0" anchor="ctr"/>
          <a:lstStyle/>
          <a:p>
            <a:pPr algn="ctr" indent="0" marL="0">
              <a:buNone/>
            </a:pPr>
            <a:r>
              <a:rPr lang="en-US" sz="1050" b="1" dirty="0">
                <a:solidFill>
                  <a:srgbClr val="1A1633"/>
                </a:solidFill>
                <a:latin typeface="Calibri" pitchFamily="34" charset="0"/>
                <a:ea typeface="Calibri" pitchFamily="34" charset="-122"/>
                <a:cs typeface="Calibri" pitchFamily="34" charset="-120"/>
              </a:rPr>
              <a:t>6</a:t>
            </a:r>
            <a:endParaRPr lang="en-US" sz="1050" dirty="0"/>
          </a:p>
        </p:txBody>
      </p:sp>
      <p:sp>
        <p:nvSpPr>
          <p:cNvPr id="28" name="Text 26"/>
          <p:cNvSpPr/>
          <p:nvPr/>
        </p:nvSpPr>
        <p:spPr>
          <a:xfrm>
            <a:off x="8859573" y="5120640"/>
            <a:ext cx="1225777" cy="347472"/>
          </a:xfrm>
          <a:prstGeom prst="rect">
            <a:avLst/>
          </a:prstGeom>
          <a:noFill/>
          <a:ln/>
        </p:spPr>
        <p:txBody>
          <a:bodyPr wrap="square" lIns="0" tIns="0" rIns="0" bIns="0" rtlCol="0" anchor="ctr"/>
          <a:lstStyle/>
          <a:p>
            <a:pPr algn="l" indent="0" marL="0">
              <a:buNone/>
            </a:pPr>
            <a:r>
              <a:rPr lang="en-US" sz="1050" dirty="0">
                <a:solidFill>
                  <a:srgbClr val="1A1633"/>
                </a:solidFill>
                <a:latin typeface="Calibri" pitchFamily="34" charset="0"/>
                <a:ea typeface="Calibri" pitchFamily="34" charset="-122"/>
                <a:cs typeface="Calibri" pitchFamily="34" charset="-120"/>
              </a:rPr>
              <a:t>Varying</a:t>
            </a:r>
            <a:endParaRPr lang="en-US" sz="1050" dirty="0"/>
          </a:p>
        </p:txBody>
      </p:sp>
      <p:sp>
        <p:nvSpPr>
          <p:cNvPr id="29" name="Text 27"/>
          <p:cNvSpPr/>
          <p:nvPr/>
        </p:nvSpPr>
        <p:spPr>
          <a:xfrm>
            <a:off x="10304807" y="5120640"/>
            <a:ext cx="1225777" cy="347472"/>
          </a:xfrm>
          <a:prstGeom prst="rect">
            <a:avLst/>
          </a:prstGeom>
          <a:noFill/>
          <a:ln/>
        </p:spPr>
        <p:txBody>
          <a:bodyPr wrap="square" lIns="0" tIns="0" rIns="0" bIns="0" rtlCol="0" anchor="ctr"/>
          <a:lstStyle/>
          <a:p>
            <a:pPr algn="l" indent="0" marL="0">
              <a:buNone/>
            </a:pPr>
            <a:r>
              <a:rPr lang="en-US" sz="1050" dirty="0">
                <a:solidFill>
                  <a:srgbClr val="1A1633"/>
                </a:solidFill>
                <a:latin typeface="Calibri" pitchFamily="34" charset="0"/>
                <a:ea typeface="Calibri" pitchFamily="34" charset="-122"/>
                <a:cs typeface="Calibri" pitchFamily="34" charset="-120"/>
              </a:rPr>
              <a:t>Varying</a:t>
            </a:r>
            <a:endParaRPr lang="en-US" sz="1050" dirty="0"/>
          </a:p>
        </p:txBody>
      </p:sp>
      <p:sp>
        <p:nvSpPr>
          <p:cNvPr id="30" name="Text 28"/>
          <p:cNvSpPr/>
          <p:nvPr/>
        </p:nvSpPr>
        <p:spPr>
          <a:xfrm>
            <a:off x="7699248" y="5577840"/>
            <a:ext cx="3922776" cy="274320"/>
          </a:xfrm>
          <a:prstGeom prst="rect">
            <a:avLst/>
          </a:prstGeom>
          <a:noFill/>
          <a:ln/>
        </p:spPr>
        <p:txBody>
          <a:bodyPr wrap="square" lIns="0" tIns="0" rIns="0" bIns="0" rtlCol="0" anchor="ctr"/>
          <a:lstStyle/>
          <a:p>
            <a:pPr indent="0" marL="0">
              <a:buNone/>
            </a:pPr>
            <a:r>
              <a:rPr lang="en-US" sz="1000" i="1" dirty="0">
                <a:solidFill>
                  <a:srgbClr val="9E9AB4"/>
                </a:solidFill>
                <a:latin typeface="Calibri" pitchFamily="34" charset="0"/>
                <a:ea typeface="Calibri" pitchFamily="34" charset="-122"/>
                <a:cs typeface="Calibri" pitchFamily="34" charset="-120"/>
              </a:rPr>
              <a:t>Models 4 and 5 need Mplus; 1, 2, 3 and 6 run in R via mclust.</a:t>
            </a:r>
            <a:endParaRPr lang="en-US" sz="1000" dirty="0"/>
          </a:p>
        </p:txBody>
      </p:sp>
      <p:sp>
        <p:nvSpPr>
          <p:cNvPr id="31" name="Text 29"/>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9E9AB4"/>
                </a:solidFill>
                <a:latin typeface="Calibri" pitchFamily="34" charset="0"/>
                <a:ea typeface="Calibri" pitchFamily="34" charset="-122"/>
                <a:cs typeface="Calibri" pitchFamily="34" charset="-120"/>
              </a:rPr>
              <a:t>Standardising the indicators is optional but makes profile plots comparable across scales measured in different units.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PRACTICAL · INTERPRETING LPA</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Reading the output: three profiles, plotted</a:t>
            </a:r>
            <a:endParaRPr lang="en-US" sz="2900" dirty="0"/>
          </a:p>
        </p:txBody>
      </p:sp>
      <p:sp>
        <p:nvSpPr>
          <p:cNvPr id="4" name="Text 2"/>
          <p:cNvSpPr/>
          <p:nvPr/>
        </p:nvSpPr>
        <p:spPr>
          <a:xfrm>
            <a:off x="566928" y="1261872"/>
            <a:ext cx="11055096" cy="329184"/>
          </a:xfrm>
          <a:prstGeom prst="rect">
            <a:avLst/>
          </a:prstGeom>
          <a:noFill/>
          <a:ln/>
        </p:spPr>
        <p:txBody>
          <a:bodyPr wrap="square" lIns="0" tIns="0" rIns="0" bIns="0" rtlCol="0" anchor="t"/>
          <a:lstStyle/>
          <a:p>
            <a:pPr algn="l" indent="0" marL="0">
              <a:lnSpc>
                <a:spcPts val="2100"/>
              </a:lnSpc>
              <a:buNone/>
            </a:pPr>
            <a:r>
              <a:rPr lang="en-US" sz="1300" dirty="0">
                <a:solidFill>
                  <a:srgbClr val="6B6785"/>
                </a:solidFill>
                <a:latin typeface="Calibri" pitchFamily="34" charset="0"/>
                <a:ea typeface="Calibri" pitchFamily="34" charset="-122"/>
                <a:cs typeface="Calibri" pitchFamily="34" charset="-120"/>
              </a:rPr>
              <a:t>Where LCA gave probabilities between 0 and 1, LPA gives means. Plotted as z-scores, the shape of each profile is what you interpret.</a:t>
            </a:r>
            <a:endParaRPr lang="en-US" sz="1300" dirty="0"/>
          </a:p>
        </p:txBody>
      </p:sp>
      <p:graphicFrame>
        <p:nvGraphicFramePr>
          <p:cNvPr id="5" name="Chart 0" descr=""/>
          <p:cNvGraphicFramePr/>
          <p:nvPr/>
        </p:nvGraphicFramePr>
        <p:xfrm>
          <a:off x="566928" y="1700784"/>
          <a:ext cx="7452360" cy="37033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321040" y="1700784"/>
            <a:ext cx="3300984" cy="3950208"/>
          </a:xfrm>
          <a:prstGeom prst="roundRect">
            <a:avLst>
              <a:gd name="adj" fmla="val 2770"/>
            </a:avLst>
          </a:prstGeom>
          <a:solidFill>
            <a:srgbClr val="F5F4FA"/>
          </a:solidFill>
          <a:ln w="12700">
            <a:solidFill>
              <a:srgbClr val="DBD8E8"/>
            </a:solidFill>
            <a:prstDash val="solid"/>
          </a:ln>
        </p:spPr>
      </p:sp>
      <p:sp>
        <p:nvSpPr>
          <p:cNvPr id="7" name="Text 4"/>
          <p:cNvSpPr/>
          <p:nvPr/>
        </p:nvSpPr>
        <p:spPr>
          <a:xfrm>
            <a:off x="8577072" y="1865376"/>
            <a:ext cx="2788920" cy="292608"/>
          </a:xfrm>
          <a:prstGeom prst="rect">
            <a:avLst/>
          </a:prstGeom>
          <a:noFill/>
          <a:ln/>
        </p:spPr>
        <p:txBody>
          <a:bodyPr wrap="square" lIns="0" tIns="0" rIns="0" bIns="0" rtlCol="0" anchor="ctr"/>
          <a:lstStyle/>
          <a:p>
            <a:pPr indent="0" marL="0">
              <a:buNone/>
            </a:pPr>
            <a:r>
              <a:rPr lang="en-US" sz="1700" b="1" dirty="0">
                <a:solidFill>
                  <a:srgbClr val="1A1633"/>
                </a:solidFill>
                <a:latin typeface="Cambria" pitchFamily="34" charset="0"/>
                <a:ea typeface="Cambria" pitchFamily="34" charset="-122"/>
                <a:cs typeface="Cambria" pitchFamily="34" charset="-120"/>
              </a:rPr>
              <a:t>What to say about it</a:t>
            </a:r>
            <a:endParaRPr lang="en-US" sz="1700" dirty="0"/>
          </a:p>
        </p:txBody>
      </p:sp>
      <p:sp>
        <p:nvSpPr>
          <p:cNvPr id="8" name="Shape 5"/>
          <p:cNvSpPr/>
          <p:nvPr/>
        </p:nvSpPr>
        <p:spPr>
          <a:xfrm>
            <a:off x="8577072" y="2258568"/>
            <a:ext cx="219456" cy="219456"/>
          </a:xfrm>
          <a:prstGeom prst="ellipse">
            <a:avLst/>
          </a:prstGeom>
          <a:solidFill>
            <a:srgbClr val="1F8F82"/>
          </a:solidFill>
          <a:ln w="12700">
            <a:solidFill>
              <a:srgbClr val="1F8F82"/>
            </a:solidFill>
            <a:prstDash val="solid"/>
          </a:ln>
        </p:spPr>
      </p:sp>
      <p:sp>
        <p:nvSpPr>
          <p:cNvPr id="9" name="Text 6"/>
          <p:cNvSpPr/>
          <p:nvPr/>
        </p:nvSpPr>
        <p:spPr>
          <a:xfrm>
            <a:off x="8869680" y="2231136"/>
            <a:ext cx="2377440" cy="256032"/>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Profile 1</a:t>
            </a:r>
            <a:endParaRPr lang="en-US" sz="1250" dirty="0"/>
          </a:p>
        </p:txBody>
      </p:sp>
      <p:sp>
        <p:nvSpPr>
          <p:cNvPr id="10" name="Text 7"/>
          <p:cNvSpPr/>
          <p:nvPr/>
        </p:nvSpPr>
        <p:spPr>
          <a:xfrm>
            <a:off x="8577072" y="2523744"/>
            <a:ext cx="2788920" cy="640080"/>
          </a:xfrm>
          <a:prstGeom prst="rect">
            <a:avLst/>
          </a:prstGeom>
          <a:noFill/>
          <a:ln/>
        </p:spPr>
        <p:txBody>
          <a:bodyPr wrap="square" lIns="0" tIns="0" rIns="0" bIns="0" rtlCol="0" anchor="t"/>
          <a:lstStyle/>
          <a:p>
            <a:pPr indent="0" marL="0">
              <a:lnSpc>
                <a:spcPts val="1400"/>
              </a:lnSpc>
              <a:buNone/>
            </a:pPr>
            <a:r>
              <a:rPr lang="en-US" sz="1050" dirty="0">
                <a:solidFill>
                  <a:srgbClr val="6B6785"/>
                </a:solidFill>
                <a:latin typeface="Calibri" pitchFamily="34" charset="0"/>
                <a:ea typeface="Calibri" pitchFamily="34" charset="-122"/>
                <a:cs typeface="Calibri" pitchFamily="34" charset="-120"/>
              </a:rPr>
              <a:t>Below average on all four. Nothing much going on — and it is the largest group.</a:t>
            </a:r>
            <a:endParaRPr lang="en-US" sz="1050" dirty="0"/>
          </a:p>
        </p:txBody>
      </p:sp>
      <p:sp>
        <p:nvSpPr>
          <p:cNvPr id="11" name="Shape 8"/>
          <p:cNvSpPr/>
          <p:nvPr/>
        </p:nvSpPr>
        <p:spPr>
          <a:xfrm>
            <a:off x="8577072" y="3218688"/>
            <a:ext cx="219456" cy="219456"/>
          </a:xfrm>
          <a:prstGeom prst="ellipse">
            <a:avLst/>
          </a:prstGeom>
          <a:solidFill>
            <a:srgbClr val="E09B21"/>
          </a:solidFill>
          <a:ln w="12700">
            <a:solidFill>
              <a:srgbClr val="E09B21"/>
            </a:solidFill>
            <a:prstDash val="solid"/>
          </a:ln>
        </p:spPr>
      </p:sp>
      <p:sp>
        <p:nvSpPr>
          <p:cNvPr id="12" name="Text 9"/>
          <p:cNvSpPr/>
          <p:nvPr/>
        </p:nvSpPr>
        <p:spPr>
          <a:xfrm>
            <a:off x="8869680" y="3191256"/>
            <a:ext cx="2377440" cy="256032"/>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Profile 2</a:t>
            </a:r>
            <a:endParaRPr lang="en-US" sz="1250" dirty="0"/>
          </a:p>
        </p:txBody>
      </p:sp>
      <p:sp>
        <p:nvSpPr>
          <p:cNvPr id="13" name="Text 10"/>
          <p:cNvSpPr/>
          <p:nvPr/>
        </p:nvSpPr>
        <p:spPr>
          <a:xfrm>
            <a:off x="8577072" y="3483864"/>
            <a:ext cx="2788920" cy="640080"/>
          </a:xfrm>
          <a:prstGeom prst="rect">
            <a:avLst/>
          </a:prstGeom>
          <a:noFill/>
          <a:ln/>
        </p:spPr>
        <p:txBody>
          <a:bodyPr wrap="square" lIns="0" tIns="0" rIns="0" bIns="0" rtlCol="0" anchor="t"/>
          <a:lstStyle/>
          <a:p>
            <a:pPr indent="0" marL="0">
              <a:lnSpc>
                <a:spcPts val="1400"/>
              </a:lnSpc>
              <a:buNone/>
            </a:pPr>
            <a:r>
              <a:rPr lang="en-US" sz="1050" dirty="0">
                <a:solidFill>
                  <a:srgbClr val="6B6785"/>
                </a:solidFill>
                <a:latin typeface="Calibri" pitchFamily="34" charset="0"/>
                <a:ea typeface="Calibri" pitchFamily="34" charset="-122"/>
                <a:cs typeface="Calibri" pitchFamily="34" charset="-120"/>
              </a:rPr>
              <a:t>Average mood and anxiety, but well above average on sleep and stress. Shape, not level.</a:t>
            </a:r>
            <a:endParaRPr lang="en-US" sz="1050" dirty="0"/>
          </a:p>
        </p:txBody>
      </p:sp>
      <p:sp>
        <p:nvSpPr>
          <p:cNvPr id="14" name="Shape 11"/>
          <p:cNvSpPr/>
          <p:nvPr/>
        </p:nvSpPr>
        <p:spPr>
          <a:xfrm>
            <a:off x="8577072" y="4178808"/>
            <a:ext cx="219456" cy="219456"/>
          </a:xfrm>
          <a:prstGeom prst="ellipse">
            <a:avLst/>
          </a:prstGeom>
          <a:solidFill>
            <a:srgbClr val="D9553C"/>
          </a:solidFill>
          <a:ln w="12700">
            <a:solidFill>
              <a:srgbClr val="D9553C"/>
            </a:solidFill>
            <a:prstDash val="solid"/>
          </a:ln>
        </p:spPr>
      </p:sp>
      <p:sp>
        <p:nvSpPr>
          <p:cNvPr id="15" name="Text 12"/>
          <p:cNvSpPr/>
          <p:nvPr/>
        </p:nvSpPr>
        <p:spPr>
          <a:xfrm>
            <a:off x="8869680" y="4151376"/>
            <a:ext cx="2377440" cy="256032"/>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Profile 3</a:t>
            </a:r>
            <a:endParaRPr lang="en-US" sz="1250" dirty="0"/>
          </a:p>
        </p:txBody>
      </p:sp>
      <p:sp>
        <p:nvSpPr>
          <p:cNvPr id="16" name="Text 13"/>
          <p:cNvSpPr/>
          <p:nvPr/>
        </p:nvSpPr>
        <p:spPr>
          <a:xfrm>
            <a:off x="8577072" y="4443984"/>
            <a:ext cx="2788920" cy="640080"/>
          </a:xfrm>
          <a:prstGeom prst="rect">
            <a:avLst/>
          </a:prstGeom>
          <a:noFill/>
          <a:ln/>
        </p:spPr>
        <p:txBody>
          <a:bodyPr wrap="square" lIns="0" tIns="0" rIns="0" bIns="0" rtlCol="0" anchor="t"/>
          <a:lstStyle/>
          <a:p>
            <a:pPr indent="0" marL="0">
              <a:lnSpc>
                <a:spcPts val="1400"/>
              </a:lnSpc>
              <a:buNone/>
            </a:pPr>
            <a:r>
              <a:rPr lang="en-US" sz="1050" dirty="0">
                <a:solidFill>
                  <a:srgbClr val="6B6785"/>
                </a:solidFill>
                <a:latin typeface="Calibri" pitchFamily="34" charset="0"/>
                <a:ea typeface="Calibri" pitchFamily="34" charset="-122"/>
                <a:cs typeface="Calibri" pitchFamily="34" charset="-120"/>
              </a:rPr>
              <a:t>Sharply raised on mood and anxiety, only moderately on sleep and stress.</a:t>
            </a:r>
            <a:endParaRPr lang="en-US" sz="1050" dirty="0"/>
          </a:p>
        </p:txBody>
      </p:sp>
      <p:sp>
        <p:nvSpPr>
          <p:cNvPr id="17" name="Text 14"/>
          <p:cNvSpPr/>
          <p:nvPr/>
        </p:nvSpPr>
        <p:spPr>
          <a:xfrm>
            <a:off x="8577072" y="5047488"/>
            <a:ext cx="2788920" cy="548640"/>
          </a:xfrm>
          <a:prstGeom prst="rect">
            <a:avLst/>
          </a:prstGeom>
          <a:noFill/>
          <a:ln/>
        </p:spPr>
        <p:txBody>
          <a:bodyPr wrap="square" lIns="0" tIns="0" rIns="0" bIns="0" rtlCol="0" anchor="t"/>
          <a:lstStyle/>
          <a:p>
            <a:pPr indent="0" marL="0">
              <a:lnSpc>
                <a:spcPts val="1400"/>
              </a:lnSpc>
              <a:buNone/>
            </a:pPr>
            <a:r>
              <a:rPr lang="en-US" sz="1050" b="1" i="1" dirty="0">
                <a:solidFill>
                  <a:srgbClr val="1F8F82"/>
                </a:solidFill>
                <a:latin typeface="Calibri" pitchFamily="34" charset="0"/>
                <a:ea typeface="Calibri" pitchFamily="34" charset="-122"/>
                <a:cs typeface="Calibri" pitchFamily="34" charset="-120"/>
              </a:rPr>
              <a:t>The same three groups the LCA found — recovered from continuous scales.</a:t>
            </a:r>
            <a:endParaRPr lang="en-US" sz="1050" dirty="0"/>
          </a:p>
        </p:txBody>
      </p:sp>
      <p:sp>
        <p:nvSpPr>
          <p:cNvPr id="18" name="Text 15"/>
          <p:cNvSpPr/>
          <p:nvPr/>
        </p:nvSpPr>
        <p:spPr>
          <a:xfrm>
            <a:off x="566928" y="6254496"/>
            <a:ext cx="11055096" cy="457200"/>
          </a:xfrm>
          <a:prstGeom prst="rect">
            <a:avLst/>
          </a:prstGeom>
          <a:noFill/>
          <a:ln/>
        </p:spPr>
        <p:txBody>
          <a:bodyPr wrap="square" lIns="0" tIns="0" rIns="0" bIns="0" rtlCol="0" anchor="t"/>
          <a:lstStyle/>
          <a:p>
            <a:pPr indent="0" marL="0">
              <a:buNone/>
            </a:pPr>
            <a:r>
              <a:rPr lang="en-US" sz="950" i="1" dirty="0">
                <a:solidFill>
                  <a:srgbClr val="9E9AB4"/>
                </a:solidFill>
                <a:latin typeface="Calibri" pitchFamily="34" charset="0"/>
                <a:ea typeface="Calibri" pitchFamily="34" charset="-122"/>
                <a:cs typeface="Calibri" pitchFamily="34" charset="-120"/>
              </a:rPr>
              <a:t>Figures from the practical script. The two methods agree because both sets of indicators come from the same underlying groups.</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A2356"/>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E09B21"/>
                </a:solidFill>
                <a:latin typeface="Calibri" pitchFamily="34" charset="0"/>
                <a:ea typeface="Calibri" pitchFamily="34" charset="-122"/>
                <a:cs typeface="Calibri" pitchFamily="34" charset="-120"/>
              </a:rPr>
              <a:t>PRACTICAL · PITFALLS</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Eight things that will trip you up</a:t>
            </a:r>
            <a:endParaRPr lang="en-US" sz="2900" dirty="0"/>
          </a:p>
        </p:txBody>
      </p:sp>
      <p:sp>
        <p:nvSpPr>
          <p:cNvPr id="4" name="Shape 2"/>
          <p:cNvSpPr/>
          <p:nvPr/>
        </p:nvSpPr>
        <p:spPr>
          <a:xfrm>
            <a:off x="566928" y="1417320"/>
            <a:ext cx="5417820" cy="1051560"/>
          </a:xfrm>
          <a:prstGeom prst="roundRect">
            <a:avLst>
              <a:gd name="adj" fmla="val 8696"/>
            </a:avLst>
          </a:prstGeom>
          <a:solidFill>
            <a:srgbClr val="393177"/>
          </a:solidFill>
          <a:ln w="9525">
            <a:solidFill>
              <a:srgbClr val="393177"/>
            </a:solidFill>
            <a:prstDash val="solid"/>
          </a:ln>
        </p:spPr>
      </p:sp>
      <p:sp>
        <p:nvSpPr>
          <p:cNvPr id="5" name="Shape 3"/>
          <p:cNvSpPr/>
          <p:nvPr/>
        </p:nvSpPr>
        <p:spPr>
          <a:xfrm>
            <a:off x="768096" y="1618488"/>
            <a:ext cx="292608" cy="292608"/>
          </a:xfrm>
          <a:prstGeom prst="ellipse">
            <a:avLst/>
          </a:prstGeom>
          <a:solidFill>
            <a:srgbClr val="E09B21"/>
          </a:solidFill>
          <a:ln w="12700">
            <a:solidFill>
              <a:srgbClr val="E09B21"/>
            </a:solidFill>
            <a:prstDash val="solid"/>
          </a:ln>
        </p:spPr>
      </p:sp>
      <p:sp>
        <p:nvSpPr>
          <p:cNvPr id="6" name="Text 4"/>
          <p:cNvSpPr/>
          <p:nvPr/>
        </p:nvSpPr>
        <p:spPr>
          <a:xfrm>
            <a:off x="768096" y="1618488"/>
            <a:ext cx="292608" cy="292608"/>
          </a:xfrm>
          <a:prstGeom prst="rect">
            <a:avLst/>
          </a:prstGeom>
          <a:noFill/>
          <a:ln/>
        </p:spPr>
        <p:txBody>
          <a:bodyPr wrap="square" lIns="0" tIns="0" rIns="0" bIns="0" rtlCol="0" anchor="ctr"/>
          <a:lstStyle/>
          <a:p>
            <a:pPr algn="ctr" indent="0" marL="0">
              <a:buNone/>
            </a:pPr>
            <a:r>
              <a:rPr lang="en-US" sz="1100" b="1" dirty="0">
                <a:solidFill>
                  <a:srgbClr val="2A2356"/>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170432" y="1581912"/>
            <a:ext cx="45948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Local maxima</a:t>
            </a:r>
            <a:endParaRPr lang="en-US" sz="1300" dirty="0"/>
          </a:p>
        </p:txBody>
      </p:sp>
      <p:sp>
        <p:nvSpPr>
          <p:cNvPr id="8" name="Text 6"/>
          <p:cNvSpPr/>
          <p:nvPr/>
        </p:nvSpPr>
        <p:spPr>
          <a:xfrm>
            <a:off x="1170432" y="1892808"/>
            <a:ext cx="4594860" cy="512064"/>
          </a:xfrm>
          <a:prstGeom prst="rect">
            <a:avLst/>
          </a:prstGeom>
          <a:noFill/>
          <a:ln/>
        </p:spPr>
        <p:txBody>
          <a:bodyPr wrap="square" lIns="0" tIns="0" rIns="0" bIns="0" rtlCol="0" anchor="t"/>
          <a:lstStyle/>
          <a:p>
            <a:pPr indent="0" marL="0">
              <a:lnSpc>
                <a:spcPts val="1450"/>
              </a:lnSpc>
              <a:buNone/>
            </a:pPr>
            <a:r>
              <a:rPr lang="en-US" sz="1100" dirty="0">
                <a:solidFill>
                  <a:srgbClr val="C4BFE0"/>
                </a:solidFill>
                <a:latin typeface="Calibri" pitchFamily="34" charset="0"/>
                <a:ea typeface="Calibri" pitchFamily="34" charset="-122"/>
                <a:cs typeface="Calibri" pitchFamily="34" charset="-120"/>
              </a:rPr>
              <a:t>Always use many random starts (nrep / STARTS). If the best log-likelihood does not replicate, the solution is not trustworthy.</a:t>
            </a:r>
            <a:endParaRPr lang="en-US" sz="1100" dirty="0"/>
          </a:p>
        </p:txBody>
      </p:sp>
      <p:sp>
        <p:nvSpPr>
          <p:cNvPr id="9" name="Shape 7"/>
          <p:cNvSpPr/>
          <p:nvPr/>
        </p:nvSpPr>
        <p:spPr>
          <a:xfrm>
            <a:off x="6204204" y="1417320"/>
            <a:ext cx="5417820" cy="1051560"/>
          </a:xfrm>
          <a:prstGeom prst="roundRect">
            <a:avLst>
              <a:gd name="adj" fmla="val 8696"/>
            </a:avLst>
          </a:prstGeom>
          <a:solidFill>
            <a:srgbClr val="393177"/>
          </a:solidFill>
          <a:ln w="9525">
            <a:solidFill>
              <a:srgbClr val="393177"/>
            </a:solidFill>
            <a:prstDash val="solid"/>
          </a:ln>
        </p:spPr>
      </p:sp>
      <p:sp>
        <p:nvSpPr>
          <p:cNvPr id="10" name="Shape 8"/>
          <p:cNvSpPr/>
          <p:nvPr/>
        </p:nvSpPr>
        <p:spPr>
          <a:xfrm>
            <a:off x="6405372" y="1618488"/>
            <a:ext cx="292608" cy="292608"/>
          </a:xfrm>
          <a:prstGeom prst="ellipse">
            <a:avLst/>
          </a:prstGeom>
          <a:solidFill>
            <a:srgbClr val="D9553C"/>
          </a:solidFill>
          <a:ln w="12700">
            <a:solidFill>
              <a:srgbClr val="D9553C"/>
            </a:solidFill>
            <a:prstDash val="solid"/>
          </a:ln>
        </p:spPr>
      </p:sp>
      <p:sp>
        <p:nvSpPr>
          <p:cNvPr id="11" name="Text 9"/>
          <p:cNvSpPr/>
          <p:nvPr/>
        </p:nvSpPr>
        <p:spPr>
          <a:xfrm>
            <a:off x="6405372" y="1618488"/>
            <a:ext cx="292608" cy="292608"/>
          </a:xfrm>
          <a:prstGeom prst="rect">
            <a:avLst/>
          </a:prstGeom>
          <a:noFill/>
          <a:ln/>
        </p:spPr>
        <p:txBody>
          <a:bodyPr wrap="square" lIns="0" tIns="0" rIns="0" bIns="0" rtlCol="0" anchor="ctr"/>
          <a:lstStyle/>
          <a:p>
            <a:pPr algn="ctr" indent="0" marL="0">
              <a:buNone/>
            </a:pPr>
            <a:r>
              <a:rPr lang="en-US" sz="1100" b="1" dirty="0">
                <a:solidFill>
                  <a:srgbClr val="2A2356"/>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6807708" y="1581912"/>
            <a:ext cx="45948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0/1 coding in poLCA</a:t>
            </a:r>
            <a:endParaRPr lang="en-US" sz="1300" dirty="0"/>
          </a:p>
        </p:txBody>
      </p:sp>
      <p:sp>
        <p:nvSpPr>
          <p:cNvPr id="13" name="Text 11"/>
          <p:cNvSpPr/>
          <p:nvPr/>
        </p:nvSpPr>
        <p:spPr>
          <a:xfrm>
            <a:off x="6807708" y="1892808"/>
            <a:ext cx="4594860" cy="512064"/>
          </a:xfrm>
          <a:prstGeom prst="rect">
            <a:avLst/>
          </a:prstGeom>
          <a:noFill/>
          <a:ln/>
        </p:spPr>
        <p:txBody>
          <a:bodyPr wrap="square" lIns="0" tIns="0" rIns="0" bIns="0" rtlCol="0" anchor="t"/>
          <a:lstStyle/>
          <a:p>
            <a:pPr indent="0" marL="0">
              <a:lnSpc>
                <a:spcPts val="1450"/>
              </a:lnSpc>
              <a:buNone/>
            </a:pPr>
            <a:r>
              <a:rPr lang="en-US" sz="1100" dirty="0">
                <a:solidFill>
                  <a:srgbClr val="C4BFE0"/>
                </a:solidFill>
                <a:latin typeface="Calibri" pitchFamily="34" charset="0"/>
                <a:ea typeface="Calibri" pitchFamily="34" charset="-122"/>
                <a:cs typeface="Calibri" pitchFamily="34" charset="-120"/>
              </a:rPr>
              <a:t>poLCA needs 1/2. You will get an unhelpful error until you add 1 to every item.</a:t>
            </a:r>
            <a:endParaRPr lang="en-US" sz="1100" dirty="0"/>
          </a:p>
        </p:txBody>
      </p:sp>
      <p:sp>
        <p:nvSpPr>
          <p:cNvPr id="14" name="Shape 12"/>
          <p:cNvSpPr/>
          <p:nvPr/>
        </p:nvSpPr>
        <p:spPr>
          <a:xfrm>
            <a:off x="566928" y="2633472"/>
            <a:ext cx="5417820" cy="1051560"/>
          </a:xfrm>
          <a:prstGeom prst="roundRect">
            <a:avLst>
              <a:gd name="adj" fmla="val 8696"/>
            </a:avLst>
          </a:prstGeom>
          <a:solidFill>
            <a:srgbClr val="393177"/>
          </a:solidFill>
          <a:ln w="9525">
            <a:solidFill>
              <a:srgbClr val="393177"/>
            </a:solidFill>
            <a:prstDash val="solid"/>
          </a:ln>
        </p:spPr>
      </p:sp>
      <p:sp>
        <p:nvSpPr>
          <p:cNvPr id="15" name="Shape 13"/>
          <p:cNvSpPr/>
          <p:nvPr/>
        </p:nvSpPr>
        <p:spPr>
          <a:xfrm>
            <a:off x="768096" y="2834640"/>
            <a:ext cx="292608" cy="292608"/>
          </a:xfrm>
          <a:prstGeom prst="ellipse">
            <a:avLst/>
          </a:prstGeom>
          <a:solidFill>
            <a:srgbClr val="E09B21"/>
          </a:solidFill>
          <a:ln w="12700">
            <a:solidFill>
              <a:srgbClr val="E09B21"/>
            </a:solidFill>
            <a:prstDash val="solid"/>
          </a:ln>
        </p:spPr>
      </p:sp>
      <p:sp>
        <p:nvSpPr>
          <p:cNvPr id="16" name="Text 14"/>
          <p:cNvSpPr/>
          <p:nvPr/>
        </p:nvSpPr>
        <p:spPr>
          <a:xfrm>
            <a:off x="768096" y="2834640"/>
            <a:ext cx="292608" cy="292608"/>
          </a:xfrm>
          <a:prstGeom prst="rect">
            <a:avLst/>
          </a:prstGeom>
          <a:noFill/>
          <a:ln/>
        </p:spPr>
        <p:txBody>
          <a:bodyPr wrap="square" lIns="0" tIns="0" rIns="0" bIns="0" rtlCol="0" anchor="ctr"/>
          <a:lstStyle/>
          <a:p>
            <a:pPr algn="ctr" indent="0" marL="0">
              <a:buNone/>
            </a:pPr>
            <a:r>
              <a:rPr lang="en-US" sz="1100" b="1" dirty="0">
                <a:solidFill>
                  <a:srgbClr val="2A2356"/>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170432" y="2798064"/>
            <a:ext cx="45948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Rare items</a:t>
            </a:r>
            <a:endParaRPr lang="en-US" sz="1300" dirty="0"/>
          </a:p>
        </p:txBody>
      </p:sp>
      <p:sp>
        <p:nvSpPr>
          <p:cNvPr id="18" name="Text 16"/>
          <p:cNvSpPr/>
          <p:nvPr/>
        </p:nvSpPr>
        <p:spPr>
          <a:xfrm>
            <a:off x="1170432" y="3108960"/>
            <a:ext cx="4594860" cy="512064"/>
          </a:xfrm>
          <a:prstGeom prst="rect">
            <a:avLst/>
          </a:prstGeom>
          <a:noFill/>
          <a:ln/>
        </p:spPr>
        <p:txBody>
          <a:bodyPr wrap="square" lIns="0" tIns="0" rIns="0" bIns="0" rtlCol="0" anchor="t"/>
          <a:lstStyle/>
          <a:p>
            <a:pPr indent="0" marL="0">
              <a:lnSpc>
                <a:spcPts val="1450"/>
              </a:lnSpc>
              <a:buNone/>
            </a:pPr>
            <a:r>
              <a:rPr lang="en-US" sz="1100" dirty="0">
                <a:solidFill>
                  <a:srgbClr val="C4BFE0"/>
                </a:solidFill>
                <a:latin typeface="Calibri" pitchFamily="34" charset="0"/>
                <a:ea typeface="Calibri" pitchFamily="34" charset="-122"/>
                <a:cs typeface="Calibri" pitchFamily="34" charset="-120"/>
              </a:rPr>
              <a:t>An item endorsed by 2% of the sample contributes almost nothing and can destabilise estimation.</a:t>
            </a:r>
            <a:endParaRPr lang="en-US" sz="1100" dirty="0"/>
          </a:p>
        </p:txBody>
      </p:sp>
      <p:sp>
        <p:nvSpPr>
          <p:cNvPr id="19" name="Shape 17"/>
          <p:cNvSpPr/>
          <p:nvPr/>
        </p:nvSpPr>
        <p:spPr>
          <a:xfrm>
            <a:off x="6204204" y="2633472"/>
            <a:ext cx="5417820" cy="1051560"/>
          </a:xfrm>
          <a:prstGeom prst="roundRect">
            <a:avLst>
              <a:gd name="adj" fmla="val 8696"/>
            </a:avLst>
          </a:prstGeom>
          <a:solidFill>
            <a:srgbClr val="393177"/>
          </a:solidFill>
          <a:ln w="9525">
            <a:solidFill>
              <a:srgbClr val="393177"/>
            </a:solidFill>
            <a:prstDash val="solid"/>
          </a:ln>
        </p:spPr>
      </p:sp>
      <p:sp>
        <p:nvSpPr>
          <p:cNvPr id="20" name="Shape 18"/>
          <p:cNvSpPr/>
          <p:nvPr/>
        </p:nvSpPr>
        <p:spPr>
          <a:xfrm>
            <a:off x="6405372" y="2834640"/>
            <a:ext cx="292608" cy="292608"/>
          </a:xfrm>
          <a:prstGeom prst="ellipse">
            <a:avLst/>
          </a:prstGeom>
          <a:solidFill>
            <a:srgbClr val="D9553C"/>
          </a:solidFill>
          <a:ln w="12700">
            <a:solidFill>
              <a:srgbClr val="D9553C"/>
            </a:solidFill>
            <a:prstDash val="solid"/>
          </a:ln>
        </p:spPr>
      </p:sp>
      <p:sp>
        <p:nvSpPr>
          <p:cNvPr id="21" name="Text 19"/>
          <p:cNvSpPr/>
          <p:nvPr/>
        </p:nvSpPr>
        <p:spPr>
          <a:xfrm>
            <a:off x="6405372" y="2834640"/>
            <a:ext cx="292608" cy="292608"/>
          </a:xfrm>
          <a:prstGeom prst="rect">
            <a:avLst/>
          </a:prstGeom>
          <a:noFill/>
          <a:ln/>
        </p:spPr>
        <p:txBody>
          <a:bodyPr wrap="square" lIns="0" tIns="0" rIns="0" bIns="0" rtlCol="0" anchor="ctr"/>
          <a:lstStyle/>
          <a:p>
            <a:pPr algn="ctr" indent="0" marL="0">
              <a:buNone/>
            </a:pPr>
            <a:r>
              <a:rPr lang="en-US" sz="1100" b="1" dirty="0">
                <a:solidFill>
                  <a:srgbClr val="2A2356"/>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6807708" y="2798064"/>
            <a:ext cx="45948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Near-duplicate items</a:t>
            </a:r>
            <a:endParaRPr lang="en-US" sz="1300" dirty="0"/>
          </a:p>
        </p:txBody>
      </p:sp>
      <p:sp>
        <p:nvSpPr>
          <p:cNvPr id="23" name="Text 21"/>
          <p:cNvSpPr/>
          <p:nvPr/>
        </p:nvSpPr>
        <p:spPr>
          <a:xfrm>
            <a:off x="6807708" y="3108960"/>
            <a:ext cx="4594860" cy="512064"/>
          </a:xfrm>
          <a:prstGeom prst="rect">
            <a:avLst/>
          </a:prstGeom>
          <a:noFill/>
          <a:ln/>
        </p:spPr>
        <p:txBody>
          <a:bodyPr wrap="square" lIns="0" tIns="0" rIns="0" bIns="0" rtlCol="0" anchor="t"/>
          <a:lstStyle/>
          <a:p>
            <a:pPr indent="0" marL="0">
              <a:lnSpc>
                <a:spcPts val="1450"/>
              </a:lnSpc>
              <a:buNone/>
            </a:pPr>
            <a:r>
              <a:rPr lang="en-US" sz="1100" dirty="0">
                <a:solidFill>
                  <a:srgbClr val="C4BFE0"/>
                </a:solidFill>
                <a:latin typeface="Calibri" pitchFamily="34" charset="0"/>
                <a:ea typeface="Calibri" pitchFamily="34" charset="-122"/>
                <a:cs typeface="Calibri" pitchFamily="34" charset="-120"/>
              </a:rPr>
              <a:t>Two items asking the same thing violate local independence and can manufacture a spurious class.</a:t>
            </a:r>
            <a:endParaRPr lang="en-US" sz="1100" dirty="0"/>
          </a:p>
        </p:txBody>
      </p:sp>
      <p:sp>
        <p:nvSpPr>
          <p:cNvPr id="24" name="Shape 22"/>
          <p:cNvSpPr/>
          <p:nvPr/>
        </p:nvSpPr>
        <p:spPr>
          <a:xfrm>
            <a:off x="566928" y="3849624"/>
            <a:ext cx="5417820" cy="1051560"/>
          </a:xfrm>
          <a:prstGeom prst="roundRect">
            <a:avLst>
              <a:gd name="adj" fmla="val 8696"/>
            </a:avLst>
          </a:prstGeom>
          <a:solidFill>
            <a:srgbClr val="393177"/>
          </a:solidFill>
          <a:ln w="9525">
            <a:solidFill>
              <a:srgbClr val="393177"/>
            </a:solidFill>
            <a:prstDash val="solid"/>
          </a:ln>
        </p:spPr>
      </p:sp>
      <p:sp>
        <p:nvSpPr>
          <p:cNvPr id="25" name="Shape 23"/>
          <p:cNvSpPr/>
          <p:nvPr/>
        </p:nvSpPr>
        <p:spPr>
          <a:xfrm>
            <a:off x="768096" y="4050792"/>
            <a:ext cx="292608" cy="292608"/>
          </a:xfrm>
          <a:prstGeom prst="ellipse">
            <a:avLst/>
          </a:prstGeom>
          <a:solidFill>
            <a:srgbClr val="E09B21"/>
          </a:solidFill>
          <a:ln w="12700">
            <a:solidFill>
              <a:srgbClr val="E09B21"/>
            </a:solidFill>
            <a:prstDash val="solid"/>
          </a:ln>
        </p:spPr>
      </p:sp>
      <p:sp>
        <p:nvSpPr>
          <p:cNvPr id="26" name="Text 24"/>
          <p:cNvSpPr/>
          <p:nvPr/>
        </p:nvSpPr>
        <p:spPr>
          <a:xfrm>
            <a:off x="768096" y="4050792"/>
            <a:ext cx="292608" cy="292608"/>
          </a:xfrm>
          <a:prstGeom prst="rect">
            <a:avLst/>
          </a:prstGeom>
          <a:noFill/>
          <a:ln/>
        </p:spPr>
        <p:txBody>
          <a:bodyPr wrap="square" lIns="0" tIns="0" rIns="0" bIns="0" rtlCol="0" anchor="ctr"/>
          <a:lstStyle/>
          <a:p>
            <a:pPr algn="ctr" indent="0" marL="0">
              <a:buNone/>
            </a:pPr>
            <a:r>
              <a:rPr lang="en-US" sz="1100" b="1" dirty="0">
                <a:solidFill>
                  <a:srgbClr val="2A2356"/>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1170432" y="4014216"/>
            <a:ext cx="45948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Listwise deletion by default</a:t>
            </a:r>
            <a:endParaRPr lang="en-US" sz="1300" dirty="0"/>
          </a:p>
        </p:txBody>
      </p:sp>
      <p:sp>
        <p:nvSpPr>
          <p:cNvPr id="28" name="Text 26"/>
          <p:cNvSpPr/>
          <p:nvPr/>
        </p:nvSpPr>
        <p:spPr>
          <a:xfrm>
            <a:off x="1170432" y="4325112"/>
            <a:ext cx="4594860" cy="512064"/>
          </a:xfrm>
          <a:prstGeom prst="rect">
            <a:avLst/>
          </a:prstGeom>
          <a:noFill/>
          <a:ln/>
        </p:spPr>
        <p:txBody>
          <a:bodyPr wrap="square" lIns="0" tIns="0" rIns="0" bIns="0" rtlCol="0" anchor="t"/>
          <a:lstStyle/>
          <a:p>
            <a:pPr indent="0" marL="0">
              <a:lnSpc>
                <a:spcPts val="1450"/>
              </a:lnSpc>
              <a:buNone/>
            </a:pPr>
            <a:r>
              <a:rPr lang="en-US" sz="1100" dirty="0">
                <a:solidFill>
                  <a:srgbClr val="C4BFE0"/>
                </a:solidFill>
                <a:latin typeface="Calibri" pitchFamily="34" charset="0"/>
                <a:ea typeface="Calibri" pitchFamily="34" charset="-122"/>
                <a:cs typeface="Calibri" pitchFamily="34" charset="-120"/>
              </a:rPr>
              <a:t>Fit with full-information ML where you can, and always report how much missingness you had.</a:t>
            </a:r>
            <a:endParaRPr lang="en-US" sz="1100" dirty="0"/>
          </a:p>
        </p:txBody>
      </p:sp>
      <p:sp>
        <p:nvSpPr>
          <p:cNvPr id="29" name="Shape 27"/>
          <p:cNvSpPr/>
          <p:nvPr/>
        </p:nvSpPr>
        <p:spPr>
          <a:xfrm>
            <a:off x="6204204" y="3849624"/>
            <a:ext cx="5417820" cy="1051560"/>
          </a:xfrm>
          <a:prstGeom prst="roundRect">
            <a:avLst>
              <a:gd name="adj" fmla="val 8696"/>
            </a:avLst>
          </a:prstGeom>
          <a:solidFill>
            <a:srgbClr val="393177"/>
          </a:solidFill>
          <a:ln w="9525">
            <a:solidFill>
              <a:srgbClr val="393177"/>
            </a:solidFill>
            <a:prstDash val="solid"/>
          </a:ln>
        </p:spPr>
      </p:sp>
      <p:sp>
        <p:nvSpPr>
          <p:cNvPr id="30" name="Shape 28"/>
          <p:cNvSpPr/>
          <p:nvPr/>
        </p:nvSpPr>
        <p:spPr>
          <a:xfrm>
            <a:off x="6405372" y="4050792"/>
            <a:ext cx="292608" cy="292608"/>
          </a:xfrm>
          <a:prstGeom prst="ellipse">
            <a:avLst/>
          </a:prstGeom>
          <a:solidFill>
            <a:srgbClr val="D9553C"/>
          </a:solidFill>
          <a:ln w="12700">
            <a:solidFill>
              <a:srgbClr val="D9553C"/>
            </a:solidFill>
            <a:prstDash val="solid"/>
          </a:ln>
        </p:spPr>
      </p:sp>
      <p:sp>
        <p:nvSpPr>
          <p:cNvPr id="31" name="Text 29"/>
          <p:cNvSpPr/>
          <p:nvPr/>
        </p:nvSpPr>
        <p:spPr>
          <a:xfrm>
            <a:off x="6405372" y="4050792"/>
            <a:ext cx="292608" cy="292608"/>
          </a:xfrm>
          <a:prstGeom prst="rect">
            <a:avLst/>
          </a:prstGeom>
          <a:noFill/>
          <a:ln/>
        </p:spPr>
        <p:txBody>
          <a:bodyPr wrap="square" lIns="0" tIns="0" rIns="0" bIns="0" rtlCol="0" anchor="ctr"/>
          <a:lstStyle/>
          <a:p>
            <a:pPr algn="ctr" indent="0" marL="0">
              <a:buNone/>
            </a:pPr>
            <a:r>
              <a:rPr lang="en-US" sz="1100" b="1" dirty="0">
                <a:solidFill>
                  <a:srgbClr val="2A2356"/>
                </a:solidFill>
                <a:latin typeface="Calibri" pitchFamily="34" charset="0"/>
                <a:ea typeface="Calibri" pitchFamily="34" charset="-122"/>
                <a:cs typeface="Calibri" pitchFamily="34" charset="-120"/>
              </a:rPr>
              <a:t>6</a:t>
            </a:r>
            <a:endParaRPr lang="en-US" sz="1100" dirty="0"/>
          </a:p>
        </p:txBody>
      </p:sp>
      <p:sp>
        <p:nvSpPr>
          <p:cNvPr id="32" name="Text 30"/>
          <p:cNvSpPr/>
          <p:nvPr/>
        </p:nvSpPr>
        <p:spPr>
          <a:xfrm>
            <a:off x="6807708" y="4014216"/>
            <a:ext cx="45948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Covariates in the measurement model</a:t>
            </a:r>
            <a:endParaRPr lang="en-US" sz="1300" dirty="0"/>
          </a:p>
        </p:txBody>
      </p:sp>
      <p:sp>
        <p:nvSpPr>
          <p:cNvPr id="33" name="Text 31"/>
          <p:cNvSpPr/>
          <p:nvPr/>
        </p:nvSpPr>
        <p:spPr>
          <a:xfrm>
            <a:off x="6807708" y="4325112"/>
            <a:ext cx="4594860" cy="512064"/>
          </a:xfrm>
          <a:prstGeom prst="rect">
            <a:avLst/>
          </a:prstGeom>
          <a:noFill/>
          <a:ln/>
        </p:spPr>
        <p:txBody>
          <a:bodyPr wrap="square" lIns="0" tIns="0" rIns="0" bIns="0" rtlCol="0" anchor="t"/>
          <a:lstStyle/>
          <a:p>
            <a:pPr indent="0" marL="0">
              <a:lnSpc>
                <a:spcPts val="1450"/>
              </a:lnSpc>
              <a:buNone/>
            </a:pPr>
            <a:r>
              <a:rPr lang="en-US" sz="1100" dirty="0">
                <a:solidFill>
                  <a:srgbClr val="C4BFE0"/>
                </a:solidFill>
                <a:latin typeface="Calibri" pitchFamily="34" charset="0"/>
                <a:ea typeface="Calibri" pitchFamily="34" charset="-122"/>
                <a:cs typeface="Calibri" pitchFamily="34" charset="-120"/>
              </a:rPr>
              <a:t>Adding predictors shifts the classes themselves. Use a 3-step or BCH approach instead.</a:t>
            </a:r>
            <a:endParaRPr lang="en-US" sz="1100" dirty="0"/>
          </a:p>
        </p:txBody>
      </p:sp>
      <p:sp>
        <p:nvSpPr>
          <p:cNvPr id="34" name="Shape 32"/>
          <p:cNvSpPr/>
          <p:nvPr/>
        </p:nvSpPr>
        <p:spPr>
          <a:xfrm>
            <a:off x="566928" y="5065776"/>
            <a:ext cx="5417820" cy="1051560"/>
          </a:xfrm>
          <a:prstGeom prst="roundRect">
            <a:avLst>
              <a:gd name="adj" fmla="val 8696"/>
            </a:avLst>
          </a:prstGeom>
          <a:solidFill>
            <a:srgbClr val="393177"/>
          </a:solidFill>
          <a:ln w="9525">
            <a:solidFill>
              <a:srgbClr val="393177"/>
            </a:solidFill>
            <a:prstDash val="solid"/>
          </a:ln>
        </p:spPr>
      </p:sp>
      <p:sp>
        <p:nvSpPr>
          <p:cNvPr id="35" name="Shape 33"/>
          <p:cNvSpPr/>
          <p:nvPr/>
        </p:nvSpPr>
        <p:spPr>
          <a:xfrm>
            <a:off x="768096" y="5266944"/>
            <a:ext cx="292608" cy="292608"/>
          </a:xfrm>
          <a:prstGeom prst="ellipse">
            <a:avLst/>
          </a:prstGeom>
          <a:solidFill>
            <a:srgbClr val="E09B21"/>
          </a:solidFill>
          <a:ln w="12700">
            <a:solidFill>
              <a:srgbClr val="E09B21"/>
            </a:solidFill>
            <a:prstDash val="solid"/>
          </a:ln>
        </p:spPr>
      </p:sp>
      <p:sp>
        <p:nvSpPr>
          <p:cNvPr id="36" name="Text 34"/>
          <p:cNvSpPr/>
          <p:nvPr/>
        </p:nvSpPr>
        <p:spPr>
          <a:xfrm>
            <a:off x="768096" y="5266944"/>
            <a:ext cx="292608" cy="292608"/>
          </a:xfrm>
          <a:prstGeom prst="rect">
            <a:avLst/>
          </a:prstGeom>
          <a:noFill/>
          <a:ln/>
        </p:spPr>
        <p:txBody>
          <a:bodyPr wrap="square" lIns="0" tIns="0" rIns="0" bIns="0" rtlCol="0" anchor="ctr"/>
          <a:lstStyle/>
          <a:p>
            <a:pPr algn="ctr" indent="0" marL="0">
              <a:buNone/>
            </a:pPr>
            <a:r>
              <a:rPr lang="en-US" sz="1100" b="1" dirty="0">
                <a:solidFill>
                  <a:srgbClr val="2A2356"/>
                </a:solidFill>
                <a:latin typeface="Calibri" pitchFamily="34" charset="0"/>
                <a:ea typeface="Calibri" pitchFamily="34" charset="-122"/>
                <a:cs typeface="Calibri" pitchFamily="34" charset="-120"/>
              </a:rPr>
              <a:t>7</a:t>
            </a:r>
            <a:endParaRPr lang="en-US" sz="1100" dirty="0"/>
          </a:p>
        </p:txBody>
      </p:sp>
      <p:sp>
        <p:nvSpPr>
          <p:cNvPr id="37" name="Text 35"/>
          <p:cNvSpPr/>
          <p:nvPr/>
        </p:nvSpPr>
        <p:spPr>
          <a:xfrm>
            <a:off x="1170432" y="5230368"/>
            <a:ext cx="45948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Comparing across groups by splitting</a:t>
            </a:r>
            <a:endParaRPr lang="en-US" sz="1300" dirty="0"/>
          </a:p>
        </p:txBody>
      </p:sp>
      <p:sp>
        <p:nvSpPr>
          <p:cNvPr id="38" name="Text 36"/>
          <p:cNvSpPr/>
          <p:nvPr/>
        </p:nvSpPr>
        <p:spPr>
          <a:xfrm>
            <a:off x="1170432" y="5541264"/>
            <a:ext cx="4594860" cy="512064"/>
          </a:xfrm>
          <a:prstGeom prst="rect">
            <a:avLst/>
          </a:prstGeom>
          <a:noFill/>
          <a:ln/>
        </p:spPr>
        <p:txBody>
          <a:bodyPr wrap="square" lIns="0" tIns="0" rIns="0" bIns="0" rtlCol="0" anchor="t"/>
          <a:lstStyle/>
          <a:p>
            <a:pPr indent="0" marL="0">
              <a:lnSpc>
                <a:spcPts val="1450"/>
              </a:lnSpc>
              <a:buNone/>
            </a:pPr>
            <a:r>
              <a:rPr lang="en-US" sz="1100" dirty="0">
                <a:solidFill>
                  <a:srgbClr val="C4BFE0"/>
                </a:solidFill>
                <a:latin typeface="Calibri" pitchFamily="34" charset="0"/>
                <a:ea typeface="Calibri" pitchFamily="34" charset="-122"/>
                <a:cs typeface="Calibri" pitchFamily="34" charset="-120"/>
              </a:rPr>
              <a:t>Fitting separate models for men and women does not test whether classes differ. Measurement invariance testing does.</a:t>
            </a:r>
            <a:endParaRPr lang="en-US" sz="1100" dirty="0"/>
          </a:p>
        </p:txBody>
      </p:sp>
      <p:sp>
        <p:nvSpPr>
          <p:cNvPr id="39" name="Shape 37"/>
          <p:cNvSpPr/>
          <p:nvPr/>
        </p:nvSpPr>
        <p:spPr>
          <a:xfrm>
            <a:off x="6204204" y="5065776"/>
            <a:ext cx="5417820" cy="1051560"/>
          </a:xfrm>
          <a:prstGeom prst="roundRect">
            <a:avLst>
              <a:gd name="adj" fmla="val 8696"/>
            </a:avLst>
          </a:prstGeom>
          <a:solidFill>
            <a:srgbClr val="393177"/>
          </a:solidFill>
          <a:ln w="9525">
            <a:solidFill>
              <a:srgbClr val="393177"/>
            </a:solidFill>
            <a:prstDash val="solid"/>
          </a:ln>
        </p:spPr>
      </p:sp>
      <p:sp>
        <p:nvSpPr>
          <p:cNvPr id="40" name="Shape 38"/>
          <p:cNvSpPr/>
          <p:nvPr/>
        </p:nvSpPr>
        <p:spPr>
          <a:xfrm>
            <a:off x="6405372" y="5266944"/>
            <a:ext cx="292608" cy="292608"/>
          </a:xfrm>
          <a:prstGeom prst="ellipse">
            <a:avLst/>
          </a:prstGeom>
          <a:solidFill>
            <a:srgbClr val="D9553C"/>
          </a:solidFill>
          <a:ln w="12700">
            <a:solidFill>
              <a:srgbClr val="D9553C"/>
            </a:solidFill>
            <a:prstDash val="solid"/>
          </a:ln>
        </p:spPr>
      </p:sp>
      <p:sp>
        <p:nvSpPr>
          <p:cNvPr id="41" name="Text 39"/>
          <p:cNvSpPr/>
          <p:nvPr/>
        </p:nvSpPr>
        <p:spPr>
          <a:xfrm>
            <a:off x="6405372" y="5266944"/>
            <a:ext cx="292608" cy="292608"/>
          </a:xfrm>
          <a:prstGeom prst="rect">
            <a:avLst/>
          </a:prstGeom>
          <a:noFill/>
          <a:ln/>
        </p:spPr>
        <p:txBody>
          <a:bodyPr wrap="square" lIns="0" tIns="0" rIns="0" bIns="0" rtlCol="0" anchor="ctr"/>
          <a:lstStyle/>
          <a:p>
            <a:pPr algn="ctr" indent="0" marL="0">
              <a:buNone/>
            </a:pPr>
            <a:r>
              <a:rPr lang="en-US" sz="1100" b="1" dirty="0">
                <a:solidFill>
                  <a:srgbClr val="2A2356"/>
                </a:solidFill>
                <a:latin typeface="Calibri" pitchFamily="34" charset="0"/>
                <a:ea typeface="Calibri" pitchFamily="34" charset="-122"/>
                <a:cs typeface="Calibri" pitchFamily="34" charset="-120"/>
              </a:rPr>
              <a:t>8</a:t>
            </a:r>
            <a:endParaRPr lang="en-US" sz="1100" dirty="0"/>
          </a:p>
        </p:txBody>
      </p:sp>
      <p:sp>
        <p:nvSpPr>
          <p:cNvPr id="42" name="Text 40"/>
          <p:cNvSpPr/>
          <p:nvPr/>
        </p:nvSpPr>
        <p:spPr>
          <a:xfrm>
            <a:off x="6807708" y="5230368"/>
            <a:ext cx="45948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Treating class as if it were observed</a:t>
            </a:r>
            <a:endParaRPr lang="en-US" sz="1300" dirty="0"/>
          </a:p>
        </p:txBody>
      </p:sp>
      <p:sp>
        <p:nvSpPr>
          <p:cNvPr id="43" name="Text 41"/>
          <p:cNvSpPr/>
          <p:nvPr/>
        </p:nvSpPr>
        <p:spPr>
          <a:xfrm>
            <a:off x="6807708" y="5541264"/>
            <a:ext cx="4594860" cy="512064"/>
          </a:xfrm>
          <a:prstGeom prst="rect">
            <a:avLst/>
          </a:prstGeom>
          <a:noFill/>
          <a:ln/>
        </p:spPr>
        <p:txBody>
          <a:bodyPr wrap="square" lIns="0" tIns="0" rIns="0" bIns="0" rtlCol="0" anchor="t"/>
          <a:lstStyle/>
          <a:p>
            <a:pPr indent="0" marL="0">
              <a:lnSpc>
                <a:spcPts val="1450"/>
              </a:lnSpc>
              <a:buNone/>
            </a:pPr>
            <a:r>
              <a:rPr lang="en-US" sz="1100" dirty="0">
                <a:solidFill>
                  <a:srgbClr val="C4BFE0"/>
                </a:solidFill>
                <a:latin typeface="Calibri" pitchFamily="34" charset="0"/>
                <a:ea typeface="Calibri" pitchFamily="34" charset="-122"/>
                <a:cs typeface="Calibri" pitchFamily="34" charset="-120"/>
              </a:rPr>
              <a:t>Assigning everyone to their most likely class throws away the uncertainty and biases the next analysis downward.</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REPORTING CHECKLIST</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What a reviewer expects to see in your write-up</a:t>
            </a:r>
            <a:endParaRPr lang="en-US" sz="2900" dirty="0"/>
          </a:p>
        </p:txBody>
      </p:sp>
      <p:sp>
        <p:nvSpPr>
          <p:cNvPr id="4" name="Shape 2"/>
          <p:cNvSpPr/>
          <p:nvPr/>
        </p:nvSpPr>
        <p:spPr>
          <a:xfrm>
            <a:off x="566928" y="1325880"/>
            <a:ext cx="3526536" cy="3977640"/>
          </a:xfrm>
          <a:prstGeom prst="roundRect">
            <a:avLst>
              <a:gd name="adj" fmla="val 2593"/>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5" name="Shape 3"/>
          <p:cNvSpPr/>
          <p:nvPr/>
        </p:nvSpPr>
        <p:spPr>
          <a:xfrm>
            <a:off x="822960" y="1554480"/>
            <a:ext cx="274320" cy="274320"/>
          </a:xfrm>
          <a:prstGeom prst="ellipse">
            <a:avLst/>
          </a:prstGeom>
          <a:solidFill>
            <a:srgbClr val="D9553C"/>
          </a:solidFill>
          <a:ln w="12700">
            <a:solidFill>
              <a:srgbClr val="D9553C"/>
            </a:solidFill>
            <a:prstDash val="solid"/>
          </a:ln>
        </p:spPr>
      </p:sp>
      <p:sp>
        <p:nvSpPr>
          <p:cNvPr id="6" name="Text 4"/>
          <p:cNvSpPr/>
          <p:nvPr/>
        </p:nvSpPr>
        <p:spPr>
          <a:xfrm>
            <a:off x="822960" y="1938528"/>
            <a:ext cx="3014472" cy="365760"/>
          </a:xfrm>
          <a:prstGeom prst="rect">
            <a:avLst/>
          </a:prstGeom>
          <a:noFill/>
          <a:ln/>
        </p:spPr>
        <p:txBody>
          <a:bodyPr wrap="square" lIns="0" tIns="0" rIns="0" bIns="0" rtlCol="0" anchor="t"/>
          <a:lstStyle/>
          <a:p>
            <a:pPr indent="0" marL="0">
              <a:buNone/>
            </a:pPr>
            <a:r>
              <a:rPr lang="en-US" sz="1700" b="1" dirty="0">
                <a:solidFill>
                  <a:srgbClr val="1A1633"/>
                </a:solidFill>
                <a:latin typeface="Cambria" pitchFamily="34" charset="0"/>
                <a:ea typeface="Cambria" pitchFamily="34" charset="-122"/>
                <a:cs typeface="Cambria" pitchFamily="34" charset="-120"/>
              </a:rPr>
              <a:t>Model specification</a:t>
            </a:r>
            <a:endParaRPr lang="en-US" sz="1700" dirty="0"/>
          </a:p>
        </p:txBody>
      </p:sp>
      <p:sp>
        <p:nvSpPr>
          <p:cNvPr id="7" name="Text 5"/>
          <p:cNvSpPr/>
          <p:nvPr/>
        </p:nvSpPr>
        <p:spPr>
          <a:xfrm>
            <a:off x="822960" y="2395728"/>
            <a:ext cx="3014472" cy="2743200"/>
          </a:xfrm>
          <a:prstGeom prst="rect">
            <a:avLst/>
          </a:prstGeom>
          <a:noFill/>
          <a:ln/>
        </p:spPr>
        <p:txBody>
          <a:bodyPr wrap="square" lIns="0" tIns="0" rIns="0" bIns="0" rtlCol="0" anchor="t"/>
          <a:lstStyle/>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The construct, and why classes rather than a dimension</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Every indicator listed, with its coding and response scale</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Software, package and version</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Number of random starts, and the seed</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How missing data were handled</a:t>
            </a:r>
            <a:endParaRPr lang="en-US" sz="1150" dirty="0"/>
          </a:p>
        </p:txBody>
      </p:sp>
      <p:sp>
        <p:nvSpPr>
          <p:cNvPr id="8" name="Shape 6"/>
          <p:cNvSpPr/>
          <p:nvPr/>
        </p:nvSpPr>
        <p:spPr>
          <a:xfrm>
            <a:off x="4331208" y="1325880"/>
            <a:ext cx="3526536" cy="3977640"/>
          </a:xfrm>
          <a:prstGeom prst="roundRect">
            <a:avLst>
              <a:gd name="adj" fmla="val 2593"/>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9" name="Shape 7"/>
          <p:cNvSpPr/>
          <p:nvPr/>
        </p:nvSpPr>
        <p:spPr>
          <a:xfrm>
            <a:off x="4587240" y="1554480"/>
            <a:ext cx="274320" cy="274320"/>
          </a:xfrm>
          <a:prstGeom prst="ellipse">
            <a:avLst/>
          </a:prstGeom>
          <a:solidFill>
            <a:srgbClr val="1F8F82"/>
          </a:solidFill>
          <a:ln w="12700">
            <a:solidFill>
              <a:srgbClr val="1F8F82"/>
            </a:solidFill>
            <a:prstDash val="solid"/>
          </a:ln>
        </p:spPr>
      </p:sp>
      <p:sp>
        <p:nvSpPr>
          <p:cNvPr id="10" name="Text 8"/>
          <p:cNvSpPr/>
          <p:nvPr/>
        </p:nvSpPr>
        <p:spPr>
          <a:xfrm>
            <a:off x="4587240" y="1938528"/>
            <a:ext cx="3014472" cy="365760"/>
          </a:xfrm>
          <a:prstGeom prst="rect">
            <a:avLst/>
          </a:prstGeom>
          <a:noFill/>
          <a:ln/>
        </p:spPr>
        <p:txBody>
          <a:bodyPr wrap="square" lIns="0" tIns="0" rIns="0" bIns="0" rtlCol="0" anchor="t"/>
          <a:lstStyle/>
          <a:p>
            <a:pPr indent="0" marL="0">
              <a:buNone/>
            </a:pPr>
            <a:r>
              <a:rPr lang="en-US" sz="1700" b="1" dirty="0">
                <a:solidFill>
                  <a:srgbClr val="1A1633"/>
                </a:solidFill>
                <a:latin typeface="Cambria" pitchFamily="34" charset="0"/>
                <a:ea typeface="Cambria" pitchFamily="34" charset="-122"/>
                <a:cs typeface="Cambria" pitchFamily="34" charset="-120"/>
              </a:rPr>
              <a:t>Class enumeration</a:t>
            </a:r>
            <a:endParaRPr lang="en-US" sz="1700" dirty="0"/>
          </a:p>
        </p:txBody>
      </p:sp>
      <p:sp>
        <p:nvSpPr>
          <p:cNvPr id="11" name="Text 9"/>
          <p:cNvSpPr/>
          <p:nvPr/>
        </p:nvSpPr>
        <p:spPr>
          <a:xfrm>
            <a:off x="4587240" y="2395728"/>
            <a:ext cx="3014472" cy="2743200"/>
          </a:xfrm>
          <a:prstGeom prst="rect">
            <a:avLst/>
          </a:prstGeom>
          <a:noFill/>
          <a:ln/>
        </p:spPr>
        <p:txBody>
          <a:bodyPr wrap="square" lIns="0" tIns="0" rIns="0" bIns="0" rtlCol="0" anchor="t"/>
          <a:lstStyle/>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A fit table covering every solution you fitted, not just the winner</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Log-likelihood, AIC, BIC, aBIC, entropy for each</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LMR / BLRT p-values where available</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Smallest class size, as n and as %</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A sentence saying why you chose the solution you chose</a:t>
            </a:r>
            <a:endParaRPr lang="en-US" sz="1150" dirty="0"/>
          </a:p>
        </p:txBody>
      </p:sp>
      <p:sp>
        <p:nvSpPr>
          <p:cNvPr id="12" name="Shape 10"/>
          <p:cNvSpPr/>
          <p:nvPr/>
        </p:nvSpPr>
        <p:spPr>
          <a:xfrm>
            <a:off x="8095488" y="1325880"/>
            <a:ext cx="3526536" cy="3977640"/>
          </a:xfrm>
          <a:prstGeom prst="roundRect">
            <a:avLst>
              <a:gd name="adj" fmla="val 2593"/>
            </a:avLst>
          </a:prstGeom>
          <a:solidFill>
            <a:srgbClr val="FFFFFF"/>
          </a:solidFill>
          <a:ln w="12700">
            <a:solidFill>
              <a:srgbClr val="DBD8E8"/>
            </a:solidFill>
            <a:prstDash val="solid"/>
          </a:ln>
          <a:effectLst>
            <a:outerShdw sx="100000" sy="100000" kx="0" ky="0" algn="bl" rotWithShape="0" blurRad="177800" dist="762" dir="5400000">
              <a:srgbClr val="1A1633">
                <a:alpha val="12000"/>
              </a:srgbClr>
            </a:outerShdw>
          </a:effectLst>
        </p:spPr>
      </p:sp>
      <p:sp>
        <p:nvSpPr>
          <p:cNvPr id="13" name="Shape 11"/>
          <p:cNvSpPr/>
          <p:nvPr/>
        </p:nvSpPr>
        <p:spPr>
          <a:xfrm>
            <a:off x="8351520" y="1554480"/>
            <a:ext cx="274320" cy="274320"/>
          </a:xfrm>
          <a:prstGeom prst="ellipse">
            <a:avLst/>
          </a:prstGeom>
          <a:solidFill>
            <a:srgbClr val="E09B21"/>
          </a:solidFill>
          <a:ln w="12700">
            <a:solidFill>
              <a:srgbClr val="E09B21"/>
            </a:solidFill>
            <a:prstDash val="solid"/>
          </a:ln>
        </p:spPr>
      </p:sp>
      <p:sp>
        <p:nvSpPr>
          <p:cNvPr id="14" name="Text 12"/>
          <p:cNvSpPr/>
          <p:nvPr/>
        </p:nvSpPr>
        <p:spPr>
          <a:xfrm>
            <a:off x="8351520" y="1938528"/>
            <a:ext cx="3014472" cy="365760"/>
          </a:xfrm>
          <a:prstGeom prst="rect">
            <a:avLst/>
          </a:prstGeom>
          <a:noFill/>
          <a:ln/>
        </p:spPr>
        <p:txBody>
          <a:bodyPr wrap="square" lIns="0" tIns="0" rIns="0" bIns="0" rtlCol="0" anchor="t"/>
          <a:lstStyle/>
          <a:p>
            <a:pPr indent="0" marL="0">
              <a:buNone/>
            </a:pPr>
            <a:r>
              <a:rPr lang="en-US" sz="1700" b="1" dirty="0">
                <a:solidFill>
                  <a:srgbClr val="1A1633"/>
                </a:solidFill>
                <a:latin typeface="Cambria" pitchFamily="34" charset="0"/>
                <a:ea typeface="Cambria" pitchFamily="34" charset="-122"/>
                <a:cs typeface="Cambria" pitchFamily="34" charset="-120"/>
              </a:rPr>
              <a:t>The solution itself</a:t>
            </a:r>
            <a:endParaRPr lang="en-US" sz="1700" dirty="0"/>
          </a:p>
        </p:txBody>
      </p:sp>
      <p:sp>
        <p:nvSpPr>
          <p:cNvPr id="15" name="Text 13"/>
          <p:cNvSpPr/>
          <p:nvPr/>
        </p:nvSpPr>
        <p:spPr>
          <a:xfrm>
            <a:off x="8351520" y="2395728"/>
            <a:ext cx="3014472" cy="2743200"/>
          </a:xfrm>
          <a:prstGeom prst="rect">
            <a:avLst/>
          </a:prstGeom>
          <a:noFill/>
          <a:ln/>
        </p:spPr>
        <p:txBody>
          <a:bodyPr wrap="square" lIns="0" tIns="0" rIns="0" bIns="0" rtlCol="0" anchor="t"/>
          <a:lstStyle/>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Item-response probabilities (LCA) or profile means (LPA), in full</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A profile plot</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Class sizes and average posterior probabilities</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Class names, with the evidence for each name</a:t>
            </a:r>
            <a:endParaRPr lang="en-US" sz="1150" dirty="0"/>
          </a:p>
          <a:p>
            <a:pPr marL="203200" indent="-203200">
              <a:lnSpc>
                <a:spcPts val="2000"/>
              </a:lnSpc>
              <a:spcAft>
                <a:spcPts val="700"/>
              </a:spcAft>
              <a:buSzPct val="100000"/>
              <a:buChar char="•"/>
            </a:pPr>
            <a:r>
              <a:rPr lang="en-US" sz="1150" dirty="0">
                <a:solidFill>
                  <a:srgbClr val="6B6785"/>
                </a:solidFill>
                <a:latin typeface="Calibri" pitchFamily="34" charset="0"/>
                <a:ea typeface="Calibri" pitchFamily="34" charset="-122"/>
                <a:cs typeface="Calibri" pitchFamily="34" charset="-120"/>
              </a:rPr>
              <a:t>Any covariate or distal-outcome analysis, and the method used</a:t>
            </a:r>
            <a:endParaRPr lang="en-US" sz="1150" dirty="0"/>
          </a:p>
        </p:txBody>
      </p:sp>
      <p:sp>
        <p:nvSpPr>
          <p:cNvPr id="16" name="Shape 14"/>
          <p:cNvSpPr/>
          <p:nvPr/>
        </p:nvSpPr>
        <p:spPr>
          <a:xfrm>
            <a:off x="566928" y="5486400"/>
            <a:ext cx="11055096" cy="731520"/>
          </a:xfrm>
          <a:prstGeom prst="roundRect">
            <a:avLst>
              <a:gd name="adj" fmla="val 12500"/>
            </a:avLst>
          </a:prstGeom>
          <a:solidFill>
            <a:srgbClr val="EBE9F5"/>
          </a:solidFill>
          <a:ln w="12700">
            <a:solidFill>
              <a:srgbClr val="DBD8E8"/>
            </a:solidFill>
            <a:prstDash val="solid"/>
          </a:ln>
        </p:spPr>
      </p:sp>
      <p:sp>
        <p:nvSpPr>
          <p:cNvPr id="17" name="Text 15"/>
          <p:cNvSpPr/>
          <p:nvPr/>
        </p:nvSpPr>
        <p:spPr>
          <a:xfrm>
            <a:off x="886968" y="5486400"/>
            <a:ext cx="10415016" cy="731520"/>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The test:  </a:t>
            </a:r>
            <a:pPr indent="0" marL="0">
              <a:buNone/>
            </a:pPr>
            <a:r>
              <a:rPr lang="en-US" sz="1300" dirty="0">
                <a:solidFill>
                  <a:srgbClr val="6B6785"/>
                </a:solidFill>
                <a:latin typeface="Calibri" pitchFamily="34" charset="0"/>
                <a:ea typeface="Calibri" pitchFamily="34" charset="-122"/>
                <a:cs typeface="Calibri" pitchFamily="34" charset="-120"/>
              </a:rPr>
              <a:t>could a competent reader take your paper, your dataset and nothing else, and reproduce your class solution exactly? If not, something on this list is missing.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D9553C"/>
                </a:solidFill>
                <a:latin typeface="Calibri" pitchFamily="34" charset="0"/>
                <a:ea typeface="Calibri" pitchFamily="34" charset="-122"/>
                <a:cs typeface="Calibri" pitchFamily="34" charset="-120"/>
              </a:rPr>
              <a:t>EXERCISE</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1A1633"/>
                </a:solidFill>
                <a:latin typeface="Cambria" pitchFamily="34" charset="0"/>
                <a:ea typeface="Cambria" pitchFamily="34" charset="-122"/>
                <a:cs typeface="Cambria" pitchFamily="34" charset="-120"/>
              </a:rPr>
              <a:t>Your turn — 30 minutes</a:t>
            </a:r>
            <a:endParaRPr lang="en-US" sz="2900" dirty="0"/>
          </a:p>
        </p:txBody>
      </p:sp>
      <p:sp>
        <p:nvSpPr>
          <p:cNvPr id="4" name="Text 2"/>
          <p:cNvSpPr/>
          <p:nvPr/>
        </p:nvSpPr>
        <p:spPr>
          <a:xfrm>
            <a:off x="566928" y="1298448"/>
            <a:ext cx="11055096" cy="329184"/>
          </a:xfrm>
          <a:prstGeom prst="rect">
            <a:avLst/>
          </a:prstGeom>
          <a:noFill/>
          <a:ln/>
        </p:spPr>
        <p:txBody>
          <a:bodyPr wrap="square" lIns="0" tIns="0" rIns="0" bIns="0" rtlCol="0" anchor="t"/>
          <a:lstStyle/>
          <a:p>
            <a:pPr algn="l" indent="0" marL="0">
              <a:lnSpc>
                <a:spcPts val="2100"/>
              </a:lnSpc>
              <a:buNone/>
            </a:pPr>
            <a:r>
              <a:rPr lang="en-US" sz="1300" dirty="0">
                <a:solidFill>
                  <a:srgbClr val="6B6785"/>
                </a:solidFill>
                <a:latin typeface="Calibri" pitchFamily="34" charset="0"/>
                <a:ea typeface="Calibri" pitchFamily="34" charset="-122"/>
                <a:cs typeface="Calibri" pitchFamily="34" charset="-120"/>
              </a:rPr>
              <a:t>Open practical/lca_lpa_practical.R, run it top to bottom, then work through these five tasks.</a:t>
            </a:r>
            <a:endParaRPr lang="en-US" sz="1300" dirty="0"/>
          </a:p>
        </p:txBody>
      </p:sp>
      <p:sp>
        <p:nvSpPr>
          <p:cNvPr id="5" name="Shape 3"/>
          <p:cNvSpPr/>
          <p:nvPr/>
        </p:nvSpPr>
        <p:spPr>
          <a:xfrm>
            <a:off x="566928" y="1783080"/>
            <a:ext cx="11055096" cy="768096"/>
          </a:xfrm>
          <a:prstGeom prst="roundRect">
            <a:avLst>
              <a:gd name="adj" fmla="val 11905"/>
            </a:avLst>
          </a:prstGeom>
          <a:solidFill>
            <a:srgbClr val="F5F4FA"/>
          </a:solidFill>
          <a:ln w="12700">
            <a:solidFill>
              <a:srgbClr val="DBD8E8"/>
            </a:solidFill>
            <a:prstDash val="solid"/>
          </a:ln>
        </p:spPr>
      </p:sp>
      <p:sp>
        <p:nvSpPr>
          <p:cNvPr id="6" name="Shape 4"/>
          <p:cNvSpPr/>
          <p:nvPr/>
        </p:nvSpPr>
        <p:spPr>
          <a:xfrm>
            <a:off x="804672" y="1975104"/>
            <a:ext cx="384048" cy="384048"/>
          </a:xfrm>
          <a:prstGeom prst="ellipse">
            <a:avLst/>
          </a:prstGeom>
          <a:solidFill>
            <a:srgbClr val="D9553C"/>
          </a:solidFill>
          <a:ln w="12700">
            <a:solidFill>
              <a:srgbClr val="D9553C"/>
            </a:solidFill>
            <a:prstDash val="solid"/>
          </a:ln>
        </p:spPr>
      </p:sp>
      <p:sp>
        <p:nvSpPr>
          <p:cNvPr id="7" name="Text 5"/>
          <p:cNvSpPr/>
          <p:nvPr/>
        </p:nvSpPr>
        <p:spPr>
          <a:xfrm>
            <a:off x="804672" y="1975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53312" y="1901952"/>
            <a:ext cx="2514600" cy="274320"/>
          </a:xfrm>
          <a:prstGeom prst="rect">
            <a:avLst/>
          </a:prstGeom>
          <a:noFill/>
          <a:ln/>
        </p:spPr>
        <p:txBody>
          <a:bodyPr wrap="square" lIns="0" tIns="0" rIns="0" bIns="0" rtlCol="0" anchor="ctr"/>
          <a:lstStyle/>
          <a:p>
            <a:pPr indent="0" marL="0">
              <a:buNone/>
            </a:pPr>
            <a:r>
              <a:rPr lang="en-US" sz="1400" b="1" dirty="0">
                <a:solidFill>
                  <a:srgbClr val="1A1633"/>
                </a:solidFill>
                <a:latin typeface="Calibri" pitchFamily="34" charset="0"/>
                <a:ea typeface="Calibri" pitchFamily="34" charset="-122"/>
                <a:cs typeface="Calibri" pitchFamily="34" charset="-120"/>
              </a:rPr>
              <a:t>Build the fit table</a:t>
            </a:r>
            <a:endParaRPr lang="en-US" sz="1400" dirty="0"/>
          </a:p>
        </p:txBody>
      </p:sp>
      <p:sp>
        <p:nvSpPr>
          <p:cNvPr id="9" name="Text 7"/>
          <p:cNvSpPr/>
          <p:nvPr/>
        </p:nvSpPr>
        <p:spPr>
          <a:xfrm>
            <a:off x="1353312" y="2185416"/>
            <a:ext cx="10241280" cy="310896"/>
          </a:xfrm>
          <a:prstGeom prst="rect">
            <a:avLst/>
          </a:prstGeom>
          <a:noFill/>
          <a:ln/>
        </p:spPr>
        <p:txBody>
          <a:bodyPr wrap="square" lIns="0" tIns="0" rIns="0" bIns="0" rtlCol="0" anchor="t"/>
          <a:lstStyle/>
          <a:p>
            <a:pPr indent="0" marL="0">
              <a:buNone/>
            </a:pPr>
            <a:r>
              <a:rPr lang="en-US" sz="1150" dirty="0">
                <a:solidFill>
                  <a:srgbClr val="6B6785"/>
                </a:solidFill>
                <a:latin typeface="Calibri" pitchFamily="34" charset="0"/>
                <a:ea typeface="Calibri" pitchFamily="34" charset="-122"/>
                <a:cs typeface="Calibri" pitchFamily="34" charset="-120"/>
              </a:rPr>
              <a:t>Tabulate log-likelihood, AIC, BIC, aBIC, entropy and smallest class size. Which solution does BIC prefer?</a:t>
            </a:r>
            <a:endParaRPr lang="en-US" sz="1150" dirty="0"/>
          </a:p>
        </p:txBody>
      </p:sp>
      <p:sp>
        <p:nvSpPr>
          <p:cNvPr id="10" name="Shape 8"/>
          <p:cNvSpPr/>
          <p:nvPr/>
        </p:nvSpPr>
        <p:spPr>
          <a:xfrm>
            <a:off x="566928" y="2660904"/>
            <a:ext cx="11055096" cy="768096"/>
          </a:xfrm>
          <a:prstGeom prst="roundRect">
            <a:avLst>
              <a:gd name="adj" fmla="val 11905"/>
            </a:avLst>
          </a:prstGeom>
          <a:solidFill>
            <a:srgbClr val="FFFFFF"/>
          </a:solidFill>
          <a:ln w="12700">
            <a:solidFill>
              <a:srgbClr val="DBD8E8"/>
            </a:solidFill>
            <a:prstDash val="solid"/>
          </a:ln>
        </p:spPr>
      </p:sp>
      <p:sp>
        <p:nvSpPr>
          <p:cNvPr id="11" name="Shape 9"/>
          <p:cNvSpPr/>
          <p:nvPr/>
        </p:nvSpPr>
        <p:spPr>
          <a:xfrm>
            <a:off x="804672" y="2852928"/>
            <a:ext cx="384048" cy="384048"/>
          </a:xfrm>
          <a:prstGeom prst="ellipse">
            <a:avLst/>
          </a:prstGeom>
          <a:solidFill>
            <a:srgbClr val="1F8F82"/>
          </a:solidFill>
          <a:ln w="12700">
            <a:solidFill>
              <a:srgbClr val="1F8F82"/>
            </a:solidFill>
            <a:prstDash val="solid"/>
          </a:ln>
        </p:spPr>
      </p:sp>
      <p:sp>
        <p:nvSpPr>
          <p:cNvPr id="12" name="Text 10"/>
          <p:cNvSpPr/>
          <p:nvPr/>
        </p:nvSpPr>
        <p:spPr>
          <a:xfrm>
            <a:off x="804672"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53312" y="2779776"/>
            <a:ext cx="2514600" cy="274320"/>
          </a:xfrm>
          <a:prstGeom prst="rect">
            <a:avLst/>
          </a:prstGeom>
          <a:noFill/>
          <a:ln/>
        </p:spPr>
        <p:txBody>
          <a:bodyPr wrap="square" lIns="0" tIns="0" rIns="0" bIns="0" rtlCol="0" anchor="ctr"/>
          <a:lstStyle/>
          <a:p>
            <a:pPr indent="0" marL="0">
              <a:buNone/>
            </a:pPr>
            <a:r>
              <a:rPr lang="en-US" sz="1400" b="1" dirty="0">
                <a:solidFill>
                  <a:srgbClr val="1A1633"/>
                </a:solidFill>
                <a:latin typeface="Calibri" pitchFamily="34" charset="0"/>
                <a:ea typeface="Calibri" pitchFamily="34" charset="-122"/>
                <a:cs typeface="Calibri" pitchFamily="34" charset="-120"/>
              </a:rPr>
              <a:t>Defend a choice</a:t>
            </a:r>
            <a:endParaRPr lang="en-US" sz="1400" dirty="0"/>
          </a:p>
        </p:txBody>
      </p:sp>
      <p:sp>
        <p:nvSpPr>
          <p:cNvPr id="14" name="Text 12"/>
          <p:cNvSpPr/>
          <p:nvPr/>
        </p:nvSpPr>
        <p:spPr>
          <a:xfrm>
            <a:off x="1353312" y="3063240"/>
            <a:ext cx="10241280" cy="310896"/>
          </a:xfrm>
          <a:prstGeom prst="rect">
            <a:avLst/>
          </a:prstGeom>
          <a:noFill/>
          <a:ln/>
        </p:spPr>
        <p:txBody>
          <a:bodyPr wrap="square" lIns="0" tIns="0" rIns="0" bIns="0" rtlCol="0" anchor="t"/>
          <a:lstStyle/>
          <a:p>
            <a:pPr indent="0" marL="0">
              <a:buNone/>
            </a:pPr>
            <a:r>
              <a:rPr lang="en-US" sz="1150" dirty="0">
                <a:solidFill>
                  <a:srgbClr val="6B6785"/>
                </a:solidFill>
                <a:latin typeface="Calibri" pitchFamily="34" charset="0"/>
                <a:ea typeface="Calibri" pitchFamily="34" charset="-122"/>
                <a:cs typeface="Calibri" pitchFamily="34" charset="-120"/>
              </a:rPr>
              <a:t>Pick a solution and write two sentences justifying it — using at least one statistical and one substantive reason.</a:t>
            </a:r>
            <a:endParaRPr lang="en-US" sz="1150" dirty="0"/>
          </a:p>
        </p:txBody>
      </p:sp>
      <p:sp>
        <p:nvSpPr>
          <p:cNvPr id="15" name="Shape 13"/>
          <p:cNvSpPr/>
          <p:nvPr/>
        </p:nvSpPr>
        <p:spPr>
          <a:xfrm>
            <a:off x="566928" y="3538728"/>
            <a:ext cx="11055096" cy="768096"/>
          </a:xfrm>
          <a:prstGeom prst="roundRect">
            <a:avLst>
              <a:gd name="adj" fmla="val 11905"/>
            </a:avLst>
          </a:prstGeom>
          <a:solidFill>
            <a:srgbClr val="F5F4FA"/>
          </a:solidFill>
          <a:ln w="12700">
            <a:solidFill>
              <a:srgbClr val="DBD8E8"/>
            </a:solidFill>
            <a:prstDash val="solid"/>
          </a:ln>
        </p:spPr>
      </p:sp>
      <p:sp>
        <p:nvSpPr>
          <p:cNvPr id="16" name="Shape 14"/>
          <p:cNvSpPr/>
          <p:nvPr/>
        </p:nvSpPr>
        <p:spPr>
          <a:xfrm>
            <a:off x="804672" y="3730752"/>
            <a:ext cx="384048" cy="384048"/>
          </a:xfrm>
          <a:prstGeom prst="ellipse">
            <a:avLst/>
          </a:prstGeom>
          <a:solidFill>
            <a:srgbClr val="E09B21"/>
          </a:solidFill>
          <a:ln w="12700">
            <a:solidFill>
              <a:srgbClr val="E09B21"/>
            </a:solidFill>
            <a:prstDash val="solid"/>
          </a:ln>
        </p:spPr>
      </p:sp>
      <p:sp>
        <p:nvSpPr>
          <p:cNvPr id="17" name="Text 15"/>
          <p:cNvSpPr/>
          <p:nvPr/>
        </p:nvSpPr>
        <p:spPr>
          <a:xfrm>
            <a:off x="804672" y="37307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353312" y="3657600"/>
            <a:ext cx="2514600" cy="274320"/>
          </a:xfrm>
          <a:prstGeom prst="rect">
            <a:avLst/>
          </a:prstGeom>
          <a:noFill/>
          <a:ln/>
        </p:spPr>
        <p:txBody>
          <a:bodyPr wrap="square" lIns="0" tIns="0" rIns="0" bIns="0" rtlCol="0" anchor="ctr"/>
          <a:lstStyle/>
          <a:p>
            <a:pPr indent="0" marL="0">
              <a:buNone/>
            </a:pPr>
            <a:r>
              <a:rPr lang="en-US" sz="1400" b="1" dirty="0">
                <a:solidFill>
                  <a:srgbClr val="1A1633"/>
                </a:solidFill>
                <a:latin typeface="Calibri" pitchFamily="34" charset="0"/>
                <a:ea typeface="Calibri" pitchFamily="34" charset="-122"/>
                <a:cs typeface="Calibri" pitchFamily="34" charset="-120"/>
              </a:rPr>
              <a:t>Name the classes</a:t>
            </a:r>
            <a:endParaRPr lang="en-US" sz="1400" dirty="0"/>
          </a:p>
        </p:txBody>
      </p:sp>
      <p:sp>
        <p:nvSpPr>
          <p:cNvPr id="19" name="Text 17"/>
          <p:cNvSpPr/>
          <p:nvPr/>
        </p:nvSpPr>
        <p:spPr>
          <a:xfrm>
            <a:off x="1353312" y="3941064"/>
            <a:ext cx="10241280" cy="310896"/>
          </a:xfrm>
          <a:prstGeom prst="rect">
            <a:avLst/>
          </a:prstGeom>
          <a:noFill/>
          <a:ln/>
        </p:spPr>
        <p:txBody>
          <a:bodyPr wrap="square" lIns="0" tIns="0" rIns="0" bIns="0" rtlCol="0" anchor="t"/>
          <a:lstStyle/>
          <a:p>
            <a:pPr indent="0" marL="0">
              <a:buNone/>
            </a:pPr>
            <a:r>
              <a:rPr lang="en-US" sz="1150" dirty="0">
                <a:solidFill>
                  <a:srgbClr val="6B6785"/>
                </a:solidFill>
                <a:latin typeface="Calibri" pitchFamily="34" charset="0"/>
                <a:ea typeface="Calibri" pitchFamily="34" charset="-122"/>
                <a:cs typeface="Calibri" pitchFamily="34" charset="-120"/>
              </a:rPr>
              <a:t>Read the item-response probabilities and name each class. Then write down, for each name, what a sceptical reader could object to.</a:t>
            </a:r>
            <a:endParaRPr lang="en-US" sz="1150" dirty="0"/>
          </a:p>
        </p:txBody>
      </p:sp>
      <p:sp>
        <p:nvSpPr>
          <p:cNvPr id="20" name="Shape 18"/>
          <p:cNvSpPr/>
          <p:nvPr/>
        </p:nvSpPr>
        <p:spPr>
          <a:xfrm>
            <a:off x="566928" y="4416552"/>
            <a:ext cx="11055096" cy="768096"/>
          </a:xfrm>
          <a:prstGeom prst="roundRect">
            <a:avLst>
              <a:gd name="adj" fmla="val 11905"/>
            </a:avLst>
          </a:prstGeom>
          <a:solidFill>
            <a:srgbClr val="FFFFFF"/>
          </a:solidFill>
          <a:ln w="12700">
            <a:solidFill>
              <a:srgbClr val="DBD8E8"/>
            </a:solidFill>
            <a:prstDash val="solid"/>
          </a:ln>
        </p:spPr>
      </p:sp>
      <p:sp>
        <p:nvSpPr>
          <p:cNvPr id="21" name="Shape 19"/>
          <p:cNvSpPr/>
          <p:nvPr/>
        </p:nvSpPr>
        <p:spPr>
          <a:xfrm>
            <a:off x="804672" y="4608576"/>
            <a:ext cx="384048" cy="384048"/>
          </a:xfrm>
          <a:prstGeom prst="ellipse">
            <a:avLst/>
          </a:prstGeom>
          <a:solidFill>
            <a:srgbClr val="6F63C9"/>
          </a:solidFill>
          <a:ln w="12700">
            <a:solidFill>
              <a:srgbClr val="6F63C9"/>
            </a:solidFill>
            <a:prstDash val="solid"/>
          </a:ln>
        </p:spPr>
      </p:sp>
      <p:sp>
        <p:nvSpPr>
          <p:cNvPr id="22" name="Text 20"/>
          <p:cNvSpPr/>
          <p:nvPr/>
        </p:nvSpPr>
        <p:spPr>
          <a:xfrm>
            <a:off x="804672" y="46085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353312" y="4535424"/>
            <a:ext cx="2514600" cy="274320"/>
          </a:xfrm>
          <a:prstGeom prst="rect">
            <a:avLst/>
          </a:prstGeom>
          <a:noFill/>
          <a:ln/>
        </p:spPr>
        <p:txBody>
          <a:bodyPr wrap="square" lIns="0" tIns="0" rIns="0" bIns="0" rtlCol="0" anchor="ctr"/>
          <a:lstStyle/>
          <a:p>
            <a:pPr indent="0" marL="0">
              <a:buNone/>
            </a:pPr>
            <a:r>
              <a:rPr lang="en-US" sz="1400" b="1" dirty="0">
                <a:solidFill>
                  <a:srgbClr val="1A1633"/>
                </a:solidFill>
                <a:latin typeface="Calibri" pitchFamily="34" charset="0"/>
                <a:ea typeface="Calibri" pitchFamily="34" charset="-122"/>
                <a:cs typeface="Calibri" pitchFamily="34" charset="-120"/>
              </a:rPr>
              <a:t>Run the LPA</a:t>
            </a:r>
            <a:endParaRPr lang="en-US" sz="1400" dirty="0"/>
          </a:p>
        </p:txBody>
      </p:sp>
      <p:sp>
        <p:nvSpPr>
          <p:cNvPr id="24" name="Text 22"/>
          <p:cNvSpPr/>
          <p:nvPr/>
        </p:nvSpPr>
        <p:spPr>
          <a:xfrm>
            <a:off x="1353312" y="4818888"/>
            <a:ext cx="10241280" cy="310896"/>
          </a:xfrm>
          <a:prstGeom prst="rect">
            <a:avLst/>
          </a:prstGeom>
          <a:noFill/>
          <a:ln/>
        </p:spPr>
        <p:txBody>
          <a:bodyPr wrap="square" lIns="0" tIns="0" rIns="0" bIns="0" rtlCol="0" anchor="t"/>
          <a:lstStyle/>
          <a:p>
            <a:pPr indent="0" marL="0">
              <a:buNone/>
            </a:pPr>
            <a:r>
              <a:rPr lang="en-US" sz="1150" dirty="0">
                <a:solidFill>
                  <a:srgbClr val="6B6785"/>
                </a:solidFill>
                <a:latin typeface="Calibri" pitchFamily="34" charset="0"/>
                <a:ea typeface="Calibri" pitchFamily="34" charset="-122"/>
                <a:cs typeface="Calibri" pitchFamily="34" charset="-120"/>
              </a:rPr>
              <a:t>Repeat on the four continuous scales. Do the same people end up together? Cross-tabulate the two assignments.</a:t>
            </a:r>
            <a:endParaRPr lang="en-US" sz="1150" dirty="0"/>
          </a:p>
        </p:txBody>
      </p:sp>
      <p:sp>
        <p:nvSpPr>
          <p:cNvPr id="25" name="Shape 23"/>
          <p:cNvSpPr/>
          <p:nvPr/>
        </p:nvSpPr>
        <p:spPr>
          <a:xfrm>
            <a:off x="566928" y="5294376"/>
            <a:ext cx="11055096" cy="768096"/>
          </a:xfrm>
          <a:prstGeom prst="roundRect">
            <a:avLst>
              <a:gd name="adj" fmla="val 11905"/>
            </a:avLst>
          </a:prstGeom>
          <a:solidFill>
            <a:srgbClr val="F5F4FA"/>
          </a:solidFill>
          <a:ln w="12700">
            <a:solidFill>
              <a:srgbClr val="DBD8E8"/>
            </a:solidFill>
            <a:prstDash val="solid"/>
          </a:ln>
        </p:spPr>
      </p:sp>
      <p:sp>
        <p:nvSpPr>
          <p:cNvPr id="26" name="Shape 24"/>
          <p:cNvSpPr/>
          <p:nvPr/>
        </p:nvSpPr>
        <p:spPr>
          <a:xfrm>
            <a:off x="804672" y="5486400"/>
            <a:ext cx="384048" cy="384048"/>
          </a:xfrm>
          <a:prstGeom prst="ellipse">
            <a:avLst/>
          </a:prstGeom>
          <a:solidFill>
            <a:srgbClr val="B23A6B"/>
          </a:solidFill>
          <a:ln w="12700">
            <a:solidFill>
              <a:srgbClr val="B23A6B"/>
            </a:solidFill>
            <a:prstDash val="solid"/>
          </a:ln>
        </p:spPr>
      </p:sp>
      <p:sp>
        <p:nvSpPr>
          <p:cNvPr id="27" name="Text 25"/>
          <p:cNvSpPr/>
          <p:nvPr/>
        </p:nvSpPr>
        <p:spPr>
          <a:xfrm>
            <a:off x="804672" y="5486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1353312" y="5413248"/>
            <a:ext cx="2514600" cy="274320"/>
          </a:xfrm>
          <a:prstGeom prst="rect">
            <a:avLst/>
          </a:prstGeom>
          <a:noFill/>
          <a:ln/>
        </p:spPr>
        <p:txBody>
          <a:bodyPr wrap="square" lIns="0" tIns="0" rIns="0" bIns="0" rtlCol="0" anchor="ctr"/>
          <a:lstStyle/>
          <a:p>
            <a:pPr indent="0" marL="0">
              <a:buNone/>
            </a:pPr>
            <a:r>
              <a:rPr lang="en-US" sz="1400" b="1" dirty="0">
                <a:solidFill>
                  <a:srgbClr val="1A1633"/>
                </a:solidFill>
                <a:latin typeface="Calibri" pitchFamily="34" charset="0"/>
                <a:ea typeface="Calibri" pitchFamily="34" charset="-122"/>
                <a:cs typeface="Calibri" pitchFamily="34" charset="-120"/>
              </a:rPr>
              <a:t>Break it</a:t>
            </a:r>
            <a:endParaRPr lang="en-US" sz="1400" dirty="0"/>
          </a:p>
        </p:txBody>
      </p:sp>
      <p:sp>
        <p:nvSpPr>
          <p:cNvPr id="29" name="Text 27"/>
          <p:cNvSpPr/>
          <p:nvPr/>
        </p:nvSpPr>
        <p:spPr>
          <a:xfrm>
            <a:off x="1353312" y="5696712"/>
            <a:ext cx="10241280" cy="310896"/>
          </a:xfrm>
          <a:prstGeom prst="rect">
            <a:avLst/>
          </a:prstGeom>
          <a:noFill/>
          <a:ln/>
        </p:spPr>
        <p:txBody>
          <a:bodyPr wrap="square" lIns="0" tIns="0" rIns="0" bIns="0" rtlCol="0" anchor="t"/>
          <a:lstStyle/>
          <a:p>
            <a:pPr indent="0" marL="0">
              <a:buNone/>
            </a:pPr>
            <a:r>
              <a:rPr lang="en-US" sz="1150" dirty="0">
                <a:solidFill>
                  <a:srgbClr val="6B6785"/>
                </a:solidFill>
                <a:latin typeface="Calibri" pitchFamily="34" charset="0"/>
                <a:ea typeface="Calibri" pitchFamily="34" charset="-122"/>
                <a:cs typeface="Calibri" pitchFamily="34" charset="-120"/>
              </a:rPr>
              <a:t>Re-run the LCA with nrep = 1 and a different seed. Does the solution change? What does that tell you about reporting random starts?</a:t>
            </a:r>
            <a:endParaRPr lang="en-US" sz="1150" dirty="0"/>
          </a:p>
        </p:txBody>
      </p:sp>
      <p:sp>
        <p:nvSpPr>
          <p:cNvPr id="30" name="Text 28"/>
          <p:cNvSpPr/>
          <p:nvPr/>
        </p:nvSpPr>
        <p:spPr>
          <a:xfrm>
            <a:off x="566928" y="6236208"/>
            <a:ext cx="11055096" cy="274320"/>
          </a:xfrm>
          <a:prstGeom prst="rect">
            <a:avLst/>
          </a:prstGeom>
          <a:noFill/>
          <a:ln/>
        </p:spPr>
        <p:txBody>
          <a:bodyPr wrap="square" lIns="0" tIns="0" rIns="0" bIns="0" rtlCol="0" anchor="ctr"/>
          <a:lstStyle/>
          <a:p>
            <a:pPr indent="0" marL="0">
              <a:buNone/>
            </a:pPr>
            <a:r>
              <a:rPr lang="en-US" sz="1100" i="1" dirty="0">
                <a:solidFill>
                  <a:srgbClr val="B23A6B"/>
                </a:solidFill>
                <a:latin typeface="Calibri" pitchFamily="34" charset="0"/>
                <a:ea typeface="Calibri" pitchFamily="34" charset="-122"/>
                <a:cs typeface="Calibri" pitchFamily="34" charset="-120"/>
              </a:rPr>
              <a:t>Task 5 is the one to do if you only have time for one — it shows you, on your own screen, why random starts are not optional.</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A2356"/>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200" kern="0" dirty="0">
                <a:solidFill>
                  <a:srgbClr val="E09B21"/>
                </a:solidFill>
                <a:latin typeface="Calibri" pitchFamily="34" charset="0"/>
                <a:ea typeface="Calibri" pitchFamily="34" charset="-122"/>
                <a:cs typeface="Calibri" pitchFamily="34" charset="-120"/>
              </a:rPr>
              <a:t>RESOURCES</a:t>
            </a:r>
            <a:endParaRPr lang="en-US" sz="1100" dirty="0"/>
          </a:p>
        </p:txBody>
      </p:sp>
      <p:sp>
        <p:nvSpPr>
          <p:cNvPr id="3" name="Text 1"/>
          <p:cNvSpPr/>
          <p:nvPr/>
        </p:nvSpPr>
        <p:spPr>
          <a:xfrm>
            <a:off x="566928" y="640080"/>
            <a:ext cx="11055096" cy="603504"/>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Where to go next</a:t>
            </a:r>
            <a:endParaRPr lang="en-US" sz="2900" dirty="0"/>
          </a:p>
        </p:txBody>
      </p:sp>
      <p:sp>
        <p:nvSpPr>
          <p:cNvPr id="4" name="Shape 2"/>
          <p:cNvSpPr/>
          <p:nvPr/>
        </p:nvSpPr>
        <p:spPr>
          <a:xfrm>
            <a:off x="566928" y="1325880"/>
            <a:ext cx="5486400" cy="3127248"/>
          </a:xfrm>
          <a:prstGeom prst="roundRect">
            <a:avLst>
              <a:gd name="adj" fmla="val 2924"/>
            </a:avLst>
          </a:prstGeom>
          <a:solidFill>
            <a:srgbClr val="393177"/>
          </a:solidFill>
          <a:ln w="9525">
            <a:solidFill>
              <a:srgbClr val="393177"/>
            </a:solidFill>
            <a:prstDash val="solid"/>
          </a:ln>
        </p:spPr>
      </p:sp>
      <p:sp>
        <p:nvSpPr>
          <p:cNvPr id="5" name="Text 3"/>
          <p:cNvSpPr/>
          <p:nvPr/>
        </p:nvSpPr>
        <p:spPr>
          <a:xfrm>
            <a:off x="877824" y="1499616"/>
            <a:ext cx="4846320" cy="310896"/>
          </a:xfrm>
          <a:prstGeom prst="rect">
            <a:avLst/>
          </a:prstGeom>
          <a:noFill/>
          <a:ln/>
        </p:spPr>
        <p:txBody>
          <a:bodyPr wrap="square" lIns="0" tIns="0" rIns="0" bIns="0" rtlCol="0" anchor="ctr"/>
          <a:lstStyle/>
          <a:p>
            <a:pPr indent="0" marL="0">
              <a:buNone/>
            </a:pPr>
            <a:r>
              <a:rPr lang="en-US" sz="1900" b="1" dirty="0">
                <a:solidFill>
                  <a:srgbClr val="E09B21"/>
                </a:solidFill>
                <a:latin typeface="Cambria" pitchFamily="34" charset="0"/>
                <a:ea typeface="Cambria" pitchFamily="34" charset="-122"/>
                <a:cs typeface="Cambria" pitchFamily="34" charset="-120"/>
              </a:rPr>
              <a:t>Read these four</a:t>
            </a:r>
            <a:endParaRPr lang="en-US" sz="1900" dirty="0"/>
          </a:p>
        </p:txBody>
      </p:sp>
      <p:sp>
        <p:nvSpPr>
          <p:cNvPr id="6" name="Shape 4"/>
          <p:cNvSpPr/>
          <p:nvPr/>
        </p:nvSpPr>
        <p:spPr>
          <a:xfrm>
            <a:off x="877824" y="1965960"/>
            <a:ext cx="146304" cy="146304"/>
          </a:xfrm>
          <a:prstGeom prst="ellipse">
            <a:avLst/>
          </a:prstGeom>
          <a:solidFill>
            <a:srgbClr val="E09B21"/>
          </a:solidFill>
          <a:ln w="12700">
            <a:solidFill>
              <a:srgbClr val="E09B21"/>
            </a:solidFill>
            <a:prstDash val="solid"/>
          </a:ln>
        </p:spPr>
      </p:sp>
      <p:sp>
        <p:nvSpPr>
          <p:cNvPr id="7" name="Text 5"/>
          <p:cNvSpPr/>
          <p:nvPr/>
        </p:nvSpPr>
        <p:spPr>
          <a:xfrm>
            <a:off x="1133856" y="1901952"/>
            <a:ext cx="45720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Collins &amp; Lanza (2010)</a:t>
            </a:r>
            <a:endParaRPr lang="en-US" sz="1200" dirty="0"/>
          </a:p>
        </p:txBody>
      </p:sp>
      <p:sp>
        <p:nvSpPr>
          <p:cNvPr id="8" name="Text 6"/>
          <p:cNvSpPr/>
          <p:nvPr/>
        </p:nvSpPr>
        <p:spPr>
          <a:xfrm>
            <a:off x="1133856" y="2121408"/>
            <a:ext cx="4572000" cy="310896"/>
          </a:xfrm>
          <a:prstGeom prst="rect">
            <a:avLst/>
          </a:prstGeom>
          <a:noFill/>
          <a:ln/>
        </p:spPr>
        <p:txBody>
          <a:bodyPr wrap="square" lIns="0" tIns="0" rIns="0" bIns="0" rtlCol="0" anchor="t"/>
          <a:lstStyle/>
          <a:p>
            <a:pPr indent="0" marL="0">
              <a:lnSpc>
                <a:spcPts val="1300"/>
              </a:lnSpc>
              <a:buNone/>
            </a:pPr>
            <a:r>
              <a:rPr lang="en-US" sz="1050" dirty="0">
                <a:solidFill>
                  <a:srgbClr val="AEA8D0"/>
                </a:solidFill>
                <a:latin typeface="Calibri" pitchFamily="34" charset="0"/>
                <a:ea typeface="Calibri" pitchFamily="34" charset="-122"/>
                <a:cs typeface="Calibri" pitchFamily="34" charset="-120"/>
              </a:rPr>
              <a:t>Latent Class and Latent Transition Analysis. The standard book-length treatment.</a:t>
            </a:r>
            <a:endParaRPr lang="en-US" sz="1050" dirty="0"/>
          </a:p>
        </p:txBody>
      </p:sp>
      <p:sp>
        <p:nvSpPr>
          <p:cNvPr id="9" name="Shape 7"/>
          <p:cNvSpPr/>
          <p:nvPr/>
        </p:nvSpPr>
        <p:spPr>
          <a:xfrm>
            <a:off x="877824" y="2587752"/>
            <a:ext cx="146304" cy="146304"/>
          </a:xfrm>
          <a:prstGeom prst="ellipse">
            <a:avLst/>
          </a:prstGeom>
          <a:solidFill>
            <a:srgbClr val="E09B21"/>
          </a:solidFill>
          <a:ln w="12700">
            <a:solidFill>
              <a:srgbClr val="E09B21"/>
            </a:solidFill>
            <a:prstDash val="solid"/>
          </a:ln>
        </p:spPr>
      </p:sp>
      <p:sp>
        <p:nvSpPr>
          <p:cNvPr id="10" name="Text 8"/>
          <p:cNvSpPr/>
          <p:nvPr/>
        </p:nvSpPr>
        <p:spPr>
          <a:xfrm>
            <a:off x="1133856" y="2523744"/>
            <a:ext cx="45720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Nylund, Asparouhov &amp; Muthén (2007)</a:t>
            </a:r>
            <a:endParaRPr lang="en-US" sz="1200" dirty="0"/>
          </a:p>
        </p:txBody>
      </p:sp>
      <p:sp>
        <p:nvSpPr>
          <p:cNvPr id="11" name="Text 9"/>
          <p:cNvSpPr/>
          <p:nvPr/>
        </p:nvSpPr>
        <p:spPr>
          <a:xfrm>
            <a:off x="1133856" y="2743200"/>
            <a:ext cx="4572000" cy="310896"/>
          </a:xfrm>
          <a:prstGeom prst="rect">
            <a:avLst/>
          </a:prstGeom>
          <a:noFill/>
          <a:ln/>
        </p:spPr>
        <p:txBody>
          <a:bodyPr wrap="square" lIns="0" tIns="0" rIns="0" bIns="0" rtlCol="0" anchor="t"/>
          <a:lstStyle/>
          <a:p>
            <a:pPr indent="0" marL="0">
              <a:lnSpc>
                <a:spcPts val="1300"/>
              </a:lnSpc>
              <a:buNone/>
            </a:pPr>
            <a:r>
              <a:rPr lang="en-US" sz="1050" dirty="0">
                <a:solidFill>
                  <a:srgbClr val="AEA8D0"/>
                </a:solidFill>
                <a:latin typeface="Calibri" pitchFamily="34" charset="0"/>
                <a:ea typeface="Calibri" pitchFamily="34" charset="-122"/>
                <a:cs typeface="Calibri" pitchFamily="34" charset="-120"/>
              </a:rPr>
              <a:t>The simulation study behind every “we used BLRT” sentence you will ever write.</a:t>
            </a:r>
            <a:endParaRPr lang="en-US" sz="1050" dirty="0"/>
          </a:p>
        </p:txBody>
      </p:sp>
      <p:sp>
        <p:nvSpPr>
          <p:cNvPr id="12" name="Shape 10"/>
          <p:cNvSpPr/>
          <p:nvPr/>
        </p:nvSpPr>
        <p:spPr>
          <a:xfrm>
            <a:off x="877824" y="3209544"/>
            <a:ext cx="146304" cy="146304"/>
          </a:xfrm>
          <a:prstGeom prst="ellipse">
            <a:avLst/>
          </a:prstGeom>
          <a:solidFill>
            <a:srgbClr val="E09B21"/>
          </a:solidFill>
          <a:ln w="12700">
            <a:solidFill>
              <a:srgbClr val="E09B21"/>
            </a:solidFill>
            <a:prstDash val="solid"/>
          </a:ln>
        </p:spPr>
      </p:sp>
      <p:sp>
        <p:nvSpPr>
          <p:cNvPr id="13" name="Text 11"/>
          <p:cNvSpPr/>
          <p:nvPr/>
        </p:nvSpPr>
        <p:spPr>
          <a:xfrm>
            <a:off x="1133856" y="3145536"/>
            <a:ext cx="45720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Masyn (2013)</a:t>
            </a:r>
            <a:endParaRPr lang="en-US" sz="1200" dirty="0"/>
          </a:p>
        </p:txBody>
      </p:sp>
      <p:sp>
        <p:nvSpPr>
          <p:cNvPr id="14" name="Text 12"/>
          <p:cNvSpPr/>
          <p:nvPr/>
        </p:nvSpPr>
        <p:spPr>
          <a:xfrm>
            <a:off x="1133856" y="3364992"/>
            <a:ext cx="4572000" cy="310896"/>
          </a:xfrm>
          <a:prstGeom prst="rect">
            <a:avLst/>
          </a:prstGeom>
          <a:noFill/>
          <a:ln/>
        </p:spPr>
        <p:txBody>
          <a:bodyPr wrap="square" lIns="0" tIns="0" rIns="0" bIns="0" rtlCol="0" anchor="t"/>
          <a:lstStyle/>
          <a:p>
            <a:pPr indent="0" marL="0">
              <a:lnSpc>
                <a:spcPts val="1300"/>
              </a:lnSpc>
              <a:buNone/>
            </a:pPr>
            <a:r>
              <a:rPr lang="en-US" sz="1050" dirty="0">
                <a:solidFill>
                  <a:srgbClr val="AEA8D0"/>
                </a:solidFill>
                <a:latin typeface="Calibri" pitchFamily="34" charset="0"/>
                <a:ea typeface="Calibri" pitchFamily="34" charset="-122"/>
                <a:cs typeface="Calibri" pitchFamily="34" charset="-120"/>
              </a:rPr>
              <a:t>Latent class analysis and finite mixture modeling — the chapter to read before your first real model.</a:t>
            </a:r>
            <a:endParaRPr lang="en-US" sz="1050" dirty="0"/>
          </a:p>
        </p:txBody>
      </p:sp>
      <p:sp>
        <p:nvSpPr>
          <p:cNvPr id="15" name="Shape 13"/>
          <p:cNvSpPr/>
          <p:nvPr/>
        </p:nvSpPr>
        <p:spPr>
          <a:xfrm>
            <a:off x="877824" y="3831336"/>
            <a:ext cx="146304" cy="146304"/>
          </a:xfrm>
          <a:prstGeom prst="ellipse">
            <a:avLst/>
          </a:prstGeom>
          <a:solidFill>
            <a:srgbClr val="E09B21"/>
          </a:solidFill>
          <a:ln w="12700">
            <a:solidFill>
              <a:srgbClr val="E09B21"/>
            </a:solidFill>
            <a:prstDash val="solid"/>
          </a:ln>
        </p:spPr>
      </p:sp>
      <p:sp>
        <p:nvSpPr>
          <p:cNvPr id="16" name="Text 14"/>
          <p:cNvSpPr/>
          <p:nvPr/>
        </p:nvSpPr>
        <p:spPr>
          <a:xfrm>
            <a:off x="1133856" y="3767328"/>
            <a:ext cx="45720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Weller, Bowen &amp; Faubert (2020)</a:t>
            </a:r>
            <a:endParaRPr lang="en-US" sz="1200" dirty="0"/>
          </a:p>
        </p:txBody>
      </p:sp>
      <p:sp>
        <p:nvSpPr>
          <p:cNvPr id="17" name="Text 15"/>
          <p:cNvSpPr/>
          <p:nvPr/>
        </p:nvSpPr>
        <p:spPr>
          <a:xfrm>
            <a:off x="1133856" y="3986784"/>
            <a:ext cx="4572000" cy="310896"/>
          </a:xfrm>
          <a:prstGeom prst="rect">
            <a:avLst/>
          </a:prstGeom>
          <a:noFill/>
          <a:ln/>
        </p:spPr>
        <p:txBody>
          <a:bodyPr wrap="square" lIns="0" tIns="0" rIns="0" bIns="0" rtlCol="0" anchor="t"/>
          <a:lstStyle/>
          <a:p>
            <a:pPr indent="0" marL="0">
              <a:lnSpc>
                <a:spcPts val="1300"/>
              </a:lnSpc>
              <a:buNone/>
            </a:pPr>
            <a:r>
              <a:rPr lang="en-US" sz="1050" dirty="0">
                <a:solidFill>
                  <a:srgbClr val="AEA8D0"/>
                </a:solidFill>
                <a:latin typeface="Calibri" pitchFamily="34" charset="0"/>
                <a:ea typeface="Calibri" pitchFamily="34" charset="-122"/>
                <a:cs typeface="Calibri" pitchFamily="34" charset="-120"/>
              </a:rPr>
              <a:t>A short, practical LCA guide aimed squarely at applied researchers.</a:t>
            </a:r>
            <a:endParaRPr lang="en-US" sz="1050" dirty="0"/>
          </a:p>
        </p:txBody>
      </p:sp>
      <p:sp>
        <p:nvSpPr>
          <p:cNvPr id="18" name="Shape 16"/>
          <p:cNvSpPr/>
          <p:nvPr/>
        </p:nvSpPr>
        <p:spPr>
          <a:xfrm>
            <a:off x="6382512" y="1325880"/>
            <a:ext cx="5239512" cy="3127248"/>
          </a:xfrm>
          <a:prstGeom prst="roundRect">
            <a:avLst>
              <a:gd name="adj" fmla="val 2924"/>
            </a:avLst>
          </a:prstGeom>
          <a:solidFill>
            <a:srgbClr val="393177"/>
          </a:solidFill>
          <a:ln w="9525">
            <a:solidFill>
              <a:srgbClr val="393177"/>
            </a:solidFill>
            <a:prstDash val="solid"/>
          </a:ln>
        </p:spPr>
      </p:sp>
      <p:sp>
        <p:nvSpPr>
          <p:cNvPr id="19" name="Text 17"/>
          <p:cNvSpPr/>
          <p:nvPr/>
        </p:nvSpPr>
        <p:spPr>
          <a:xfrm>
            <a:off x="6693408" y="1499616"/>
            <a:ext cx="4663440" cy="310896"/>
          </a:xfrm>
          <a:prstGeom prst="rect">
            <a:avLst/>
          </a:prstGeom>
          <a:noFill/>
          <a:ln/>
        </p:spPr>
        <p:txBody>
          <a:bodyPr wrap="square" lIns="0" tIns="0" rIns="0" bIns="0" rtlCol="0" anchor="ctr"/>
          <a:lstStyle/>
          <a:p>
            <a:pPr indent="0" marL="0">
              <a:buNone/>
            </a:pPr>
            <a:r>
              <a:rPr lang="en-US" sz="1900" b="1" dirty="0">
                <a:solidFill>
                  <a:srgbClr val="1F8F82"/>
                </a:solidFill>
                <a:latin typeface="Cambria" pitchFamily="34" charset="0"/>
                <a:ea typeface="Cambria" pitchFamily="34" charset="-122"/>
                <a:cs typeface="Cambria" pitchFamily="34" charset="-120"/>
              </a:rPr>
              <a:t>Tools and documentation</a:t>
            </a:r>
            <a:endParaRPr lang="en-US" sz="1900" dirty="0"/>
          </a:p>
        </p:txBody>
      </p:sp>
      <p:sp>
        <p:nvSpPr>
          <p:cNvPr id="20" name="Shape 18"/>
          <p:cNvSpPr/>
          <p:nvPr/>
        </p:nvSpPr>
        <p:spPr>
          <a:xfrm>
            <a:off x="6693408" y="1965960"/>
            <a:ext cx="146304" cy="146304"/>
          </a:xfrm>
          <a:prstGeom prst="ellipse">
            <a:avLst/>
          </a:prstGeom>
          <a:solidFill>
            <a:srgbClr val="1F8F82"/>
          </a:solidFill>
          <a:ln w="12700">
            <a:solidFill>
              <a:srgbClr val="1F8F82"/>
            </a:solidFill>
            <a:prstDash val="solid"/>
          </a:ln>
        </p:spPr>
      </p:sp>
      <p:sp>
        <p:nvSpPr>
          <p:cNvPr id="21" name="Text 19"/>
          <p:cNvSpPr/>
          <p:nvPr/>
        </p:nvSpPr>
        <p:spPr>
          <a:xfrm>
            <a:off x="6949440" y="1901952"/>
            <a:ext cx="4297680" cy="23774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poLCA</a:t>
            </a:r>
            <a:endParaRPr lang="en-US" sz="1200" dirty="0"/>
          </a:p>
        </p:txBody>
      </p:sp>
      <p:sp>
        <p:nvSpPr>
          <p:cNvPr id="22" name="Text 20"/>
          <p:cNvSpPr/>
          <p:nvPr/>
        </p:nvSpPr>
        <p:spPr>
          <a:xfrm>
            <a:off x="6949440" y="2121408"/>
            <a:ext cx="4297680" cy="310896"/>
          </a:xfrm>
          <a:prstGeom prst="rect">
            <a:avLst/>
          </a:prstGeom>
          <a:noFill/>
          <a:ln/>
        </p:spPr>
        <p:txBody>
          <a:bodyPr wrap="square" lIns="0" tIns="0" rIns="0" bIns="0" rtlCol="0" anchor="t"/>
          <a:lstStyle/>
          <a:p>
            <a:pPr indent="0" marL="0">
              <a:lnSpc>
                <a:spcPts val="1300"/>
              </a:lnSpc>
              <a:buNone/>
            </a:pPr>
            <a:r>
              <a:rPr lang="en-US" sz="1050" dirty="0">
                <a:solidFill>
                  <a:srgbClr val="AEA8D0"/>
                </a:solidFill>
                <a:latin typeface="Calibri" pitchFamily="34" charset="0"/>
                <a:ea typeface="Calibri" pitchFamily="34" charset="-122"/>
                <a:cs typeface="Calibri" pitchFamily="34" charset="-120"/>
              </a:rPr>
              <a:t>vignette("poLCA") — LCA for categorical indicators in R</a:t>
            </a:r>
            <a:endParaRPr lang="en-US" sz="1050" dirty="0"/>
          </a:p>
        </p:txBody>
      </p:sp>
      <p:sp>
        <p:nvSpPr>
          <p:cNvPr id="23" name="Shape 21"/>
          <p:cNvSpPr/>
          <p:nvPr/>
        </p:nvSpPr>
        <p:spPr>
          <a:xfrm>
            <a:off x="6693408" y="2587752"/>
            <a:ext cx="146304" cy="146304"/>
          </a:xfrm>
          <a:prstGeom prst="ellipse">
            <a:avLst/>
          </a:prstGeom>
          <a:solidFill>
            <a:srgbClr val="1F8F82"/>
          </a:solidFill>
          <a:ln w="12700">
            <a:solidFill>
              <a:srgbClr val="1F8F82"/>
            </a:solidFill>
            <a:prstDash val="solid"/>
          </a:ln>
        </p:spPr>
      </p:sp>
      <p:sp>
        <p:nvSpPr>
          <p:cNvPr id="24" name="Text 22"/>
          <p:cNvSpPr/>
          <p:nvPr/>
        </p:nvSpPr>
        <p:spPr>
          <a:xfrm>
            <a:off x="6949440" y="2523744"/>
            <a:ext cx="4297680" cy="23774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tidyLPA</a:t>
            </a:r>
            <a:endParaRPr lang="en-US" sz="1200" dirty="0"/>
          </a:p>
        </p:txBody>
      </p:sp>
      <p:sp>
        <p:nvSpPr>
          <p:cNvPr id="25" name="Text 23"/>
          <p:cNvSpPr/>
          <p:nvPr/>
        </p:nvSpPr>
        <p:spPr>
          <a:xfrm>
            <a:off x="6949440" y="2743200"/>
            <a:ext cx="4297680" cy="310896"/>
          </a:xfrm>
          <a:prstGeom prst="rect">
            <a:avLst/>
          </a:prstGeom>
          <a:noFill/>
          <a:ln/>
        </p:spPr>
        <p:txBody>
          <a:bodyPr wrap="square" lIns="0" tIns="0" rIns="0" bIns="0" rtlCol="0" anchor="t"/>
          <a:lstStyle/>
          <a:p>
            <a:pPr indent="0" marL="0">
              <a:lnSpc>
                <a:spcPts val="1300"/>
              </a:lnSpc>
              <a:buNone/>
            </a:pPr>
            <a:r>
              <a:rPr lang="en-US" sz="1050" dirty="0">
                <a:solidFill>
                  <a:srgbClr val="AEA8D0"/>
                </a:solidFill>
                <a:latin typeface="Calibri" pitchFamily="34" charset="0"/>
                <a:ea typeface="Calibri" pitchFamily="34" charset="-122"/>
                <a:cs typeface="Calibri" pitchFamily="34" charset="-120"/>
              </a:rPr>
              <a:t>tidyLPA.info — LPA in R, with an optional Mplus back end</a:t>
            </a:r>
            <a:endParaRPr lang="en-US" sz="1050" dirty="0"/>
          </a:p>
        </p:txBody>
      </p:sp>
      <p:sp>
        <p:nvSpPr>
          <p:cNvPr id="26" name="Shape 24"/>
          <p:cNvSpPr/>
          <p:nvPr/>
        </p:nvSpPr>
        <p:spPr>
          <a:xfrm>
            <a:off x="6693408" y="3209544"/>
            <a:ext cx="146304" cy="146304"/>
          </a:xfrm>
          <a:prstGeom prst="ellipse">
            <a:avLst/>
          </a:prstGeom>
          <a:solidFill>
            <a:srgbClr val="1F8F82"/>
          </a:solidFill>
          <a:ln w="12700">
            <a:solidFill>
              <a:srgbClr val="1F8F82"/>
            </a:solidFill>
            <a:prstDash val="solid"/>
          </a:ln>
        </p:spPr>
      </p:sp>
      <p:sp>
        <p:nvSpPr>
          <p:cNvPr id="27" name="Text 25"/>
          <p:cNvSpPr/>
          <p:nvPr/>
        </p:nvSpPr>
        <p:spPr>
          <a:xfrm>
            <a:off x="6949440" y="3145536"/>
            <a:ext cx="4297680" cy="23774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mclust</a:t>
            </a:r>
            <a:endParaRPr lang="en-US" sz="1200" dirty="0"/>
          </a:p>
        </p:txBody>
      </p:sp>
      <p:sp>
        <p:nvSpPr>
          <p:cNvPr id="28" name="Text 26"/>
          <p:cNvSpPr/>
          <p:nvPr/>
        </p:nvSpPr>
        <p:spPr>
          <a:xfrm>
            <a:off x="6949440" y="3364992"/>
            <a:ext cx="4297680" cy="310896"/>
          </a:xfrm>
          <a:prstGeom prst="rect">
            <a:avLst/>
          </a:prstGeom>
          <a:noFill/>
          <a:ln/>
        </p:spPr>
        <p:txBody>
          <a:bodyPr wrap="square" lIns="0" tIns="0" rIns="0" bIns="0" rtlCol="0" anchor="t"/>
          <a:lstStyle/>
          <a:p>
            <a:pPr indent="0" marL="0">
              <a:lnSpc>
                <a:spcPts val="1300"/>
              </a:lnSpc>
              <a:buNone/>
            </a:pPr>
            <a:r>
              <a:rPr lang="en-US" sz="1050" dirty="0">
                <a:solidFill>
                  <a:srgbClr val="AEA8D0"/>
                </a:solidFill>
                <a:latin typeface="Calibri" pitchFamily="34" charset="0"/>
                <a:ea typeface="Calibri" pitchFamily="34" charset="-122"/>
                <a:cs typeface="Calibri" pitchFamily="34" charset="-120"/>
              </a:rPr>
              <a:t>The Gaussian mixture engine underneath tidyLPA</a:t>
            </a:r>
            <a:endParaRPr lang="en-US" sz="1050" dirty="0"/>
          </a:p>
        </p:txBody>
      </p:sp>
      <p:sp>
        <p:nvSpPr>
          <p:cNvPr id="29" name="Shape 27"/>
          <p:cNvSpPr/>
          <p:nvPr/>
        </p:nvSpPr>
        <p:spPr>
          <a:xfrm>
            <a:off x="6693408" y="3831336"/>
            <a:ext cx="146304" cy="146304"/>
          </a:xfrm>
          <a:prstGeom prst="ellipse">
            <a:avLst/>
          </a:prstGeom>
          <a:solidFill>
            <a:srgbClr val="1F8F82"/>
          </a:solidFill>
          <a:ln w="12700">
            <a:solidFill>
              <a:srgbClr val="1F8F82"/>
            </a:solidFill>
            <a:prstDash val="solid"/>
          </a:ln>
        </p:spPr>
      </p:sp>
      <p:sp>
        <p:nvSpPr>
          <p:cNvPr id="30" name="Text 28"/>
          <p:cNvSpPr/>
          <p:nvPr/>
        </p:nvSpPr>
        <p:spPr>
          <a:xfrm>
            <a:off x="6949440" y="3767328"/>
            <a:ext cx="4297680" cy="23774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MplusAutomation</a:t>
            </a:r>
            <a:endParaRPr lang="en-US" sz="1200" dirty="0"/>
          </a:p>
        </p:txBody>
      </p:sp>
      <p:sp>
        <p:nvSpPr>
          <p:cNvPr id="31" name="Text 29"/>
          <p:cNvSpPr/>
          <p:nvPr/>
        </p:nvSpPr>
        <p:spPr>
          <a:xfrm>
            <a:off x="6949440" y="3986784"/>
            <a:ext cx="4297680" cy="310896"/>
          </a:xfrm>
          <a:prstGeom prst="rect">
            <a:avLst/>
          </a:prstGeom>
          <a:noFill/>
          <a:ln/>
        </p:spPr>
        <p:txBody>
          <a:bodyPr wrap="square" lIns="0" tIns="0" rIns="0" bIns="0" rtlCol="0" anchor="t"/>
          <a:lstStyle/>
          <a:p>
            <a:pPr indent="0" marL="0">
              <a:lnSpc>
                <a:spcPts val="1300"/>
              </a:lnSpc>
              <a:buNone/>
            </a:pPr>
            <a:r>
              <a:rPr lang="en-US" sz="1050" dirty="0">
                <a:solidFill>
                  <a:srgbClr val="AEA8D0"/>
                </a:solidFill>
                <a:latin typeface="Calibri" pitchFamily="34" charset="0"/>
                <a:ea typeface="Calibri" pitchFamily="34" charset="-122"/>
                <a:cs typeface="Calibri" pitchFamily="34" charset="-120"/>
              </a:rPr>
              <a:t>Drive Mplus from R and pull results back into a data frame</a:t>
            </a:r>
            <a:endParaRPr lang="en-US" sz="1050" dirty="0"/>
          </a:p>
        </p:txBody>
      </p:sp>
      <p:sp>
        <p:nvSpPr>
          <p:cNvPr id="32" name="Shape 30"/>
          <p:cNvSpPr/>
          <p:nvPr/>
        </p:nvSpPr>
        <p:spPr>
          <a:xfrm>
            <a:off x="566928" y="4572000"/>
            <a:ext cx="11055096" cy="1572768"/>
          </a:xfrm>
          <a:prstGeom prst="roundRect">
            <a:avLst>
              <a:gd name="adj" fmla="val 5814"/>
            </a:avLst>
          </a:prstGeom>
          <a:solidFill>
            <a:srgbClr val="3D2A57"/>
          </a:solidFill>
          <a:ln w="9525">
            <a:solidFill>
              <a:srgbClr val="3D2A57"/>
            </a:solidFill>
            <a:prstDash val="solid"/>
          </a:ln>
        </p:spPr>
      </p:sp>
      <p:sp>
        <p:nvSpPr>
          <p:cNvPr id="33" name="Text 31"/>
          <p:cNvSpPr/>
          <p:nvPr/>
        </p:nvSpPr>
        <p:spPr>
          <a:xfrm>
            <a:off x="978408" y="4754880"/>
            <a:ext cx="5029200" cy="274320"/>
          </a:xfrm>
          <a:prstGeom prst="rect">
            <a:avLst/>
          </a:prstGeom>
          <a:noFill/>
          <a:ln/>
        </p:spPr>
        <p:txBody>
          <a:bodyPr wrap="square" lIns="0" tIns="0" rIns="0" bIns="0" rtlCol="0" anchor="ctr"/>
          <a:lstStyle/>
          <a:p>
            <a:pPr indent="0" marL="0">
              <a:buNone/>
            </a:pPr>
            <a:r>
              <a:rPr lang="en-US" sz="1100" b="1" spc="150" kern="0" dirty="0">
                <a:solidFill>
                  <a:srgbClr val="E09B21"/>
                </a:solidFill>
                <a:latin typeface="Calibri" pitchFamily="34" charset="0"/>
                <a:ea typeface="Calibri" pitchFamily="34" charset="-122"/>
                <a:cs typeface="Calibri" pitchFamily="34" charset="-120"/>
              </a:rPr>
              <a:t>If you remember one thing</a:t>
            </a:r>
            <a:endParaRPr lang="en-US" sz="1100" dirty="0"/>
          </a:p>
        </p:txBody>
      </p:sp>
      <p:sp>
        <p:nvSpPr>
          <p:cNvPr id="34" name="Text 32"/>
          <p:cNvSpPr/>
          <p:nvPr/>
        </p:nvSpPr>
        <p:spPr>
          <a:xfrm>
            <a:off x="978408" y="5065776"/>
            <a:ext cx="10232136" cy="914400"/>
          </a:xfrm>
          <a:prstGeom prst="rect">
            <a:avLst/>
          </a:prstGeom>
          <a:noFill/>
          <a:ln/>
        </p:spPr>
        <p:txBody>
          <a:bodyPr wrap="square" lIns="0" tIns="0" rIns="0" bIns="0" rtlCol="0" anchor="t"/>
          <a:lstStyle/>
          <a:p>
            <a:pPr indent="0" marL="0">
              <a:lnSpc>
                <a:spcPts val="2500"/>
              </a:lnSpc>
              <a:buNone/>
            </a:pPr>
            <a:r>
              <a:rPr lang="en-US" sz="1700" b="1" dirty="0">
                <a:solidFill>
                  <a:srgbClr val="FFFFFF"/>
                </a:solidFill>
                <a:latin typeface="Cambria" pitchFamily="34" charset="0"/>
                <a:ea typeface="Cambria" pitchFamily="34" charset="-122"/>
                <a:cs typeface="Cambria" pitchFamily="34" charset="-120"/>
              </a:rPr>
              <a:t>LCA and LPA are the same model. Categorical indicators → LCA. Continuous indicators → LPA. Everything else — the workflow, the fit statistics, the judgement calls, the responsibility that comes with naming a class — is identical.</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Latent Class Analysis and Latent Profile Analysis</dc:title>
  <dc:subject>PptxGenJS Presentation</dc:subject>
  <dc:creator>Seminar deck</dc:creator>
  <cp:lastModifiedBy>Seminar deck</cp:lastModifiedBy>
  <cp:revision>1</cp:revision>
  <dcterms:created xsi:type="dcterms:W3CDTF">2026-08-17T23:42:10Z</dcterms:created>
  <dcterms:modified xsi:type="dcterms:W3CDTF">2026-08-17T23:42:10Z</dcterms:modified>
</cp:coreProperties>
</file>